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8" r:id="rId4"/>
  </p:sldMasterIdLst>
  <p:notesMasterIdLst>
    <p:notesMasterId r:id="rId52"/>
  </p:notesMasterIdLst>
  <p:sldIdLst>
    <p:sldId id="2147472727" r:id="rId5"/>
    <p:sldId id="2147472778" r:id="rId6"/>
    <p:sldId id="2147472779" r:id="rId7"/>
    <p:sldId id="2147472780" r:id="rId8"/>
    <p:sldId id="2147472781" r:id="rId9"/>
    <p:sldId id="2147472782" r:id="rId10"/>
    <p:sldId id="2147472783" r:id="rId11"/>
    <p:sldId id="2147472806" r:id="rId12"/>
    <p:sldId id="2147472784" r:id="rId13"/>
    <p:sldId id="2147472807" r:id="rId14"/>
    <p:sldId id="2147472785" r:id="rId15"/>
    <p:sldId id="2147472786" r:id="rId16"/>
    <p:sldId id="2147472821" r:id="rId17"/>
    <p:sldId id="2147472808" r:id="rId18"/>
    <p:sldId id="2147472822" r:id="rId19"/>
    <p:sldId id="2147472809" r:id="rId20"/>
    <p:sldId id="2147472810" r:id="rId21"/>
    <p:sldId id="2147472811" r:id="rId22"/>
    <p:sldId id="2147472812" r:id="rId23"/>
    <p:sldId id="2147472813" r:id="rId24"/>
    <p:sldId id="2147472816" r:id="rId25"/>
    <p:sldId id="2147472817" r:id="rId26"/>
    <p:sldId id="2147472820" r:id="rId27"/>
    <p:sldId id="2147472823" r:id="rId28"/>
    <p:sldId id="2147472828" r:id="rId29"/>
    <p:sldId id="2147472824" r:id="rId30"/>
    <p:sldId id="2147472842" r:id="rId31"/>
    <p:sldId id="2147472829" r:id="rId32"/>
    <p:sldId id="2147472830" r:id="rId33"/>
    <p:sldId id="2147472831" r:id="rId34"/>
    <p:sldId id="2147472787" r:id="rId35"/>
    <p:sldId id="2147472788" r:id="rId36"/>
    <p:sldId id="2147472834" r:id="rId37"/>
    <p:sldId id="2147472789" r:id="rId38"/>
    <p:sldId id="2147472791" r:id="rId39"/>
    <p:sldId id="2147472799" r:id="rId40"/>
    <p:sldId id="2147472835" r:id="rId41"/>
    <p:sldId id="2147472825" r:id="rId42"/>
    <p:sldId id="2147472836" r:id="rId43"/>
    <p:sldId id="2147472837" r:id="rId44"/>
    <p:sldId id="2147472826" r:id="rId45"/>
    <p:sldId id="2147472832" r:id="rId46"/>
    <p:sldId id="2147472827" r:id="rId47"/>
    <p:sldId id="2147472840" r:id="rId48"/>
    <p:sldId id="2147472838" r:id="rId49"/>
    <p:sldId id="2147472839" r:id="rId50"/>
    <p:sldId id="2147472843" r:id="rId51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DC" id="{E77B550F-77D0-40A7-842A-84153A09D06C}">
          <p14:sldIdLst>
            <p14:sldId id="2147472727"/>
            <p14:sldId id="2147472778"/>
            <p14:sldId id="2147472779"/>
            <p14:sldId id="2147472780"/>
            <p14:sldId id="2147472781"/>
            <p14:sldId id="2147472782"/>
            <p14:sldId id="2147472783"/>
            <p14:sldId id="2147472806"/>
            <p14:sldId id="2147472784"/>
            <p14:sldId id="2147472807"/>
            <p14:sldId id="2147472785"/>
            <p14:sldId id="2147472786"/>
            <p14:sldId id="2147472821"/>
            <p14:sldId id="2147472808"/>
            <p14:sldId id="2147472822"/>
            <p14:sldId id="2147472809"/>
            <p14:sldId id="2147472810"/>
            <p14:sldId id="2147472811"/>
            <p14:sldId id="2147472812"/>
            <p14:sldId id="2147472813"/>
            <p14:sldId id="2147472816"/>
            <p14:sldId id="2147472817"/>
            <p14:sldId id="2147472820"/>
            <p14:sldId id="2147472823"/>
            <p14:sldId id="2147472828"/>
            <p14:sldId id="2147472824"/>
            <p14:sldId id="2147472842"/>
            <p14:sldId id="2147472829"/>
            <p14:sldId id="2147472830"/>
            <p14:sldId id="2147472831"/>
            <p14:sldId id="2147472787"/>
            <p14:sldId id="2147472788"/>
            <p14:sldId id="2147472834"/>
            <p14:sldId id="2147472789"/>
            <p14:sldId id="2147472791"/>
            <p14:sldId id="2147472799"/>
            <p14:sldId id="2147472835"/>
            <p14:sldId id="2147472825"/>
            <p14:sldId id="2147472836"/>
            <p14:sldId id="2147472837"/>
            <p14:sldId id="2147472826"/>
            <p14:sldId id="2147472832"/>
            <p14:sldId id="2147472827"/>
            <p14:sldId id="2147472840"/>
            <p14:sldId id="2147472838"/>
            <p14:sldId id="2147472839"/>
            <p14:sldId id="214747284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DA7E1C-9F48-440F-55C2-91EAED98EC64}" name="Shani Rotem" initials="SR" userId="S::shani@k2view.com::0a96f960-8390-4f68-b383-86105f630b89" providerId="AD"/>
  <p188:author id="{7390D7C4-D94B-1094-22A8-B1EE0A296953}" name="Alex Messel" initials="AM" userId="S::alex.messel@k2view.com::cf157839-ae73-4cda-97a7-d10bfe3b24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A"/>
    <a:srgbClr val="1082F2"/>
    <a:srgbClr val="00CAE2"/>
    <a:srgbClr val="ECE0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C66CAF-8950-4CE2-A460-B62C6AE8341F}" v="40" dt="2025-12-15T06:08:37.1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658"/>
  </p:normalViewPr>
  <p:slideViewPr>
    <p:cSldViewPr snapToGrid="0">
      <p:cViewPr varScale="1">
        <p:scale>
          <a:sx n="73" d="100"/>
          <a:sy n="73" d="100"/>
        </p:scale>
        <p:origin x="86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8" Type="http://schemas.microsoft.com/office/2018/10/relationships/authors" Target="author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3F75B-7228-48BC-9683-90948C29374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9409D-F537-4CCC-A32D-DA5DDF242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83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BE0E-8B50-AC88-99F2-46DBE802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850C8-2CDE-A78B-8DF6-B7E9B259A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23FDE-48A2-E19F-7567-F9C79A37E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C6366-EC24-F56E-B340-07A8469A0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78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2B56D-2B26-C377-E914-4CF90E497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560D0-2D9A-748F-1029-6C798CB3D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116FF3-E2EE-84BE-E0C5-E114AF90B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F55BB-9D6A-F1A1-A705-7377DAA1B4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87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AFE2A-1BED-29F0-5F72-6F4B7827D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87D74-5FB4-CEAD-E7EB-87F269EAD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B4865B-3996-5CB8-ADBA-FE1BC2FD5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89D4C-C4A3-831A-DB11-9181BE3D4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36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0A99D-D0D4-F4AC-ED05-BF5A2A2CD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A2C616-4E5E-A85A-DBDA-4D72295C6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A6737-597E-6F7E-8A51-2BF5CB5E5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FB628-AE55-56EB-E40F-41E4894F9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226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FFDB6-3AE4-13AF-9D00-691DF4CD9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DCCE4-BAED-6B84-2103-A7A64031F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DBE04-DF45-26D6-0F87-4EB0EDEEE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B6BD5-A35B-0E36-5A0E-FA30621C0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20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3F8BE-65D7-6AA1-BE8E-A5ECFF4A9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CF004-5ED2-7488-C6C8-8EC0FE4E0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6AAE8-95C0-5323-5D83-5C86B0D13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D0FBF-5788-7012-61CE-E3C91ACEC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20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CF50F-B00A-790A-1A60-4D541826F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1841FA-BD40-F7FC-2BB6-4B1128E5E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1B382-B0ED-4DBF-9F73-7EEE1E69F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B4EFA-52C6-782B-DB1A-E853248BD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78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A3090-A054-6B14-D409-4303F6206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6FC18-53AC-69BE-D0B6-13001D7B1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F04CC-AA93-6573-FA4C-8E2668BAB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9AB2F-1B1F-8A82-8C3E-90E8EC7FD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41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E3156-854F-276F-00DE-36C54E525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80F5F-403D-BDA2-302A-AEE322F6C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775B1F-95DA-CF54-7C57-E0D6493AF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5CA28-9DB4-0EF6-258A-B6B49EB6B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562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AB17-D969-88B6-934B-83321991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BC028-0615-78E6-DAE0-DD0250F0B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609AF-8FCB-F7EB-7C62-CAC18643D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9BE37-30A2-8447-A583-493618274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95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CA04B-E252-D4B1-DF5D-684CFF61C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F87FD-F296-7A4B-13A7-719693542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B15C7-82C5-3DD4-1FF4-A794ED16F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B6FD3-6AB9-4A86-3B35-6245BE7A8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24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9DC86-2B7B-8071-BECC-F5280CE37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3CA58-DA10-7B38-D061-5A3E03EA8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A1C733-60DC-8BEA-0E0C-885AF9718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893EE-8BEA-5F91-9B7E-5A6084DAD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15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5ACFB-6DF2-BC15-BFD4-378316D2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DA913-980E-38F7-3E2F-9C13ED36F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25297-1677-6DD0-3646-3727C3817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4CD7A-C49A-C265-15BD-BA560F7DD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969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3388B-EAFC-7FA1-7B65-CD6A89724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3D1BB-C6BB-0D23-2AAE-156686F00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461CA-395B-8F2E-4676-FA9A5B0F9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AD51C-18A0-38EA-A09E-09572BF1B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78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11431-B1A3-491E-4295-4CA9C95E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986A9-17D9-9FAD-5379-BA9F26F00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8596CC-590D-1E3D-6371-0046E06E7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9616B-E4AE-1685-595B-59ED47BFC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986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281E0-A7DF-8D29-35D8-5E61F8F11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8B6AC-BC9B-890D-E5F4-5511768A7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21498-17BF-CFFB-8D57-77F36DF47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76E01-5770-D15E-25C0-D89BBACB2F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408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A6E24-88DF-1789-AAF9-39B43F251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81FB27-E7D8-D27A-0095-8BE18F206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2D973-F56A-E8E9-48A5-8ECD0F0F8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6B658-7C8B-1D8A-E8CA-695EF20DC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0727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F880-32E0-493C-7118-3B72544A8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B991DE-D0F6-BE2C-C869-85AEBCD47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9F737-C40B-5FB9-6521-CD5029BC5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06017-AACB-9B4D-DC3C-909D27124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669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F245A-866E-5439-9D90-A9C317501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8F348-72D7-BE51-0C85-6CC9FCC29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F145C-EF4F-0A4E-C2AF-7BC73AA14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19A96-45C3-6D21-0B78-5B9FC6DB8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86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90C67-30CD-576D-1B78-0ED3C09C1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E58B66-DE53-D529-4883-9B940FA4E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4F3820-95A3-5D59-F26B-D817254FE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2351A-7FC5-4ABA-56AF-09EA706D3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698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32B14-81E3-D9FB-2CDC-C959286D9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B75CF-E6EC-6788-0210-15506EAF4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25101-3031-E563-C08E-F4039CE8C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6D063-429B-8995-85C9-62CFFF3A6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921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62B1-7192-1603-8301-823FBDB29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12B17-783B-C283-12B5-C503ED2F1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8EC34-E0EB-A4B0-6732-1AFF0458C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8868F-0077-97E9-5061-6F35B79FD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426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095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425A7-17F4-3C03-631B-479A0A4C9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B5C6DF-82BC-FA8C-90CB-5306F9B14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C7073-F8E5-F231-BD3D-351178626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66776-5710-2ADD-C812-EA825C980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953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3152D-F98B-32D1-28D1-52FD1E133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FB6C0-F993-8104-56CE-4277DA2EA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80EAB-9184-FA55-4B79-D31159B76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8BFA8-601E-2D82-44F6-CFB99BF67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594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12E3F-1333-DF56-0D1E-EB53DAE7A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76831-0B21-943D-7F3D-F43871642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9F9B2-0008-7D40-AA5F-B9CB8F435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AD583-983B-0FD8-06FC-DDBFCE343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535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5B413-88F4-62A6-EB6E-B8727D8BC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B5394-E6F1-34C2-6E8E-98F22518A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A86DF-0A23-35CF-CE0F-7E92E8F49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58AD5-76E4-A23F-5658-242DC9FA4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810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62338-DA22-3AD1-0425-A7955A286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0C7211-52FB-178A-5DF0-776841E8A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85584-498E-0B47-54B0-EA57578DB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0B1AD-765E-2095-0541-C78F0C166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511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C3798-61CF-990A-4A37-867AE4C10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C95D5D-F63E-65DA-7084-4AA3BBC2C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83790-15D2-5D45-C14E-0F855F896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C997F-D301-E7D1-E3A2-7D806261C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9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F76A1-312A-38A5-BACF-70D350D11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4C472F-34CC-1946-BB57-0C5D78680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2A0D5-B3AB-AF2F-C305-19D06E23C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33879-2D16-4C08-DFE5-87AEBCD34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5359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AB1C1-EDA3-08BA-7B47-F923D370E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808D8-80B9-3BA0-2CCF-F41E1A13C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A0002-D06C-3F5B-7992-277FB3B6F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B0E66-D38F-2278-0E82-586D1F0CA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547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E6387-C2F8-E2E5-288E-439B355D3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95535C-4398-31CA-9751-D1283DEF5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2B2E9-39B1-50E3-BB61-D90A2B882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56CF0-4AFB-D457-36FB-A69372E61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053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69EF6-329F-ECD4-7F88-E29348EB4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E56EC-D3A7-3F41-3CFC-0A86F6381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5425B-CA56-475A-16CF-D515CA82C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2899F-BCA8-2A4E-9F00-4B84882F5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373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56D16-40E6-277A-B98F-9215D5200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23F8F-F914-4CA3-4BE5-FE2255592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33B143-E30E-E0C4-1BCA-0710C7FEA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91029-202F-0FDD-AEE8-614AC71A5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422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076EC-605B-4D11-C28B-DBD37C297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9670A-E2F7-C98C-5F22-358997FA5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7B42D-AFB3-6AB5-3CAC-4084B4D25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4DF0D-1DEC-35CD-26CC-00098A9DD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8121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3FFEE-272B-00ED-F2D5-D8452D0E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B781D-C8CF-4CBA-818D-769F55EBE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10915-2774-22BD-DE3B-48A139AB9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AA55B-C198-800A-BE5E-48A2F1145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41775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D357C-C0ED-5010-A10E-37DAECC4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0D3FF-5586-BE66-7E3C-429418F3D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AF742-E3C7-EB89-2839-C32FF28DB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785C2-BCB1-5B2B-F132-D4435EE47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9409D-F537-4CCC-A32D-DA5DDF24241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31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92DB551-97C2-22BF-B760-90EAA00E4B91}"/>
              </a:ext>
            </a:extLst>
          </p:cNvPr>
          <p:cNvSpPr/>
          <p:nvPr/>
        </p:nvSpPr>
        <p:spPr>
          <a:xfrm>
            <a:off x="80920" y="72828"/>
            <a:ext cx="1521303" cy="10919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DF78302C-DD1C-A64C-0D25-6D0E0EFF67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8133" y="558800"/>
            <a:ext cx="5367867" cy="6299200"/>
          </a:xfrm>
          <a:custGeom>
            <a:avLst/>
            <a:gdLst>
              <a:gd name="connsiteX0" fmla="*/ 12647 w 2049737"/>
              <a:gd name="connsiteY0" fmla="*/ 0 h 2159877"/>
              <a:gd name="connsiteX1" fmla="*/ 2037090 w 2049737"/>
              <a:gd name="connsiteY1" fmla="*/ 0 h 2159877"/>
              <a:gd name="connsiteX2" fmla="*/ 2049737 w 2049737"/>
              <a:gd name="connsiteY2" fmla="*/ 12647 h 2159877"/>
              <a:gd name="connsiteX3" fmla="*/ 2049737 w 2049737"/>
              <a:gd name="connsiteY3" fmla="*/ 2147230 h 2159877"/>
              <a:gd name="connsiteX4" fmla="*/ 2037090 w 2049737"/>
              <a:gd name="connsiteY4" fmla="*/ 2159877 h 2159877"/>
              <a:gd name="connsiteX5" fmla="*/ 12647 w 2049737"/>
              <a:gd name="connsiteY5" fmla="*/ 2159877 h 2159877"/>
              <a:gd name="connsiteX6" fmla="*/ 0 w 2049737"/>
              <a:gd name="connsiteY6" fmla="*/ 2147230 h 2159877"/>
              <a:gd name="connsiteX7" fmla="*/ 0 w 2049737"/>
              <a:gd name="connsiteY7" fmla="*/ 12647 h 2159877"/>
              <a:gd name="connsiteX8" fmla="*/ 12647 w 2049737"/>
              <a:gd name="connsiteY8" fmla="*/ 0 h 2159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9737" h="2159877">
                <a:moveTo>
                  <a:pt x="12647" y="0"/>
                </a:moveTo>
                <a:lnTo>
                  <a:pt x="2037090" y="0"/>
                </a:lnTo>
                <a:cubicBezTo>
                  <a:pt x="2044075" y="0"/>
                  <a:pt x="2049737" y="5662"/>
                  <a:pt x="2049737" y="12647"/>
                </a:cubicBezTo>
                <a:lnTo>
                  <a:pt x="2049737" y="2147230"/>
                </a:lnTo>
                <a:cubicBezTo>
                  <a:pt x="2049737" y="2154215"/>
                  <a:pt x="2044075" y="2159877"/>
                  <a:pt x="2037090" y="2159877"/>
                </a:cubicBezTo>
                <a:lnTo>
                  <a:pt x="12647" y="2159877"/>
                </a:lnTo>
                <a:cubicBezTo>
                  <a:pt x="5662" y="2159877"/>
                  <a:pt x="0" y="2154215"/>
                  <a:pt x="0" y="2147230"/>
                </a:cubicBezTo>
                <a:lnTo>
                  <a:pt x="0" y="12647"/>
                </a:lnTo>
                <a:cubicBezTo>
                  <a:pt x="0" y="5662"/>
                  <a:pt x="5662" y="0"/>
                  <a:pt x="12647" y="0"/>
                </a:cubicBezTo>
                <a:close/>
              </a:path>
            </a:pathLst>
          </a:custGeom>
          <a:effectLst>
            <a:outerShdw blurRad="3810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1DB5385-C9B2-CCE8-8B6B-16ACEAD3B2E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5831" y="1164768"/>
            <a:ext cx="2851193" cy="855358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F447F73-6D9E-DF1B-CF21-A4B39B369CF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95664" y="4059509"/>
            <a:ext cx="4317001" cy="107529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1" spc="0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A384254D-7517-A188-8627-503DAFC9305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57245" y="2637401"/>
            <a:ext cx="1509642" cy="150964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80FE308-09FC-491C-C3D5-EEA0B9452A4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996113" y="5145017"/>
            <a:ext cx="4704970" cy="32414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Speaker: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CA57BCDB-83E2-96FE-12A8-C0A78C18F2E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996113" y="5531159"/>
            <a:ext cx="4704970" cy="32414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1C380-BADA-0B81-62B2-D66AE948F0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96113" y="2338388"/>
            <a:ext cx="4316412" cy="1593850"/>
          </a:xfrm>
        </p:spPr>
        <p:txBody>
          <a:bodyPr anchor="ctr">
            <a:normAutofit/>
          </a:bodyPr>
          <a:lstStyle>
            <a:lvl1pPr>
              <a:defRPr sz="40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5273"/>
      </p:ext>
    </p:extLst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5E4D90-FDDA-DF23-B535-2C7BA8E5F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ectangle: Rounded Corners 2">
            <a:extLst>
              <a:ext uri="{FF2B5EF4-FFF2-40B4-BE49-F238E27FC236}">
                <a16:creationId xmlns:a16="http://schemas.microsoft.com/office/drawing/2014/main" id="{2FCEEBF7-F66E-1DBE-FA15-1358073EDCF6}"/>
              </a:ext>
            </a:extLst>
          </p:cNvPr>
          <p:cNvSpPr/>
          <p:nvPr userDrawn="1"/>
        </p:nvSpPr>
        <p:spPr>
          <a:xfrm flipV="1">
            <a:off x="1" y="6691182"/>
            <a:ext cx="12192000" cy="174247"/>
          </a:xfrm>
          <a:prstGeom prst="roundRect">
            <a:avLst>
              <a:gd name="adj" fmla="val 617"/>
            </a:avLst>
          </a:prstGeom>
          <a:gradFill flip="none" rotWithShape="1">
            <a:gsLst>
              <a:gs pos="0">
                <a:schemeClr val="accent2"/>
              </a:gs>
              <a:gs pos="99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F1BF24-B304-80DA-ABDD-430AB653A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622" y="1497027"/>
            <a:ext cx="9554756" cy="4679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2933028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5E4D90-FDDA-DF23-B535-2C7BA8E5F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ectangle: Rounded Corners 2">
            <a:extLst>
              <a:ext uri="{FF2B5EF4-FFF2-40B4-BE49-F238E27FC236}">
                <a16:creationId xmlns:a16="http://schemas.microsoft.com/office/drawing/2014/main" id="{2FCEEBF7-F66E-1DBE-FA15-1358073EDCF6}"/>
              </a:ext>
            </a:extLst>
          </p:cNvPr>
          <p:cNvSpPr/>
          <p:nvPr userDrawn="1"/>
        </p:nvSpPr>
        <p:spPr>
          <a:xfrm flipV="1">
            <a:off x="1" y="6691182"/>
            <a:ext cx="12192000" cy="174247"/>
          </a:xfrm>
          <a:prstGeom prst="roundRect">
            <a:avLst>
              <a:gd name="adj" fmla="val 617"/>
            </a:avLst>
          </a:prstGeom>
          <a:gradFill flip="none" rotWithShape="1">
            <a:gsLst>
              <a:gs pos="0">
                <a:schemeClr val="accent2"/>
              </a:gs>
              <a:gs pos="99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350D1D3-32F3-71E6-C667-67FDAF469CB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490663"/>
            <a:ext cx="5153025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937D61-9219-87FB-3B18-2EE668F8927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77304" y="1490663"/>
            <a:ext cx="5153025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7316488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5E4D90-FDDA-DF23-B535-2C7BA8E5F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ectangle: Rounded Corners 2">
            <a:extLst>
              <a:ext uri="{FF2B5EF4-FFF2-40B4-BE49-F238E27FC236}">
                <a16:creationId xmlns:a16="http://schemas.microsoft.com/office/drawing/2014/main" id="{2FCEEBF7-F66E-1DBE-FA15-1358073EDCF6}"/>
              </a:ext>
            </a:extLst>
          </p:cNvPr>
          <p:cNvSpPr/>
          <p:nvPr userDrawn="1"/>
        </p:nvSpPr>
        <p:spPr>
          <a:xfrm flipV="1">
            <a:off x="1" y="6691182"/>
            <a:ext cx="12192000" cy="174247"/>
          </a:xfrm>
          <a:prstGeom prst="roundRect">
            <a:avLst>
              <a:gd name="adj" fmla="val 617"/>
            </a:avLst>
          </a:prstGeom>
          <a:gradFill flip="none" rotWithShape="1">
            <a:gsLst>
              <a:gs pos="0">
                <a:schemeClr val="accent2"/>
              </a:gs>
              <a:gs pos="99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10A2BEA0-7E65-8FB6-662E-5B307BEE9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027"/>
            <a:ext cx="10515600" cy="4679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16D100-018A-D540-6D96-6D161D566C3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7969" y="951848"/>
            <a:ext cx="9136062" cy="364282"/>
          </a:xfrm>
        </p:spPr>
        <p:txBody>
          <a:bodyPr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5074140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2">
            <a:extLst>
              <a:ext uri="{FF2B5EF4-FFF2-40B4-BE49-F238E27FC236}">
                <a16:creationId xmlns:a16="http://schemas.microsoft.com/office/drawing/2014/main" id="{2FCEEBF7-F66E-1DBE-FA15-1358073EDCF6}"/>
              </a:ext>
            </a:extLst>
          </p:cNvPr>
          <p:cNvSpPr/>
          <p:nvPr userDrawn="1"/>
        </p:nvSpPr>
        <p:spPr>
          <a:xfrm flipV="1">
            <a:off x="1" y="6691182"/>
            <a:ext cx="12192000" cy="174247"/>
          </a:xfrm>
          <a:prstGeom prst="roundRect">
            <a:avLst>
              <a:gd name="adj" fmla="val 617"/>
            </a:avLst>
          </a:prstGeom>
          <a:gradFill flip="none" rotWithShape="1">
            <a:gsLst>
              <a:gs pos="0">
                <a:schemeClr val="accent2"/>
              </a:gs>
              <a:gs pos="99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F1BF24-B304-80DA-ABDD-430AB653A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7552" y="1634247"/>
            <a:ext cx="7176247" cy="4542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CE57B95-064E-5ECE-8F7A-79A8FE79E2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0392" y="7429"/>
            <a:ext cx="3267635" cy="685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6BD58B-D449-BA7A-E221-3743D5C9DBA8}"/>
              </a:ext>
            </a:extLst>
          </p:cNvPr>
          <p:cNvSpPr txBox="1"/>
          <p:nvPr userDrawn="1"/>
        </p:nvSpPr>
        <p:spPr>
          <a:xfrm>
            <a:off x="520861" y="5787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2D5E9DE-4488-CF16-7786-A98879ACD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7552" y="283866"/>
            <a:ext cx="7176247" cy="5897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0397991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5E4D90-FDDA-DF23-B535-2C7BA8E5F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ectangle: Rounded Corners 2">
            <a:extLst>
              <a:ext uri="{FF2B5EF4-FFF2-40B4-BE49-F238E27FC236}">
                <a16:creationId xmlns:a16="http://schemas.microsoft.com/office/drawing/2014/main" id="{2FCEEBF7-F66E-1DBE-FA15-1358073EDCF6}"/>
              </a:ext>
            </a:extLst>
          </p:cNvPr>
          <p:cNvSpPr/>
          <p:nvPr userDrawn="1"/>
        </p:nvSpPr>
        <p:spPr>
          <a:xfrm flipV="1">
            <a:off x="1" y="6691182"/>
            <a:ext cx="12192000" cy="174247"/>
          </a:xfrm>
          <a:prstGeom prst="roundRect">
            <a:avLst>
              <a:gd name="adj" fmla="val 617"/>
            </a:avLst>
          </a:prstGeom>
          <a:gradFill flip="none" rotWithShape="1">
            <a:gsLst>
              <a:gs pos="0">
                <a:schemeClr val="accent2"/>
              </a:gs>
              <a:gs pos="99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10A2BEA0-7E65-8FB6-662E-5B307BEE9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027"/>
            <a:ext cx="5368391" cy="4679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05994104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and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7DDCFA81-94BB-028D-BD03-07C0C06DA187}"/>
              </a:ext>
            </a:extLst>
          </p:cNvPr>
          <p:cNvSpPr/>
          <p:nvPr userDrawn="1"/>
        </p:nvSpPr>
        <p:spPr>
          <a:xfrm>
            <a:off x="447869" y="1784752"/>
            <a:ext cx="4534678" cy="5073247"/>
          </a:xfrm>
          <a:prstGeom prst="roundRect">
            <a:avLst>
              <a:gd name="adj" fmla="val 617"/>
            </a:avLst>
          </a:prstGeom>
          <a:gradFill>
            <a:gsLst>
              <a:gs pos="0">
                <a:schemeClr val="accent2"/>
              </a:gs>
              <a:gs pos="99000">
                <a:schemeClr val="accent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C8FFBD3-E5F7-AD5F-1076-869A234B5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8A7525-E001-BED5-B931-A8D07B111CE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24221" y="2865120"/>
            <a:ext cx="3581975" cy="295194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7C6EFB2-04A6-34FC-217B-399974D5891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24221" y="2103438"/>
            <a:ext cx="3581975" cy="470919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9A8345B-B286-490A-82B7-4EC928B71BF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7969" y="875636"/>
            <a:ext cx="9136062" cy="36428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1525377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A6DB000-5919-1CB7-9418-78C7BA1B112A}"/>
              </a:ext>
            </a:extLst>
          </p:cNvPr>
          <p:cNvSpPr/>
          <p:nvPr userDrawn="1"/>
        </p:nvSpPr>
        <p:spPr>
          <a:xfrm>
            <a:off x="0" y="3692781"/>
            <a:ext cx="12192000" cy="299906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99">
            <a:extLst>
              <a:ext uri="{FF2B5EF4-FFF2-40B4-BE49-F238E27FC236}">
                <a16:creationId xmlns:a16="http://schemas.microsoft.com/office/drawing/2014/main" id="{06CF29E0-817D-6952-3AF9-CEAD10CC8094}"/>
              </a:ext>
            </a:extLst>
          </p:cNvPr>
          <p:cNvSpPr/>
          <p:nvPr userDrawn="1"/>
        </p:nvSpPr>
        <p:spPr>
          <a:xfrm>
            <a:off x="6323850" y="1371600"/>
            <a:ext cx="5365066" cy="54864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635000" dist="63500" dir="5400000" algn="t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D8666FE-9F9C-91E3-97BD-5F7382C83D2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481991" y="1951506"/>
            <a:ext cx="4869181" cy="4597811"/>
          </a:xfrm>
        </p:spPr>
        <p:txBody>
          <a:bodyPr/>
          <a:lstStyle>
            <a:lvl1pPr>
              <a:spcBef>
                <a:spcPts val="600"/>
              </a:spcBef>
              <a:defRPr sz="1700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Rectangle: Rounded Corners 99">
            <a:extLst>
              <a:ext uri="{FF2B5EF4-FFF2-40B4-BE49-F238E27FC236}">
                <a16:creationId xmlns:a16="http://schemas.microsoft.com/office/drawing/2014/main" id="{A3302DDC-B226-7DA7-1FFB-4C864134C98F}"/>
              </a:ext>
            </a:extLst>
          </p:cNvPr>
          <p:cNvSpPr/>
          <p:nvPr userDrawn="1"/>
        </p:nvSpPr>
        <p:spPr>
          <a:xfrm>
            <a:off x="503086" y="1371601"/>
            <a:ext cx="5365066" cy="54864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635000" dist="63500" dir="5400000" algn="t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BBA5DA-3EDF-86C4-D3E6-D2ECC239D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45969-2BD3-C726-C8D5-A16970ACD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029" y="1957659"/>
            <a:ext cx="4869181" cy="4597811"/>
          </a:xfrm>
        </p:spPr>
        <p:txBody>
          <a:bodyPr/>
          <a:lstStyle>
            <a:lvl1pPr>
              <a:spcBef>
                <a:spcPts val="600"/>
              </a:spcBef>
              <a:defRPr sz="1700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Rectangle: Rounded Corners 2">
            <a:extLst>
              <a:ext uri="{FF2B5EF4-FFF2-40B4-BE49-F238E27FC236}">
                <a16:creationId xmlns:a16="http://schemas.microsoft.com/office/drawing/2014/main" id="{0D63DB23-3BD0-F13E-C1F6-305666872208}"/>
              </a:ext>
            </a:extLst>
          </p:cNvPr>
          <p:cNvSpPr/>
          <p:nvPr userDrawn="1"/>
        </p:nvSpPr>
        <p:spPr>
          <a:xfrm flipV="1">
            <a:off x="1" y="6691182"/>
            <a:ext cx="12192000" cy="174247"/>
          </a:xfrm>
          <a:prstGeom prst="roundRect">
            <a:avLst>
              <a:gd name="adj" fmla="val 617"/>
            </a:avLst>
          </a:prstGeom>
          <a:gradFill flip="none" rotWithShape="1">
            <a:gsLst>
              <a:gs pos="0">
                <a:schemeClr val="accent2"/>
              </a:gs>
              <a:gs pos="99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07DFA4-ACE5-2C53-AB12-A3DB6526718E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751029" y="1580050"/>
            <a:ext cx="4607740" cy="387904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6BC371-6E8B-6C2B-37B4-8F48B9CAA860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6481991" y="1580050"/>
            <a:ext cx="4607740" cy="387904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0723095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40460F8F-BC23-1371-B5C1-EA184A44BF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8478" y="395564"/>
            <a:ext cx="3702797" cy="37027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BBA5DA-3EDF-86C4-D3E6-D2ECC239D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8972" y="575033"/>
            <a:ext cx="3983510" cy="589735"/>
          </a:xfrm>
        </p:spPr>
        <p:txBody>
          <a:bodyPr/>
          <a:lstStyle/>
          <a:p>
            <a:r>
              <a:rPr lang="en-US"/>
              <a:t>Agenda</a:t>
            </a:r>
            <a:endParaRPr lang="en-IL"/>
          </a:p>
        </p:txBody>
      </p:sp>
      <p:sp>
        <p:nvSpPr>
          <p:cNvPr id="7" name="Rectangle: Rounded Corners 2">
            <a:extLst>
              <a:ext uri="{FF2B5EF4-FFF2-40B4-BE49-F238E27FC236}">
                <a16:creationId xmlns:a16="http://schemas.microsoft.com/office/drawing/2014/main" id="{0D63DB23-3BD0-F13E-C1F6-305666872208}"/>
              </a:ext>
            </a:extLst>
          </p:cNvPr>
          <p:cNvSpPr/>
          <p:nvPr userDrawn="1"/>
        </p:nvSpPr>
        <p:spPr>
          <a:xfrm flipV="1">
            <a:off x="1" y="6691182"/>
            <a:ext cx="12192000" cy="174247"/>
          </a:xfrm>
          <a:prstGeom prst="roundRect">
            <a:avLst>
              <a:gd name="adj" fmla="val 617"/>
            </a:avLst>
          </a:prstGeom>
          <a:gradFill flip="none" rotWithShape="1">
            <a:gsLst>
              <a:gs pos="0">
                <a:schemeClr val="accent2"/>
              </a:gs>
              <a:gs pos="99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DC72BAE-80A0-5C49-CAEE-031C5AED18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8972" y="283939"/>
            <a:ext cx="3983510" cy="222826"/>
          </a:xfrm>
        </p:spPr>
        <p:txBody>
          <a:bodyPr>
            <a:noAutofit/>
          </a:bodyPr>
          <a:lstStyle>
            <a:lvl1pPr marL="0" indent="0" algn="ctr">
              <a:buNone/>
              <a:defRPr sz="1400" spc="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WELCOME</a:t>
            </a:r>
            <a:endParaRPr lang="en-IL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C75A184-3551-32B7-6FBD-9F35B2230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6000" y="1634327"/>
            <a:ext cx="5143837" cy="4398851"/>
          </a:xfrm>
        </p:spPr>
        <p:txBody>
          <a:bodyPr>
            <a:normAutofit/>
          </a:bodyPr>
          <a:lstStyle>
            <a:lvl1pPr marL="234900" indent="-234900">
              <a:lnSpc>
                <a:spcPct val="100000"/>
              </a:lnSpc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400"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Agenda 1</a:t>
            </a:r>
          </a:p>
        </p:txBody>
      </p:sp>
      <p:sp>
        <p:nvSpPr>
          <p:cNvPr id="13" name="Rectangle: Rounded Corners 1">
            <a:extLst>
              <a:ext uri="{FF2B5EF4-FFF2-40B4-BE49-F238E27FC236}">
                <a16:creationId xmlns:a16="http://schemas.microsoft.com/office/drawing/2014/main" id="{DFA0E7EB-2D4D-A1C8-92ED-BC44135D9867}"/>
              </a:ext>
            </a:extLst>
          </p:cNvPr>
          <p:cNvSpPr/>
          <p:nvPr userDrawn="1"/>
        </p:nvSpPr>
        <p:spPr>
          <a:xfrm>
            <a:off x="554591" y="1938936"/>
            <a:ext cx="3983510" cy="398350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20700" dist="1016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450342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F0722B5-9D37-347B-12DC-5AB596BEE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5841" y="314643"/>
            <a:ext cx="3702797" cy="3702797"/>
          </a:xfrm>
          <a:prstGeom prst="rect">
            <a:avLst/>
          </a:prstGeom>
        </p:spPr>
      </p:pic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D318ED5D-4D6A-8E54-B8A3-0FFF1BB52F38}"/>
              </a:ext>
            </a:extLst>
          </p:cNvPr>
          <p:cNvSpPr/>
          <p:nvPr/>
        </p:nvSpPr>
        <p:spPr>
          <a:xfrm>
            <a:off x="1201954" y="1858015"/>
            <a:ext cx="3983510" cy="398350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20700" dist="1016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E080144-37AF-4610-887E-9D43059D6D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42310" y="1998370"/>
            <a:ext cx="3702797" cy="3702797"/>
          </a:xfrm>
          <a:custGeom>
            <a:avLst/>
            <a:gdLst>
              <a:gd name="connsiteX0" fmla="*/ 617145 w 3702797"/>
              <a:gd name="connsiteY0" fmla="*/ 0 h 3702797"/>
              <a:gd name="connsiteX1" fmla="*/ 3085652 w 3702797"/>
              <a:gd name="connsiteY1" fmla="*/ 0 h 3702797"/>
              <a:gd name="connsiteX2" fmla="*/ 3702797 w 3702797"/>
              <a:gd name="connsiteY2" fmla="*/ 617145 h 3702797"/>
              <a:gd name="connsiteX3" fmla="*/ 3702797 w 3702797"/>
              <a:gd name="connsiteY3" fmla="*/ 3085652 h 3702797"/>
              <a:gd name="connsiteX4" fmla="*/ 3085652 w 3702797"/>
              <a:gd name="connsiteY4" fmla="*/ 3702797 h 3702797"/>
              <a:gd name="connsiteX5" fmla="*/ 617145 w 3702797"/>
              <a:gd name="connsiteY5" fmla="*/ 3702797 h 3702797"/>
              <a:gd name="connsiteX6" fmla="*/ 0 w 3702797"/>
              <a:gd name="connsiteY6" fmla="*/ 3085652 h 3702797"/>
              <a:gd name="connsiteX7" fmla="*/ 0 w 3702797"/>
              <a:gd name="connsiteY7" fmla="*/ 617145 h 3702797"/>
              <a:gd name="connsiteX8" fmla="*/ 617145 w 3702797"/>
              <a:gd name="connsiteY8" fmla="*/ 0 h 3702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02797" h="3702797">
                <a:moveTo>
                  <a:pt x="617145" y="0"/>
                </a:moveTo>
                <a:lnTo>
                  <a:pt x="3085652" y="0"/>
                </a:lnTo>
                <a:cubicBezTo>
                  <a:pt x="3426492" y="0"/>
                  <a:pt x="3702797" y="276305"/>
                  <a:pt x="3702797" y="617145"/>
                </a:cubicBezTo>
                <a:lnTo>
                  <a:pt x="3702797" y="3085652"/>
                </a:lnTo>
                <a:cubicBezTo>
                  <a:pt x="3702797" y="3426492"/>
                  <a:pt x="3426492" y="3702797"/>
                  <a:pt x="3085652" y="3702797"/>
                </a:cubicBezTo>
                <a:lnTo>
                  <a:pt x="617145" y="3702797"/>
                </a:lnTo>
                <a:cubicBezTo>
                  <a:pt x="276305" y="3702797"/>
                  <a:pt x="0" y="3426492"/>
                  <a:pt x="0" y="3085652"/>
                </a:cubicBezTo>
                <a:lnTo>
                  <a:pt x="0" y="617145"/>
                </a:lnTo>
                <a:cubicBezTo>
                  <a:pt x="0" y="276305"/>
                  <a:pt x="276305" y="0"/>
                  <a:pt x="6171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D8FFC89-F55F-0C54-9004-5838569CCD9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1554" y="1858015"/>
            <a:ext cx="2851193" cy="8553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9A5EABE-223D-9D68-DB34-1657408D9C4D}"/>
              </a:ext>
            </a:extLst>
          </p:cNvPr>
          <p:cNvSpPr/>
          <p:nvPr/>
        </p:nvSpPr>
        <p:spPr>
          <a:xfrm>
            <a:off x="113288" y="0"/>
            <a:ext cx="1521303" cy="11647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Rectangle: Rounded Corners 2">
            <a:extLst>
              <a:ext uri="{FF2B5EF4-FFF2-40B4-BE49-F238E27FC236}">
                <a16:creationId xmlns:a16="http://schemas.microsoft.com/office/drawing/2014/main" id="{15D7661B-58D5-53E9-C986-BCEDE510931B}"/>
              </a:ext>
            </a:extLst>
          </p:cNvPr>
          <p:cNvSpPr/>
          <p:nvPr/>
        </p:nvSpPr>
        <p:spPr>
          <a:xfrm flipV="1">
            <a:off x="1" y="6691182"/>
            <a:ext cx="12192000" cy="174247"/>
          </a:xfrm>
          <a:prstGeom prst="roundRect">
            <a:avLst>
              <a:gd name="adj" fmla="val 617"/>
            </a:avLst>
          </a:prstGeom>
          <a:gradFill flip="none" rotWithShape="1">
            <a:gsLst>
              <a:gs pos="0">
                <a:schemeClr val="accent2"/>
              </a:gs>
              <a:gs pos="99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A8991E1-C02F-C634-95AF-611D4414F1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06538" y="3231021"/>
            <a:ext cx="3472306" cy="1827213"/>
          </a:xfrm>
        </p:spPr>
        <p:txBody>
          <a:bodyPr>
            <a:normAutofit/>
          </a:bodyPr>
          <a:lstStyle>
            <a:lvl1pPr>
              <a:defRPr sz="32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4154135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F0722B5-9D37-347B-12DC-5AB596BEE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5959" y="1577601"/>
            <a:ext cx="3702797" cy="370279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D8FFC89-F55F-0C54-9004-5838569CCD9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35313" y="2197881"/>
            <a:ext cx="2851193" cy="8553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9A5EABE-223D-9D68-DB34-1657408D9C4D}"/>
              </a:ext>
            </a:extLst>
          </p:cNvPr>
          <p:cNvSpPr/>
          <p:nvPr/>
        </p:nvSpPr>
        <p:spPr>
          <a:xfrm>
            <a:off x="113288" y="0"/>
            <a:ext cx="1521303" cy="11647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Rectangle: Rounded Corners 2">
            <a:extLst>
              <a:ext uri="{FF2B5EF4-FFF2-40B4-BE49-F238E27FC236}">
                <a16:creationId xmlns:a16="http://schemas.microsoft.com/office/drawing/2014/main" id="{15D7661B-58D5-53E9-C986-BCEDE510931B}"/>
              </a:ext>
            </a:extLst>
          </p:cNvPr>
          <p:cNvSpPr/>
          <p:nvPr/>
        </p:nvSpPr>
        <p:spPr>
          <a:xfrm flipV="1">
            <a:off x="1" y="6691182"/>
            <a:ext cx="12192000" cy="174247"/>
          </a:xfrm>
          <a:prstGeom prst="roundRect">
            <a:avLst>
              <a:gd name="adj" fmla="val 617"/>
            </a:avLst>
          </a:prstGeom>
          <a:gradFill flip="none" rotWithShape="1">
            <a:gsLst>
              <a:gs pos="0">
                <a:schemeClr val="accent2"/>
              </a:gs>
              <a:gs pos="99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EEE3792-9F5C-922B-FA48-98939F9B4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1497" y="3205787"/>
            <a:ext cx="4393020" cy="1396057"/>
          </a:xfr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42077800"/>
      </p:ext>
    </p:extLst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F6553E-7D49-43BA-E1CE-1B71851F0CDA}"/>
              </a:ext>
            </a:extLst>
          </p:cNvPr>
          <p:cNvSpPr/>
          <p:nvPr userDrawn="1"/>
        </p:nvSpPr>
        <p:spPr>
          <a:xfrm>
            <a:off x="1041174" y="1478368"/>
            <a:ext cx="5054826" cy="4032308"/>
          </a:xfrm>
          <a:prstGeom prst="roundRect">
            <a:avLst>
              <a:gd name="adj" fmla="val 617"/>
            </a:avLst>
          </a:prstGeom>
          <a:gradFill>
            <a:gsLst>
              <a:gs pos="0">
                <a:schemeClr val="accent2"/>
              </a:gs>
              <a:gs pos="99000">
                <a:schemeClr val="accent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BBEB7-B4F8-2589-07E2-4021B268F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983" y="1582680"/>
            <a:ext cx="4708471" cy="212813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5" name="Rectangle: Rounded Corners 2">
            <a:extLst>
              <a:ext uri="{FF2B5EF4-FFF2-40B4-BE49-F238E27FC236}">
                <a16:creationId xmlns:a16="http://schemas.microsoft.com/office/drawing/2014/main" id="{3810EE8E-F791-0EA7-F70A-EE0293CCA476}"/>
              </a:ext>
            </a:extLst>
          </p:cNvPr>
          <p:cNvSpPr/>
          <p:nvPr/>
        </p:nvSpPr>
        <p:spPr>
          <a:xfrm flipV="1">
            <a:off x="1" y="6691182"/>
            <a:ext cx="12192000" cy="174247"/>
          </a:xfrm>
          <a:prstGeom prst="roundRect">
            <a:avLst>
              <a:gd name="adj" fmla="val 617"/>
            </a:avLst>
          </a:prstGeom>
          <a:gradFill flip="none" rotWithShape="1">
            <a:gsLst>
              <a:gs pos="0">
                <a:schemeClr val="accent2"/>
              </a:gs>
              <a:gs pos="99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2839356A-171E-2146-FA4F-C02129C84AB0}"/>
              </a:ext>
            </a:extLst>
          </p:cNvPr>
          <p:cNvSpPr/>
          <p:nvPr/>
        </p:nvSpPr>
        <p:spPr>
          <a:xfrm rot="5400000">
            <a:off x="1142229" y="1582679"/>
            <a:ext cx="276526" cy="276526"/>
          </a:xfrm>
          <a:prstGeom prst="rtTriangle">
            <a:avLst/>
          </a:prstGeom>
          <a:solidFill>
            <a:srgbClr val="E3EFFF"/>
          </a:solidFill>
          <a:ln>
            <a:noFill/>
          </a:ln>
          <a:effectLst>
            <a:outerShdw blurRad="457200" sx="102000" sy="102000" algn="ctr" rotWithShape="0">
              <a:prstClr val="black">
                <a:alpha val="3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E801F289-0ECE-E3D3-110F-3BB9C30B5C26}"/>
              </a:ext>
            </a:extLst>
          </p:cNvPr>
          <p:cNvSpPr txBox="1">
            <a:spLocks/>
          </p:cNvSpPr>
          <p:nvPr/>
        </p:nvSpPr>
        <p:spPr>
          <a:xfrm>
            <a:off x="1830732" y="2817803"/>
            <a:ext cx="3475710" cy="16532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sz="3200">
                <a:solidFill>
                  <a:schemeClr val="bg1"/>
                </a:solidFill>
              </a:rPr>
              <a:t>Click to edit Master title style</a:t>
            </a:r>
            <a:endParaRPr lang="en-IL" sz="3200">
              <a:solidFill>
                <a:schemeClr val="bg1"/>
              </a:solidFill>
            </a:endParaRPr>
          </a:p>
        </p:txBody>
      </p:sp>
      <p:sp>
        <p:nvSpPr>
          <p:cNvPr id="60" name="Content Placeholder 6">
            <a:extLst>
              <a:ext uri="{FF2B5EF4-FFF2-40B4-BE49-F238E27FC236}">
                <a16:creationId xmlns:a16="http://schemas.microsoft.com/office/drawing/2014/main" id="{7CD1E4E9-373E-B08C-9BF0-9099F0C25D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72983" y="3987350"/>
            <a:ext cx="4255317" cy="589735"/>
          </a:xfrm>
        </p:spPr>
        <p:txBody>
          <a:bodyPr/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Content Placeholder 6">
            <a:extLst>
              <a:ext uri="{FF2B5EF4-FFF2-40B4-BE49-F238E27FC236}">
                <a16:creationId xmlns:a16="http://schemas.microsoft.com/office/drawing/2014/main" id="{C3FC5C1B-8B04-A893-0281-824EF33B976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72982" y="4577085"/>
            <a:ext cx="4255317" cy="5897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9238096"/>
      </p:ext>
    </p:extLst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74113-52B6-8171-1E2D-FC5296710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2729150"/>
      </p:ext>
    </p:extLst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11FC77-AF24-FB37-1640-3D361C1BF0C2}"/>
              </a:ext>
            </a:extLst>
          </p:cNvPr>
          <p:cNvSpPr/>
          <p:nvPr userDrawn="1"/>
        </p:nvSpPr>
        <p:spPr>
          <a:xfrm>
            <a:off x="143932" y="203200"/>
            <a:ext cx="1176867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66877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AED8235-2D3E-644C-A4F6-A65FDBB30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2290"/>
            <a:ext cx="10515600" cy="4744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</a:t>
            </a:r>
            <a:r>
              <a:rPr lang="en-US" noProof="0"/>
              <a:t>edit Master </a:t>
            </a:r>
            <a:r>
              <a:rPr lang="en-US"/>
              <a:t>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7" name="Title Placeholder 16">
            <a:extLst>
              <a:ext uri="{FF2B5EF4-FFF2-40B4-BE49-F238E27FC236}">
                <a16:creationId xmlns:a16="http://schemas.microsoft.com/office/drawing/2014/main" id="{C94B83B8-5520-6AC4-EAF0-3AF8E53A3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622" y="386169"/>
            <a:ext cx="9554756" cy="589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E8E1D21A-1A6C-C984-9ADC-5CE9475EA1AC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5604" y="386169"/>
            <a:ext cx="1025924" cy="307777"/>
          </a:xfrm>
          <a:prstGeom prst="rect">
            <a:avLst/>
          </a:prstGeom>
        </p:spPr>
      </p:pic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0E393809-AAD2-2093-C9B6-D4856C465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11A8D46A-5540-D042-B349-A8BC7C95A2BE}" type="datetimeFigureOut">
              <a:rPr lang="en-IL" smtClean="0"/>
              <a:pPr/>
              <a:t>12/17/2025</a:t>
            </a:fld>
            <a:endParaRPr lang="en-IL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C03BC77C-B92D-BCA1-FCD3-A3EB5DAAD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C3C4BD0-B3AD-B9B3-9980-E32B58DA1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 rtl="1">
              <a:defRPr sz="11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0CD2D99E-3C87-4344-A2E9-B25C5378F534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14295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726" r:id="rId3"/>
    <p:sldLayoutId id="2147483682" r:id="rId4"/>
    <p:sldLayoutId id="2147483681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</p:sldLayoutIdLst>
  <p:transition spd="slow">
    <p:wipe dir="r"/>
  </p:transition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198900" indent="-1989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b="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 spc="3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k2view.sharepoint.com/sites/KS/_layouts/15/download.aspx?UniqueId=51f172a310b8491e9a6609e846ae24f9&amp;e=f76H7a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k2view.sharepoint.com/sites/KS/_layouts/15/download.aspx?UniqueId=51f172a310b8491e9a6609e846ae24f9&amp;e=E6vwnz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C399-5A6C-DCD4-6475-2AAE7F81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>
                <a:solidFill>
                  <a:srgbClr val="1082F2"/>
                </a:solidFill>
              </a:rPr>
            </a:br>
            <a:r>
              <a:rPr lang="en-US" sz="2000" dirty="0">
                <a:solidFill>
                  <a:srgbClr val="1082F2"/>
                </a:solidFill>
              </a:rPr>
              <a:t>Fabric Change Data Capture (CDC)</a:t>
            </a:r>
            <a:endParaRPr lang="en-US" dirty="0">
              <a:solidFill>
                <a:srgbClr val="108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217599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9CDA5-AADF-667B-CC83-7C5FF284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FE8-70C5-48FD-C209-02FF48645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1" rtlCol="0" anchor="t">
            <a:normAutofit/>
          </a:bodyPr>
          <a:lstStyle/>
          <a:p>
            <a:pPr marL="256050" indent="-285750"/>
            <a:r>
              <a:rPr lang="en-US" dirty="0"/>
              <a:t>The </a:t>
            </a:r>
            <a:r>
              <a:rPr lang="en-US" b="1" dirty="0"/>
              <a:t>Fabric Change Data Capture (CDC</a:t>
            </a:r>
            <a:r>
              <a:rPr lang="en-US" dirty="0"/>
              <a:t>) solution provides a mechanism to: </a:t>
            </a:r>
          </a:p>
          <a:p>
            <a:pPr marL="742950" lvl="1" indent="-285750"/>
            <a:r>
              <a:rPr lang="en-US" dirty="0"/>
              <a:t>Detect and capture data changes in the LUI in real time.</a:t>
            </a:r>
          </a:p>
          <a:p>
            <a:pPr marL="742950" lvl="1" indent="-285750"/>
            <a:r>
              <a:rPr lang="en-US" dirty="0"/>
              <a:t>Notify external systems about those changes.</a:t>
            </a:r>
          </a:p>
          <a:p>
            <a:pPr marL="256050" indent="-285750"/>
            <a:r>
              <a:rPr lang="en-US" dirty="0">
                <a:solidFill>
                  <a:srgbClr val="2E2E2E"/>
                </a:solidFill>
                <a:ea typeface="Roboto"/>
                <a:cs typeface="Roboto"/>
              </a:rPr>
              <a:t>CDC enables </a:t>
            </a:r>
            <a:r>
              <a:rPr lang="en-US" b="1" dirty="0">
                <a:solidFill>
                  <a:srgbClr val="2E2E2E"/>
                </a:solidFill>
                <a:ea typeface="Roboto"/>
                <a:cs typeface="Roboto"/>
              </a:rPr>
              <a:t>event-driven integration</a:t>
            </a:r>
            <a:r>
              <a:rPr lang="en-US" dirty="0">
                <a:solidFill>
                  <a:srgbClr val="2E2E2E"/>
                </a:solidFill>
                <a:ea typeface="Roboto"/>
                <a:cs typeface="Roboto"/>
              </a:rPr>
              <a:t> between Fabric and downstream consumers.</a:t>
            </a:r>
          </a:p>
          <a:p>
            <a:pPr lvl="1"/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1" name="Picture Placeholder 10" descr="A person standing on a mountain top&#10;&#10;Description automatically generated">
            <a:extLst>
              <a:ext uri="{FF2B5EF4-FFF2-40B4-BE49-F238E27FC236}">
                <a16:creationId xmlns:a16="http://schemas.microsoft.com/office/drawing/2014/main" id="{4257E792-4777-B1C3-03F3-2EC82B88E0F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2" r="34112"/>
          <a:stretch/>
        </p:blipFill>
        <p:spPr>
          <a:xfrm>
            <a:off x="0" y="0"/>
            <a:ext cx="3267635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05B1EC-133E-8A34-7476-CD159CF38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What is Fabric CDC</a:t>
            </a:r>
            <a:endParaRPr lang="en-IL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BDE8BEDF-7FE6-2867-9C06-E00AA164D2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41502158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4C330-3A0A-533C-4B47-104AE4514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5988-D6C9-3B8F-223A-9DF3A9859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Architecture and Features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EC778-713C-8591-7081-A6E3A1DB0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622" y="1241431"/>
            <a:ext cx="9554756" cy="2691065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256050" indent="-285750"/>
            <a:r>
              <a:rPr lang="en-US" sz="1800" dirty="0"/>
              <a:t>The Fabric CDC uses Kafka to publish change events to the external consumer.</a:t>
            </a:r>
          </a:p>
          <a:p>
            <a:pPr marL="256050" indent="-285750"/>
            <a:r>
              <a:rPr lang="en-US" sz="1800" dirty="0"/>
              <a:t>Enables </a:t>
            </a:r>
            <a:r>
              <a:rPr lang="en-US" sz="1800" b="1" dirty="0"/>
              <a:t>fine-tuned granular control</a:t>
            </a:r>
            <a:r>
              <a:rPr lang="en-US" sz="1800" dirty="0"/>
              <a:t> and </a:t>
            </a:r>
            <a:r>
              <a:rPr lang="en-US" sz="1800" b="1" dirty="0"/>
              <a:t>customer-specific data exposure </a:t>
            </a:r>
            <a:r>
              <a:rPr lang="en-US" sz="1800" dirty="0"/>
              <a:t>through custom field selection per LU table and consumer.</a:t>
            </a:r>
            <a:endParaRPr lang="en-US" sz="1800" b="1" dirty="0"/>
          </a:p>
          <a:p>
            <a:pPr marL="256050" indent="-285750"/>
            <a:r>
              <a:rPr lang="en-US" sz="1800" dirty="0"/>
              <a:t>Supports multiple consumers for CDC data, where each consumer has a </a:t>
            </a:r>
            <a:r>
              <a:rPr lang="en-US" sz="1800" b="1" dirty="0"/>
              <a:t>dedicated Kafka topic </a:t>
            </a:r>
            <a:r>
              <a:rPr lang="en-US" sz="1800" dirty="0"/>
              <a:t>and each topic receives only </a:t>
            </a:r>
            <a:r>
              <a:rPr lang="en-US" sz="1800" b="1" dirty="0"/>
              <a:t>the relevant data changes</a:t>
            </a:r>
            <a:r>
              <a:rPr lang="en-US" sz="1800" dirty="0"/>
              <a:t>.</a:t>
            </a:r>
          </a:p>
          <a:p>
            <a:pPr marL="256050" indent="-285750"/>
            <a:r>
              <a:rPr lang="en-US" sz="1800" dirty="0"/>
              <a:t>Provides a built-in Elastic Search integration (via CDC_TRANSACTION_CONSUMER job) to push changes to be indexed in Elasticsearch for search and analytics use cases.</a:t>
            </a: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D56EB031-EBCF-0207-232D-B7AA0AE104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sp>
        <p:nvSpPr>
          <p:cNvPr id="8" name="Rectangle 7">
            <a:hlinkClick r:id="" action="ppaction://noaction"/>
            <a:extLst>
              <a:ext uri="{FF2B5EF4-FFF2-40B4-BE49-F238E27FC236}">
                <a16:creationId xmlns:a16="http://schemas.microsoft.com/office/drawing/2014/main" id="{81A9B791-31B8-DF93-82C1-57170CA7921C}"/>
              </a:ext>
            </a:extLst>
          </p:cNvPr>
          <p:cNvSpPr/>
          <p:nvPr/>
        </p:nvSpPr>
        <p:spPr>
          <a:xfrm>
            <a:off x="8074790" y="3721495"/>
            <a:ext cx="4023068" cy="1712663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/>
            </a:solidFill>
          </a:ln>
          <a:effectLst>
            <a:outerShdw blurRad="157150" dist="145807" dir="6240000" sx="101824" sy="101824" algn="br" rotWithShape="0">
              <a:prstClr val="black">
                <a:alpha val="1711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BAB943-DBE3-F408-5042-D4F5B0E0F3D2}"/>
              </a:ext>
            </a:extLst>
          </p:cNvPr>
          <p:cNvSpPr txBox="1"/>
          <p:nvPr/>
        </p:nvSpPr>
        <p:spPr>
          <a:xfrm>
            <a:off x="8880681" y="3563165"/>
            <a:ext cx="292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rtl="0" eaLnBrk="1" latinLnBrk="0" hangingPunct="1"/>
            <a:r>
              <a:rPr lang="en-US" sz="1800" b="1" dirty="0"/>
              <a:t>Note: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A707257-9908-4DA4-8235-D81A9D328C14}"/>
              </a:ext>
            </a:extLst>
          </p:cNvPr>
          <p:cNvSpPr txBox="1">
            <a:spLocks/>
          </p:cNvSpPr>
          <p:nvPr/>
        </p:nvSpPr>
        <p:spPr>
          <a:xfrm>
            <a:off x="8364491" y="4144735"/>
            <a:ext cx="3733367" cy="866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98900" indent="-198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i="1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3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3B3C47"/>
                </a:solidFill>
                <a:latin typeface="Calibri"/>
                <a:cs typeface="Calibri"/>
              </a:rPr>
              <a:t>The integration is being done </a:t>
            </a:r>
            <a:r>
              <a:rPr lang="en-US" sz="1600" dirty="0">
                <a:solidFill>
                  <a:srgbClr val="3B3C47"/>
                </a:solidFill>
                <a:cs typeface="Calibri"/>
              </a:rPr>
              <a:t>through an internal process that uses the reserved </a:t>
            </a:r>
            <a:r>
              <a:rPr lang="en-US" sz="1600" dirty="0">
                <a:solidFill>
                  <a:srgbClr val="3B3C47"/>
                </a:solidFill>
                <a:latin typeface="Calibri"/>
                <a:cs typeface="Calibri"/>
              </a:rPr>
              <a:t>consumer named “Search”.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E6CA756-E250-FCBF-7A11-692D53F0A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0734" y="3547894"/>
            <a:ext cx="439947" cy="439947"/>
          </a:xfrm>
          <a:prstGeom prst="rect">
            <a:avLst/>
          </a:prstGeom>
        </p:spPr>
      </p:pic>
      <p:pic>
        <p:nvPicPr>
          <p:cNvPr id="1026" name="Picture 2" descr="CDC HL Flow">
            <a:extLst>
              <a:ext uri="{FF2B5EF4-FFF2-40B4-BE49-F238E27FC236}">
                <a16:creationId xmlns:a16="http://schemas.microsoft.com/office/drawing/2014/main" id="{8924AFDD-CDBA-E176-20E9-C1CFB270F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453" y="3563165"/>
            <a:ext cx="6756168" cy="307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9307069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04B16-B10C-5684-1F26-A59BF4762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04F16-06AF-FA95-2546-C60433EE5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1" rtlCol="0" anchor="t">
            <a:normAutofit/>
          </a:bodyPr>
          <a:lstStyle/>
          <a:p>
            <a:pPr marL="256050" indent="-285750"/>
            <a:r>
              <a:rPr lang="en-US" sz="1800" b="1" dirty="0"/>
              <a:t>Real-time data sync </a:t>
            </a:r>
            <a:r>
              <a:rPr lang="en-US" sz="1800" dirty="0"/>
              <a:t>across downstream systems.</a:t>
            </a:r>
          </a:p>
          <a:p>
            <a:pPr marL="256050" indent="-285750"/>
            <a:r>
              <a:rPr lang="en-US" sz="1800" b="1" dirty="0"/>
              <a:t>Scalable, </a:t>
            </a:r>
            <a:r>
              <a:rPr lang="en-US" sz="1800" dirty="0"/>
              <a:t>Kafka-based delivery</a:t>
            </a:r>
          </a:p>
          <a:p>
            <a:pPr marL="256050" indent="-285750"/>
            <a:r>
              <a:rPr lang="en-US" sz="1800" b="1" dirty="0"/>
              <a:t>Targeted data exposure </a:t>
            </a:r>
            <a:r>
              <a:rPr lang="en-US" sz="1800" dirty="0"/>
              <a:t>improves security and efficiency.</a:t>
            </a:r>
          </a:p>
          <a:p>
            <a:pPr marL="256050" indent="-285750"/>
            <a:r>
              <a:rPr lang="en-US" sz="1800" dirty="0"/>
              <a:t>Simplifies integration with downstream systems.</a:t>
            </a:r>
          </a:p>
          <a:p>
            <a:pPr marL="256050" indent="-285750"/>
            <a:r>
              <a:rPr lang="en-US" sz="1800" dirty="0"/>
              <a:t>Built-in support with Elasticsearch for </a:t>
            </a:r>
            <a:r>
              <a:rPr lang="en-US" sz="1800" b="1" dirty="0"/>
              <a:t>search, analytics,</a:t>
            </a:r>
            <a:r>
              <a:rPr lang="en-US" sz="1800" dirty="0"/>
              <a:t> and </a:t>
            </a:r>
            <a:r>
              <a:rPr lang="en-US" sz="1800" b="1" dirty="0"/>
              <a:t>monitoring.</a:t>
            </a: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1" name="Picture Placeholder 10" descr="A person standing on a mountain top&#10;&#10;Description automatically generated">
            <a:extLst>
              <a:ext uri="{FF2B5EF4-FFF2-40B4-BE49-F238E27FC236}">
                <a16:creationId xmlns:a16="http://schemas.microsoft.com/office/drawing/2014/main" id="{081573C0-F3F3-DCA4-F37F-2B01E1F9AE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2" r="34112"/>
          <a:stretch/>
        </p:blipFill>
        <p:spPr>
          <a:xfrm>
            <a:off x="0" y="0"/>
            <a:ext cx="3267635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F966D9-164B-2533-E6F6-B4943CC0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Benefits</a:t>
            </a:r>
            <a:endParaRPr lang="en-IL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E045A95B-3296-A317-C1D2-0A815332D2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98370690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07CC5-F7F9-6ECC-C7BF-C1E0103E1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E48E-1B2E-244A-258C-6CF0DB95A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>
                <a:solidFill>
                  <a:srgbClr val="1082F2"/>
                </a:solidFill>
              </a:rPr>
            </a:br>
            <a:r>
              <a:rPr lang="en-US" sz="2000" dirty="0">
                <a:solidFill>
                  <a:srgbClr val="1082F2"/>
                </a:solidFill>
              </a:rPr>
              <a:t>Implementation Steps for CDC</a:t>
            </a:r>
            <a:endParaRPr lang="en-US" dirty="0">
              <a:solidFill>
                <a:srgbClr val="108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634144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97B5-B7C8-5148-6F51-E4432DE0C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633E9-C531-222F-979A-77B290CB6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Configure Consumers of CDC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D78D3-D113-B967-8142-83D21159F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622" y="1114513"/>
            <a:ext cx="9554756" cy="1884894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255905" indent="-285750"/>
            <a:r>
              <a:rPr lang="en-US" sz="1800" dirty="0"/>
              <a:t>Configure Consumers in .k2proj File</a:t>
            </a:r>
            <a:endParaRPr lang="en-US" dirty="0"/>
          </a:p>
          <a:p>
            <a:pPr marL="742950" lvl="1" indent="-285750"/>
            <a:r>
              <a:rPr lang="en-US" sz="1600" dirty="0"/>
              <a:t>CDC Consumers must be declared in the project configuration.</a:t>
            </a:r>
          </a:p>
          <a:p>
            <a:pPr marL="742950" lvl="1" indent="-285750"/>
            <a:r>
              <a:rPr lang="en-US" sz="1600" dirty="0"/>
              <a:t>Default .k2proj includes only the Search consumer, which is reserved for the integration with Elasticsearch. Don’t alter or reuse this name.</a:t>
            </a:r>
          </a:p>
          <a:p>
            <a:pPr marL="742950" lvl="1" indent="-285750"/>
            <a:r>
              <a:rPr lang="en-US" sz="1600" dirty="0"/>
              <a:t>Add customer consumers by adding DataChange elements.</a:t>
            </a:r>
          </a:p>
          <a:p>
            <a:pPr marL="742950" lvl="1" indent="-285750"/>
            <a:r>
              <a:rPr lang="en-US" sz="1600" dirty="0"/>
              <a:t>The Fabric Studio requires a restart to reload changes. </a:t>
            </a:r>
          </a:p>
          <a:p>
            <a:pPr marL="742950" lvl="1" indent="-285750"/>
            <a:endParaRPr lang="en-US" sz="1600" dirty="0"/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9BD39AD9-165A-EBEF-9E94-622C6422C2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sp>
        <p:nvSpPr>
          <p:cNvPr id="5" name="Rectangle 4">
            <a:hlinkClick r:id="" action="ppaction://noaction"/>
            <a:extLst>
              <a:ext uri="{FF2B5EF4-FFF2-40B4-BE49-F238E27FC236}">
                <a16:creationId xmlns:a16="http://schemas.microsoft.com/office/drawing/2014/main" id="{B37A01AB-5EB6-B14A-33E4-21790BC27B75}"/>
              </a:ext>
            </a:extLst>
          </p:cNvPr>
          <p:cNvSpPr/>
          <p:nvPr/>
        </p:nvSpPr>
        <p:spPr>
          <a:xfrm>
            <a:off x="8050727" y="4076210"/>
            <a:ext cx="4023068" cy="1712663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/>
            </a:solidFill>
          </a:ln>
          <a:effectLst>
            <a:outerShdw blurRad="157150" dist="145807" dir="6240000" sx="101824" sy="101824" algn="br" rotWithShape="0">
              <a:prstClr val="black">
                <a:alpha val="1711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93C64D-6889-42BD-A506-7566B5E36BBF}"/>
              </a:ext>
            </a:extLst>
          </p:cNvPr>
          <p:cNvSpPr txBox="1"/>
          <p:nvPr/>
        </p:nvSpPr>
        <p:spPr>
          <a:xfrm>
            <a:off x="8856618" y="4230428"/>
            <a:ext cx="292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rtl="0" eaLnBrk="1" latinLnBrk="0" hangingPunct="1"/>
            <a:r>
              <a:rPr lang="en-US" sz="1800" b="1" dirty="0"/>
              <a:t>Note: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A6050A-44F5-BCFA-5272-F7B169344E2A}"/>
              </a:ext>
            </a:extLst>
          </p:cNvPr>
          <p:cNvSpPr txBox="1">
            <a:spLocks/>
          </p:cNvSpPr>
          <p:nvPr/>
        </p:nvSpPr>
        <p:spPr>
          <a:xfrm>
            <a:off x="8340428" y="4811998"/>
            <a:ext cx="3733367" cy="8661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198900" indent="-198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i="1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3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3B3C47"/>
                </a:solidFill>
                <a:latin typeface="Calibri"/>
                <a:cs typeface="Calibri"/>
              </a:rPr>
              <a:t>The “option” </a:t>
            </a:r>
            <a:r>
              <a:rPr lang="en-US" sz="1600" dirty="0">
                <a:solidFill>
                  <a:srgbClr val="3B3C47"/>
                </a:solidFill>
                <a:cs typeface="Calibri"/>
              </a:rPr>
              <a:t>allows for “tagging” </a:t>
            </a:r>
            <a:r>
              <a:rPr lang="en-US" sz="1600" dirty="0">
                <a:solidFill>
                  <a:srgbClr val="3B3C47"/>
                </a:solidFill>
                <a:latin typeface="Calibri"/>
                <a:cs typeface="Calibri"/>
              </a:rPr>
              <a:t>a column </a:t>
            </a:r>
            <a:r>
              <a:rPr lang="en-US" sz="1600" dirty="0">
                <a:solidFill>
                  <a:srgbClr val="3B3C47"/>
                </a:solidFill>
                <a:cs typeface="Calibri"/>
              </a:rPr>
              <a:t>in the CDC message to be used as needed by the consumer process. The most common one for custom consumers is “data”</a:t>
            </a:r>
            <a:endParaRPr lang="en-US" sz="1600" dirty="0">
              <a:solidFill>
                <a:srgbClr val="3B3C47"/>
              </a:solidFill>
              <a:latin typeface="Calibri"/>
              <a:cs typeface="Calibri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D454AAB-B3AE-F7E7-809C-43588E071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6671" y="4215157"/>
            <a:ext cx="439947" cy="4399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C5F304-83A8-F317-45AE-1CBD00D3C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625" y="2928189"/>
            <a:ext cx="7138021" cy="3622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E811FF-75FE-233F-33F5-A4A5FAE4CB94}"/>
              </a:ext>
            </a:extLst>
          </p:cNvPr>
          <p:cNvSpPr/>
          <p:nvPr/>
        </p:nvSpPr>
        <p:spPr>
          <a:xfrm>
            <a:off x="2926080" y="4325920"/>
            <a:ext cx="1907470" cy="7132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430C77-8335-A24E-C3CC-1B53D20E9358}"/>
              </a:ext>
            </a:extLst>
          </p:cNvPr>
          <p:cNvSpPr/>
          <p:nvPr/>
        </p:nvSpPr>
        <p:spPr>
          <a:xfrm>
            <a:off x="2926080" y="5084785"/>
            <a:ext cx="1907470" cy="60254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6120F8-69F8-36DF-B43A-A9FA9620DA20}"/>
              </a:ext>
            </a:extLst>
          </p:cNvPr>
          <p:cNvSpPr/>
          <p:nvPr/>
        </p:nvSpPr>
        <p:spPr>
          <a:xfrm>
            <a:off x="2926080" y="5711383"/>
            <a:ext cx="1907470" cy="51568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4335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00799-48BF-4CE8-1717-F5FB4BCB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FD07E-7EDC-B1C0-8CB8-298A2B55D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Configure LU Tables of CDC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6397E-8334-E915-3F7B-C3930406E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622" y="1114512"/>
            <a:ext cx="9554756" cy="216208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256050" indent="-285750"/>
            <a:r>
              <a:rPr lang="en-US" sz="1800" dirty="0"/>
              <a:t>Open the required LU table in Fabric Studio.</a:t>
            </a:r>
          </a:p>
          <a:p>
            <a:pPr marL="256050" indent="-285750"/>
            <a:r>
              <a:rPr lang="en-US" sz="1800" dirty="0"/>
              <a:t>Access the Table Properties pane.</a:t>
            </a:r>
          </a:p>
          <a:p>
            <a:pPr marL="256050" indent="-285750"/>
            <a:r>
              <a:rPr lang="en-US" sz="1800" dirty="0"/>
              <a:t>Expand the “Data Change Indexes” section.</a:t>
            </a:r>
          </a:p>
          <a:p>
            <a:pPr marL="742950" lvl="1" indent="-285750"/>
            <a:r>
              <a:rPr lang="en-US" sz="1600" i="0" dirty="0"/>
              <a:t>The subsection for each consumer will be displayed.</a:t>
            </a:r>
          </a:p>
          <a:p>
            <a:pPr marL="742950" lvl="1" indent="-285750"/>
            <a:r>
              <a:rPr lang="en-US" sz="1600" i="0" dirty="0"/>
              <a:t>Add columns using the ‘+’ button for an individual column or the ‘select all’  button to add multiple/all columns at once.</a:t>
            </a: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02104752-233B-8B0B-50F6-3D20A645A2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2A6DB-5778-3E29-C1D3-7EABB138E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29" y="3127756"/>
            <a:ext cx="4589758" cy="34896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AE76E9-9DD2-D5B4-DF93-0DBAEFC53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471" y="2961432"/>
            <a:ext cx="4589759" cy="351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99684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9C602-E9A8-6E01-63B3-D2438AE0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782FD-C8B2-B1FF-3180-73AE0304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Create Consumer Topics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1AE60-AF29-1430-B38A-56612853B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622" y="1114512"/>
            <a:ext cx="6005722" cy="4810800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256050" indent="-285750"/>
            <a:r>
              <a:rPr lang="en-US" sz="1800" dirty="0"/>
              <a:t>Kafka topic is created (if does not exist) at the time of LU deployment – for each consumer that has CDC index added in LU table(s)</a:t>
            </a:r>
          </a:p>
          <a:p>
            <a:pPr marL="256050" indent="-285750"/>
            <a:r>
              <a:rPr lang="en-US" sz="1800" dirty="0"/>
              <a:t>Name of the Kafka topic is identical to the name defined in .k2proj file (same name is exposed in Studio table window tab)</a:t>
            </a:r>
          </a:p>
          <a:p>
            <a:pPr marL="256050" indent="-285750"/>
            <a:r>
              <a:rPr lang="en-US" sz="1800" dirty="0"/>
              <a:t>Fabric concatenates </a:t>
            </a:r>
            <a:r>
              <a:rPr lang="en-US" sz="1800" dirty="0" err="1"/>
              <a:t>cluster_id</a:t>
            </a:r>
            <a:r>
              <a:rPr lang="en-US" sz="1800" dirty="0"/>
              <a:t> to each topic name if </a:t>
            </a:r>
            <a:r>
              <a:rPr lang="en-US" sz="1800" dirty="0" err="1"/>
              <a:t>cluster_id</a:t>
            </a:r>
            <a:r>
              <a:rPr lang="en-US" sz="1800" dirty="0"/>
              <a:t> is defined in node.id file</a:t>
            </a: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94197BB9-49D3-66A1-F474-A1A3BC26F4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D6C5DAE-CB1B-9426-811F-CECCAEB4FA77}"/>
              </a:ext>
            </a:extLst>
          </p:cNvPr>
          <p:cNvGrpSpPr/>
          <p:nvPr/>
        </p:nvGrpSpPr>
        <p:grpSpPr>
          <a:xfrm>
            <a:off x="7808976" y="1904118"/>
            <a:ext cx="4023068" cy="1712663"/>
            <a:chOff x="8050727" y="4076210"/>
            <a:chExt cx="4023068" cy="1712663"/>
          </a:xfrm>
        </p:grpSpPr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DBC9B09E-1749-B0B6-A14B-A6EDBAFFB5C2}"/>
                </a:ext>
              </a:extLst>
            </p:cNvPr>
            <p:cNvSpPr/>
            <p:nvPr/>
          </p:nvSpPr>
          <p:spPr>
            <a:xfrm>
              <a:off x="8050727" y="4076210"/>
              <a:ext cx="4023068" cy="171266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2"/>
              </a:solidFill>
            </a:ln>
            <a:effectLst>
              <a:outerShdw blurRad="157150" dist="145807" dir="6240000" sx="101824" sy="101824" algn="br" rotWithShape="0">
                <a:prstClr val="black">
                  <a:alpha val="17111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49B342-4185-0EE1-D78F-DF3AE872D923}"/>
                </a:ext>
              </a:extLst>
            </p:cNvPr>
            <p:cNvSpPr txBox="1"/>
            <p:nvPr/>
          </p:nvSpPr>
          <p:spPr>
            <a:xfrm>
              <a:off x="8856618" y="4230428"/>
              <a:ext cx="29277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defTabSz="914400" rtl="0" eaLnBrk="1" latinLnBrk="0" hangingPunct="1"/>
              <a:r>
                <a:rPr lang="en-US" sz="1800" b="1" dirty="0"/>
                <a:t>Note:</a:t>
              </a:r>
            </a:p>
          </p:txBody>
        </p:sp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4811FBBF-1B46-9699-6F7E-31EA720F6FA3}"/>
                </a:ext>
              </a:extLst>
            </p:cNvPr>
            <p:cNvSpPr txBox="1">
              <a:spLocks/>
            </p:cNvSpPr>
            <p:nvPr/>
          </p:nvSpPr>
          <p:spPr>
            <a:xfrm>
              <a:off x="8340428" y="4811998"/>
              <a:ext cx="3733367" cy="866185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92500" lnSpcReduction="20000"/>
            </a:bodyPr>
            <a:lstStyle>
              <a:lvl1pPr marL="198900" indent="-1989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b="0" kern="1200" spc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i="1" kern="12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 spc="3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solidFill>
                    <a:srgbClr val="3B3C47"/>
                  </a:solidFill>
                  <a:latin typeface="Calibri"/>
                  <a:cs typeface="Calibri"/>
                </a:rPr>
                <a:t>Fabric creates topic with single partition by default. Therefore it is recommended either to create topics upfront or alter number of partitions after first LU deployment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D9EE2A0-AB3E-D6D3-FD2C-75684D8E8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16671" y="4215157"/>
              <a:ext cx="439947" cy="439947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DEB17A8-53BE-0D84-FDB1-572AF567B882}"/>
              </a:ext>
            </a:extLst>
          </p:cNvPr>
          <p:cNvGrpSpPr/>
          <p:nvPr/>
        </p:nvGrpSpPr>
        <p:grpSpPr>
          <a:xfrm>
            <a:off x="7808976" y="4042686"/>
            <a:ext cx="4023068" cy="1712663"/>
            <a:chOff x="8050727" y="4076210"/>
            <a:chExt cx="4023068" cy="1712663"/>
          </a:xfrm>
        </p:grpSpPr>
        <p:sp>
          <p:nvSpPr>
            <p:cNvPr id="14" name="Rectangle 13">
              <a:hlinkClick r:id="" action="ppaction://noaction"/>
              <a:extLst>
                <a:ext uri="{FF2B5EF4-FFF2-40B4-BE49-F238E27FC236}">
                  <a16:creationId xmlns:a16="http://schemas.microsoft.com/office/drawing/2014/main" id="{251F7E77-85A6-3DFC-F3DB-2FD456B98B5E}"/>
                </a:ext>
              </a:extLst>
            </p:cNvPr>
            <p:cNvSpPr/>
            <p:nvPr/>
          </p:nvSpPr>
          <p:spPr>
            <a:xfrm>
              <a:off x="8050727" y="4076210"/>
              <a:ext cx="4023068" cy="171266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2"/>
              </a:solidFill>
            </a:ln>
            <a:effectLst>
              <a:outerShdw blurRad="157150" dist="145807" dir="6240000" sx="101824" sy="101824" algn="br" rotWithShape="0">
                <a:prstClr val="black">
                  <a:alpha val="17111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CDA3D1D-DC40-7961-F48A-EF6FF9BEC9F4}"/>
                </a:ext>
              </a:extLst>
            </p:cNvPr>
            <p:cNvSpPr txBox="1"/>
            <p:nvPr/>
          </p:nvSpPr>
          <p:spPr>
            <a:xfrm>
              <a:off x="8856618" y="4230428"/>
              <a:ext cx="29277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defTabSz="914400" rtl="0" eaLnBrk="1" latinLnBrk="0" hangingPunct="1"/>
              <a:r>
                <a:rPr lang="en-US" sz="1800" b="1" dirty="0"/>
                <a:t>Note:</a:t>
              </a:r>
            </a:p>
          </p:txBody>
        </p:sp>
        <p:sp>
          <p:nvSpPr>
            <p:cNvPr id="16" name="Content Placeholder 2">
              <a:extLst>
                <a:ext uri="{FF2B5EF4-FFF2-40B4-BE49-F238E27FC236}">
                  <a16:creationId xmlns:a16="http://schemas.microsoft.com/office/drawing/2014/main" id="{7790C7AA-4AE0-60D2-62C0-4D8814E5F7F9}"/>
                </a:ext>
              </a:extLst>
            </p:cNvPr>
            <p:cNvSpPr txBox="1">
              <a:spLocks/>
            </p:cNvSpPr>
            <p:nvPr/>
          </p:nvSpPr>
          <p:spPr>
            <a:xfrm>
              <a:off x="8340428" y="4811998"/>
              <a:ext cx="3733367" cy="866185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198900" indent="-1989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b="0" kern="1200" spc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i="1" kern="12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 spc="3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>
                  <a:solidFill>
                    <a:srgbClr val="3B3C47"/>
                  </a:solidFill>
                  <a:latin typeface="Calibri"/>
                  <a:cs typeface="Calibri"/>
                </a:rPr>
                <a:t>If consumer defined in .k2proj file, but has no any LU table column indexed for it – no topic will be created</a:t>
              </a: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26A100EE-AC8E-3ECB-CB86-4488087CA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16671" y="4215157"/>
              <a:ext cx="439947" cy="4399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8795260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62116-4F5E-C86E-0DF6-8D163853D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3F6FF-2579-FBAC-3AD0-C4E69388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Deploy LU &amp; Schema Publishing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13872-4668-684A-9277-2C304F2D8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622" y="1114512"/>
            <a:ext cx="9554756" cy="1649155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256050" indent="-285750"/>
            <a:r>
              <a:rPr lang="en-US" sz="1800" b="1" dirty="0"/>
              <a:t>First-time LU deploy </a:t>
            </a:r>
            <a:r>
              <a:rPr lang="en-US" sz="1800" dirty="0"/>
              <a:t>to Fabric</a:t>
            </a:r>
          </a:p>
          <a:p>
            <a:pPr marL="742950" lvl="1" indent="-285750"/>
            <a:r>
              <a:rPr lang="en-US" sz="1600" b="1" dirty="0"/>
              <a:t>Kafka Topic </a:t>
            </a:r>
            <a:r>
              <a:rPr lang="en-US" sz="1600" dirty="0"/>
              <a:t>will be created</a:t>
            </a:r>
          </a:p>
          <a:p>
            <a:pPr marL="1200150" lvl="2" indent="-285750"/>
            <a:r>
              <a:rPr lang="en-US" sz="1400" dirty="0"/>
              <a:t>Topic name = Consumer name</a:t>
            </a:r>
          </a:p>
          <a:p>
            <a:pPr marL="1200150" lvl="2" indent="-285750"/>
            <a:r>
              <a:rPr lang="en-US" sz="1400" dirty="0"/>
              <a:t>Cluster ID concatenated to topic name (if cluster ID is configured for the Fabric cluster)</a:t>
            </a:r>
          </a:p>
          <a:p>
            <a:pPr marL="742950" lvl="1" indent="-285750"/>
            <a:r>
              <a:rPr lang="en-US" sz="1600" b="1" dirty="0"/>
              <a:t>CDC schema messages</a:t>
            </a:r>
            <a:r>
              <a:rPr lang="en-US" sz="1600" dirty="0"/>
              <a:t> published to KAFKA (per consumer/topic)</a:t>
            </a:r>
          </a:p>
          <a:p>
            <a:pPr marL="742950" lvl="1" indent="-285750"/>
            <a:endParaRPr lang="en-US" sz="1600" dirty="0"/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6AB846C7-CF95-94E9-E3E7-6F21EC324C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985996-CD5B-EE93-A196-1604064DB3FE}"/>
              </a:ext>
            </a:extLst>
          </p:cNvPr>
          <p:cNvSpPr txBox="1">
            <a:spLocks/>
          </p:cNvSpPr>
          <p:nvPr/>
        </p:nvSpPr>
        <p:spPr>
          <a:xfrm>
            <a:off x="1471022" y="4635754"/>
            <a:ext cx="9554756" cy="982993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marL="198900" indent="-198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6050" indent="-285750"/>
            <a:r>
              <a:rPr lang="en-US" sz="1800" b="1" dirty="0"/>
              <a:t>LU redeploy </a:t>
            </a:r>
            <a:r>
              <a:rPr lang="en-US" sz="1800" dirty="0"/>
              <a:t>to Fabric</a:t>
            </a:r>
          </a:p>
          <a:p>
            <a:pPr marL="742950" lvl="1" indent="-285750"/>
            <a:r>
              <a:rPr lang="en-US" sz="1600" b="1" dirty="0"/>
              <a:t>CDC schema update messages </a:t>
            </a:r>
            <a:r>
              <a:rPr lang="en-US" sz="1600" dirty="0"/>
              <a:t>published (per consumer, if the schema changed)</a:t>
            </a:r>
          </a:p>
          <a:p>
            <a:pPr marL="742950" lvl="1" indent="-285750"/>
            <a:endParaRPr lang="en-US" sz="1600" dirty="0"/>
          </a:p>
          <a:p>
            <a:pPr marL="742950" lvl="1" indent="-285750"/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68733D-3E2C-FB06-86CD-4EC9C78FF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622" y="2666700"/>
            <a:ext cx="9173855" cy="10097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1A6385A-BFA4-55FF-77BC-0653C8063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757165"/>
            <a:ext cx="11643360" cy="9101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FDE50BA-F8CF-606E-A992-90D552D3C6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5420283"/>
            <a:ext cx="11643360" cy="6173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74588977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C5D1F-22CA-CBBA-AA74-88E5781CE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2E251-6FF2-9499-C4E2-C4DB609BC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>
                <a:solidFill>
                  <a:srgbClr val="1082F2"/>
                </a:solidFill>
              </a:rPr>
            </a:br>
            <a:r>
              <a:rPr lang="en-US" sz="2000" dirty="0">
                <a:solidFill>
                  <a:srgbClr val="1082F2"/>
                </a:solidFill>
              </a:rPr>
              <a:t>CDC Message Types</a:t>
            </a:r>
            <a:endParaRPr lang="en-US" dirty="0">
              <a:solidFill>
                <a:srgbClr val="108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621103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74909-98FC-1872-CD40-8054BCBB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314F7-7C83-EDDC-0219-50C396310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CDC SCHEMA Message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CFAF0-ABC7-3B04-C99C-AB98E884D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027"/>
            <a:ext cx="4569542" cy="4679936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256050" indent="-285750"/>
            <a:r>
              <a:rPr lang="en-US" sz="1800" dirty="0"/>
              <a:t>The </a:t>
            </a:r>
            <a:r>
              <a:rPr lang="en-US" sz="1800" b="1" dirty="0"/>
              <a:t>CDC Schema message </a:t>
            </a:r>
            <a:r>
              <a:rPr lang="en-US" sz="1800" dirty="0"/>
              <a:t>(datatype=SCHEMA) is triggered when the logical unit (LU) with the CDC configuration is deployed for the first time.</a:t>
            </a:r>
          </a:p>
          <a:p>
            <a:pPr marL="256050" indent="-285750"/>
            <a:r>
              <a:rPr lang="en-US" sz="1800" dirty="0"/>
              <a:t>Contains LU name, tables, columns, tags, and primary key (PK) flags.</a:t>
            </a: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AF8B3F38-7C87-EDB2-A8B5-9386D2DAE1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C101D7-2468-0DD3-69C0-9A37A4EA4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97027"/>
            <a:ext cx="5046406" cy="419682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60BFEA-921C-B863-C617-F3E3B1155027}"/>
              </a:ext>
            </a:extLst>
          </p:cNvPr>
          <p:cNvGrpSpPr/>
          <p:nvPr/>
        </p:nvGrpSpPr>
        <p:grpSpPr>
          <a:xfrm>
            <a:off x="1652603" y="4647318"/>
            <a:ext cx="4023068" cy="1712663"/>
            <a:chOff x="8050727" y="4076210"/>
            <a:chExt cx="4023068" cy="1712663"/>
          </a:xfrm>
        </p:grpSpPr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5BC3AB11-E724-8B73-0646-B331FAF1068C}"/>
                </a:ext>
              </a:extLst>
            </p:cNvPr>
            <p:cNvSpPr/>
            <p:nvPr/>
          </p:nvSpPr>
          <p:spPr>
            <a:xfrm>
              <a:off x="8050727" y="4076210"/>
              <a:ext cx="4023068" cy="171266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2"/>
              </a:solidFill>
            </a:ln>
            <a:effectLst>
              <a:outerShdw blurRad="157150" dist="145807" dir="6240000" sx="101824" sy="101824" algn="br" rotWithShape="0">
                <a:prstClr val="black">
                  <a:alpha val="17111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801A33-09D2-5942-4E5E-D3477F30DE8E}"/>
                </a:ext>
              </a:extLst>
            </p:cNvPr>
            <p:cNvSpPr txBox="1"/>
            <p:nvPr/>
          </p:nvSpPr>
          <p:spPr>
            <a:xfrm>
              <a:off x="8856618" y="4230428"/>
              <a:ext cx="29277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defTabSz="914400" rtl="0" eaLnBrk="1" latinLnBrk="0" hangingPunct="1"/>
              <a:r>
                <a:rPr lang="en-US" sz="1800" b="1" dirty="0"/>
                <a:t>Note:</a:t>
              </a:r>
            </a:p>
          </p:txBody>
        </p:sp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D3DA0B41-F940-A059-1343-DEF9BC016F72}"/>
                </a:ext>
              </a:extLst>
            </p:cNvPr>
            <p:cNvSpPr txBox="1">
              <a:spLocks/>
            </p:cNvSpPr>
            <p:nvPr/>
          </p:nvSpPr>
          <p:spPr>
            <a:xfrm>
              <a:off x="8340428" y="4811998"/>
              <a:ext cx="3733367" cy="866185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92500"/>
            </a:bodyPr>
            <a:lstStyle>
              <a:lvl1pPr marL="198900" indent="-1989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b="0" kern="1200" spc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i="1" kern="12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 spc="3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/>
                <a:t>SCHEMA message for each consumer contains info only for tables and columns with CDC indexes defined for that consumer</a:t>
              </a:r>
              <a:endParaRPr lang="en-US" sz="1600" dirty="0">
                <a:solidFill>
                  <a:srgbClr val="3B3C47"/>
                </a:solidFill>
                <a:latin typeface="Calibri"/>
                <a:cs typeface="Calibri"/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6499E6A2-073F-D256-729C-000A21F31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416671" y="4215157"/>
              <a:ext cx="439947" cy="4399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408116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52894-BDCE-8160-F455-F735FF8B7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B6C05-ABBF-75F1-BE18-DF6C8AAE2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CDC SCHEMA UPDATE Message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30A8D-2510-76E0-34C7-5814E8A85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009" y="995407"/>
            <a:ext cx="5368391" cy="4679936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256050" indent="-285750"/>
            <a:r>
              <a:rPr lang="en-US" sz="1800" dirty="0"/>
              <a:t>The </a:t>
            </a:r>
            <a:r>
              <a:rPr lang="en-US" sz="1800" b="1" dirty="0"/>
              <a:t>CDC Schema Update message </a:t>
            </a:r>
            <a:r>
              <a:rPr lang="en-US" sz="1800" dirty="0"/>
              <a:t>(datatype=SCHEMA_UPDATE) is triggered when a logical unit (LU) with a CDC configuration change is redeployed or dropped.</a:t>
            </a:r>
            <a:endParaRPr lang="ru-RU" sz="1800" dirty="0"/>
          </a:p>
          <a:p>
            <a:pPr marL="256050" indent="-285750"/>
            <a:endParaRPr lang="en-US" sz="1800" dirty="0"/>
          </a:p>
          <a:p>
            <a:pPr marL="256050" indent="-285750"/>
            <a:endParaRPr lang="en-US" sz="1800" dirty="0"/>
          </a:p>
          <a:p>
            <a:pPr marL="256050" indent="-285750"/>
            <a:endParaRPr lang="en-US" sz="1800" dirty="0"/>
          </a:p>
          <a:p>
            <a:pPr marL="256050" indent="-285750"/>
            <a:endParaRPr lang="en-US" sz="1800" dirty="0"/>
          </a:p>
          <a:p>
            <a:pPr marL="256050" indent="-285750"/>
            <a:endParaRPr lang="en-US" sz="1800" dirty="0"/>
          </a:p>
          <a:p>
            <a:pPr marL="256050" indent="-285750"/>
            <a:r>
              <a:rPr lang="en-US" sz="1800" dirty="0"/>
              <a:t>Captures table and column-level changes (UPDATED, REMOVED, and ADDED).</a:t>
            </a:r>
            <a:endParaRPr lang="ru-RU" sz="1800" dirty="0"/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DD72AB4F-9055-C787-8D72-B1B8D19DFA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49C3C9-8E24-8510-CA08-7CFBC64E2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038" y="893372"/>
            <a:ext cx="2692876" cy="57272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E79917-9274-2B37-EA87-32681E1E6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7178" y="893372"/>
            <a:ext cx="2640932" cy="2486717"/>
          </a:xfrm>
          <a:prstGeom prst="rect">
            <a:avLst/>
          </a:prstGeom>
        </p:spPr>
      </p:pic>
      <p:sp>
        <p:nvSpPr>
          <p:cNvPr id="4" name="Rectangle 3">
            <a:hlinkClick r:id="" action="ppaction://noaction"/>
            <a:extLst>
              <a:ext uri="{FF2B5EF4-FFF2-40B4-BE49-F238E27FC236}">
                <a16:creationId xmlns:a16="http://schemas.microsoft.com/office/drawing/2014/main" id="{D16DD05E-79C4-BFC8-5EF5-4EB3577EDD32}"/>
              </a:ext>
            </a:extLst>
          </p:cNvPr>
          <p:cNvSpPr/>
          <p:nvPr/>
        </p:nvSpPr>
        <p:spPr>
          <a:xfrm>
            <a:off x="1685900" y="4945797"/>
            <a:ext cx="4023068" cy="1712663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/>
            </a:solidFill>
          </a:ln>
          <a:effectLst>
            <a:outerShdw blurRad="157150" dist="145807" dir="6240000" sx="101824" sy="101824" algn="br" rotWithShape="0">
              <a:prstClr val="black">
                <a:alpha val="1711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388A4C-5E03-F6CF-A2E1-A872FC05B74E}"/>
              </a:ext>
            </a:extLst>
          </p:cNvPr>
          <p:cNvSpPr txBox="1"/>
          <p:nvPr/>
        </p:nvSpPr>
        <p:spPr>
          <a:xfrm>
            <a:off x="2491791" y="5100015"/>
            <a:ext cx="292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rtl="0" eaLnBrk="1" latinLnBrk="0" hangingPunct="1"/>
            <a:r>
              <a:rPr lang="en-US" sz="1800" b="1" dirty="0"/>
              <a:t>Note: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5EAD6F-B128-5C54-F278-BEF7076607FA}"/>
              </a:ext>
            </a:extLst>
          </p:cNvPr>
          <p:cNvSpPr txBox="1">
            <a:spLocks/>
          </p:cNvSpPr>
          <p:nvPr/>
        </p:nvSpPr>
        <p:spPr>
          <a:xfrm>
            <a:off x="1975601" y="5681585"/>
            <a:ext cx="3733367" cy="8661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198900" indent="-198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i="1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3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3B3C47"/>
                </a:solidFill>
                <a:latin typeface="Calibri"/>
                <a:cs typeface="Calibri"/>
              </a:rPr>
              <a:t>The addition of new CDC indexes </a:t>
            </a:r>
            <a:r>
              <a:rPr lang="en-US" sz="1600" dirty="0">
                <a:solidFill>
                  <a:srgbClr val="3B3C47"/>
                </a:solidFill>
                <a:cs typeface="Calibri"/>
              </a:rPr>
              <a:t>on the table or column level will trigger the </a:t>
            </a:r>
            <a:r>
              <a:rPr lang="en-US" sz="1600" dirty="0">
                <a:solidFill>
                  <a:srgbClr val="3B3C47"/>
                </a:solidFill>
                <a:latin typeface="Calibri"/>
                <a:cs typeface="Calibri"/>
              </a:rPr>
              <a:t>CDC Republish Instance flow for all LUI instances.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9C9BA52-254B-9754-B604-E59CA5924A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51844" y="5084744"/>
            <a:ext cx="439947" cy="43994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89D87F2-437C-6289-643F-392F8D288508}"/>
              </a:ext>
            </a:extLst>
          </p:cNvPr>
          <p:cNvGrpSpPr/>
          <p:nvPr/>
        </p:nvGrpSpPr>
        <p:grpSpPr>
          <a:xfrm>
            <a:off x="1685900" y="2224088"/>
            <a:ext cx="4023068" cy="1712663"/>
            <a:chOff x="8050727" y="4076210"/>
            <a:chExt cx="4023068" cy="1712663"/>
          </a:xfrm>
        </p:grpSpPr>
        <p:sp>
          <p:nvSpPr>
            <p:cNvPr id="18" name="Rectangle 17">
              <a:hlinkClick r:id="" action="ppaction://noaction"/>
              <a:extLst>
                <a:ext uri="{FF2B5EF4-FFF2-40B4-BE49-F238E27FC236}">
                  <a16:creationId xmlns:a16="http://schemas.microsoft.com/office/drawing/2014/main" id="{9B05B27D-D2FE-8AFC-0857-00FDF98F4C81}"/>
                </a:ext>
              </a:extLst>
            </p:cNvPr>
            <p:cNvSpPr/>
            <p:nvPr/>
          </p:nvSpPr>
          <p:spPr>
            <a:xfrm>
              <a:off x="8050727" y="4076210"/>
              <a:ext cx="4023068" cy="171266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2"/>
              </a:solidFill>
            </a:ln>
            <a:effectLst>
              <a:outerShdw blurRad="157150" dist="145807" dir="6240000" sx="101824" sy="101824" algn="br" rotWithShape="0">
                <a:prstClr val="black">
                  <a:alpha val="17111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44B44B4-E337-4D19-37BF-8F0275879D22}"/>
                </a:ext>
              </a:extLst>
            </p:cNvPr>
            <p:cNvSpPr txBox="1"/>
            <p:nvPr/>
          </p:nvSpPr>
          <p:spPr>
            <a:xfrm>
              <a:off x="8856618" y="4230428"/>
              <a:ext cx="29277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defTabSz="914400" rtl="0" eaLnBrk="1" latinLnBrk="0" hangingPunct="1"/>
              <a:r>
                <a:rPr lang="en-US" sz="1800" b="1" dirty="0"/>
                <a:t>Note:</a:t>
              </a:r>
            </a:p>
          </p:txBody>
        </p:sp>
        <p:sp>
          <p:nvSpPr>
            <p:cNvPr id="20" name="Content Placeholder 2">
              <a:extLst>
                <a:ext uri="{FF2B5EF4-FFF2-40B4-BE49-F238E27FC236}">
                  <a16:creationId xmlns:a16="http://schemas.microsoft.com/office/drawing/2014/main" id="{C220D497-230F-701D-7B6B-89D2A35B04C1}"/>
                </a:ext>
              </a:extLst>
            </p:cNvPr>
            <p:cNvSpPr txBox="1">
              <a:spLocks/>
            </p:cNvSpPr>
            <p:nvPr/>
          </p:nvSpPr>
          <p:spPr>
            <a:xfrm>
              <a:off x="8340428" y="4811998"/>
              <a:ext cx="3733367" cy="866185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92500" lnSpcReduction="10000"/>
            </a:bodyPr>
            <a:lstStyle>
              <a:lvl1pPr marL="198900" indent="-1989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b="0" kern="1200" spc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i="1" kern="12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 spc="3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Wingdings" panose="05000000000000000000" pitchFamily="2" charset="2"/>
                <a:buChar char="ü"/>
              </a:pPr>
              <a:r>
                <a:rPr lang="en-US" sz="1600" dirty="0"/>
                <a:t>LU redeploy triggers update only for impacted consumers</a:t>
              </a:r>
            </a:p>
            <a:p>
              <a:pPr>
                <a:buFont typeface="Wingdings" panose="05000000000000000000" pitchFamily="2" charset="2"/>
                <a:buChar char="ü"/>
              </a:pPr>
              <a:r>
                <a:rPr lang="en-US" sz="1600" dirty="0"/>
                <a:t>LU drop triggers update for all consumers</a:t>
              </a:r>
              <a:endParaRPr lang="en-US" sz="1600" dirty="0">
                <a:solidFill>
                  <a:srgbClr val="3B3C47"/>
                </a:solidFill>
                <a:latin typeface="Calibri"/>
                <a:cs typeface="Calibri"/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F5B17D5C-7D17-4EAF-96F9-FE3A4D053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16671" y="4215157"/>
              <a:ext cx="439947" cy="4399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3114706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A9A1F-2710-D040-E1DB-EFB918CAB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7674-0020-60FE-AB00-2DBD93DA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CDC SCHEMA REPUBLISH Message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F2AD6-BDAD-B285-9D1D-6F6447227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009" y="995407"/>
            <a:ext cx="7198516" cy="4679936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256050" indent="-285750"/>
            <a:r>
              <a:rPr lang="en-US" sz="1800" dirty="0"/>
              <a:t>The </a:t>
            </a:r>
            <a:r>
              <a:rPr lang="en-US" sz="1800" b="1" dirty="0"/>
              <a:t>CDC Republish Schema message </a:t>
            </a:r>
            <a:r>
              <a:rPr lang="en-US" sz="1800" dirty="0"/>
              <a:t>(datatype=SCHEMA_REPUBLISH) is triggered when a CDC_REPUBLISH_SCHEMA command is being executed.</a:t>
            </a:r>
          </a:p>
          <a:p>
            <a:pPr marL="256050" indent="-285750"/>
            <a:r>
              <a:rPr lang="en-US" sz="1800" dirty="0"/>
              <a:t>Like CDC Schema message (datatype=SCHEMA) it  contains LU name, tables, columns, tags, and primary key (PK) flags.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14BB89A0-25B0-B2CE-DE7D-E903CE0736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7287E-435E-6F82-EB3C-7F8A65983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703" y="975904"/>
            <a:ext cx="2567584" cy="567138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454D9AE-FC42-B767-2BB2-A380D609F6F4}"/>
              </a:ext>
            </a:extLst>
          </p:cNvPr>
          <p:cNvGrpSpPr/>
          <p:nvPr/>
        </p:nvGrpSpPr>
        <p:grpSpPr>
          <a:xfrm>
            <a:off x="2101941" y="2836736"/>
            <a:ext cx="4023068" cy="1712663"/>
            <a:chOff x="8050727" y="4076210"/>
            <a:chExt cx="4023068" cy="1712663"/>
          </a:xfrm>
        </p:grpSpPr>
        <p:sp>
          <p:nvSpPr>
            <p:cNvPr id="6" name="Rectangle 5">
              <a:hlinkClick r:id="" action="ppaction://noaction"/>
              <a:extLst>
                <a:ext uri="{FF2B5EF4-FFF2-40B4-BE49-F238E27FC236}">
                  <a16:creationId xmlns:a16="http://schemas.microsoft.com/office/drawing/2014/main" id="{C9D45D80-45E2-53B0-B6EC-B8DB73E63029}"/>
                </a:ext>
              </a:extLst>
            </p:cNvPr>
            <p:cNvSpPr/>
            <p:nvPr/>
          </p:nvSpPr>
          <p:spPr>
            <a:xfrm>
              <a:off x="8050727" y="4076210"/>
              <a:ext cx="4023068" cy="171266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2"/>
              </a:solidFill>
            </a:ln>
            <a:effectLst>
              <a:outerShdw blurRad="157150" dist="145807" dir="6240000" sx="101824" sy="101824" algn="br" rotWithShape="0">
                <a:prstClr val="black">
                  <a:alpha val="17111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4EEE70-7878-C79C-6B65-12B8D50CB346}"/>
                </a:ext>
              </a:extLst>
            </p:cNvPr>
            <p:cNvSpPr txBox="1"/>
            <p:nvPr/>
          </p:nvSpPr>
          <p:spPr>
            <a:xfrm>
              <a:off x="8856618" y="4230428"/>
              <a:ext cx="29277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defTabSz="914400" rtl="0" eaLnBrk="1" latinLnBrk="0" hangingPunct="1"/>
              <a:r>
                <a:rPr lang="en-US" sz="1800" b="1" dirty="0"/>
                <a:t>Note:</a:t>
              </a:r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00A58872-8F39-7BE4-0BB3-3B9818A2BD5F}"/>
                </a:ext>
              </a:extLst>
            </p:cNvPr>
            <p:cNvSpPr txBox="1">
              <a:spLocks/>
            </p:cNvSpPr>
            <p:nvPr/>
          </p:nvSpPr>
          <p:spPr>
            <a:xfrm>
              <a:off x="8340428" y="4811998"/>
              <a:ext cx="3733367" cy="866185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198900" indent="-1989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b="0" kern="1200" spc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i="1" kern="12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 spc="3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/>
                <a:t>SHEMA_REPUBLISH message generated only for impacted consumers</a:t>
              </a:r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C9D9C63-A4D6-2E08-3676-D7CFA4F2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416671" y="4215157"/>
              <a:ext cx="439947" cy="4399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0886918"/>
      </p:ext>
    </p:extLst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EE51D-8307-984E-C604-A18C90C82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E324-A0CF-FA3F-7D12-A220AEB57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CDC DATA CHANGE Message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4033D-E3AF-5E76-E106-1F9CCC830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622" y="975905"/>
            <a:ext cx="9554756" cy="1246088"/>
          </a:xfrm>
        </p:spPr>
        <p:txBody>
          <a:bodyPr vert="horz" lIns="91440" tIns="45720" rIns="91440" bIns="45720" numCol="1" rtlCol="0" anchor="t">
            <a:normAutofit lnSpcReduction="10000"/>
          </a:bodyPr>
          <a:lstStyle/>
          <a:p>
            <a:pPr marL="256050" indent="-285750"/>
            <a:r>
              <a:rPr lang="en-US" sz="1800" dirty="0"/>
              <a:t>The </a:t>
            </a:r>
            <a:r>
              <a:rPr lang="en-US" sz="1800" b="1" dirty="0"/>
              <a:t>CDC Data Change message </a:t>
            </a:r>
            <a:r>
              <a:rPr lang="en-US" sz="1800" dirty="0"/>
              <a:t>(datatype=DATA_CHANGE) is triggered when the </a:t>
            </a:r>
            <a:r>
              <a:rPr lang="en-US" sz="1800" dirty="0" err="1"/>
              <a:t>MicroDB</a:t>
            </a:r>
            <a:r>
              <a:rPr lang="en-US" sz="1800" dirty="0"/>
              <a:t> data is changed for indexed fields in LU tables (insert/update/delete) .</a:t>
            </a:r>
          </a:p>
          <a:p>
            <a:pPr marL="256050" indent="-285750"/>
            <a:r>
              <a:rPr lang="en-US" sz="1800" dirty="0"/>
              <a:t>Contains LU name, LU ID, table, PK columns, columns, </a:t>
            </a:r>
            <a:r>
              <a:rPr lang="en-US" sz="1800" dirty="0" err="1"/>
              <a:t>oldValues</a:t>
            </a:r>
            <a:r>
              <a:rPr lang="en-US" sz="1800" dirty="0"/>
              <a:t> (UPDATE/DELETE), and </a:t>
            </a:r>
            <a:r>
              <a:rPr lang="en-US" sz="1800" dirty="0" err="1"/>
              <a:t>newValues</a:t>
            </a:r>
            <a:r>
              <a:rPr lang="en-US" sz="1800" dirty="0"/>
              <a:t> (INSERT/UPDATE).</a:t>
            </a: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3C2AAF8D-6A84-B2DA-23B6-F834BC487B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491AEC-05F7-1871-8DB9-1BD4EFA27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86" y="2389239"/>
            <a:ext cx="3695866" cy="42964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94815E-FBF4-8390-98BA-BBF357DEB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606" y="2389239"/>
            <a:ext cx="3247706" cy="42964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66D789-5B19-894D-12B8-5F6BA9BCC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228" y="2389239"/>
            <a:ext cx="3650076" cy="42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134946"/>
      </p:ext>
    </p:extLst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D20F8-CF0C-FE17-A8B2-490E54AD2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E9330-5223-97DD-580D-0156AEEDB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009" y="995406"/>
            <a:ext cx="7293932" cy="5691641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US" sz="1800" dirty="0"/>
              <a:t>The </a:t>
            </a:r>
            <a:r>
              <a:rPr lang="en-US" sz="1800" b="1" dirty="0"/>
              <a:t>CDC Data Republish message </a:t>
            </a:r>
            <a:r>
              <a:rPr lang="en-US" sz="1800" dirty="0"/>
              <a:t>(datatype=DATA_REPUBLISH) is triggered when a CDC_REPUBLISH_INSTANCE command is executed.</a:t>
            </a:r>
          </a:p>
          <a:p>
            <a:r>
              <a:rPr lang="en-US" sz="1800" dirty="0"/>
              <a:t>The message is being sent for each row of each table the CDC is configured for, unless the ‘tables’ flag is used to filter tables as part of the CDC_REPUBLISH_INSTANCE command.</a:t>
            </a:r>
          </a:p>
          <a:p>
            <a:r>
              <a:rPr lang="en-US" sz="1800" dirty="0"/>
              <a:t>Similar to a message triggered by an INSERT statement, it contains LU name, LU ID, table, PK columns, columns, and </a:t>
            </a:r>
            <a:r>
              <a:rPr lang="en-US" sz="1800" dirty="0" err="1"/>
              <a:t>newValues</a:t>
            </a:r>
            <a:endParaRPr lang="en-US" sz="1800" dirty="0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5A7A65F2-68E7-DF61-AE59-CDA2523624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579CD6-2A0C-3B4C-6037-4945F8C8E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106" y="1192739"/>
            <a:ext cx="2777159" cy="343203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A0361BB-6659-5295-5088-09BAFF30CAF2}"/>
              </a:ext>
            </a:extLst>
          </p:cNvPr>
          <p:cNvGrpSpPr/>
          <p:nvPr/>
        </p:nvGrpSpPr>
        <p:grpSpPr>
          <a:xfrm>
            <a:off x="3636794" y="4161486"/>
            <a:ext cx="2955286" cy="1701108"/>
            <a:chOff x="8419106" y="4571216"/>
            <a:chExt cx="2955286" cy="1701108"/>
          </a:xfrm>
        </p:grpSpPr>
        <p:sp>
          <p:nvSpPr>
            <p:cNvPr id="10" name="Rectangle 9">
              <a:hlinkClick r:id="" action="ppaction://noaction"/>
              <a:extLst>
                <a:ext uri="{FF2B5EF4-FFF2-40B4-BE49-F238E27FC236}">
                  <a16:creationId xmlns:a16="http://schemas.microsoft.com/office/drawing/2014/main" id="{8E7A604D-381A-E160-91BB-4265C4A70E6C}"/>
                </a:ext>
              </a:extLst>
            </p:cNvPr>
            <p:cNvSpPr/>
            <p:nvPr/>
          </p:nvSpPr>
          <p:spPr>
            <a:xfrm>
              <a:off x="8419106" y="4571216"/>
              <a:ext cx="2898778" cy="17011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2"/>
              </a:solidFill>
            </a:ln>
            <a:effectLst>
              <a:outerShdw blurRad="157150" dist="145807" dir="6240000" sx="101824" sy="101824" algn="br" rotWithShape="0">
                <a:prstClr val="black">
                  <a:alpha val="17111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1ACD6D4-8D65-2454-DB84-800AE1D5ECB1}"/>
                </a:ext>
              </a:extLst>
            </p:cNvPr>
            <p:cNvSpPr txBox="1"/>
            <p:nvPr/>
          </p:nvSpPr>
          <p:spPr>
            <a:xfrm>
              <a:off x="8922731" y="4665669"/>
              <a:ext cx="209288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defTabSz="914400" rtl="0" eaLnBrk="1" latinLnBrk="0" hangingPunct="1"/>
              <a:r>
                <a:rPr lang="en-US" sz="1600" b="1" dirty="0"/>
                <a:t>Note:</a:t>
              </a:r>
            </a:p>
          </p:txBody>
        </p: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4ED2F135-BED7-2EAD-50AF-4E622DDDF7AA}"/>
                </a:ext>
              </a:extLst>
            </p:cNvPr>
            <p:cNvSpPr txBox="1">
              <a:spLocks/>
            </p:cNvSpPr>
            <p:nvPr/>
          </p:nvSpPr>
          <p:spPr>
            <a:xfrm>
              <a:off x="8563956" y="5114346"/>
              <a:ext cx="2810436" cy="109438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198900" indent="-1989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b="0" kern="1200" spc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i="1" kern="12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 spc="30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3B3C47"/>
                  </a:solidFill>
                  <a:latin typeface="Calibri"/>
                  <a:cs typeface="Calibri"/>
                </a:rPr>
                <a:t>The CDC DELETE_TABLES and DATA_REPUBLISH messages </a:t>
              </a:r>
              <a:r>
                <a:rPr lang="en-US" sz="1200" b="1" dirty="0">
                  <a:solidFill>
                    <a:srgbClr val="3B3C47"/>
                  </a:solidFill>
                  <a:latin typeface="Calibri"/>
                  <a:cs typeface="Calibri"/>
                </a:rPr>
                <a:t>will be</a:t>
              </a:r>
              <a:r>
                <a:rPr lang="en-US" sz="1200" dirty="0">
                  <a:solidFill>
                    <a:srgbClr val="3B3C47"/>
                  </a:solidFill>
                  <a:latin typeface="Calibri"/>
                  <a:cs typeface="Calibri"/>
                </a:rPr>
                <a:t> triggered automatically for </a:t>
              </a:r>
              <a:r>
                <a:rPr lang="en-US" sz="1200" dirty="0">
                  <a:solidFill>
                    <a:srgbClr val="3B3C47"/>
                  </a:solidFill>
                  <a:cs typeface="Calibri"/>
                </a:rPr>
                <a:t>all LUIs upon deploying an LU with new or additional </a:t>
              </a:r>
              <a:r>
                <a:rPr lang="en-US" sz="1200" dirty="0">
                  <a:solidFill>
                    <a:srgbClr val="3B3C47"/>
                  </a:solidFill>
                  <a:latin typeface="Calibri"/>
                  <a:cs typeface="Calibri"/>
                </a:rPr>
                <a:t>CDC indexes.</a:t>
              </a: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7DAB11A-96D5-BE0E-050D-18BFE90A1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94625" y="4681339"/>
              <a:ext cx="340670" cy="340670"/>
            </a:xfrm>
            <a:prstGeom prst="rect">
              <a:avLst/>
            </a:prstGeom>
          </p:spPr>
        </p:pic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2D084ADF-8002-B998-DD19-4D334DAEF343}"/>
              </a:ext>
            </a:extLst>
          </p:cNvPr>
          <p:cNvSpPr txBox="1">
            <a:spLocks/>
          </p:cNvSpPr>
          <p:nvPr/>
        </p:nvSpPr>
        <p:spPr>
          <a:xfrm>
            <a:off x="1318622" y="386169"/>
            <a:ext cx="9554756" cy="589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GB" dirty="0"/>
              <a:t>CDC DATA REPUBLISH Message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73492184"/>
      </p:ext>
    </p:extLst>
  </p:cSld>
  <p:clrMapOvr>
    <a:masterClrMapping/>
  </p:clrMapOvr>
  <p:transition spd="slow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91F3E-800D-173C-4AE2-4B0DEFAF2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A584-09D9-0A05-9AFC-479964783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CDC DELETE TABLES Message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F90CC-E15D-D2C9-2104-02A9F28FC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027"/>
            <a:ext cx="4569542" cy="4679936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255905" indent="-285750"/>
            <a:r>
              <a:rPr lang="en-US" sz="1800" dirty="0"/>
              <a:t>The </a:t>
            </a:r>
            <a:r>
              <a:rPr lang="en-US" sz="1800" b="1" dirty="0"/>
              <a:t>CDC Delete Tables message </a:t>
            </a:r>
            <a:r>
              <a:rPr lang="en-US" sz="1800" dirty="0"/>
              <a:t>(datatype=DELETE_TABLES) is triggered when delete instance command is executed to delete a specific instance from Fabric or CDC_REPUBLISH_SCHEMA command is issued with </a:t>
            </a:r>
            <a:r>
              <a:rPr lang="en-US" sz="1800" dirty="0" err="1"/>
              <a:t>drop_table</a:t>
            </a:r>
            <a:r>
              <a:rPr lang="en-US" sz="1800" dirty="0"/>
              <a:t> flag set to true.</a:t>
            </a:r>
            <a:endParaRPr lang="en-US" dirty="0"/>
          </a:p>
          <a:p>
            <a:pPr marL="255905" indent="-285750"/>
            <a:r>
              <a:rPr lang="en-US" sz="1800" dirty="0"/>
              <a:t>Contains LU name, LU ID, and tables.</a:t>
            </a: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14062B6D-512F-7274-F364-97091205F6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4A152B-B1DB-AFE0-D157-50EBD35DF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536" y="1565835"/>
            <a:ext cx="5674442" cy="3726330"/>
          </a:xfrm>
          <a:prstGeom prst="rect">
            <a:avLst/>
          </a:prstGeom>
        </p:spPr>
      </p:pic>
      <p:sp>
        <p:nvSpPr>
          <p:cNvPr id="5" name="Rectangle 4">
            <a:hlinkClick r:id="" action="ppaction://noaction"/>
            <a:extLst>
              <a:ext uri="{FF2B5EF4-FFF2-40B4-BE49-F238E27FC236}">
                <a16:creationId xmlns:a16="http://schemas.microsoft.com/office/drawing/2014/main" id="{18FF372E-3074-7A54-4898-56382F71FE33}"/>
              </a:ext>
            </a:extLst>
          </p:cNvPr>
          <p:cNvSpPr/>
          <p:nvPr/>
        </p:nvSpPr>
        <p:spPr>
          <a:xfrm>
            <a:off x="838200" y="5231230"/>
            <a:ext cx="4023068" cy="1333163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/>
            </a:solidFill>
          </a:ln>
          <a:effectLst>
            <a:outerShdw blurRad="157150" dist="145807" dir="6240000" sx="101824" sy="101824" algn="br" rotWithShape="0">
              <a:prstClr val="black">
                <a:alpha val="1711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032D7A-30FF-9C3B-F75A-59DA1F2C667B}"/>
              </a:ext>
            </a:extLst>
          </p:cNvPr>
          <p:cNvSpPr txBox="1"/>
          <p:nvPr/>
        </p:nvSpPr>
        <p:spPr>
          <a:xfrm>
            <a:off x="1549949" y="5365395"/>
            <a:ext cx="292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rtl="0" eaLnBrk="1" latinLnBrk="0" hangingPunct="1"/>
            <a:r>
              <a:rPr lang="en-US" sz="1800" b="1"/>
              <a:t>Note: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E8A0D88-C58D-9823-74EF-50DFD66816BC}"/>
              </a:ext>
            </a:extLst>
          </p:cNvPr>
          <p:cNvSpPr txBox="1">
            <a:spLocks/>
          </p:cNvSpPr>
          <p:nvPr/>
        </p:nvSpPr>
        <p:spPr>
          <a:xfrm>
            <a:off x="1033759" y="5946966"/>
            <a:ext cx="3733367" cy="6099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98900" indent="-198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i="1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3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rtl="0" eaLnBrk="1" latinLnBrk="0" hangingPunct="1">
              <a:buNone/>
            </a:pPr>
            <a:r>
              <a:rPr lang="en-US" sz="1600" dirty="0">
                <a:solidFill>
                  <a:srgbClr val="3B3C47"/>
                </a:solidFill>
                <a:latin typeface="Calibri"/>
                <a:cs typeface="Calibri"/>
              </a:rPr>
              <a:t>CDC_REPUBLISH_SCHEMA command is covered in the section below.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2CF4503-30D8-33C7-B899-CF0BB28D7D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8410" y="5365395"/>
            <a:ext cx="439947" cy="439947"/>
          </a:xfrm>
          <a:prstGeom prst="rect">
            <a:avLst/>
          </a:prstGeom>
        </p:spPr>
      </p:pic>
      <p:sp>
        <p:nvSpPr>
          <p:cNvPr id="10" name="Rectangle 9">
            <a:hlinkClick r:id="" action="ppaction://noaction"/>
            <a:extLst>
              <a:ext uri="{FF2B5EF4-FFF2-40B4-BE49-F238E27FC236}">
                <a16:creationId xmlns:a16="http://schemas.microsoft.com/office/drawing/2014/main" id="{97849930-042C-58D5-9D35-362EAE1C01E9}"/>
              </a:ext>
            </a:extLst>
          </p:cNvPr>
          <p:cNvSpPr/>
          <p:nvPr/>
        </p:nvSpPr>
        <p:spPr>
          <a:xfrm>
            <a:off x="8025914" y="4770723"/>
            <a:ext cx="3586966" cy="170110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/>
            </a:solidFill>
          </a:ln>
          <a:effectLst>
            <a:outerShdw blurRad="157150" dist="145807" dir="6240000" sx="101824" sy="101824" algn="br" rotWithShape="0">
              <a:prstClr val="black">
                <a:alpha val="1711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1C801F-F91A-C23B-60AB-F5561A81028C}"/>
              </a:ext>
            </a:extLst>
          </p:cNvPr>
          <p:cNvSpPr txBox="1"/>
          <p:nvPr/>
        </p:nvSpPr>
        <p:spPr>
          <a:xfrm>
            <a:off x="8529539" y="4865176"/>
            <a:ext cx="2092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rtl="0" eaLnBrk="1" latinLnBrk="0" hangingPunct="1"/>
            <a:r>
              <a:rPr lang="en-US" sz="1600" b="1" dirty="0"/>
              <a:t>Note: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15DBE1F-AB44-8F87-A088-A8F171463715}"/>
              </a:ext>
            </a:extLst>
          </p:cNvPr>
          <p:cNvSpPr txBox="1">
            <a:spLocks/>
          </p:cNvSpPr>
          <p:nvPr/>
        </p:nvSpPr>
        <p:spPr>
          <a:xfrm>
            <a:off x="8170764" y="5313853"/>
            <a:ext cx="3350676" cy="10943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98900" indent="-198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i="1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3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3B3C47"/>
                </a:solidFill>
                <a:latin typeface="Calibri"/>
                <a:cs typeface="Calibri"/>
              </a:rPr>
              <a:t>The CDC DELETE_TABLES and DATA_REPUBLISH messages </a:t>
            </a:r>
            <a:r>
              <a:rPr lang="en-US" sz="1200" b="1" dirty="0">
                <a:solidFill>
                  <a:srgbClr val="3B3C47"/>
                </a:solidFill>
                <a:latin typeface="Calibri"/>
                <a:cs typeface="Calibri"/>
              </a:rPr>
              <a:t>will be</a:t>
            </a:r>
            <a:r>
              <a:rPr lang="en-US" sz="1200" dirty="0">
                <a:solidFill>
                  <a:srgbClr val="3B3C47"/>
                </a:solidFill>
                <a:latin typeface="Calibri"/>
                <a:cs typeface="Calibri"/>
              </a:rPr>
              <a:t> triggered automatically for </a:t>
            </a:r>
            <a:r>
              <a:rPr lang="en-US" sz="1200" dirty="0">
                <a:solidFill>
                  <a:srgbClr val="3B3C47"/>
                </a:solidFill>
                <a:cs typeface="Calibri"/>
              </a:rPr>
              <a:t>all LUIs upon deploying an LU with new or additional </a:t>
            </a:r>
            <a:r>
              <a:rPr lang="en-US" sz="1200" dirty="0">
                <a:solidFill>
                  <a:srgbClr val="3B3C47"/>
                </a:solidFill>
                <a:latin typeface="Calibri"/>
                <a:cs typeface="Calibri"/>
              </a:rPr>
              <a:t>CDC indexes.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34CE33-6119-36C7-8EAD-ADD9B4A8D3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1433" y="4880846"/>
            <a:ext cx="340670" cy="34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816538"/>
      </p:ext>
    </p:extLst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CC27F-15B0-075F-2B0A-BF7EFA303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B7F0-F84F-14EF-C9F0-B6ACD9C6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>
                <a:solidFill>
                  <a:srgbClr val="1082F2"/>
                </a:solidFill>
              </a:rPr>
            </a:br>
            <a:r>
              <a:rPr lang="en-US" sz="2000" dirty="0">
                <a:solidFill>
                  <a:srgbClr val="1082F2"/>
                </a:solidFill>
              </a:rPr>
              <a:t>CDC Commands</a:t>
            </a:r>
            <a:endParaRPr lang="en-US" dirty="0">
              <a:solidFill>
                <a:srgbClr val="108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063390"/>
      </p:ext>
    </p:extLst>
  </p:cSld>
  <p:clrMapOvr>
    <a:masterClrMapping/>
  </p:clrMapOvr>
  <p:transition spd="slow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251FC-A2E0-A6CA-BDB4-9145C040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828C04-2CBD-72B5-64F7-1D206E1FC54B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Key Benefits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C9008D-A2B6-2A57-845D-2975E2DD3ECF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Shema Update Republish</a:t>
            </a:r>
            <a:r>
              <a:rPr lang="en-US" dirty="0"/>
              <a:t> </a:t>
            </a:r>
            <a:r>
              <a:rPr lang="en-US" sz="1800" dirty="0"/>
              <a:t>– Initiated by CDC_REPUBLISH_SCHEMA command.</a:t>
            </a:r>
            <a:endParaRPr lang="en-US" dirty="0"/>
          </a:p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Data Update Republish </a:t>
            </a:r>
            <a:r>
              <a:rPr lang="en-US" sz="1800" dirty="0"/>
              <a:t>– Initiated by CDC_REPUBLISH_INSTACE command.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1E81E9-25B2-89FC-D134-63592F2E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CDC Republish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273D7-DC43-7CC4-C962-6E9B02AE9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On-demand republishing of LU schemas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Selective republishing to specific consumers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Instance-level data republishing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Flexible table filtering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Controlled truncation option for data update republishing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F5F2D-3E18-27E6-BAEB-37DF1E96F98D}"/>
              </a:ext>
            </a:extLst>
          </p:cNvPr>
          <p:cNvSpPr>
            <a:spLocks noGrp="1"/>
          </p:cNvSpPr>
          <p:nvPr>
            <p:ph idx="2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Two Main Republish Categories</a:t>
            </a:r>
          </a:p>
        </p:txBody>
      </p:sp>
    </p:spTree>
    <p:extLst>
      <p:ext uri="{BB962C8B-B14F-4D97-AF65-F5344CB8AC3E}">
        <p14:creationId xmlns:p14="http://schemas.microsoft.com/office/powerpoint/2010/main" val="669160660"/>
      </p:ext>
    </p:extLst>
  </p:cSld>
  <p:clrMapOvr>
    <a:masterClrMapping/>
  </p:clrMapOvr>
  <p:transition spd="slow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B5CCF-ADEA-B438-B99B-358B2200C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88B5C-F5D0-974E-CD76-AD600D92E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7553" y="403270"/>
            <a:ext cx="6695824" cy="487067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CDC_REPUBLISH_SCHEMA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64976-444C-AFBD-6563-D772F2405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063" y="1275276"/>
            <a:ext cx="8106338" cy="4751897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Purpose</a:t>
            </a:r>
            <a:endParaRPr lang="en-US" sz="1700" dirty="0">
              <a:solidFill>
                <a:srgbClr val="2E2E2E"/>
              </a:solidFill>
              <a:ea typeface="Roboto"/>
              <a:cs typeface="Roboto"/>
            </a:endParaRPr>
          </a:p>
          <a:p>
            <a:pPr lvl="1"/>
            <a:r>
              <a:rPr lang="en-US" sz="1600" dirty="0"/>
              <a:t>Republish by demand a full LU schema definition or the schema of a selected list of LU tables to all CDC consumers or to a selected list of CDC consumers</a:t>
            </a:r>
            <a:r>
              <a:rPr lang="en-US" sz="1700" dirty="0">
                <a:solidFill>
                  <a:srgbClr val="2E2E2E"/>
                </a:solidFill>
                <a:ea typeface="Roboto"/>
                <a:cs typeface="Roboto"/>
              </a:rPr>
              <a:t>.</a:t>
            </a:r>
          </a:p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Syntax</a:t>
            </a: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Parameters</a:t>
            </a: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1" name="Picture Placeholder 10" descr="A person standing on a mountain top&#10;&#10;Description automatically generated">
            <a:extLst>
              <a:ext uri="{FF2B5EF4-FFF2-40B4-BE49-F238E27FC236}">
                <a16:creationId xmlns:a16="http://schemas.microsoft.com/office/drawing/2014/main" id="{F6EB1E14-8A4E-EEF1-B99A-3530720D44E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2" r="34112"/>
          <a:stretch/>
        </p:blipFill>
        <p:spPr>
          <a:xfrm>
            <a:off x="0" y="0"/>
            <a:ext cx="3267635" cy="6858000"/>
          </a:xfrm>
        </p:spPr>
      </p:pic>
      <p:sp>
        <p:nvSpPr>
          <p:cNvPr id="9" name="AutoShape 4">
            <a:extLst>
              <a:ext uri="{FF2B5EF4-FFF2-40B4-BE49-F238E27FC236}">
                <a16:creationId xmlns:a16="http://schemas.microsoft.com/office/drawing/2014/main" id="{B806583E-56D8-9883-63ED-8BD8348DC0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CC56E3-EDDB-5144-B125-EF7D3A5AF675}"/>
              </a:ext>
            </a:extLst>
          </p:cNvPr>
          <p:cNvGraphicFramePr>
            <a:graphicFrameLocks noGrp="1"/>
          </p:cNvGraphicFramePr>
          <p:nvPr/>
        </p:nvGraphicFramePr>
        <p:xfrm>
          <a:off x="4680156" y="3640392"/>
          <a:ext cx="6420465" cy="1854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96179">
                  <a:extLst>
                    <a:ext uri="{9D8B030D-6E8A-4147-A177-3AD203B41FA5}">
                      <a16:colId xmlns:a16="http://schemas.microsoft.com/office/drawing/2014/main" val="3125073944"/>
                    </a:ext>
                  </a:extLst>
                </a:gridCol>
                <a:gridCol w="4050891">
                  <a:extLst>
                    <a:ext uri="{9D8B030D-6E8A-4147-A177-3AD203B41FA5}">
                      <a16:colId xmlns:a16="http://schemas.microsoft.com/office/drawing/2014/main" val="3235688535"/>
                    </a:ext>
                  </a:extLst>
                </a:gridCol>
                <a:gridCol w="973395">
                  <a:extLst>
                    <a:ext uri="{9D8B030D-6E8A-4147-A177-3AD203B41FA5}">
                      <a16:colId xmlns:a16="http://schemas.microsoft.com/office/drawing/2014/main" val="1891417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Optional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711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LUT_NAME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 of the Logical Unit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694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Comma-separated list of CDC consumer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59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Comma-separated list of specific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39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drop_table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Whether to drop table before republishing (true/false)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262359"/>
                  </a:ext>
                </a:extLst>
              </a:tr>
            </a:tbl>
          </a:graphicData>
        </a:graphic>
      </p:graphicFrame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3E89D52-157C-DC65-7BBE-0421E2989BFB}"/>
              </a:ext>
            </a:extLst>
          </p:cNvPr>
          <p:cNvSpPr/>
          <p:nvPr/>
        </p:nvSpPr>
        <p:spPr>
          <a:xfrm>
            <a:off x="3944397" y="2741891"/>
            <a:ext cx="8106338" cy="399186"/>
          </a:xfrm>
          <a:prstGeom prst="round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cdc_republish_schema &lt;LUT_NAME&gt; [types='&lt;type1,type2...&gt;'] [tables='table1,... '] [drop_table=true/false]</a:t>
            </a:r>
          </a:p>
        </p:txBody>
      </p:sp>
    </p:spTree>
    <p:extLst>
      <p:ext uri="{BB962C8B-B14F-4D97-AF65-F5344CB8AC3E}">
        <p14:creationId xmlns:p14="http://schemas.microsoft.com/office/powerpoint/2010/main" val="2823291481"/>
      </p:ext>
    </p:extLst>
  </p:cSld>
  <p:clrMapOvr>
    <a:masterClrMapping/>
  </p:clrMapOvr>
  <p:transition spd="slow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754C4-F25F-50EC-59CA-1F9586BC9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72927-C882-191C-6605-E41195AA2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1" rtlCol="0" anchor="t">
            <a:normAutofit/>
          </a:bodyPr>
          <a:lstStyle/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Basic Schema Republishing to all consumers</a:t>
            </a:r>
          </a:p>
          <a:p>
            <a:pPr marL="486900" lvl="1" indent="0">
              <a:buNone/>
            </a:pPr>
            <a:endParaRPr lang="en-US" sz="2100" dirty="0">
              <a:solidFill>
                <a:schemeClr val="bg2">
                  <a:lumMod val="50000"/>
                </a:schemeClr>
              </a:solidFill>
              <a:ea typeface="Roboto"/>
              <a:cs typeface="Roboto"/>
            </a:endParaRPr>
          </a:p>
          <a:p>
            <a:pPr marL="486900" lvl="1" indent="0">
              <a:buNone/>
            </a:pPr>
            <a:r>
              <a:rPr lang="en-US" sz="1600" dirty="0"/>
              <a:t>Republishes the entire CUSTOMER LU schema to all CDC consumers.</a:t>
            </a:r>
          </a:p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Target Consumer Type</a:t>
            </a:r>
          </a:p>
          <a:p>
            <a:pPr marL="486900" lvl="1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486900" lvl="1" indent="0">
              <a:buNone/>
            </a:pPr>
            <a:r>
              <a:rPr lang="en-US" sz="1600" dirty="0"/>
              <a:t>Republishes CUSTOMER LU schema only to SNOW consumer.</a:t>
            </a:r>
            <a:endParaRPr lang="en-US" sz="2100" dirty="0">
              <a:solidFill>
                <a:schemeClr val="bg2">
                  <a:lumMod val="50000"/>
                </a:schemeClr>
              </a:solidFill>
              <a:ea typeface="Roboto"/>
              <a:cs typeface="Roboto"/>
            </a:endParaRPr>
          </a:p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Target Specific Tables with Drop option</a:t>
            </a:r>
          </a:p>
          <a:p>
            <a:pPr marL="486900" lvl="1" indent="0">
              <a:buNone/>
            </a:pPr>
            <a:endParaRPr lang="en-US" sz="1600" dirty="0"/>
          </a:p>
          <a:p>
            <a:pPr marL="486900" lvl="1" indent="0">
              <a:buNone/>
            </a:pPr>
            <a:r>
              <a:rPr lang="en-US" sz="1600" dirty="0"/>
              <a:t>Republishes CUSTOMER LU schema for customer table only, dropping the table first.</a:t>
            </a: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1" name="Picture Placeholder 10" descr="A person standing on a mountain top&#10;&#10;Description automatically generated">
            <a:extLst>
              <a:ext uri="{FF2B5EF4-FFF2-40B4-BE49-F238E27FC236}">
                <a16:creationId xmlns:a16="http://schemas.microsoft.com/office/drawing/2014/main" id="{4B2F321C-8A69-DB8D-BF90-296D30BEF89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2" r="34112"/>
          <a:stretch/>
        </p:blipFill>
        <p:spPr>
          <a:xfrm>
            <a:off x="-4200" y="-1715"/>
            <a:ext cx="3267635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D431C4-3C13-AE3B-344D-8289B191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400" dirty="0"/>
              <a:t>CDC_REPUBLISH_SCHEMA Command Examples</a:t>
            </a:r>
            <a:endParaRPr lang="en-IL" sz="2400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8A7C5B75-7E9E-125B-1661-5935EE712C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E9E5F3A-E12E-85B9-DFC6-F8BF9B15E3D7}"/>
              </a:ext>
            </a:extLst>
          </p:cNvPr>
          <p:cNvSpPr/>
          <p:nvPr/>
        </p:nvSpPr>
        <p:spPr>
          <a:xfrm>
            <a:off x="4739147" y="2033164"/>
            <a:ext cx="6489292" cy="399186"/>
          </a:xfrm>
          <a:prstGeom prst="round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cdc_republish_schema CUSTOMER;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7F84693-EA02-7C8D-93F3-695E5F6689FE}"/>
              </a:ext>
            </a:extLst>
          </p:cNvPr>
          <p:cNvSpPr/>
          <p:nvPr/>
        </p:nvSpPr>
        <p:spPr>
          <a:xfrm>
            <a:off x="4739147" y="3115731"/>
            <a:ext cx="6489292" cy="399186"/>
          </a:xfrm>
          <a:prstGeom prst="round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cdc_republish_schema CUSTOMER types='SNOW';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C0D9421-B3D3-5D28-9941-43386355FD03}"/>
              </a:ext>
            </a:extLst>
          </p:cNvPr>
          <p:cNvSpPr/>
          <p:nvPr/>
        </p:nvSpPr>
        <p:spPr>
          <a:xfrm>
            <a:off x="4739147" y="4213919"/>
            <a:ext cx="6489292" cy="399186"/>
          </a:xfrm>
          <a:prstGeom prst="round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cdc_republish_schema CUSTOMER types='SNOW' tables='customer' drop_table=true ;</a:t>
            </a:r>
          </a:p>
        </p:txBody>
      </p:sp>
    </p:spTree>
    <p:extLst>
      <p:ext uri="{BB962C8B-B14F-4D97-AF65-F5344CB8AC3E}">
        <p14:creationId xmlns:p14="http://schemas.microsoft.com/office/powerpoint/2010/main" val="681299367"/>
      </p:ext>
    </p:extLst>
  </p:cSld>
  <p:clrMapOvr>
    <a:masterClrMapping/>
  </p:clrMapOvr>
  <p:transition spd="slow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B9066-6D1D-704C-0302-29F313ABC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9341-D23E-F32A-0D04-E6F40A13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7553" y="403270"/>
            <a:ext cx="6695824" cy="487067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CDC_REPUBLISH_INSTANCE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7FD4F-6410-5C31-6507-2344B61BF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063" y="1275276"/>
            <a:ext cx="8106338" cy="4751897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Purpose</a:t>
            </a:r>
            <a:endParaRPr lang="en-US" sz="1700" dirty="0">
              <a:solidFill>
                <a:srgbClr val="2E2E2E"/>
              </a:solidFill>
              <a:ea typeface="Roboto"/>
              <a:cs typeface="Roboto"/>
            </a:endParaRPr>
          </a:p>
          <a:p>
            <a:pPr lvl="1"/>
            <a:r>
              <a:rPr lang="en-US" sz="1600" dirty="0"/>
              <a:t>Republish the CDC data of a selected LUI (Logical Unit Instance) with flexible filtering options for tables and consumers.</a:t>
            </a:r>
            <a:endParaRPr lang="en-US" sz="1700" dirty="0">
              <a:solidFill>
                <a:srgbClr val="2E2E2E"/>
              </a:solidFill>
              <a:ea typeface="Roboto"/>
              <a:cs typeface="Roboto"/>
            </a:endParaRPr>
          </a:p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Syntax</a:t>
            </a: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Parameters</a:t>
            </a: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1" name="Picture Placeholder 10" descr="A person standing on a mountain top&#10;&#10;Description automatically generated">
            <a:extLst>
              <a:ext uri="{FF2B5EF4-FFF2-40B4-BE49-F238E27FC236}">
                <a16:creationId xmlns:a16="http://schemas.microsoft.com/office/drawing/2014/main" id="{D970F4BE-6F05-69BF-2E3A-DB35E9096A6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2" r="34112"/>
          <a:stretch/>
        </p:blipFill>
        <p:spPr>
          <a:xfrm>
            <a:off x="0" y="0"/>
            <a:ext cx="3267635" cy="6858000"/>
          </a:xfrm>
        </p:spPr>
      </p:pic>
      <p:sp>
        <p:nvSpPr>
          <p:cNvPr id="9" name="AutoShape 4">
            <a:extLst>
              <a:ext uri="{FF2B5EF4-FFF2-40B4-BE49-F238E27FC236}">
                <a16:creationId xmlns:a16="http://schemas.microsoft.com/office/drawing/2014/main" id="{22101FEA-1ABD-79CE-6D45-B77340B6B2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457960-E543-29E9-7EEB-124821BB35FD}"/>
              </a:ext>
            </a:extLst>
          </p:cNvPr>
          <p:cNvGraphicFramePr>
            <a:graphicFrameLocks noGrp="1"/>
          </p:cNvGraphicFramePr>
          <p:nvPr/>
        </p:nvGraphicFramePr>
        <p:xfrm>
          <a:off x="4680156" y="3640392"/>
          <a:ext cx="6420465" cy="2225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96179">
                  <a:extLst>
                    <a:ext uri="{9D8B030D-6E8A-4147-A177-3AD203B41FA5}">
                      <a16:colId xmlns:a16="http://schemas.microsoft.com/office/drawing/2014/main" val="3125073944"/>
                    </a:ext>
                  </a:extLst>
                </a:gridCol>
                <a:gridCol w="4050891">
                  <a:extLst>
                    <a:ext uri="{9D8B030D-6E8A-4147-A177-3AD203B41FA5}">
                      <a16:colId xmlns:a16="http://schemas.microsoft.com/office/drawing/2014/main" val="3235688535"/>
                    </a:ext>
                  </a:extLst>
                </a:gridCol>
                <a:gridCol w="973395">
                  <a:extLst>
                    <a:ext uri="{9D8B030D-6E8A-4147-A177-3AD203B41FA5}">
                      <a16:colId xmlns:a16="http://schemas.microsoft.com/office/drawing/2014/main" val="1891417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Optional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711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LUT_NAME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Name of the Logical Unit Type.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694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INSTANCE_ID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Logical Unit Instance ID.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875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Comma-separated list of CDC consumer types.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59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Comma-separated list of specific tables.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39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truncate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Send CDC Delete Tables message before republishing.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262359"/>
                  </a:ext>
                </a:extLst>
              </a:tr>
            </a:tbl>
          </a:graphicData>
        </a:graphic>
      </p:graphicFrame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3A71B88-B9CF-1C28-56AB-F96A6DE2CCED}"/>
              </a:ext>
            </a:extLst>
          </p:cNvPr>
          <p:cNvSpPr/>
          <p:nvPr/>
        </p:nvSpPr>
        <p:spPr>
          <a:xfrm>
            <a:off x="3944397" y="2741891"/>
            <a:ext cx="8106338" cy="399186"/>
          </a:xfrm>
          <a:prstGeom prst="round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err="1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cdc_republish_instance</a:t>
            </a:r>
            <a:r>
              <a:rPr lang="en-US" sz="110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&lt;LUT_NAME&gt;.&lt;INSTANCE_ID&gt; [types='type1,type2...']</a:t>
            </a:r>
          </a:p>
          <a:p>
            <a:r>
              <a:rPr lang="en-US" sz="110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[tables='table1,...'] [truncate=true/false]</a:t>
            </a:r>
          </a:p>
        </p:txBody>
      </p:sp>
    </p:spTree>
    <p:extLst>
      <p:ext uri="{BB962C8B-B14F-4D97-AF65-F5344CB8AC3E}">
        <p14:creationId xmlns:p14="http://schemas.microsoft.com/office/powerpoint/2010/main" val="3284462048"/>
      </p:ext>
    </p:extLst>
  </p:cSld>
  <p:clrMapOvr>
    <a:masterClrMapping/>
  </p:clrMapOvr>
  <p:transition spd="slow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BD90-BDDB-DAEE-F2BD-F664A220A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55AF2-C56E-BB24-FE91-7DB1E0C74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7551" y="1083640"/>
            <a:ext cx="7176247" cy="5490494"/>
          </a:xfrm>
        </p:spPr>
        <p:txBody>
          <a:bodyPr vert="horz" lIns="91440" tIns="45720" rIns="91440" bIns="45720" numCol="1" rtlCol="0" anchor="t">
            <a:normAutofit fontScale="92500" lnSpcReduction="10000"/>
          </a:bodyPr>
          <a:lstStyle/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Basic Instance Republishing to all Consumers</a:t>
            </a:r>
          </a:p>
          <a:p>
            <a:pPr marL="486900" lvl="1" indent="0">
              <a:buNone/>
            </a:pPr>
            <a:endParaRPr lang="en-US" sz="2100" dirty="0">
              <a:solidFill>
                <a:schemeClr val="bg2">
                  <a:lumMod val="50000"/>
                </a:schemeClr>
              </a:solidFill>
              <a:ea typeface="Roboto"/>
              <a:cs typeface="Roboto"/>
            </a:endParaRPr>
          </a:p>
          <a:p>
            <a:pPr marL="486900" lvl="1" indent="0">
              <a:buNone/>
            </a:pPr>
            <a:r>
              <a:rPr lang="en-US" sz="1600" dirty="0"/>
              <a:t>Republishes all data for CUSTOMER instance ID 1  to all CDC consumers.</a:t>
            </a:r>
          </a:p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Target Consumer Type</a:t>
            </a:r>
          </a:p>
          <a:p>
            <a:pPr marL="486900" lvl="1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486900" lvl="1" indent="0">
              <a:buNone/>
            </a:pPr>
            <a:r>
              <a:rPr lang="en-US" sz="1600" dirty="0"/>
              <a:t>Republishes all data for CUSTOMER instance ID 1 schema only to SNOW consumer.</a:t>
            </a:r>
            <a:endParaRPr lang="en-US" sz="2100" dirty="0">
              <a:solidFill>
                <a:schemeClr val="bg2">
                  <a:lumMod val="50000"/>
                </a:schemeClr>
              </a:solidFill>
              <a:ea typeface="Roboto"/>
              <a:cs typeface="Roboto"/>
            </a:endParaRPr>
          </a:p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Specific Tables with Drop option</a:t>
            </a:r>
          </a:p>
          <a:p>
            <a:pPr marL="486900" lvl="1" indent="0">
              <a:buNone/>
            </a:pPr>
            <a:endParaRPr lang="en-US" sz="1600" dirty="0"/>
          </a:p>
          <a:p>
            <a:pPr marL="486900" lvl="1" indent="0">
              <a:buNone/>
            </a:pPr>
            <a:r>
              <a:rPr lang="en-US" sz="1600" dirty="0"/>
              <a:t>Republishes only CUSTOMER table data of CUSTOMER instance ID 1 to all consumers.</a:t>
            </a:r>
          </a:p>
          <a:p>
            <a:pPr marL="285750" indent="-285750"/>
            <a:r>
              <a:rPr lang="en-US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No Truncation</a:t>
            </a:r>
          </a:p>
          <a:p>
            <a:pPr marL="486900" lvl="1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486900" lvl="1" indent="0">
              <a:buNone/>
            </a:pPr>
            <a:r>
              <a:rPr lang="en-US" sz="1600" dirty="0"/>
              <a:t>Republishes all data for CUSTOMER instance ID 1  to all CDC consumers without sending a delete message first.</a:t>
            </a:r>
          </a:p>
          <a:p>
            <a:pPr marL="285750" indent="-285750"/>
            <a:r>
              <a:rPr lang="en-US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Can be used as a fabric command for a batch execution</a:t>
            </a:r>
          </a:p>
          <a:p>
            <a:pPr marL="486900" lvl="1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486900" lvl="1" indent="0">
              <a:buNone/>
            </a:pPr>
            <a:r>
              <a:rPr lang="en-US" sz="1600" dirty="0"/>
              <a:t>Republishes all data for a specific IG for a CUSTOMER  LUT to all CDC consumers.</a:t>
            </a:r>
          </a:p>
          <a:p>
            <a:pPr marL="486900" lvl="1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1" name="Picture Placeholder 10" descr="A person standing on a mountain top&#10;&#10;Description automatically generated">
            <a:extLst>
              <a:ext uri="{FF2B5EF4-FFF2-40B4-BE49-F238E27FC236}">
                <a16:creationId xmlns:a16="http://schemas.microsoft.com/office/drawing/2014/main" id="{6FC58BDE-EE5A-5509-BAD7-11F2FBE7680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2" r="34112"/>
          <a:stretch/>
        </p:blipFill>
        <p:spPr>
          <a:xfrm>
            <a:off x="-4200" y="-1715"/>
            <a:ext cx="3267635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6E32DC-278C-1C73-9B98-BFC6C308D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400" dirty="0"/>
              <a:t>CDC_REPUBLISH_INSTANCE Command Examples</a:t>
            </a:r>
            <a:endParaRPr lang="en-IL" sz="2400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31200289-B580-FA96-4855-1D3E97AD7C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272599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580080-2A37-E52E-D0D0-C2FEBF20986A}"/>
              </a:ext>
            </a:extLst>
          </p:cNvPr>
          <p:cNvSpPr/>
          <p:nvPr/>
        </p:nvSpPr>
        <p:spPr>
          <a:xfrm>
            <a:off x="4739146" y="1414256"/>
            <a:ext cx="6489292" cy="336551"/>
          </a:xfrm>
          <a:prstGeom prst="round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cdc_republish_instance CUSTOMER.1;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7587C3-710D-644E-DABF-F78DB80EBC38}"/>
              </a:ext>
            </a:extLst>
          </p:cNvPr>
          <p:cNvSpPr/>
          <p:nvPr/>
        </p:nvSpPr>
        <p:spPr>
          <a:xfrm>
            <a:off x="4739146" y="2374084"/>
            <a:ext cx="6489292" cy="336551"/>
          </a:xfrm>
          <a:prstGeom prst="round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cdc_republish_instance CUSTOMER.1 types='SNOW';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1511ED1-1857-898D-F338-BD2C3D38B703}"/>
              </a:ext>
            </a:extLst>
          </p:cNvPr>
          <p:cNvSpPr/>
          <p:nvPr/>
        </p:nvSpPr>
        <p:spPr>
          <a:xfrm>
            <a:off x="4739146" y="3303621"/>
            <a:ext cx="6489292" cy="315212"/>
          </a:xfrm>
          <a:prstGeom prst="round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cdc_republish_instance CUSTOMER.1 tables='customer';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F7F3CE4-2DCC-E815-F50B-359E8DC2D178}"/>
              </a:ext>
            </a:extLst>
          </p:cNvPr>
          <p:cNvSpPr/>
          <p:nvPr/>
        </p:nvSpPr>
        <p:spPr>
          <a:xfrm>
            <a:off x="4739146" y="4468935"/>
            <a:ext cx="6489292" cy="315212"/>
          </a:xfrm>
          <a:prstGeom prst="round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cdc_republish_instance CUSTOMER.1 types='SNOW’ truncate=false;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50C7288-2141-AE72-546B-B694EB14A489}"/>
              </a:ext>
            </a:extLst>
          </p:cNvPr>
          <p:cNvSpPr/>
          <p:nvPr/>
        </p:nvSpPr>
        <p:spPr>
          <a:xfrm>
            <a:off x="4739146" y="5634249"/>
            <a:ext cx="6489292" cy="315212"/>
          </a:xfrm>
          <a:prstGeom prst="round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Batch LUT[@DC].&lt;IG&gt; FABRIC_COMMAND=”cdc_republish_instance CSUTOMER.?” with async=true </a:t>
            </a:r>
          </a:p>
        </p:txBody>
      </p:sp>
    </p:spTree>
    <p:extLst>
      <p:ext uri="{BB962C8B-B14F-4D97-AF65-F5344CB8AC3E}">
        <p14:creationId xmlns:p14="http://schemas.microsoft.com/office/powerpoint/2010/main" val="3159178051"/>
      </p:ext>
    </p:extLst>
  </p:cSld>
  <p:clrMapOvr>
    <a:masterClrMapping/>
  </p:clrMapOvr>
  <p:transition spd="slow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1F86B-A6AA-EC48-D89F-FAB8FE9EA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065ED4-5485-B0ED-E99E-889F190997AF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CDC_REPUBLISH_SCHEMA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C5C8EA-2E83-C5FA-8243-D8612EF7BD05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Republishes LUI data</a:t>
            </a:r>
          </a:p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Flexible table and consumer filtering</a:t>
            </a:r>
          </a:p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Configurable truncation behavior</a:t>
            </a:r>
          </a:p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Instance-specific data changes.</a:t>
            </a:r>
          </a:p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Use when you need to refresh data for a specific instance, recover from data inconsistency, or sync a particular consumer with the latest LUI  data.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EB88D4-9023-41E8-82AB-AC0FBF83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CDC Republish Key Takeaways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B536A-37B6-4B2F-85C3-10FA8C01D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Republishes LU Schema definitions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Supports selective table republishing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Can target specific consumer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Includes drop_table option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Use when you need to force schema definition updates messages to CDC consumers.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8A3526-9124-51F3-BBF8-447FD2174476}"/>
              </a:ext>
            </a:extLst>
          </p:cNvPr>
          <p:cNvSpPr>
            <a:spLocks noGrp="1"/>
          </p:cNvSpPr>
          <p:nvPr>
            <p:ph idx="2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CDC_REPUBLISH_INSTANCE</a:t>
            </a:r>
          </a:p>
        </p:txBody>
      </p:sp>
    </p:spTree>
    <p:extLst>
      <p:ext uri="{BB962C8B-B14F-4D97-AF65-F5344CB8AC3E}">
        <p14:creationId xmlns:p14="http://schemas.microsoft.com/office/powerpoint/2010/main" val="1686179525"/>
      </p:ext>
    </p:extLst>
  </p:cSld>
  <p:clrMapOvr>
    <a:masterClrMapping/>
  </p:clrMapOvr>
  <p:transition spd="slow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D9E5B-AD61-81AD-DE23-FE9560336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94B19-871B-174F-7822-7CDD75C1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>
                <a:solidFill>
                  <a:srgbClr val="1082F2"/>
                </a:solidFill>
              </a:rPr>
            </a:br>
            <a:r>
              <a:rPr lang="en-US" sz="2000" dirty="0">
                <a:solidFill>
                  <a:srgbClr val="1082F2"/>
                </a:solidFill>
              </a:rPr>
              <a:t>CDC Configuration Parameters</a:t>
            </a:r>
            <a:endParaRPr lang="en-US" dirty="0">
              <a:solidFill>
                <a:srgbClr val="108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951083"/>
      </p:ext>
    </p:extLst>
  </p:cSld>
  <p:clrMapOvr>
    <a:masterClrMapping/>
  </p:clrMapOvr>
  <p:transition spd="slow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E827A-D95E-A595-A4DC-B57317751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FE6E0-8E08-FF1B-5A99-4EBD8389E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Fabric Configuration for CDC – config.ini</a:t>
            </a:r>
            <a:endParaRPr lang="en-IL" dirty="0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345513AF-747E-4C7C-151D-04B9D29B5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145AE11-55B6-8F30-8C37-A904BC0A6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622" y="1037369"/>
            <a:ext cx="4920361" cy="4951951"/>
          </a:xfrm>
        </p:spPr>
        <p:txBody>
          <a:bodyPr>
            <a:normAutofit/>
          </a:bodyPr>
          <a:lstStyle/>
          <a:p>
            <a:r>
              <a:rPr lang="en-US" sz="1600" dirty="0"/>
              <a:t>All of the </a:t>
            </a:r>
            <a:r>
              <a:rPr lang="en-US" sz="1600" dirty="0" err="1"/>
              <a:t>kafka</a:t>
            </a:r>
            <a:r>
              <a:rPr lang="en-US" sz="1600" dirty="0"/>
              <a:t> connection settings are defined under </a:t>
            </a:r>
            <a:r>
              <a:rPr lang="en-US" sz="1600" b="1" dirty="0"/>
              <a:t>[</a:t>
            </a:r>
            <a:r>
              <a:rPr lang="en-US" sz="1600" b="1" dirty="0" err="1"/>
              <a:t>default_pubsub</a:t>
            </a:r>
            <a:r>
              <a:rPr lang="en-US" sz="1600" b="1" dirty="0"/>
              <a:t>]</a:t>
            </a:r>
            <a:r>
              <a:rPr lang="en-US" sz="1600" dirty="0"/>
              <a:t> section in the </a:t>
            </a:r>
            <a:r>
              <a:rPr lang="en-US" sz="1600" b="1" dirty="0"/>
              <a:t>config.ini</a:t>
            </a:r>
          </a:p>
          <a:p>
            <a:endParaRPr lang="en-US" sz="1600" dirty="0"/>
          </a:p>
          <a:p>
            <a:r>
              <a:rPr lang="en-US" sz="1600" dirty="0"/>
              <a:t>When (if) different Kafka settings required for CDC, they should be set in </a:t>
            </a:r>
            <a:r>
              <a:rPr lang="en-US" sz="1600" b="1" dirty="0"/>
              <a:t>[</a:t>
            </a:r>
            <a:r>
              <a:rPr lang="en-US" sz="1600" b="1" dirty="0" err="1"/>
              <a:t>cdc</a:t>
            </a:r>
            <a:r>
              <a:rPr lang="en-US" sz="1600" b="1" dirty="0"/>
              <a:t>]</a:t>
            </a:r>
            <a:r>
              <a:rPr lang="en-US" sz="1600" dirty="0"/>
              <a:t> or/and </a:t>
            </a:r>
            <a:r>
              <a:rPr lang="en-US" sz="1600" b="1" dirty="0"/>
              <a:t>[</a:t>
            </a:r>
            <a:r>
              <a:rPr lang="en-US" sz="1600" b="1" dirty="0" err="1"/>
              <a:t>search_loader_pubsub</a:t>
            </a:r>
            <a:r>
              <a:rPr lang="en-US" sz="1600" b="1" dirty="0"/>
              <a:t>]</a:t>
            </a:r>
            <a:r>
              <a:rPr lang="en-US" sz="1600" dirty="0"/>
              <a:t> section of </a:t>
            </a:r>
            <a:r>
              <a:rPr lang="en-US" sz="1600" b="1" dirty="0"/>
              <a:t>config.ini</a:t>
            </a:r>
          </a:p>
          <a:p>
            <a:pPr lvl="1"/>
            <a:r>
              <a:rPr lang="en-US" sz="1400" dirty="0"/>
              <a:t>These sections may include only those parameters that should override default settings</a:t>
            </a:r>
          </a:p>
          <a:p>
            <a:pPr lvl="1"/>
            <a:r>
              <a:rPr lang="en-US" sz="1400" b="1" dirty="0"/>
              <a:t>[</a:t>
            </a:r>
            <a:r>
              <a:rPr lang="en-US" sz="1400" b="1" dirty="0" err="1"/>
              <a:t>search_loader_pubsub</a:t>
            </a:r>
            <a:r>
              <a:rPr lang="en-US" sz="1400" b="1" dirty="0"/>
              <a:t>]</a:t>
            </a:r>
            <a:r>
              <a:rPr lang="en-US" sz="1400" dirty="0"/>
              <a:t> section is used for predefined ‘Search’ consumer when enabled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5B043A-98DB-40D1-2A44-A30D723FB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560" y="909229"/>
            <a:ext cx="4920361" cy="56925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43B08A-3740-3368-5BBB-2E09BDF1A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020" y="4067691"/>
            <a:ext cx="4669580" cy="24041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1102580"/>
      </p:ext>
    </p:extLst>
  </p:cSld>
  <p:clrMapOvr>
    <a:masterClrMapping/>
  </p:clrMapOvr>
  <p:transition spd="slow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F34EC-7008-465C-B14D-EB7A426D8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7F47-65F6-EE94-655C-A738ABF80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7553" y="403270"/>
            <a:ext cx="6695824" cy="487067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CDC Configuration &amp; Control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58E70-6568-D0BE-A740-C507C0781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296" y="1037867"/>
            <a:ext cx="8106338" cy="5087065"/>
          </a:xfrm>
        </p:spPr>
        <p:txBody>
          <a:bodyPr vert="horz" lIns="91440" tIns="45720" rIns="91440" bIns="45720" numCol="1" rtlCol="0" anchor="t">
            <a:normAutofit fontScale="85000" lnSpcReduction="10000"/>
          </a:bodyPr>
          <a:lstStyle/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CDC_PUBLISH_MODE</a:t>
            </a:r>
            <a:endParaRPr lang="en-US" sz="1700" dirty="0">
              <a:solidFill>
                <a:srgbClr val="2E2E2E"/>
              </a:solidFill>
              <a:ea typeface="Roboto"/>
              <a:cs typeface="Roboto"/>
            </a:endParaRPr>
          </a:p>
          <a:p>
            <a:pPr lvl="1"/>
            <a:r>
              <a:rPr lang="en-US" sz="1600" dirty="0"/>
              <a:t>Controls whether the CDC messages are being published to CDC consumers. This parameter can be configured globally in the </a:t>
            </a:r>
            <a:r>
              <a:rPr lang="en-US" sz="1600" dirty="0" err="1"/>
              <a:t>config.ini</a:t>
            </a:r>
            <a:r>
              <a:rPr lang="en-US" sz="1600" dirty="0"/>
              <a:t> file.</a:t>
            </a:r>
          </a:p>
          <a:p>
            <a:pPr lvl="1"/>
            <a:r>
              <a:rPr lang="en-US" sz="1600" dirty="0">
                <a:solidFill>
                  <a:srgbClr val="2E2E2E"/>
                </a:solidFill>
                <a:ea typeface="Roboto"/>
                <a:cs typeface="Roboto"/>
              </a:rPr>
              <a:t>ON – default value. When implemented, CDC messages are published to CDC consumer topics.</a:t>
            </a:r>
          </a:p>
          <a:p>
            <a:pPr lvl="1"/>
            <a:r>
              <a:rPr lang="en-US" sz="1600" dirty="0">
                <a:solidFill>
                  <a:srgbClr val="2E2E2E"/>
                </a:solidFill>
                <a:ea typeface="Roboto"/>
                <a:cs typeface="Roboto"/>
              </a:rPr>
              <a:t>OFF – CDC messages are never published to external systems, regardless of the implementation. NOTE: The session level doesn’t override the OFF setting. </a:t>
            </a:r>
          </a:p>
          <a:p>
            <a:pPr lvl="1"/>
            <a:r>
              <a:rPr lang="en-US" sz="1600" dirty="0">
                <a:solidFill>
                  <a:srgbClr val="2E2E2E"/>
                </a:solidFill>
                <a:ea typeface="Roboto"/>
                <a:cs typeface="Roboto"/>
              </a:rPr>
              <a:t>Session-Level Override – Use the SET CDC_PUBLISH command to control CDC publication at the session level. The default session value is true. </a:t>
            </a:r>
          </a:p>
          <a:p>
            <a:pPr lvl="2"/>
            <a:r>
              <a:rPr lang="en-US" sz="1500" i="0" dirty="0">
                <a:solidFill>
                  <a:srgbClr val="2E2E2E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</a:rPr>
              <a:t>SET CDC_PUBLISH true</a:t>
            </a:r>
          </a:p>
          <a:p>
            <a:pPr lvl="2"/>
            <a:r>
              <a:rPr lang="en-US" sz="1500" i="0" dirty="0">
                <a:solidFill>
                  <a:srgbClr val="2E2E2E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</a:rPr>
              <a:t>SET CDC_PUBLISH false</a:t>
            </a:r>
          </a:p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TRANSACTION_MODE</a:t>
            </a:r>
            <a:endParaRPr lang="en-US" sz="1700" dirty="0">
              <a:solidFill>
                <a:srgbClr val="2E2E2E"/>
              </a:solidFill>
              <a:ea typeface="Roboto"/>
              <a:cs typeface="Roboto"/>
            </a:endParaRPr>
          </a:p>
          <a:p>
            <a:pPr lvl="1"/>
            <a:r>
              <a:rPr lang="en-US" sz="1600" dirty="0"/>
              <a:t>Determines how the publisher handles transactions. </a:t>
            </a:r>
          </a:p>
          <a:p>
            <a:pPr lvl="1"/>
            <a:r>
              <a:rPr lang="en-US" sz="1600" dirty="0"/>
              <a:t>This parameter should be set in </a:t>
            </a:r>
            <a:r>
              <a:rPr lang="en-US" sz="1600" b="1" dirty="0"/>
              <a:t>[</a:t>
            </a:r>
            <a:r>
              <a:rPr lang="en-US" sz="1600" b="1" dirty="0" err="1"/>
              <a:t>cdc</a:t>
            </a:r>
            <a:r>
              <a:rPr lang="en-US" sz="1600" b="1" dirty="0"/>
              <a:t>]</a:t>
            </a:r>
            <a:r>
              <a:rPr lang="en-US" sz="1600" dirty="0"/>
              <a:t> section of config.ini file to </a:t>
            </a:r>
            <a:r>
              <a:rPr lang="en-US" sz="1600" b="1" dirty="0"/>
              <a:t>BROKER</a:t>
            </a:r>
            <a:r>
              <a:rPr lang="en-US" sz="1600" dirty="0"/>
              <a:t> that enables transactional producer mode and </a:t>
            </a:r>
            <a:r>
              <a:rPr lang="en-US" sz="1600" dirty="0">
                <a:solidFill>
                  <a:srgbClr val="2E2E2E"/>
                </a:solidFill>
                <a:ea typeface="Roboto"/>
                <a:cs typeface="Roboto"/>
              </a:rPr>
              <a:t>allows sending data to multiple partitions and guarantees all these writes are either committed or discarded. This is done by grouping multiple calls to be sent into a transaction. Once a transaction is started, you can either commit or rollback to complete it.</a:t>
            </a:r>
          </a:p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ASYNC_HANDLER_QUEUE</a:t>
            </a:r>
          </a:p>
          <a:p>
            <a:pPr lvl="1"/>
            <a:r>
              <a:rPr lang="en-US" sz="1600" dirty="0"/>
              <a:t>Defines max number of messages that can be sent asynchronously to Kafka (when value is &gt; 0)</a:t>
            </a:r>
          </a:p>
          <a:p>
            <a:pPr lvl="1"/>
            <a:r>
              <a:rPr lang="en-US" sz="1600" dirty="0"/>
              <a:t>If  0 – all messages will be processed synchronously</a:t>
            </a:r>
          </a:p>
          <a:p>
            <a:pPr marL="0" indent="0">
              <a:buNone/>
            </a:pPr>
            <a:endParaRPr lang="en-US" b="1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1" name="Picture Placeholder 10" descr="A person standing on a mountain top&#10;&#10;Description automatically generated">
            <a:extLst>
              <a:ext uri="{FF2B5EF4-FFF2-40B4-BE49-F238E27FC236}">
                <a16:creationId xmlns:a16="http://schemas.microsoft.com/office/drawing/2014/main" id="{DA17D3FE-FBD3-6F6E-0C30-640743E9C99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2" r="34112"/>
          <a:stretch/>
        </p:blipFill>
        <p:spPr>
          <a:xfrm>
            <a:off x="0" y="0"/>
            <a:ext cx="3267635" cy="6858000"/>
          </a:xfrm>
        </p:spPr>
      </p:pic>
      <p:sp>
        <p:nvSpPr>
          <p:cNvPr id="9" name="AutoShape 4">
            <a:extLst>
              <a:ext uri="{FF2B5EF4-FFF2-40B4-BE49-F238E27FC236}">
                <a16:creationId xmlns:a16="http://schemas.microsoft.com/office/drawing/2014/main" id="{E72F8115-32ED-BC7C-616F-02ABD13768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08354468"/>
      </p:ext>
    </p:extLst>
  </p:cSld>
  <p:clrMapOvr>
    <a:masterClrMapping/>
  </p:clrMapOvr>
  <p:transition spd="slow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8FC0A-B878-60BE-6DBA-F914119AB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5E02-7D14-784C-F71E-67BB09C2F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7553" y="403270"/>
            <a:ext cx="6695824" cy="487067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CDC Configuration &amp; Control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822F3-7DF7-674B-F054-BFEAF95ED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296" y="1037867"/>
            <a:ext cx="8106338" cy="5087065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TRANSACTION_TIMEOUT_MS</a:t>
            </a:r>
          </a:p>
          <a:p>
            <a:pPr lvl="1"/>
            <a:r>
              <a:rPr lang="en-US" sz="1600" dirty="0"/>
              <a:t>Defines the maximum amount of time (in milliseconds) that a transaction can remain open without being committed or aborted (default 5 minutes)</a:t>
            </a:r>
          </a:p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CDC_CONSUMER_JOB_AFFINITY</a:t>
            </a:r>
          </a:p>
          <a:p>
            <a:pPr lvl="1"/>
            <a:r>
              <a:rPr lang="en-US" sz="1600" dirty="0"/>
              <a:t>Defines the affinity setting </a:t>
            </a:r>
            <a:r>
              <a:rPr lang="en-US" sz="1600" b="1" dirty="0"/>
              <a:t>only for the SEARCH </a:t>
            </a:r>
            <a:r>
              <a:rPr lang="en-US" sz="1600" dirty="0"/>
              <a:t>consumer (for the </a:t>
            </a:r>
            <a:r>
              <a:rPr lang="en-US" sz="1600" dirty="0" err="1"/>
              <a:t>ElasticSearch</a:t>
            </a:r>
            <a:r>
              <a:rPr lang="en-US" sz="1600" dirty="0"/>
              <a:t> integration), allowing control over which node(s) will host the process for better resource management and load distribution.</a:t>
            </a:r>
          </a:p>
          <a:p>
            <a:r>
              <a:rPr lang="en-US" sz="2100" dirty="0">
                <a:solidFill>
                  <a:schemeClr val="bg2">
                    <a:lumMod val="50000"/>
                  </a:schemeClr>
                </a:solidFill>
                <a:ea typeface="Roboto"/>
                <a:cs typeface="Roboto"/>
              </a:rPr>
              <a:t>CDC Transaction Debug</a:t>
            </a:r>
          </a:p>
          <a:p>
            <a:pPr lvl="1"/>
            <a:r>
              <a:rPr lang="en-US" sz="1600" dirty="0"/>
              <a:t>The DEBUG_CDC_JOB fabric job can be run as a CDC consumer to debug a CDC topic. It consumes messages from a specified topic and writes them to log files for troubleshooting purposes. </a:t>
            </a: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1" name="Picture Placeholder 10" descr="A person standing on a mountain top&#10;&#10;Description automatically generated">
            <a:extLst>
              <a:ext uri="{FF2B5EF4-FFF2-40B4-BE49-F238E27FC236}">
                <a16:creationId xmlns:a16="http://schemas.microsoft.com/office/drawing/2014/main" id="{CA8435AC-DD61-5A2A-035D-7828DAFE4D3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2" r="34112"/>
          <a:stretch/>
        </p:blipFill>
        <p:spPr>
          <a:xfrm>
            <a:off x="0" y="0"/>
            <a:ext cx="3267635" cy="6858000"/>
          </a:xfrm>
        </p:spPr>
      </p:pic>
      <p:sp>
        <p:nvSpPr>
          <p:cNvPr id="9" name="AutoShape 4">
            <a:extLst>
              <a:ext uri="{FF2B5EF4-FFF2-40B4-BE49-F238E27FC236}">
                <a16:creationId xmlns:a16="http://schemas.microsoft.com/office/drawing/2014/main" id="{A9D6B6F3-1A66-F0D2-D4C0-65828A9261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DFF8B7B9-9828-287F-3FD6-B0F8E31A007C}"/>
              </a:ext>
            </a:extLst>
          </p:cNvPr>
          <p:cNvSpPr/>
          <p:nvPr/>
        </p:nvSpPr>
        <p:spPr>
          <a:xfrm>
            <a:off x="3472296" y="5023075"/>
            <a:ext cx="8446168" cy="399186"/>
          </a:xfrm>
          <a:prstGeom prst="roundRect">
            <a:avLst/>
          </a:prstGeom>
          <a:solidFill>
            <a:srgbClr val="F9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err="1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startjob</a:t>
            </a:r>
            <a:r>
              <a:rPr lang="en-US" sz="110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DEBUG_CDC_JOB name='DEBUG_CDC_JOB' ARGS='{"topic":"&lt;CDC_TOPIC&gt;", "</a:t>
            </a:r>
            <a:r>
              <a:rPr lang="en-US" sz="1100" dirty="0" err="1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group_id</a:t>
            </a:r>
            <a:r>
              <a:rPr lang="en-US" sz="1100" dirty="0">
                <a:solidFill>
                  <a:schemeClr val="tx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":"&lt;group&gt;"} '</a:t>
            </a:r>
          </a:p>
        </p:txBody>
      </p:sp>
    </p:spTree>
    <p:extLst>
      <p:ext uri="{BB962C8B-B14F-4D97-AF65-F5344CB8AC3E}">
        <p14:creationId xmlns:p14="http://schemas.microsoft.com/office/powerpoint/2010/main" val="768234729"/>
      </p:ext>
    </p:extLst>
  </p:cSld>
  <p:clrMapOvr>
    <a:masterClrMapping/>
  </p:clrMapOvr>
  <p:transition spd="slow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701C3-D8A7-9C46-AD2B-B52E0596A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4D371-8747-B925-5E01-31BC79C1C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>
                <a:solidFill>
                  <a:srgbClr val="1082F2"/>
                </a:solidFill>
              </a:rPr>
            </a:br>
            <a:r>
              <a:rPr lang="en-US" sz="2000" dirty="0">
                <a:solidFill>
                  <a:srgbClr val="1082F2"/>
                </a:solidFill>
              </a:rPr>
              <a:t>CDC Consumer Implementation</a:t>
            </a:r>
            <a:endParaRPr lang="en-US" dirty="0">
              <a:solidFill>
                <a:srgbClr val="108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708546"/>
      </p:ext>
    </p:extLst>
  </p:cSld>
  <p:clrMapOvr>
    <a:masterClrMapping/>
  </p:clrMapOvr>
  <p:transition spd="slow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67216-B300-89B6-25F2-00C67BD92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E10DA-01C6-C41C-0FDA-881367813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CDC Consumer – Broadway Flow</a:t>
            </a:r>
            <a:endParaRPr lang="en-IL" dirty="0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83017A89-5E61-D463-1648-FF3447C3E9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7F3B240-DFA9-105C-F3EC-8B173E9FF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622" y="1037369"/>
            <a:ext cx="6188602" cy="4951951"/>
          </a:xfrm>
        </p:spPr>
        <p:txBody>
          <a:bodyPr>
            <a:normAutofit/>
          </a:bodyPr>
          <a:lstStyle/>
          <a:p>
            <a:r>
              <a:rPr lang="en-US" sz="1600" dirty="0"/>
              <a:t>Broadway has several queue management built-in Actors for Pub / Sub asynchronous message handling that can subscribe to Kafka .</a:t>
            </a:r>
          </a:p>
          <a:p>
            <a:r>
              <a:rPr lang="en-US" sz="1600" dirty="0"/>
              <a:t>Consumer interface must be defined in project:</a:t>
            </a:r>
          </a:p>
          <a:p>
            <a:pPr lvl="1"/>
            <a:r>
              <a:rPr lang="en-US" sz="1400" b="1" dirty="0" err="1"/>
              <a:t>PubSub</a:t>
            </a:r>
            <a:r>
              <a:rPr lang="en-US" sz="1400" dirty="0"/>
              <a:t> Interface Type (referring to valid </a:t>
            </a:r>
            <a:r>
              <a:rPr lang="en-US" sz="1400" b="1" dirty="0"/>
              <a:t>config.ini</a:t>
            </a:r>
            <a:r>
              <a:rPr lang="en-US" sz="1400" dirty="0"/>
              <a:t> section – for example ‘</a:t>
            </a:r>
            <a:r>
              <a:rPr lang="en-US" sz="1400" b="1" dirty="0" err="1"/>
              <a:t>cdc</a:t>
            </a:r>
            <a:r>
              <a:rPr lang="en-US" sz="1400" dirty="0"/>
              <a:t>’ or ‘</a:t>
            </a:r>
            <a:r>
              <a:rPr lang="en-US" sz="1400" b="1" dirty="0" err="1"/>
              <a:t>default_pubsub</a:t>
            </a:r>
            <a:r>
              <a:rPr lang="en-US" sz="1400" dirty="0"/>
              <a:t>’)</a:t>
            </a:r>
          </a:p>
          <a:p>
            <a:pPr lvl="1"/>
            <a:r>
              <a:rPr lang="en-US" sz="1400" dirty="0"/>
              <a:t>In the </a:t>
            </a:r>
            <a:r>
              <a:rPr lang="en-US" sz="1400" b="1" dirty="0"/>
              <a:t>config.ini </a:t>
            </a:r>
            <a:r>
              <a:rPr lang="en-US" sz="1400" dirty="0"/>
              <a:t>under relevant </a:t>
            </a:r>
            <a:r>
              <a:rPr lang="en-US" sz="1400" b="1" dirty="0" err="1"/>
              <a:t>pubsub</a:t>
            </a:r>
            <a:r>
              <a:rPr lang="en-US" sz="1400" dirty="0"/>
              <a:t> section (</a:t>
            </a:r>
            <a:r>
              <a:rPr lang="en-US" sz="1400" b="1" dirty="0" err="1"/>
              <a:t>default_pubsub</a:t>
            </a:r>
            <a:r>
              <a:rPr lang="en-US" sz="1400" b="1" dirty="0"/>
              <a:t> </a:t>
            </a:r>
            <a:r>
              <a:rPr lang="en-US" sz="1400" dirty="0"/>
              <a:t>or </a:t>
            </a:r>
            <a:r>
              <a:rPr lang="en-US" sz="1400" b="1" dirty="0" err="1"/>
              <a:t>cdc</a:t>
            </a:r>
            <a:r>
              <a:rPr lang="en-US" sz="1400" dirty="0"/>
              <a:t> section) populate Bootstrap Servers with </a:t>
            </a:r>
            <a:r>
              <a:rPr lang="en-US" sz="1400" dirty="0" err="1"/>
              <a:t>kafka</a:t>
            </a:r>
            <a:r>
              <a:rPr lang="en-US" sz="1400" dirty="0"/>
              <a:t> details (comma separated for multiple servers)</a:t>
            </a:r>
          </a:p>
          <a:p>
            <a:pPr lvl="1"/>
            <a:endParaRPr lang="en-US" sz="1400" b="1" dirty="0"/>
          </a:p>
          <a:p>
            <a:pPr lvl="1"/>
            <a:endParaRPr lang="en-US" sz="1400" b="1" dirty="0"/>
          </a:p>
          <a:p>
            <a:pPr lvl="1"/>
            <a:endParaRPr lang="en-US" sz="1400" b="1" dirty="0"/>
          </a:p>
          <a:p>
            <a:pPr lvl="1"/>
            <a:endParaRPr lang="en-US" sz="1400" b="1" dirty="0"/>
          </a:p>
          <a:p>
            <a:pPr lvl="1"/>
            <a:endParaRPr lang="en-US" sz="1400" b="1" dirty="0"/>
          </a:p>
          <a:p>
            <a:pPr lvl="1"/>
            <a:endParaRPr lang="en-US" sz="1400" b="1" dirty="0"/>
          </a:p>
          <a:p>
            <a:pPr lvl="1"/>
            <a:endParaRPr lang="en-US" sz="1400" b="1" dirty="0"/>
          </a:p>
          <a:p>
            <a:pPr lvl="1"/>
            <a:endParaRPr lang="en-US" sz="1400" b="1" dirty="0"/>
          </a:p>
          <a:p>
            <a:pPr lvl="1"/>
            <a:r>
              <a:rPr lang="en-US" sz="1400" b="1" dirty="0"/>
              <a:t>Kafka </a:t>
            </a:r>
            <a:r>
              <a:rPr lang="en-US" sz="1400" dirty="0"/>
              <a:t>interface 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74153-0807-2DF3-AEBF-E19FF84F3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035" y="975904"/>
            <a:ext cx="3684258" cy="33517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8202AC-C5BC-EC7C-D358-F8E2189D8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472" y="3276600"/>
            <a:ext cx="3684258" cy="14654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4A88D8A-1B4D-55F9-53F7-51F43662B95C}"/>
              </a:ext>
            </a:extLst>
          </p:cNvPr>
          <p:cNvSpPr/>
          <p:nvPr/>
        </p:nvSpPr>
        <p:spPr>
          <a:xfrm>
            <a:off x="8732900" y="3026273"/>
            <a:ext cx="712852" cy="2395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6C337A-FA3E-D4D5-526A-F10B905216CA}"/>
              </a:ext>
            </a:extLst>
          </p:cNvPr>
          <p:cNvSpPr/>
          <p:nvPr/>
        </p:nvSpPr>
        <p:spPr>
          <a:xfrm>
            <a:off x="10531220" y="2041330"/>
            <a:ext cx="807340" cy="3100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41364D-5A53-C236-BCDA-AAF8BE52BDF3}"/>
              </a:ext>
            </a:extLst>
          </p:cNvPr>
          <p:cNvSpPr/>
          <p:nvPr/>
        </p:nvSpPr>
        <p:spPr>
          <a:xfrm>
            <a:off x="2104654" y="4418483"/>
            <a:ext cx="2101240" cy="3236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AFE2EB-3FCC-8F65-801E-2E2EDAA7F7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697" y="4136677"/>
            <a:ext cx="2878711" cy="24864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67163B-E31C-277C-AB03-CD94BC304469}"/>
              </a:ext>
            </a:extLst>
          </p:cNvPr>
          <p:cNvSpPr/>
          <p:nvPr/>
        </p:nvSpPr>
        <p:spPr>
          <a:xfrm>
            <a:off x="7217776" y="5093209"/>
            <a:ext cx="966104" cy="3749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02789"/>
      </p:ext>
    </p:extLst>
  </p:cSld>
  <p:clrMapOvr>
    <a:masterClrMapping/>
  </p:clrMapOvr>
  <p:transition spd="slow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47343-F0A3-E825-514C-3B374DCD7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7DBE3-7D10-C822-A38E-CB7B27E15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CDC Consumer – Broadway Flow</a:t>
            </a:r>
            <a:endParaRPr lang="en-IL" dirty="0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A908A361-1FA8-816F-A904-73CCD4EE1E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CB0ED9F-81D1-D7E5-9E44-92E209218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622" y="1037369"/>
            <a:ext cx="4920361" cy="4951951"/>
          </a:xfrm>
        </p:spPr>
        <p:txBody>
          <a:bodyPr>
            <a:normAutofit/>
          </a:bodyPr>
          <a:lstStyle/>
          <a:p>
            <a:r>
              <a:rPr lang="en-US" sz="1600" dirty="0"/>
              <a:t>Create Broadway Flow to Consume messages from Kafka using build-in actors:</a:t>
            </a:r>
          </a:p>
          <a:p>
            <a:pPr lvl="1"/>
            <a:r>
              <a:rPr lang="en-US" sz="1400" b="1" dirty="0"/>
              <a:t>Subscribe</a:t>
            </a:r>
            <a:r>
              <a:rPr lang="en-US" sz="1400" dirty="0"/>
              <a:t> – actor subscribes to message broker and returns messages one by one</a:t>
            </a:r>
          </a:p>
          <a:p>
            <a:pPr lvl="1"/>
            <a:r>
              <a:rPr lang="en-US" sz="1400" b="1" dirty="0" err="1"/>
              <a:t>SubscribeBatch</a:t>
            </a:r>
            <a:r>
              <a:rPr lang="en-US" sz="1400" dirty="0"/>
              <a:t> – actor subscribes to message broker and returns messages in batches</a:t>
            </a:r>
          </a:p>
          <a:p>
            <a:pPr lvl="1"/>
            <a:r>
              <a:rPr lang="en-US" sz="1400" b="1" dirty="0" err="1"/>
              <a:t>SubscribeWithMetadata</a:t>
            </a:r>
            <a:r>
              <a:rPr lang="en-US" sz="1400" dirty="0"/>
              <a:t> – actor similar to </a:t>
            </a:r>
            <a:r>
              <a:rPr lang="en-US" sz="1400" dirty="0" err="1"/>
              <a:t>SubscriberBatch</a:t>
            </a:r>
            <a:r>
              <a:rPr lang="en-US" sz="1400" dirty="0"/>
              <a:t>, but for every message in the batch, this actor exposes key metadata fields in addition to the actual payload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F9A5BF-3140-1558-140C-5DFC53C88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1" y="1188767"/>
            <a:ext cx="5784286" cy="37370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2689178"/>
      </p:ext>
    </p:extLst>
  </p:cSld>
  <p:clrMapOvr>
    <a:masterClrMapping/>
  </p:clrMapOvr>
  <p:transition spd="slow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A1857-B590-9E10-D5E1-8E391E2C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78FAE-02FA-F1C2-FD0B-F802408A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>
                <a:solidFill>
                  <a:srgbClr val="1082F2"/>
                </a:solidFill>
              </a:rPr>
            </a:br>
            <a:r>
              <a:rPr lang="en-US" sz="2000" dirty="0">
                <a:solidFill>
                  <a:srgbClr val="1082F2"/>
                </a:solidFill>
              </a:rPr>
              <a:t>CDC Deep Dive</a:t>
            </a:r>
            <a:endParaRPr lang="en-US" dirty="0">
              <a:solidFill>
                <a:srgbClr val="108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885771"/>
      </p:ext>
    </p:extLst>
  </p:cSld>
  <p:clrMapOvr>
    <a:masterClrMapping/>
  </p:clrMapOvr>
  <p:transition spd="slow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57851-97C0-9FEC-D2B6-FC271530F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3398-BA5B-BEE3-8610-584A8BC76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MDB/LUI Changes Process</a:t>
            </a:r>
            <a:endParaRPr lang="en-IL" dirty="0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E3611C62-E9AA-5B62-E591-252BFC76D1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081258-AA9F-EB5A-AC8C-F8A178055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622" y="1037369"/>
            <a:ext cx="9554756" cy="3011723"/>
          </a:xfrm>
        </p:spPr>
        <p:txBody>
          <a:bodyPr>
            <a:normAutofit fontScale="92500" lnSpcReduction="20000"/>
          </a:bodyPr>
          <a:lstStyle/>
          <a:p>
            <a:r>
              <a:rPr lang="en-US" sz="1600" dirty="0"/>
              <a:t>Each update (write) in the LUI’s </a:t>
            </a:r>
            <a:r>
              <a:rPr lang="en-US" sz="1600" dirty="0" err="1"/>
              <a:t>MicroDB</a:t>
            </a:r>
            <a:r>
              <a:rPr lang="en-US" sz="1600" dirty="0"/>
              <a:t> activates a Fabric trigger that capture INSERT, UPDATE, and DELETE operations.</a:t>
            </a:r>
          </a:p>
          <a:p>
            <a:r>
              <a:rPr lang="en-US" sz="1600" dirty="0"/>
              <a:t>Each change initiates a CDC message, which is published asynchronously to Kafka.</a:t>
            </a:r>
          </a:p>
          <a:p>
            <a:r>
              <a:rPr lang="en-US" sz="1600" dirty="0"/>
              <a:t>Kafka transactions are used to group multiple changes into a single, atomic operation, ensuring consistency with the corresponding </a:t>
            </a:r>
            <a:r>
              <a:rPr lang="en-US" sz="1600" dirty="0" err="1"/>
              <a:t>MicroDB</a:t>
            </a:r>
            <a:r>
              <a:rPr lang="en-US" sz="1600" dirty="0"/>
              <a:t> transaction. This means either all records within a transaction are committed, or none are, preserving data integrity.</a:t>
            </a:r>
          </a:p>
          <a:p>
            <a:r>
              <a:rPr lang="en-US" sz="1600" dirty="0"/>
              <a:t>To maintain this behavior, CDC Kafka consumers must be configured with </a:t>
            </a:r>
            <a:r>
              <a:rPr lang="en-US" sz="1600" dirty="0" err="1"/>
              <a:t>isolation.level</a:t>
            </a:r>
            <a:r>
              <a:rPr lang="en-US" sz="1600" dirty="0"/>
              <a:t>=</a:t>
            </a:r>
            <a:r>
              <a:rPr lang="en-US" sz="1600" dirty="0" err="1"/>
              <a:t>read_committed</a:t>
            </a:r>
            <a:r>
              <a:rPr lang="en-US" sz="1600" dirty="0"/>
              <a:t>, which guarantees:</a:t>
            </a:r>
          </a:p>
          <a:p>
            <a:pPr lvl="1"/>
            <a:r>
              <a:rPr lang="en-US" sz="1400" dirty="0"/>
              <a:t>Only records from committed transactions are delivered to the Consumer</a:t>
            </a:r>
          </a:p>
          <a:p>
            <a:pPr lvl="1"/>
            <a:r>
              <a:rPr lang="en-US" sz="1400" dirty="0"/>
              <a:t>Aborted/rolled-back transactions are entirely ignored</a:t>
            </a:r>
          </a:p>
          <a:p>
            <a:pPr lvl="1"/>
            <a:r>
              <a:rPr lang="en-US" sz="1400" dirty="0"/>
              <a:t>Records within each committed transaction are delivered in order</a:t>
            </a:r>
          </a:p>
          <a:p>
            <a:pPr lvl="1"/>
            <a:r>
              <a:rPr lang="en-US" sz="1400" dirty="0"/>
              <a:t>Kafka waits for transaction markers before delivering records to the consumer for processing. </a:t>
            </a:r>
          </a:p>
        </p:txBody>
      </p:sp>
      <p:pic>
        <p:nvPicPr>
          <p:cNvPr id="1034" name="Picture 10" descr="CDC flow">
            <a:extLst>
              <a:ext uri="{FF2B5EF4-FFF2-40B4-BE49-F238E27FC236}">
                <a16:creationId xmlns:a16="http://schemas.microsoft.com/office/drawing/2014/main" id="{96D737E8-273E-3D07-B6B2-0C2BEC307C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8" b="5020"/>
          <a:stretch>
            <a:fillRect/>
          </a:stretch>
        </p:blipFill>
        <p:spPr bwMode="auto">
          <a:xfrm>
            <a:off x="1927953" y="4049093"/>
            <a:ext cx="8336094" cy="2588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6837848"/>
      </p:ext>
    </p:extLst>
  </p:cSld>
  <p:clrMapOvr>
    <a:masterClrMapping/>
  </p:clrMapOvr>
  <p:transition spd="slow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AB1B9-3BDA-7744-642E-B2ABD93AB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CD010-9F38-5F34-7633-6A640423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CDC Behavior – LUI Sync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19258214-B0BC-8156-FB1F-6B72515976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10" name="Picture Placeholder 10" descr="A person standing on a mountain top&#10;&#10;Description automatically generated">
            <a:extLst>
              <a:ext uri="{FF2B5EF4-FFF2-40B4-BE49-F238E27FC236}">
                <a16:creationId xmlns:a16="http://schemas.microsoft.com/office/drawing/2014/main" id="{2CB8136F-AB47-179B-3DAC-BFA3EFF1267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2" r="34112"/>
          <a:stretch/>
        </p:blipFill>
        <p:spPr>
          <a:xfrm>
            <a:off x="0" y="0"/>
            <a:ext cx="3267635" cy="6858000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E327793-159A-E5C2-BB49-2DAD456C2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7552" y="1227220"/>
            <a:ext cx="7176247" cy="5346913"/>
          </a:xfrm>
        </p:spPr>
        <p:txBody>
          <a:bodyPr>
            <a:normAutofit/>
          </a:bodyPr>
          <a:lstStyle/>
          <a:p>
            <a:pPr marL="256050" indent="-285750"/>
            <a:r>
              <a:rPr lang="en-US" sz="1800" b="1" dirty="0"/>
              <a:t>Initial Sync (LUI not in fabric):</a:t>
            </a:r>
            <a:r>
              <a:rPr lang="en-US" sz="1800" dirty="0"/>
              <a:t> During the first synchronization, when the LUI is not present in the fabric, a CDC Data Change message (datatype=</a:t>
            </a:r>
            <a:r>
              <a:rPr lang="en-US" sz="1800" b="1" dirty="0"/>
              <a:t>DATA_CHANGE</a:t>
            </a:r>
            <a:r>
              <a:rPr lang="en-US" sz="1800" dirty="0"/>
              <a:t>) with type=</a:t>
            </a:r>
            <a:r>
              <a:rPr lang="en-US" sz="1800" b="1" dirty="0"/>
              <a:t>INSERT</a:t>
            </a:r>
            <a:r>
              <a:rPr lang="en-US" sz="1800" dirty="0"/>
              <a:t> is generated for each row in every table that has CDC indexing enabled.</a:t>
            </a:r>
          </a:p>
          <a:p>
            <a:pPr marL="256050" indent="-285750"/>
            <a:r>
              <a:rPr lang="en-US" sz="1800" b="1" dirty="0"/>
              <a:t>Subsequent Syncs:</a:t>
            </a:r>
            <a:r>
              <a:rPr lang="en-US" sz="1800" dirty="0"/>
              <a:t> For subsequent synchronizations of the same LUI, CDC behavior depends on the configured Sync Delete Mode:</a:t>
            </a:r>
          </a:p>
          <a:p>
            <a:pPr marL="742950" lvl="1" indent="-285750"/>
            <a:r>
              <a:rPr lang="en-US" sz="1700" b="1" dirty="0"/>
              <a:t>When Sync Delete Mode = ALL:</a:t>
            </a:r>
            <a:r>
              <a:rPr lang="en-US" sz="1700" dirty="0"/>
              <a:t> The process generates two types of CDC Data Change messages for each row in every CDC-enabled table:</a:t>
            </a:r>
          </a:p>
          <a:p>
            <a:pPr marL="1200150" lvl="2" indent="-285750"/>
            <a:r>
              <a:rPr lang="en-US" sz="1500" dirty="0"/>
              <a:t>First: CDC Data Change message (datatype=</a:t>
            </a:r>
            <a:r>
              <a:rPr lang="en-US" sz="1500" b="1" dirty="0"/>
              <a:t>DATA_CHANGE</a:t>
            </a:r>
            <a:r>
              <a:rPr lang="en-US" sz="1500" dirty="0"/>
              <a:t>) with type=</a:t>
            </a:r>
            <a:r>
              <a:rPr lang="en-US" sz="1500" b="1" dirty="0"/>
              <a:t>DELETE</a:t>
            </a:r>
            <a:r>
              <a:rPr lang="en-US" sz="1500" dirty="0"/>
              <a:t> for each existing row</a:t>
            </a:r>
          </a:p>
          <a:p>
            <a:pPr marL="1200150" lvl="2" indent="-285750"/>
            <a:r>
              <a:rPr lang="en-US" sz="1500" dirty="0"/>
              <a:t>Second: CDC Data Change message (datatype=</a:t>
            </a:r>
            <a:r>
              <a:rPr lang="en-US" sz="1500" b="1" dirty="0"/>
              <a:t>DATA_CHANGE</a:t>
            </a:r>
            <a:r>
              <a:rPr lang="en-US" sz="1500" dirty="0"/>
              <a:t>) with type=</a:t>
            </a:r>
            <a:r>
              <a:rPr lang="en-US" sz="1500" b="1" dirty="0"/>
              <a:t>INSERT</a:t>
            </a:r>
            <a:r>
              <a:rPr lang="en-US" sz="1500" dirty="0"/>
              <a:t> for each newly inserted row</a:t>
            </a:r>
          </a:p>
          <a:p>
            <a:pPr marL="742950" lvl="1" indent="-285750"/>
            <a:r>
              <a:rPr lang="en-US" sz="1600" b="1" dirty="0"/>
              <a:t>When Sync Delete Mode = </a:t>
            </a:r>
            <a:r>
              <a:rPr lang="en-US" sz="1600" b="1" dirty="0" err="1"/>
              <a:t>NonUpdated</a:t>
            </a:r>
            <a:r>
              <a:rPr lang="en-US" sz="1600" b="1" dirty="0"/>
              <a:t>:</a:t>
            </a:r>
            <a:r>
              <a:rPr lang="en-US" sz="1600" dirty="0"/>
              <a:t> The process generates CDC Data Change messages only for modified rows in each CDC-enabled table:</a:t>
            </a:r>
          </a:p>
          <a:p>
            <a:pPr marL="1200150" lvl="2" indent="-285750"/>
            <a:r>
              <a:rPr lang="en-US" sz="1400" dirty="0"/>
              <a:t>CDC Data Change message (datatype=</a:t>
            </a:r>
            <a:r>
              <a:rPr lang="en-US" sz="1400" b="1" dirty="0"/>
              <a:t>DATA_CHANGE</a:t>
            </a:r>
            <a:r>
              <a:rPr lang="en-US" sz="1400" dirty="0"/>
              <a:t>) with type=</a:t>
            </a:r>
            <a:r>
              <a:rPr lang="en-US" sz="1400" b="1" dirty="0"/>
              <a:t>UPDATE</a:t>
            </a:r>
            <a:r>
              <a:rPr lang="en-US" sz="1400" dirty="0"/>
              <a:t> for rows where data has changed</a:t>
            </a:r>
          </a:p>
          <a:p>
            <a:pPr marL="1200150" lvl="2" indent="-285750"/>
            <a:r>
              <a:rPr lang="en-US" sz="1400" dirty="0"/>
              <a:t>CDC Data Change message (datatype=</a:t>
            </a:r>
            <a:r>
              <a:rPr lang="en-US" sz="1400" b="1" dirty="0"/>
              <a:t>DATA_CHANGE</a:t>
            </a:r>
            <a:r>
              <a:rPr lang="en-US" sz="1400" dirty="0"/>
              <a:t>) with type=</a:t>
            </a:r>
            <a:r>
              <a:rPr lang="en-US" sz="1400" b="1" dirty="0"/>
              <a:t>DELETE</a:t>
            </a:r>
            <a:r>
              <a:rPr lang="en-US" sz="1400" dirty="0"/>
              <a:t> for rows that no longer exist in the source</a:t>
            </a:r>
          </a:p>
        </p:txBody>
      </p:sp>
    </p:spTree>
    <p:extLst>
      <p:ext uri="{BB962C8B-B14F-4D97-AF65-F5344CB8AC3E}">
        <p14:creationId xmlns:p14="http://schemas.microsoft.com/office/powerpoint/2010/main" val="1264566978"/>
      </p:ext>
    </p:extLst>
  </p:cSld>
  <p:clrMapOvr>
    <a:masterClrMapping/>
  </p:clrMapOvr>
  <p:transition spd="slow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3C0CA6F-6169-FE2C-7D80-0F665F58E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F795C-080C-7834-EA9C-5823097A0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CDC Data Change Message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ABB32-15EC-72E9-B850-035ABA50A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622" y="975904"/>
            <a:ext cx="9554756" cy="1491979"/>
          </a:xfrm>
        </p:spPr>
        <p:txBody>
          <a:bodyPr vert="horz" lIns="91440" tIns="45720" rIns="91440" bIns="45720" numCol="1" rtlCol="0" anchor="t">
            <a:normAutofit fontScale="92500" lnSpcReduction="20000"/>
          </a:bodyPr>
          <a:lstStyle/>
          <a:p>
            <a:pPr marL="256050" indent="-285750"/>
            <a:r>
              <a:rPr lang="en-US" sz="1800" dirty="0"/>
              <a:t>The </a:t>
            </a:r>
            <a:r>
              <a:rPr lang="en-US" sz="1800" b="1" dirty="0"/>
              <a:t>CDC Data Change message </a:t>
            </a:r>
            <a:r>
              <a:rPr lang="en-US" sz="1800" dirty="0"/>
              <a:t>(datatype=DATA_CHANGE) is triggered when the </a:t>
            </a:r>
            <a:r>
              <a:rPr lang="en-US" sz="1800" dirty="0" err="1"/>
              <a:t>MicroDB</a:t>
            </a:r>
            <a:r>
              <a:rPr lang="en-US" sz="1800" dirty="0"/>
              <a:t> data changes (insert/update/delete) .</a:t>
            </a:r>
          </a:p>
          <a:p>
            <a:pPr marL="256050" indent="-285750"/>
            <a:r>
              <a:rPr lang="en-US" sz="1800" dirty="0"/>
              <a:t>Contains LU name, LU ID, table, PK columns, columns, </a:t>
            </a:r>
            <a:r>
              <a:rPr lang="en-US" sz="1800" dirty="0" err="1"/>
              <a:t>oldValues</a:t>
            </a:r>
            <a:r>
              <a:rPr lang="en-US" sz="1800" dirty="0"/>
              <a:t> (UPDATE/DELETE), and </a:t>
            </a:r>
            <a:r>
              <a:rPr lang="en-US" sz="1800" dirty="0" err="1"/>
              <a:t>newValues</a:t>
            </a:r>
            <a:r>
              <a:rPr lang="en-US" sz="1800" dirty="0"/>
              <a:t> (INSERT/UPDATE).</a:t>
            </a:r>
          </a:p>
          <a:p>
            <a:pPr marL="256050" indent="-285750"/>
            <a:r>
              <a:rPr lang="en-US" sz="1800" dirty="0"/>
              <a:t>The JSON schema for the CDC SCHEMA message is available here: </a:t>
            </a:r>
            <a:r>
              <a:rPr lang="en-US" sz="1600" dirty="0">
                <a:hlinkClick r:id="rId3"/>
              </a:rPr>
              <a:t>CDC_DATA_CHANGE.json</a:t>
            </a:r>
            <a:r>
              <a:rPr lang="en-US" sz="1600" dirty="0"/>
              <a:t>.</a:t>
            </a:r>
            <a:endParaRPr lang="en-US" sz="1600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DC4E556C-B83F-5488-0420-4AD557A3A0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BCFC24-E024-64FD-8232-D12F80ED9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186" y="2389239"/>
            <a:ext cx="3695866" cy="42964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EC928E-5A3F-9F61-AE5A-D3C0FF8F0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606" y="2389239"/>
            <a:ext cx="3247706" cy="42964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08FD80-9CCD-709C-3C2D-A81F0AB2C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9228" y="2389239"/>
            <a:ext cx="3650076" cy="42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371785"/>
      </p:ext>
    </p:extLst>
  </p:cSld>
  <p:clrMapOvr>
    <a:masterClrMapping/>
  </p:clrMapOvr>
  <p:transition spd="slow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17781A1-5E01-B8FF-6FC0-175176A43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13656-1A5D-1F59-77FF-FED4C468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CDC DELETE TABLES Message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95410-BA46-CF18-6F52-1CD099178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027"/>
            <a:ext cx="4569542" cy="4679936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255905" indent="-285750"/>
            <a:r>
              <a:rPr lang="en-US" sz="1800" dirty="0"/>
              <a:t>The </a:t>
            </a:r>
            <a:r>
              <a:rPr lang="en-US" sz="1800" b="1" dirty="0"/>
              <a:t>CDC Delete Tables message </a:t>
            </a:r>
            <a:r>
              <a:rPr lang="en-US" sz="1800" dirty="0"/>
              <a:t>(datatype=DELETE_TABLES) is triggered when delete instance command is executed to delete a specific instance from Fabric or CDC_REPUBLISH_SCHEMA command is issued with </a:t>
            </a:r>
            <a:r>
              <a:rPr lang="en-US" sz="1800" dirty="0" err="1"/>
              <a:t>drop_table</a:t>
            </a:r>
            <a:r>
              <a:rPr lang="en-US" sz="1800" dirty="0"/>
              <a:t> flag set to true.</a:t>
            </a:r>
            <a:endParaRPr lang="en-US" dirty="0"/>
          </a:p>
          <a:p>
            <a:pPr marL="255905" indent="-285750"/>
            <a:r>
              <a:rPr lang="en-US" sz="1800" dirty="0"/>
              <a:t>Contains LU name, LU ID, and tables.</a:t>
            </a: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255905" indent="-285750"/>
            <a:r>
              <a:rPr lang="en-US" sz="1800" dirty="0"/>
              <a:t>The JSON schema for the CDC SCHEMA message is available here</a:t>
            </a:r>
            <a:r>
              <a:rPr lang="en-US" sz="1600" dirty="0"/>
              <a:t>: </a:t>
            </a:r>
            <a:r>
              <a:rPr lang="en-US" sz="1600" dirty="0">
                <a:hlinkClick r:id="rId3"/>
              </a:rPr>
              <a:t>CDC_DELETE_TABLES.json</a:t>
            </a:r>
            <a:endParaRPr lang="en-US" sz="1600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</a:pPr>
            <a:endParaRPr lang="en-US" dirty="0">
              <a:solidFill>
                <a:srgbClr val="2E2E2E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563B15D9-547A-CB32-1F1A-AC62B6CD01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06A81E-C316-0833-E641-E89B0F05C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536" y="1565835"/>
            <a:ext cx="5674442" cy="3726330"/>
          </a:xfrm>
          <a:prstGeom prst="rect">
            <a:avLst/>
          </a:prstGeom>
        </p:spPr>
      </p:pic>
      <p:sp>
        <p:nvSpPr>
          <p:cNvPr id="5" name="Rectangle 4">
            <a:hlinkClick r:id="" action="ppaction://noaction"/>
            <a:extLst>
              <a:ext uri="{FF2B5EF4-FFF2-40B4-BE49-F238E27FC236}">
                <a16:creationId xmlns:a16="http://schemas.microsoft.com/office/drawing/2014/main" id="{4D37A7E0-A32B-3C81-6FC1-17059615D5C9}"/>
              </a:ext>
            </a:extLst>
          </p:cNvPr>
          <p:cNvSpPr/>
          <p:nvPr/>
        </p:nvSpPr>
        <p:spPr>
          <a:xfrm>
            <a:off x="838200" y="5231230"/>
            <a:ext cx="4023068" cy="1333163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/>
            </a:solidFill>
          </a:ln>
          <a:effectLst>
            <a:outerShdw blurRad="157150" dist="145807" dir="6240000" sx="101824" sy="101824" algn="br" rotWithShape="0">
              <a:prstClr val="black">
                <a:alpha val="1711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1C09D6-3386-B180-363C-A8A663936A8F}"/>
              </a:ext>
            </a:extLst>
          </p:cNvPr>
          <p:cNvSpPr txBox="1"/>
          <p:nvPr/>
        </p:nvSpPr>
        <p:spPr>
          <a:xfrm>
            <a:off x="1549949" y="5365395"/>
            <a:ext cx="292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rtl="0" eaLnBrk="1" latinLnBrk="0" hangingPunct="1"/>
            <a:r>
              <a:rPr lang="en-US" sz="1800" b="1"/>
              <a:t>Note: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4A77406-50B1-6AF4-285A-00F9C20C2593}"/>
              </a:ext>
            </a:extLst>
          </p:cNvPr>
          <p:cNvSpPr txBox="1">
            <a:spLocks/>
          </p:cNvSpPr>
          <p:nvPr/>
        </p:nvSpPr>
        <p:spPr>
          <a:xfrm>
            <a:off x="1033759" y="5946966"/>
            <a:ext cx="3733367" cy="6099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98900" indent="-198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i="1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3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rtl="0" eaLnBrk="1" latinLnBrk="0" hangingPunct="1">
              <a:buNone/>
            </a:pPr>
            <a:r>
              <a:rPr lang="en-US" sz="1600" dirty="0">
                <a:solidFill>
                  <a:srgbClr val="3B3C47"/>
                </a:solidFill>
                <a:latin typeface="Calibri"/>
                <a:cs typeface="Calibri"/>
              </a:rPr>
              <a:t>CDC_REPUBLISH_SCHEMA is covered in the section below.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A6018B3-4584-B3BB-64E8-75E3BCA01D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410" y="5365395"/>
            <a:ext cx="439947" cy="43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45766"/>
      </p:ext>
    </p:extLst>
  </p:cSld>
  <p:clrMapOvr>
    <a:masterClrMapping/>
  </p:clrMapOvr>
  <p:transition spd="slow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66255-1808-3B9F-A529-2360DE921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E491-F4E3-9285-10E4-24228EE1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CDC Behavior – LU Update and Redeploy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3EA9A468-A28F-1490-A7B6-EF430510C5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10" name="Picture Placeholder 10" descr="A person standing on a mountain top&#10;&#10;Description automatically generated">
            <a:extLst>
              <a:ext uri="{FF2B5EF4-FFF2-40B4-BE49-F238E27FC236}">
                <a16:creationId xmlns:a16="http://schemas.microsoft.com/office/drawing/2014/main" id="{2385E082-BFB5-A6BA-C9A7-5381C137A50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2" r="34112"/>
          <a:stretch/>
        </p:blipFill>
        <p:spPr>
          <a:xfrm>
            <a:off x="0" y="0"/>
            <a:ext cx="3267635" cy="6858000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551B5F3-47F0-D0A2-5E5D-54D6F6C4D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7552" y="1227220"/>
            <a:ext cx="7176247" cy="53469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Whenever CDC metadata is updated, LU must be redeployed to Fabric. </a:t>
            </a:r>
          </a:p>
          <a:p>
            <a:pPr marL="256050" indent="-285750"/>
            <a:r>
              <a:rPr lang="en-US" sz="1800" dirty="0"/>
              <a:t>CDC index added on existing LU table</a:t>
            </a:r>
          </a:p>
          <a:p>
            <a:pPr marL="742950" lvl="1" indent="-285750"/>
            <a:r>
              <a:rPr lang="en-US" sz="1600" dirty="0"/>
              <a:t>Publish the changes in the LU schema (for impacted tables &amp; consumers) – by sending </a:t>
            </a:r>
            <a:r>
              <a:rPr lang="en-US" sz="1600" b="1" dirty="0"/>
              <a:t>SCHEMA_UPDATE</a:t>
            </a:r>
            <a:r>
              <a:rPr lang="en-US" sz="1600" dirty="0"/>
              <a:t> message to each impacted table consumer with </a:t>
            </a:r>
            <a:r>
              <a:rPr lang="en-US" sz="1600" b="1" dirty="0"/>
              <a:t>“</a:t>
            </a:r>
            <a:r>
              <a:rPr lang="en-US" sz="1600" b="1" dirty="0" err="1"/>
              <a:t>updateType</a:t>
            </a:r>
            <a:r>
              <a:rPr lang="en-US" sz="1600" b="1" dirty="0"/>
              <a:t>”:“ADDED”</a:t>
            </a:r>
          </a:p>
          <a:p>
            <a:pPr marL="742950" lvl="1" indent="-285750"/>
            <a:r>
              <a:rPr lang="en-US" sz="1600" dirty="0"/>
              <a:t>Sending </a:t>
            </a:r>
            <a:r>
              <a:rPr lang="en-US" sz="1600" b="1" dirty="0"/>
              <a:t>DELETE_TABLES</a:t>
            </a:r>
            <a:r>
              <a:rPr lang="en-US" sz="1600" dirty="0"/>
              <a:t> message (for impacted tables &amp; consumers)</a:t>
            </a:r>
          </a:p>
          <a:p>
            <a:pPr marL="742950" lvl="1" indent="-285750"/>
            <a:r>
              <a:rPr lang="en-US" sz="1600" dirty="0"/>
              <a:t>Republish LUI data itself by sending </a:t>
            </a:r>
            <a:r>
              <a:rPr lang="en-US" sz="1600" b="1" dirty="0"/>
              <a:t>DATA_CHANGE</a:t>
            </a:r>
            <a:r>
              <a:rPr lang="en-US" sz="1600" dirty="0"/>
              <a:t> message for all LUIs (for impacted tables consumers) by executing batch command:</a:t>
            </a:r>
          </a:p>
          <a:p>
            <a:pPr marL="1200150" lvl="2" indent="-285750"/>
            <a:r>
              <a:rPr lang="en-US" sz="1400" dirty="0"/>
              <a:t>BATCH &lt;LUT_NAME&gt; FROM fabric FABRIC_COMMAND="</a:t>
            </a:r>
            <a:r>
              <a:rPr lang="en-US" sz="1400" dirty="0" err="1"/>
              <a:t>cdc_republish_instance</a:t>
            </a:r>
            <a:r>
              <a:rPr lang="en-US" sz="1400" dirty="0"/>
              <a:t> &lt;LUT_NAME&gt;.?" with async=true</a:t>
            </a:r>
          </a:p>
          <a:p>
            <a:pPr marL="256050" indent="-285750"/>
            <a:r>
              <a:rPr lang="en-US" sz="1800" dirty="0"/>
              <a:t>CDC index changed on existing LU table</a:t>
            </a:r>
          </a:p>
          <a:p>
            <a:pPr marL="742950" lvl="1" indent="-285750"/>
            <a:r>
              <a:rPr lang="en-US" sz="1600" dirty="0"/>
              <a:t>Republish the changes in the LU schema (for impacted tables &amp; consumers) – by sending </a:t>
            </a:r>
            <a:r>
              <a:rPr lang="en-US" sz="1600" b="1" dirty="0"/>
              <a:t>SCHEMA_UPDATE </a:t>
            </a:r>
            <a:r>
              <a:rPr lang="en-US" sz="1600" dirty="0"/>
              <a:t>message to each impacted table consumer with </a:t>
            </a:r>
            <a:r>
              <a:rPr lang="en-US" sz="1600" b="1" dirty="0"/>
              <a:t>“</a:t>
            </a:r>
            <a:r>
              <a:rPr lang="en-US" sz="1600" b="1" dirty="0" err="1"/>
              <a:t>updateType</a:t>
            </a:r>
            <a:r>
              <a:rPr lang="en-US" sz="1600" b="1" dirty="0"/>
              <a:t>”:“UPDATED”</a:t>
            </a:r>
          </a:p>
          <a:p>
            <a:pPr marL="742950" lvl="1" indent="-285750"/>
            <a:r>
              <a:rPr lang="en-US" sz="1600" dirty="0"/>
              <a:t>No LUI data republished</a:t>
            </a:r>
          </a:p>
        </p:txBody>
      </p:sp>
    </p:spTree>
    <p:extLst>
      <p:ext uri="{BB962C8B-B14F-4D97-AF65-F5344CB8AC3E}">
        <p14:creationId xmlns:p14="http://schemas.microsoft.com/office/powerpoint/2010/main" val="2431779681"/>
      </p:ext>
    </p:extLst>
  </p:cSld>
  <p:clrMapOvr>
    <a:masterClrMapping/>
  </p:clrMapOvr>
  <p:transition spd="slow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5DDCF-2596-43D8-C253-CA7301CC7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E8C1D-9A70-4B99-BB5D-1F49844E3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CDC Behavior – LU Update and Redeploy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E272149C-550B-B153-CF2C-D9511951FA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10" name="Picture Placeholder 10" descr="A person standing on a mountain top&#10;&#10;Description automatically generated">
            <a:extLst>
              <a:ext uri="{FF2B5EF4-FFF2-40B4-BE49-F238E27FC236}">
                <a16:creationId xmlns:a16="http://schemas.microsoft.com/office/drawing/2014/main" id="{0F3C8469-7961-AAA0-8857-FDC76F05AB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2" r="34112"/>
          <a:stretch/>
        </p:blipFill>
        <p:spPr>
          <a:xfrm>
            <a:off x="0" y="0"/>
            <a:ext cx="3267635" cy="6858000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84C2957-9F21-D4B4-2C70-CD0D8BCB9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7552" y="1227220"/>
            <a:ext cx="7176247" cy="5346913"/>
          </a:xfrm>
        </p:spPr>
        <p:txBody>
          <a:bodyPr>
            <a:normAutofit/>
          </a:bodyPr>
          <a:lstStyle/>
          <a:p>
            <a:pPr marL="256050" indent="-285750"/>
            <a:r>
              <a:rPr lang="en-US" sz="1800" dirty="0"/>
              <a:t>CDC index deleted on existing LU table</a:t>
            </a:r>
          </a:p>
          <a:p>
            <a:pPr marL="742950" lvl="1" indent="-285750"/>
            <a:r>
              <a:rPr lang="en-US" sz="1600" dirty="0"/>
              <a:t>Republish the changes in the LU schema (for impacted tables &amp; consumers) – by sending </a:t>
            </a:r>
            <a:r>
              <a:rPr lang="en-US" sz="1600" b="1" dirty="0"/>
              <a:t>SCHEMA_UPDATE </a:t>
            </a:r>
            <a:r>
              <a:rPr lang="en-US" sz="1600" dirty="0"/>
              <a:t>message to each table consumer with </a:t>
            </a:r>
            <a:r>
              <a:rPr lang="en-US" sz="1600" b="1" dirty="0"/>
              <a:t>“</a:t>
            </a:r>
            <a:r>
              <a:rPr lang="en-US" sz="1600" b="1" dirty="0" err="1"/>
              <a:t>updateType</a:t>
            </a:r>
            <a:r>
              <a:rPr lang="en-US" sz="1600" b="1" dirty="0"/>
              <a:t>”:“REMOVED”</a:t>
            </a:r>
          </a:p>
          <a:p>
            <a:pPr marL="742950" lvl="1" indent="-285750"/>
            <a:r>
              <a:rPr lang="en-US" sz="1600" dirty="0"/>
              <a:t>No LUI data republished</a:t>
            </a:r>
          </a:p>
          <a:p>
            <a:pPr marL="256050" indent="-285750"/>
            <a:r>
              <a:rPr lang="en-US" sz="1800" dirty="0"/>
              <a:t>New table is added into LU with CDC indexes</a:t>
            </a:r>
          </a:p>
          <a:p>
            <a:pPr marL="742950" lvl="1" indent="-285750"/>
            <a:r>
              <a:rPr lang="en-US" sz="1600" dirty="0"/>
              <a:t>Publish the changes in the LU schema (for impacted tables &amp; consumers) – by sending </a:t>
            </a:r>
            <a:r>
              <a:rPr lang="en-US" sz="1600" b="1" dirty="0"/>
              <a:t>SCHEMA_UPDATE</a:t>
            </a:r>
            <a:r>
              <a:rPr lang="en-US" sz="1600" dirty="0"/>
              <a:t> message to each impacted table consumer with </a:t>
            </a:r>
            <a:r>
              <a:rPr lang="en-US" sz="1600" b="1" dirty="0"/>
              <a:t>“</a:t>
            </a:r>
            <a:r>
              <a:rPr lang="en-US" sz="1600" b="1" dirty="0" err="1"/>
              <a:t>updateType</a:t>
            </a:r>
            <a:r>
              <a:rPr lang="en-US" sz="1600" b="1" dirty="0"/>
              <a:t>”:“ADDED”</a:t>
            </a:r>
          </a:p>
          <a:p>
            <a:pPr marL="742950" lvl="1" indent="-285750"/>
            <a:r>
              <a:rPr lang="en-US" sz="1600" dirty="0"/>
              <a:t>Sending </a:t>
            </a:r>
            <a:r>
              <a:rPr lang="en-US" sz="1600" b="1" dirty="0"/>
              <a:t>DELETE_TABLES</a:t>
            </a:r>
            <a:r>
              <a:rPr lang="en-US" sz="1600" dirty="0"/>
              <a:t> message (for impacted tables &amp; consumers)</a:t>
            </a:r>
          </a:p>
          <a:p>
            <a:pPr marL="742950" lvl="1" indent="-285750"/>
            <a:r>
              <a:rPr lang="en-US" sz="1600" dirty="0"/>
              <a:t>No LUI data republished – re-sync is needed</a:t>
            </a:r>
            <a:endParaRPr lang="en-US" sz="1400" dirty="0"/>
          </a:p>
          <a:p>
            <a:pPr marL="256050" indent="-285750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8073262"/>
      </p:ext>
    </p:extLst>
  </p:cSld>
  <p:clrMapOvr>
    <a:masterClrMapping/>
  </p:clrMapOvr>
  <p:transition spd="slow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C7C81-71ED-46BD-C172-8BC5658D8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579FA-96BD-5FE5-C1D1-0B70CF5F7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>
                <a:solidFill>
                  <a:srgbClr val="1082F2"/>
                </a:solidFill>
              </a:rPr>
            </a:br>
            <a:r>
              <a:rPr lang="en-US" sz="2000" dirty="0">
                <a:solidFill>
                  <a:srgbClr val="1082F2"/>
                </a:solidFill>
              </a:rPr>
              <a:t>Monitoring and Stats</a:t>
            </a:r>
            <a:endParaRPr lang="en-US" dirty="0">
              <a:solidFill>
                <a:srgbClr val="108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965168"/>
      </p:ext>
    </p:extLst>
  </p:cSld>
  <p:clrMapOvr>
    <a:masterClrMapping/>
  </p:clrMapOvr>
  <p:transition spd="slow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CD39D-DDCD-27BE-4694-500FA09DB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FA6BA-08DA-47BE-55E1-3B6C32643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CDC Monitoring and Stats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D248B835-BF3B-7386-B397-9D30BFA91B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10" name="Picture Placeholder 10" descr="A person standing on a mountain top&#10;&#10;Description automatically generated">
            <a:extLst>
              <a:ext uri="{FF2B5EF4-FFF2-40B4-BE49-F238E27FC236}">
                <a16:creationId xmlns:a16="http://schemas.microsoft.com/office/drawing/2014/main" id="{8F02B9AC-3819-31CA-FAF9-E18711EFD2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2" r="34112"/>
          <a:stretch/>
        </p:blipFill>
        <p:spPr>
          <a:xfrm>
            <a:off x="0" y="0"/>
            <a:ext cx="3267635" cy="6858000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7BEC9E5-B71F-A8B9-938C-C2582F5B3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7552" y="1227220"/>
            <a:ext cx="7176247" cy="53469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Fabric Statistics for CDC</a:t>
            </a:r>
          </a:p>
          <a:p>
            <a:pPr marL="256050" indent="-285750"/>
            <a:r>
              <a:rPr lang="en-US" sz="1400" dirty="0" err="1"/>
              <a:t>cdc</a:t>
            </a:r>
            <a:endParaRPr lang="en-US" sz="1400" dirty="0"/>
          </a:p>
          <a:p>
            <a:pPr marL="256050" indent="-285750"/>
            <a:r>
              <a:rPr lang="en-US" sz="1400" dirty="0"/>
              <a:t>search</a:t>
            </a:r>
          </a:p>
          <a:p>
            <a:pPr marL="256050" indent="-285750"/>
            <a:r>
              <a:rPr lang="en-US" sz="1400" dirty="0"/>
              <a:t>custom (if added in consumer or any other part of the implementation)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Kafka Statistics</a:t>
            </a:r>
          </a:p>
          <a:p>
            <a:pPr marL="256050" indent="-285750"/>
            <a:r>
              <a:rPr lang="en-US" sz="1400" dirty="0"/>
              <a:t>Consumers stats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71984286"/>
      </p:ext>
    </p:extLst>
  </p:cSld>
  <p:clrMapOvr>
    <a:masterClrMapping/>
  </p:clrMapOvr>
  <p:transition spd="slow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755E9-4CCC-5D54-F4D8-28B0C6A82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D7B2B-73E1-30B9-069E-BB98B191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Fabric Statistics for CDC</a:t>
            </a:r>
            <a:endParaRPr lang="en-IL" dirty="0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67789CDF-4360-94E8-B6A9-11F9665FED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AA3AA47-3101-AD3F-DB8B-BF2EC4525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027"/>
            <a:ext cx="5257800" cy="4679936"/>
          </a:xfrm>
        </p:spPr>
        <p:txBody>
          <a:bodyPr/>
          <a:lstStyle/>
          <a:p>
            <a:pPr marL="256050" indent="-285750"/>
            <a:r>
              <a:rPr lang="en-US" sz="1400" dirty="0" err="1"/>
              <a:t>cdc</a:t>
            </a:r>
            <a:endParaRPr lang="en-US" sz="1400" dirty="0"/>
          </a:p>
          <a:p>
            <a:pPr marL="742950" lvl="1" indent="-285750"/>
            <a:r>
              <a:rPr lang="en-US" sz="1200" dirty="0" err="1"/>
              <a:t>cdcWaitTime</a:t>
            </a:r>
            <a:r>
              <a:rPr lang="en-US" sz="1200" dirty="0"/>
              <a:t> – overhead time that CDC adds to transaction to finish</a:t>
            </a:r>
          </a:p>
          <a:p>
            <a:pPr marL="742950" lvl="1" indent="-285750"/>
            <a:r>
              <a:rPr lang="en-US" sz="1200" dirty="0" err="1"/>
              <a:t>cdcFailedTrx</a:t>
            </a:r>
            <a:r>
              <a:rPr lang="en-US" sz="1200" dirty="0"/>
              <a:t> – count of CDC failed transactions</a:t>
            </a:r>
          </a:p>
          <a:p>
            <a:pPr marL="742950" lvl="1" indent="-285750"/>
            <a:r>
              <a:rPr lang="en-US" sz="1200" dirty="0" err="1"/>
              <a:t>cdcClosedTransactions</a:t>
            </a:r>
            <a:r>
              <a:rPr lang="en-US" sz="1200" dirty="0"/>
              <a:t> – count of CDC closed transactions</a:t>
            </a:r>
          </a:p>
          <a:p>
            <a:pPr marL="742950" lvl="1" indent="-285750"/>
            <a:r>
              <a:rPr lang="en-US" sz="1200" dirty="0" err="1"/>
              <a:t>cdcOpenTransactions</a:t>
            </a:r>
            <a:r>
              <a:rPr lang="en-US" sz="1200" dirty="0"/>
              <a:t> – count of CDC open transactions</a:t>
            </a:r>
          </a:p>
          <a:p>
            <a:pPr marL="742950" lvl="1" indent="-285750"/>
            <a:r>
              <a:rPr lang="en-US" sz="1200" dirty="0" err="1"/>
              <a:t>cdcPublishMessages</a:t>
            </a:r>
            <a:r>
              <a:rPr lang="en-US" sz="1200" dirty="0"/>
              <a:t> – count of successfully published messages</a:t>
            </a:r>
          </a:p>
          <a:p>
            <a:pPr marL="256050" indent="-285750"/>
            <a:r>
              <a:rPr lang="en-US" sz="1400" dirty="0"/>
              <a:t>search</a:t>
            </a:r>
          </a:p>
          <a:p>
            <a:pPr marL="742950" lvl="1" indent="-285750"/>
            <a:r>
              <a:rPr lang="en-US" sz="1200" dirty="0" err="1"/>
              <a:t>searchLoaderUpdate</a:t>
            </a:r>
            <a:endParaRPr lang="en-US" sz="1200" dirty="0"/>
          </a:p>
          <a:p>
            <a:pPr marL="742950" lvl="1" indent="-285750"/>
            <a:r>
              <a:rPr lang="en-US" sz="1200" dirty="0" err="1"/>
              <a:t>searchLoaderDelete</a:t>
            </a:r>
            <a:endParaRPr lang="en-US" sz="1200" dirty="0"/>
          </a:p>
          <a:p>
            <a:pPr marL="742950" lvl="1" indent="-285750"/>
            <a:r>
              <a:rPr lang="en-US" sz="1200" dirty="0" err="1"/>
              <a:t>searchLoaderInsert</a:t>
            </a:r>
            <a:endParaRPr lang="en-US" sz="1200" dirty="0"/>
          </a:p>
          <a:p>
            <a:pPr marL="742950" lvl="1" indent="-285750"/>
            <a:r>
              <a:rPr lang="en-US" sz="1200" dirty="0" err="1"/>
              <a:t>searchLoaderRead</a:t>
            </a:r>
            <a:endParaRPr lang="en-US" sz="1200" dirty="0"/>
          </a:p>
          <a:p>
            <a:pPr marL="742950" lvl="1" indent="-285750"/>
            <a:r>
              <a:rPr lang="en-US" sz="1200" dirty="0" err="1"/>
              <a:t>searchLoaderErrors</a:t>
            </a:r>
            <a:endParaRPr lang="en-US" sz="1200" dirty="0"/>
          </a:p>
          <a:p>
            <a:pPr marL="256050" indent="-285750"/>
            <a:r>
              <a:rPr lang="en-US" sz="1400" dirty="0"/>
              <a:t>custom (if added in implementation)</a:t>
            </a:r>
          </a:p>
          <a:p>
            <a:pPr marL="742950" lvl="1" indent="-285750"/>
            <a:r>
              <a:rPr lang="en-US" sz="1200" dirty="0"/>
              <a:t>&lt;</a:t>
            </a:r>
            <a:r>
              <a:rPr lang="en-US" sz="1200" dirty="0" err="1"/>
              <a:t>customStatsKey</a:t>
            </a:r>
            <a:r>
              <a:rPr lang="en-US" sz="1200" dirty="0"/>
              <a:t>&gt; as created in implementation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1DBFA8-E86B-1945-D84C-F62CC9BC3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975904"/>
            <a:ext cx="5149600" cy="557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49523"/>
      </p:ext>
    </p:extLst>
  </p:cSld>
  <p:clrMapOvr>
    <a:masterClrMapping/>
  </p:clrMapOvr>
  <p:transition spd="slow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97A9E-D697-FC19-9956-610ED3391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1D18A-C43B-3BF1-C60E-9D5583875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>
                <a:solidFill>
                  <a:srgbClr val="1082F2"/>
                </a:solidFill>
              </a:rPr>
            </a:br>
            <a:r>
              <a:rPr lang="en-US" sz="2000" dirty="0">
                <a:solidFill>
                  <a:srgbClr val="1082F2"/>
                </a:solidFill>
              </a:rPr>
              <a:t>Best Practices</a:t>
            </a:r>
            <a:endParaRPr lang="en-US" dirty="0">
              <a:solidFill>
                <a:srgbClr val="108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509498"/>
      </p:ext>
    </p:extLst>
  </p:cSld>
  <p:clrMapOvr>
    <a:masterClrMapping/>
  </p:clrMapOvr>
  <p:transition spd="slow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470B0-4A88-1628-4D89-4DDC12DD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90636-3EA4-CDB2-3145-14E2F780A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CDC Best Practices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D7D2E107-8592-44BE-B239-E3A5942766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10" name="Picture Placeholder 10" descr="A person standing on a mountain top&#10;&#10;Description automatically generated">
            <a:extLst>
              <a:ext uri="{FF2B5EF4-FFF2-40B4-BE49-F238E27FC236}">
                <a16:creationId xmlns:a16="http://schemas.microsoft.com/office/drawing/2014/main" id="{4F32EF25-18E3-B63A-4E8E-AF3D829E24B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2" r="34112"/>
          <a:stretch/>
        </p:blipFill>
        <p:spPr>
          <a:xfrm>
            <a:off x="0" y="0"/>
            <a:ext cx="3267635" cy="6858000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E7679F3-2B7B-35BC-F6A6-633468E41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7552" y="1227220"/>
            <a:ext cx="7176247" cy="5346913"/>
          </a:xfrm>
        </p:spPr>
        <p:txBody>
          <a:bodyPr>
            <a:normAutofit/>
          </a:bodyPr>
          <a:lstStyle/>
          <a:p>
            <a:pPr marL="256050" indent="-285750"/>
            <a:r>
              <a:rPr lang="en-US" sz="1400" dirty="0"/>
              <a:t>Use transactions (</a:t>
            </a:r>
            <a:r>
              <a:rPr lang="en-US" sz="1400" dirty="0" err="1"/>
              <a:t>read_committed</a:t>
            </a:r>
            <a:r>
              <a:rPr lang="en-US" sz="1400" dirty="0"/>
              <a:t>) in consumer</a:t>
            </a:r>
          </a:p>
          <a:p>
            <a:pPr marL="256050" indent="-285750"/>
            <a:r>
              <a:rPr lang="en-US" sz="1400" dirty="0"/>
              <a:t>Use batches to read from </a:t>
            </a:r>
            <a:r>
              <a:rPr lang="en-US" sz="1400" dirty="0" err="1"/>
              <a:t>kafka</a:t>
            </a:r>
            <a:endParaRPr lang="en-US" sz="1400" dirty="0"/>
          </a:p>
          <a:p>
            <a:pPr marL="256050" indent="-285750"/>
            <a:r>
              <a:rPr lang="en-US" sz="1400" dirty="0"/>
              <a:t>Define only required fields for CDC</a:t>
            </a:r>
          </a:p>
          <a:p>
            <a:pPr marL="256050" indent="-285750"/>
            <a:r>
              <a:rPr lang="en-US" sz="1400" dirty="0"/>
              <a:t>Set the Delete Mode = </a:t>
            </a:r>
            <a:r>
              <a:rPr lang="en-US" sz="1400" b="1" dirty="0" err="1"/>
              <a:t>NonUpdated</a:t>
            </a:r>
            <a:r>
              <a:rPr lang="en-US" sz="1400" b="1" dirty="0"/>
              <a:t> </a:t>
            </a:r>
            <a:r>
              <a:rPr lang="en-US" sz="1400" dirty="0"/>
              <a:t>when the LU table has CDC fields in order to send CDC messages only for the updated records. </a:t>
            </a:r>
          </a:p>
          <a:p>
            <a:pPr marL="742950" lvl="1" indent="-285750"/>
            <a:r>
              <a:rPr lang="en-US" sz="1200" dirty="0"/>
              <a:t>If the Delete Mode is set to </a:t>
            </a:r>
            <a:r>
              <a:rPr lang="en-US" sz="1200" b="1" dirty="0"/>
              <a:t>All</a:t>
            </a:r>
            <a:r>
              <a:rPr lang="en-US" sz="1200" dirty="0"/>
              <a:t>, Fabric sends delete messages for all the truncated records and inserts messages for the newly inserted records.</a:t>
            </a:r>
          </a:p>
          <a:p>
            <a:pPr marL="742950" lvl="1" indent="-285750"/>
            <a:r>
              <a:rPr lang="en-US" sz="1200" dirty="0"/>
              <a:t>If the Delete Mode is </a:t>
            </a:r>
            <a:r>
              <a:rPr lang="en-US" sz="1200" b="1" dirty="0" err="1"/>
              <a:t>NonUpdated</a:t>
            </a:r>
            <a:r>
              <a:rPr lang="en-US" sz="1200" dirty="0"/>
              <a:t>, it is recommended to define a PK on the LU table and set the LU table population mode to </a:t>
            </a:r>
            <a:r>
              <a:rPr lang="en-US" sz="1200" b="1" dirty="0" err="1"/>
              <a:t>Upsert</a:t>
            </a:r>
            <a:r>
              <a:rPr lang="en-US" sz="1200" dirty="0"/>
              <a:t> or </a:t>
            </a:r>
            <a:r>
              <a:rPr lang="en-US" sz="1200" b="1" dirty="0"/>
              <a:t>Update</a:t>
            </a:r>
            <a:r>
              <a:rPr lang="en-US" sz="1200" dirty="0"/>
              <a:t> in order to delete only the old data. If the LU table does not have a PK, new records are added to the LU table and all previous records are deleted</a:t>
            </a:r>
          </a:p>
          <a:p>
            <a:pPr marL="256050" indent="-285750"/>
            <a:r>
              <a:rPr lang="en-US" sz="1400" dirty="0"/>
              <a:t>Filter / preprocess data as needed as business table in LU</a:t>
            </a:r>
          </a:p>
          <a:p>
            <a:pPr marL="256050" indent="-285750"/>
            <a:r>
              <a:rPr lang="en-US" sz="1400" dirty="0"/>
              <a:t>Create </a:t>
            </a:r>
            <a:r>
              <a:rPr lang="en-US" sz="1400" dirty="0" err="1"/>
              <a:t>kafka</a:t>
            </a:r>
            <a:r>
              <a:rPr lang="en-US" sz="1400" dirty="0"/>
              <a:t> topics upfront with multiple partitions based on</a:t>
            </a:r>
          </a:p>
        </p:txBody>
      </p:sp>
    </p:spTree>
    <p:extLst>
      <p:ext uri="{BB962C8B-B14F-4D97-AF65-F5344CB8AC3E}">
        <p14:creationId xmlns:p14="http://schemas.microsoft.com/office/powerpoint/2010/main" val="1806464295"/>
      </p:ext>
    </p:extLst>
  </p:cSld>
  <p:clrMapOvr>
    <a:masterClrMapping/>
  </p:clrMapOvr>
  <p:transition spd="slow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614D-A7F3-9955-76D7-F3F504F7D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6EE98-46D5-8914-FC4E-FC2475E0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>
                <a:solidFill>
                  <a:srgbClr val="1082F2"/>
                </a:solidFill>
              </a:rPr>
            </a:br>
            <a:r>
              <a:rPr lang="en-US" sz="2000" dirty="0">
                <a:solidFill>
                  <a:srgbClr val="1082F2"/>
                </a:solidFill>
              </a:rPr>
              <a:t>Common Issues</a:t>
            </a:r>
            <a:endParaRPr lang="en-US" dirty="0">
              <a:solidFill>
                <a:srgbClr val="108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4527992"/>
      </p:ext>
    </p:extLst>
  </p:cSld>
  <p:clrMapOvr>
    <a:masterClrMapping/>
  </p:clrMapOvr>
  <p:transition spd="slow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2166C-D335-ECA7-A614-40871DA59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5C62B-EFB1-CC42-DE24-F200FDB32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Issues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0173ABB6-18C2-BD18-4959-5A78C33803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10" name="Picture Placeholder 10" descr="A person standing on a mountain top&#10;&#10;Description automatically generated">
            <a:extLst>
              <a:ext uri="{FF2B5EF4-FFF2-40B4-BE49-F238E27FC236}">
                <a16:creationId xmlns:a16="http://schemas.microsoft.com/office/drawing/2014/main" id="{8A115700-8122-EE32-2998-A1754C73345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2" r="34112"/>
          <a:stretch/>
        </p:blipFill>
        <p:spPr>
          <a:xfrm>
            <a:off x="0" y="0"/>
            <a:ext cx="3267635" cy="6858000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0BAF9B0-E87A-1B47-9EEB-81AAD72A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7552" y="1227220"/>
            <a:ext cx="7176247" cy="5346913"/>
          </a:xfrm>
        </p:spPr>
        <p:txBody>
          <a:bodyPr>
            <a:normAutofit/>
          </a:bodyPr>
          <a:lstStyle/>
          <a:p>
            <a:pPr marL="256050" indent="-285750"/>
            <a:r>
              <a:rPr lang="en-US" sz="1400" dirty="0"/>
              <a:t>Consumer topic(s) lag is growing</a:t>
            </a:r>
          </a:p>
          <a:p>
            <a:pPr marL="742950" lvl="1" indent="-285750"/>
            <a:r>
              <a:rPr lang="en-US" sz="1200" dirty="0"/>
              <a:t>Consumers are down</a:t>
            </a:r>
          </a:p>
          <a:p>
            <a:pPr marL="742950" lvl="1" indent="-285750"/>
            <a:r>
              <a:rPr lang="en-US" sz="1200" dirty="0"/>
              <a:t>Consumers are stuck (corrupted message)</a:t>
            </a:r>
          </a:p>
          <a:p>
            <a:pPr marL="742950" lvl="1" indent="-285750"/>
            <a:r>
              <a:rPr lang="en-US" sz="1200" dirty="0"/>
              <a:t>Frequent rebalancing</a:t>
            </a:r>
          </a:p>
          <a:p>
            <a:pPr marL="742950" lvl="1" indent="-285750"/>
            <a:endParaRPr lang="en-US" sz="1200" dirty="0"/>
          </a:p>
          <a:p>
            <a:pPr marL="256050" indent="-285750"/>
            <a:r>
              <a:rPr lang="en-US" sz="1400" dirty="0"/>
              <a:t>Sync was successful but CDC messages were not published</a:t>
            </a:r>
          </a:p>
          <a:p>
            <a:pPr marL="742950" lvl="1" indent="-285750"/>
            <a:r>
              <a:rPr lang="en-US" sz="1200" dirty="0"/>
              <a:t>No CDC indexes</a:t>
            </a:r>
          </a:p>
          <a:p>
            <a:pPr marL="742950" lvl="1" indent="-285750"/>
            <a:r>
              <a:rPr lang="en-US" sz="1200" dirty="0"/>
              <a:t>Timeout on CDC transaction wait time (big LUI)</a:t>
            </a:r>
          </a:p>
        </p:txBody>
      </p:sp>
    </p:spTree>
    <p:extLst>
      <p:ext uri="{BB962C8B-B14F-4D97-AF65-F5344CB8AC3E}">
        <p14:creationId xmlns:p14="http://schemas.microsoft.com/office/powerpoint/2010/main" val="551874563"/>
      </p:ext>
    </p:extLst>
  </p:cSld>
  <p:clrMapOvr>
    <a:masterClrMapping/>
  </p:clrMapOvr>
  <p:transition spd="slow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207B0-979D-45E2-5420-2FE4D5C99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BD78-3EBD-95FC-A312-C24BAFB96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>
                <a:solidFill>
                  <a:srgbClr val="1082F2"/>
                </a:solidFill>
              </a:rPr>
            </a:br>
            <a:r>
              <a:rPr lang="en-US" sz="2000" dirty="0">
                <a:solidFill>
                  <a:srgbClr val="1082F2"/>
                </a:solidFill>
              </a:rPr>
              <a:t>Assignment</a:t>
            </a:r>
            <a:endParaRPr lang="en-US" dirty="0">
              <a:solidFill>
                <a:srgbClr val="108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16204"/>
      </p:ext>
    </p:extLst>
  </p:cSld>
  <p:clrMapOvr>
    <a:masterClrMapping/>
  </p:clrMapOvr>
  <p:transition spd="slow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2FDC2-9856-DCFB-C4DE-88DA2F38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B910-63C3-2470-7EFA-5FC0D8D3C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Assignment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B7CA3049-1E31-7183-66B4-D3754D069C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10" name="Picture Placeholder 10" descr="A person standing on a mountain top&#10;&#10;Description automatically generated">
            <a:extLst>
              <a:ext uri="{FF2B5EF4-FFF2-40B4-BE49-F238E27FC236}">
                <a16:creationId xmlns:a16="http://schemas.microsoft.com/office/drawing/2014/main" id="{107DAA3D-6A83-63D2-3CA0-CB521C5A118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2" r="34112"/>
          <a:stretch/>
        </p:blipFill>
        <p:spPr>
          <a:xfrm>
            <a:off x="0" y="0"/>
            <a:ext cx="3267635" cy="6858000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F01BD-54FC-B8BE-E68A-E03636508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7552" y="1227220"/>
            <a:ext cx="7176247" cy="5346913"/>
          </a:xfrm>
        </p:spPr>
        <p:txBody>
          <a:bodyPr>
            <a:normAutofit/>
          </a:bodyPr>
          <a:lstStyle/>
          <a:p>
            <a:pPr marL="256050" indent="-285750"/>
            <a:r>
              <a:rPr lang="en-US" sz="1400" dirty="0"/>
              <a:t>Create Web Studio Space in Alpinist tenant</a:t>
            </a:r>
          </a:p>
          <a:p>
            <a:pPr marL="742950" lvl="1" indent="-285750"/>
            <a:r>
              <a:rPr lang="en-US" sz="1200" dirty="0"/>
              <a:t>Use Project Alpinist and Profile 8.3-training</a:t>
            </a:r>
          </a:p>
          <a:p>
            <a:pPr marL="742950" lvl="1" indent="-285750"/>
            <a:r>
              <a:rPr lang="en-US" sz="1200" dirty="0"/>
              <a:t>Use Customer LU from project</a:t>
            </a:r>
          </a:p>
          <a:p>
            <a:pPr marL="256050" indent="-285750"/>
            <a:r>
              <a:rPr lang="en-US" sz="1400" dirty="0"/>
              <a:t>Install Kafka client in Web Studio:</a:t>
            </a:r>
          </a:p>
          <a:p>
            <a:pPr marL="742950" lvl="1" indent="-285750"/>
            <a:r>
              <a:rPr lang="en-US" sz="1200" dirty="0"/>
              <a:t>cd project-resources &amp;&amp; curl -L -o ./kafka.tar.gz https://download.k2view.com/index.php/s/IWGBLNyPrYhamzC/download &amp;&amp; </a:t>
            </a:r>
            <a:r>
              <a:rPr lang="en-US" sz="1200" dirty="0" err="1"/>
              <a:t>mkdir</a:t>
            </a:r>
            <a:r>
              <a:rPr lang="en-US" sz="1200" dirty="0"/>
              <a:t> apps &amp;&amp; tar -</a:t>
            </a:r>
            <a:r>
              <a:rPr lang="en-US" sz="1200" dirty="0" err="1"/>
              <a:t>xzf</a:t>
            </a:r>
            <a:r>
              <a:rPr lang="en-US" sz="1200" dirty="0"/>
              <a:t> ./kafka.tar.gz -C ./apps/</a:t>
            </a:r>
          </a:p>
          <a:p>
            <a:pPr marL="256050" indent="-285750"/>
            <a:r>
              <a:rPr lang="en-US" sz="1400" dirty="0"/>
              <a:t>Configure two CDC consumers in project:</a:t>
            </a:r>
          </a:p>
          <a:p>
            <a:pPr marL="742950" lvl="1" indent="-285750"/>
            <a:r>
              <a:rPr lang="en-US" sz="1200" dirty="0"/>
              <a:t>Customer – to publish CDC only from customer table for </a:t>
            </a:r>
            <a:r>
              <a:rPr lang="en-US" sz="1200" dirty="0" err="1"/>
              <a:t>customer_id,first_name,last_name</a:t>
            </a:r>
            <a:endParaRPr lang="en-US" sz="1200" dirty="0"/>
          </a:p>
          <a:p>
            <a:pPr marL="742950" lvl="1" indent="-285750"/>
            <a:r>
              <a:rPr lang="en-US" sz="1200" dirty="0" err="1"/>
              <a:t>Alpinist_cdc</a:t>
            </a:r>
            <a:r>
              <a:rPr lang="en-US" sz="1200" dirty="0"/>
              <a:t> – to publish all data from customer and activity tables</a:t>
            </a:r>
          </a:p>
          <a:p>
            <a:pPr marL="256050" indent="-285750"/>
            <a:r>
              <a:rPr lang="en-US" sz="1400" dirty="0"/>
              <a:t>Create BW flow to subscribe on alpinist consumer topic, read messages, print it in the log</a:t>
            </a:r>
          </a:p>
          <a:p>
            <a:pPr marL="256050" indent="-285750"/>
            <a:r>
              <a:rPr lang="en-US" sz="1400" dirty="0"/>
              <a:t>Use Kafka cli to monitor customer consumer topic (from project-resources/apps/</a:t>
            </a:r>
            <a:r>
              <a:rPr lang="en-US" sz="1400" dirty="0" err="1"/>
              <a:t>kafka</a:t>
            </a:r>
            <a:r>
              <a:rPr lang="en-US" sz="1400" dirty="0"/>
              <a:t>/bin/)</a:t>
            </a:r>
          </a:p>
          <a:p>
            <a:pPr marL="742950" lvl="1" indent="-285750"/>
            <a:r>
              <a:rPr lang="en-US" sz="1200" dirty="0"/>
              <a:t>./</a:t>
            </a:r>
            <a:r>
              <a:rPr lang="en-US" sz="1200" dirty="0" err="1"/>
              <a:t>kafka</a:t>
            </a:r>
            <a:r>
              <a:rPr lang="en-US" sz="1200" dirty="0"/>
              <a:t>-console-consumer --topic &lt;topic&gt; --bootstrap-server kafka-service:9093 --from-beginning </a:t>
            </a:r>
          </a:p>
          <a:p>
            <a:pPr marL="256050" indent="-285750"/>
            <a:r>
              <a:rPr lang="en-US" sz="1400" dirty="0"/>
              <a:t>Deploy Customer LU and check CDC messages</a:t>
            </a:r>
          </a:p>
          <a:p>
            <a:pPr marL="742950" lvl="1" indent="-285750"/>
            <a:r>
              <a:rPr lang="en-US" sz="1200" dirty="0"/>
              <a:t>What messages do you see in consumers?</a:t>
            </a:r>
          </a:p>
        </p:txBody>
      </p:sp>
    </p:spTree>
    <p:extLst>
      <p:ext uri="{BB962C8B-B14F-4D97-AF65-F5344CB8AC3E}">
        <p14:creationId xmlns:p14="http://schemas.microsoft.com/office/powerpoint/2010/main" val="2166727009"/>
      </p:ext>
    </p:extLst>
  </p:cSld>
  <p:clrMapOvr>
    <a:masterClrMapping/>
  </p:clrMapOvr>
  <p:transition spd="slow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01434-E04A-26BA-0343-980E743FB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55E7B-2B92-3A57-2464-C0413B949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Assignment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4356C5A9-5003-FC0C-023E-32413587EE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10" name="Picture Placeholder 10" descr="A person standing on a mountain top&#10;&#10;Description automatically generated">
            <a:extLst>
              <a:ext uri="{FF2B5EF4-FFF2-40B4-BE49-F238E27FC236}">
                <a16:creationId xmlns:a16="http://schemas.microsoft.com/office/drawing/2014/main" id="{51D1DDF3-BC2A-808A-77C1-660CAF915B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2" r="34112"/>
          <a:stretch/>
        </p:blipFill>
        <p:spPr>
          <a:xfrm>
            <a:off x="0" y="0"/>
            <a:ext cx="3267635" cy="6858000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A9A0391-E36C-886C-B4C8-F58F77865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7552" y="1227220"/>
            <a:ext cx="7176247" cy="5346913"/>
          </a:xfrm>
        </p:spPr>
        <p:txBody>
          <a:bodyPr>
            <a:normAutofit/>
          </a:bodyPr>
          <a:lstStyle/>
          <a:p>
            <a:pPr marL="256050" indent="-285750"/>
            <a:r>
              <a:rPr lang="en-US" sz="1400" dirty="0"/>
              <a:t>Execute Sync for Customer.300 and check CDC messages</a:t>
            </a:r>
          </a:p>
          <a:p>
            <a:pPr marL="256050" indent="-285750"/>
            <a:r>
              <a:rPr lang="en-US" sz="1400" dirty="0"/>
              <a:t>Republish data for Customer.300 only for table customer and only for ‘customer’ consumer</a:t>
            </a:r>
          </a:p>
          <a:p>
            <a:pPr marL="256050" indent="-285750"/>
            <a:r>
              <a:rPr lang="en-US" sz="1400" dirty="0"/>
              <a:t>In fabric terminal start transaction and manually execute 3 subsequent updates for Customer.300, table - customer, column – </a:t>
            </a:r>
            <a:r>
              <a:rPr lang="en-US" sz="1400" dirty="0" err="1"/>
              <a:t>first_name</a:t>
            </a:r>
            <a:r>
              <a:rPr lang="en-US" sz="1400" dirty="0"/>
              <a:t> and check messages in customer consumer topic</a:t>
            </a:r>
          </a:p>
          <a:p>
            <a:pPr marL="742950" lvl="1" indent="-285750"/>
            <a:r>
              <a:rPr lang="en-US" sz="1200" dirty="0"/>
              <a:t>When do you get messages in consumer?</a:t>
            </a:r>
          </a:p>
          <a:p>
            <a:pPr marL="256050" indent="-285750"/>
            <a:r>
              <a:rPr lang="en-US" sz="1400" dirty="0"/>
              <a:t>Reconnect to customer consumer topic with flag --</a:t>
            </a:r>
            <a:r>
              <a:rPr lang="en-US" sz="1400" dirty="0" err="1"/>
              <a:t>isolation_level</a:t>
            </a:r>
            <a:r>
              <a:rPr lang="en-US" sz="1400" dirty="0"/>
              <a:t>=read-committed and execute another 3 updates for Customer.300 table customer column </a:t>
            </a:r>
            <a:r>
              <a:rPr lang="en-US" sz="1400" dirty="0" err="1"/>
              <a:t>first_name</a:t>
            </a:r>
            <a:r>
              <a:rPr lang="en-US" sz="1400" dirty="0"/>
              <a:t> </a:t>
            </a:r>
          </a:p>
          <a:p>
            <a:pPr marL="742950" lvl="1" indent="-285750"/>
            <a:r>
              <a:rPr lang="en-US" sz="1200" dirty="0"/>
              <a:t>When do you get messages in consumer?</a:t>
            </a:r>
          </a:p>
          <a:p>
            <a:pPr marL="256050" indent="-285750"/>
            <a:r>
              <a:rPr lang="en-US" sz="1400" dirty="0"/>
              <a:t>Update table activity population to publish </a:t>
            </a:r>
            <a:r>
              <a:rPr lang="en-US" sz="1400" dirty="0" err="1"/>
              <a:t>cdc</a:t>
            </a:r>
            <a:r>
              <a:rPr lang="en-US" sz="1400" dirty="0"/>
              <a:t> messages only for last 10 years (based on </a:t>
            </a:r>
            <a:r>
              <a:rPr lang="en-US" sz="1400" dirty="0" err="1"/>
              <a:t>activity_date</a:t>
            </a:r>
            <a:endParaRPr lang="en-US" sz="1400" dirty="0"/>
          </a:p>
          <a:p>
            <a:pPr marL="742950" lvl="1" indent="-285750"/>
            <a:r>
              <a:rPr lang="en-US" sz="1200" dirty="0"/>
              <a:t>How do you control CDC from population ?</a:t>
            </a:r>
          </a:p>
          <a:p>
            <a:pPr marL="742950" lvl="1" indent="-285750"/>
            <a:r>
              <a:rPr lang="en-US" sz="1200" dirty="0"/>
              <a:t>How many INSERT messages was generated for Customer.300 resync in force mode?</a:t>
            </a:r>
          </a:p>
        </p:txBody>
      </p:sp>
    </p:spTree>
    <p:extLst>
      <p:ext uri="{BB962C8B-B14F-4D97-AF65-F5344CB8AC3E}">
        <p14:creationId xmlns:p14="http://schemas.microsoft.com/office/powerpoint/2010/main" val="1265217640"/>
      </p:ext>
    </p:extLst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2_Office Theme">
  <a:themeElements>
    <a:clrScheme name="k2">
      <a:dk1>
        <a:srgbClr val="3B3C47"/>
      </a:dk1>
      <a:lt1>
        <a:srgbClr val="FFFFFF"/>
      </a:lt1>
      <a:dk2>
        <a:srgbClr val="1182F2"/>
      </a:dk2>
      <a:lt2>
        <a:srgbClr val="EDF5FE"/>
      </a:lt2>
      <a:accent1>
        <a:srgbClr val="17E7FE"/>
      </a:accent1>
      <a:accent2>
        <a:srgbClr val="923CEF"/>
      </a:accent2>
      <a:accent3>
        <a:srgbClr val="04D793"/>
      </a:accent3>
      <a:accent4>
        <a:srgbClr val="1182F2"/>
      </a:accent4>
      <a:accent5>
        <a:srgbClr val="F0822A"/>
      </a:accent5>
      <a:accent6>
        <a:srgbClr val="F13F92"/>
      </a:accent6>
      <a:hlink>
        <a:srgbClr val="1182F2"/>
      </a:hlink>
      <a:folHlink>
        <a:srgbClr val="2E2E2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with images - March 2023" id="{E32DEDF4-6FE1-7B45-88F4-21FFD2FADC17}" vid="{24B6B51B-2C36-2140-927F-C94A972C68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shboardview xmlns="74083ff3-901d-4a80-b854-a128eee5eee4" xsi:nil="true"/>
    <_ip_UnifiedCompliancePolicyUIAction xmlns="http://schemas.microsoft.com/sharepoint/v3" xsi:nil="true"/>
    <lcf76f155ced4ddcb4097134ff3c332f xmlns="74083ff3-901d-4a80-b854-a128eee5eee4">
      <Terms xmlns="http://schemas.microsoft.com/office/infopath/2007/PartnerControls"/>
    </lcf76f155ced4ddcb4097134ff3c332f>
    <_ip_UnifiedCompliancePolicyProperties xmlns="http://schemas.microsoft.com/sharepoint/v3" xsi:nil="true"/>
    <TaxCatchAll xmlns="207f1ff3-1f77-40fd-ad5b-9d6ae8cfe6f8" xsi:nil="true"/>
    <Team xmlns="74083ff3-901d-4a80-b854-a128eee5eee4" xsi:nil="true"/>
    <SharedWithUsers xmlns="207f1ff3-1f77-40fd-ad5b-9d6ae8cfe6f8">
      <UserInfo>
        <DisplayName>Rivi Green</DisplayName>
        <AccountId>112</AccountId>
        <AccountType/>
      </UserInfo>
      <UserInfo>
        <DisplayName>Shani Rotem</DisplayName>
        <AccountId>117</AccountId>
        <AccountType/>
      </UserInfo>
      <UserInfo>
        <DisplayName>Roy Ittah</DisplayName>
        <AccountId>1499</AccountId>
        <AccountType/>
      </UserInfo>
    </SharedWithUsers>
    <Department xmlns="74083ff3-901d-4a80-b854-a128eee5eee4">Marketing</Department>
    <Sales_x0020_Assets xmlns="74083ff3-901d-4a80-b854-a128eee5eee4">false</Sales_x0020_Asset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57D32277AC8A4EB3BE59077C9D6D08" ma:contentTypeVersion="25" ma:contentTypeDescription="Create a new document." ma:contentTypeScope="" ma:versionID="59317dfa60bcc6201b1e10428d146bb5">
  <xsd:schema xmlns:xsd="http://www.w3.org/2001/XMLSchema" xmlns:xs="http://www.w3.org/2001/XMLSchema" xmlns:p="http://schemas.microsoft.com/office/2006/metadata/properties" xmlns:ns1="http://schemas.microsoft.com/sharepoint/v3" xmlns:ns2="207f1ff3-1f77-40fd-ad5b-9d6ae8cfe6f8" xmlns:ns3="74083ff3-901d-4a80-b854-a128eee5eee4" targetNamespace="http://schemas.microsoft.com/office/2006/metadata/properties" ma:root="true" ma:fieldsID="a33a061ea27fdf71e4c3c098d69c9f08" ns1:_="" ns2:_="" ns3:_="">
    <xsd:import namespace="http://schemas.microsoft.com/sharepoint/v3"/>
    <xsd:import namespace="207f1ff3-1f77-40fd-ad5b-9d6ae8cfe6f8"/>
    <xsd:import namespace="74083ff3-901d-4a80-b854-a128eee5eee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Dashboardview" minOccurs="0"/>
                <xsd:element ref="ns3:Team" minOccurs="0"/>
                <xsd:element ref="ns3:MediaLengthInSeconds" minOccurs="0"/>
                <xsd:element ref="ns1:_ip_UnifiedCompliancePolicyProperties" minOccurs="0"/>
                <xsd:element ref="ns1:_ip_UnifiedCompliancePolicyUIAction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Sales_x0020_Assets" minOccurs="0"/>
                <xsd:element ref="ns3:Departm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f1ff3-1f77-40fd-ad5b-9d6ae8cfe6f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b14cb109-3faf-4295-a09d-03433ead41c6}" ma:internalName="TaxCatchAll" ma:showField="CatchAllData" ma:web="207f1ff3-1f77-40fd-ad5b-9d6ae8cfe6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083ff3-901d-4a80-b854-a128eee5ee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ashboardview" ma:index="20" nillable="true" ma:displayName="Dashboard view" ma:format="Dropdown" ma:internalName="Dashboardview">
      <xsd:simpleType>
        <xsd:restriction base="dms:Choice">
          <xsd:enumeration value="Yes"/>
          <xsd:enumeration value="No"/>
        </xsd:restriction>
      </xsd:simpleType>
    </xsd:element>
    <xsd:element name="Team" ma:index="21" nillable="true" ma:displayName="Team " ma:format="Dropdown" ma:internalName="Team">
      <xsd:simpleType>
        <xsd:restriction base="dms:Choice">
          <xsd:enumeration value="IT"/>
          <xsd:enumeration value="Infra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06b8eabe-3e4c-4b59-81cb-ab0a37b0a0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  <xsd:element name="Sales_x0020_Assets" ma:index="31" nillable="true" ma:displayName="Sales Assets" ma:default="0" ma:description="Shared Sales Assets" ma:indexed="true" ma:internalName="Sales_x0020_Assets">
      <xsd:simpleType>
        <xsd:restriction base="dms:Boolean"/>
      </xsd:simpleType>
    </xsd:element>
    <xsd:element name="Department" ma:index="32" nillable="true" ma:displayName="Department" ma:default="Marketing" ma:format="Dropdown" ma:indexed="true" ma:internalName="Department">
      <xsd:simpleType>
        <xsd:restriction base="dms:Choice">
          <xsd:enumeration value="Marketing"/>
          <xsd:enumeration value="Legal"/>
          <xsd:enumeration value="Sales"/>
          <xsd:enumeration value="Sales Eng"/>
          <xsd:enumeration value="Finance"/>
          <xsd:enumeration value="R&amp;D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6A8DA9-D201-45DD-A660-CABF16868DCC}">
  <ds:schemaRefs>
    <ds:schemaRef ds:uri="http://purl.org/dc/elements/1.1/"/>
    <ds:schemaRef ds:uri="http://schemas.microsoft.com/office/infopath/2007/PartnerControls"/>
    <ds:schemaRef ds:uri="http://schemas.microsoft.com/office/2006/metadata/properties"/>
    <ds:schemaRef ds:uri="207f1ff3-1f77-40fd-ad5b-9d6ae8cfe6f8"/>
    <ds:schemaRef ds:uri="http://schemas.microsoft.com/office/2006/documentManagement/types"/>
    <ds:schemaRef ds:uri="74083ff3-901d-4a80-b854-a128eee5eee4"/>
    <ds:schemaRef ds:uri="http://schemas.openxmlformats.org/package/2006/metadata/core-properties"/>
    <ds:schemaRef ds:uri="http://purl.org/dc/dcmitype/"/>
    <ds:schemaRef ds:uri="http://schemas.microsoft.com/sharepoint/v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E60096-10E0-4CFF-B3D2-BAC252628028}"/>
</file>

<file path=customXml/itemProps3.xml><?xml version="1.0" encoding="utf-8"?>
<ds:datastoreItem xmlns:ds="http://schemas.openxmlformats.org/officeDocument/2006/customXml" ds:itemID="{C65DF118-5329-4FBE-A597-4D7C3C60887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94f176e-6775-4954-9f9e-0c719b5e9ca0}" enabled="0" method="" siteId="{994f176e-6775-4954-9f9e-0c719b5e9ca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 with images - March 2023</Template>
  <TotalTime>38828</TotalTime>
  <Words>3866</Words>
  <Application>Microsoft Office PowerPoint</Application>
  <PresentationFormat>Widescreen</PresentationFormat>
  <Paragraphs>432</Paragraphs>
  <Slides>47</Slides>
  <Notes>37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Courier New</vt:lpstr>
      <vt:lpstr>Roboto</vt:lpstr>
      <vt:lpstr>Wingdings</vt:lpstr>
      <vt:lpstr>2_Office Theme</vt:lpstr>
      <vt:lpstr> Fabric Change Data Capture (CDC)</vt:lpstr>
      <vt:lpstr>What is Fabric CDC</vt:lpstr>
      <vt:lpstr>Architecture and Features</vt:lpstr>
      <vt:lpstr>Benefits</vt:lpstr>
      <vt:lpstr> Implementation Steps for CDC</vt:lpstr>
      <vt:lpstr>Configure Consumers of CDC</vt:lpstr>
      <vt:lpstr>Configure LU Tables of CDC</vt:lpstr>
      <vt:lpstr>Create Consumer Topics</vt:lpstr>
      <vt:lpstr>Deploy LU &amp; Schema Publishing</vt:lpstr>
      <vt:lpstr> CDC Message Types</vt:lpstr>
      <vt:lpstr>CDC SCHEMA Message</vt:lpstr>
      <vt:lpstr>CDC SCHEMA UPDATE Message</vt:lpstr>
      <vt:lpstr>CDC SCHEMA REPUBLISH Message</vt:lpstr>
      <vt:lpstr>CDC DATA CHANGE Message</vt:lpstr>
      <vt:lpstr>PowerPoint Presentation</vt:lpstr>
      <vt:lpstr>CDC DELETE TABLES Message</vt:lpstr>
      <vt:lpstr> CDC Commands</vt:lpstr>
      <vt:lpstr>CDC Republish</vt:lpstr>
      <vt:lpstr>CDC_REPUBLISH_SCHEMA</vt:lpstr>
      <vt:lpstr>CDC_REPUBLISH_SCHEMA Command Examples</vt:lpstr>
      <vt:lpstr>CDC_REPUBLISH_INSTANCE</vt:lpstr>
      <vt:lpstr>CDC_REPUBLISH_INSTANCE Command Examples</vt:lpstr>
      <vt:lpstr>CDC Republish Key Takeaways</vt:lpstr>
      <vt:lpstr> CDC Configuration Parameters</vt:lpstr>
      <vt:lpstr>Fabric Configuration for CDC – config.ini</vt:lpstr>
      <vt:lpstr>CDC Configuration &amp; Control</vt:lpstr>
      <vt:lpstr>CDC Configuration &amp; Control</vt:lpstr>
      <vt:lpstr> CDC Consumer Implementation</vt:lpstr>
      <vt:lpstr>CDC Consumer – Broadway Flow</vt:lpstr>
      <vt:lpstr>CDC Consumer – Broadway Flow</vt:lpstr>
      <vt:lpstr> CDC Deep Dive</vt:lpstr>
      <vt:lpstr>MDB/LUI Changes Process</vt:lpstr>
      <vt:lpstr>CDC Behavior – LUI Sync</vt:lpstr>
      <vt:lpstr>CDC Data Change Message</vt:lpstr>
      <vt:lpstr>CDC DELETE TABLES Message</vt:lpstr>
      <vt:lpstr>CDC Behavior – LU Update and Redeploy</vt:lpstr>
      <vt:lpstr>CDC Behavior – LU Update and Redeploy</vt:lpstr>
      <vt:lpstr> Monitoring and Stats</vt:lpstr>
      <vt:lpstr>CDC Monitoring and Stats</vt:lpstr>
      <vt:lpstr>Fabric Statistics for CDC</vt:lpstr>
      <vt:lpstr> Best Practices</vt:lpstr>
      <vt:lpstr>CDC Best Practices</vt:lpstr>
      <vt:lpstr> Common Issues</vt:lpstr>
      <vt:lpstr>Common Issues</vt:lpstr>
      <vt:lpstr> Assignment</vt:lpstr>
      <vt:lpstr>Assignment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Tal Levinkron</dc:creator>
  <cp:lastModifiedBy>Tal Levinkron</cp:lastModifiedBy>
  <cp:revision>46</cp:revision>
  <dcterms:created xsi:type="dcterms:W3CDTF">2024-02-21T10:22:58Z</dcterms:created>
  <dcterms:modified xsi:type="dcterms:W3CDTF">2025-12-17T14:16:06Z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0x010100B857D32277AC8A4EB3BE59077C9D6D08</vt:lpwstr>
  </property>
  <property fmtid="{D5CDD505-2E9C-101B-9397-08002B2CF9AE}" pid="3" name="MediaServiceImageTags">
    <vt:lpwstr/>
  </property>
</Properties>
</file>