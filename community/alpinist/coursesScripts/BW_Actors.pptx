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7FFFD4E9_8A5B099F.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8" r:id="rId4"/>
  </p:sldMasterIdLst>
  <p:notesMasterIdLst>
    <p:notesMasterId r:id="rId92"/>
  </p:notesMasterIdLst>
  <p:sldIdLst>
    <p:sldId id="2147472508" r:id="rId5"/>
    <p:sldId id="2144327533" r:id="rId6"/>
    <p:sldId id="2147472599" r:id="rId7"/>
    <p:sldId id="2147472780" r:id="rId8"/>
    <p:sldId id="2147472779" r:id="rId9"/>
    <p:sldId id="2147472600" r:id="rId10"/>
    <p:sldId id="2147472736" r:id="rId11"/>
    <p:sldId id="2147472737" r:id="rId12"/>
    <p:sldId id="2147472783" r:id="rId13"/>
    <p:sldId id="2147472624" r:id="rId14"/>
    <p:sldId id="2147472621" r:id="rId15"/>
    <p:sldId id="2147472784" r:id="rId16"/>
    <p:sldId id="2147472620" r:id="rId17"/>
    <p:sldId id="2147472654" r:id="rId18"/>
    <p:sldId id="2147472622" r:id="rId19"/>
    <p:sldId id="2147472613" r:id="rId20"/>
    <p:sldId id="2147472614" r:id="rId21"/>
    <p:sldId id="2147472615" r:id="rId22"/>
    <p:sldId id="2147472616" r:id="rId23"/>
    <p:sldId id="2147472617" r:id="rId24"/>
    <p:sldId id="2147472618" r:id="rId25"/>
    <p:sldId id="2147472638" r:id="rId26"/>
    <p:sldId id="2147472639" r:id="rId27"/>
    <p:sldId id="2147472640" r:id="rId28"/>
    <p:sldId id="2147472641" r:id="rId29"/>
    <p:sldId id="2147472642" r:id="rId30"/>
    <p:sldId id="2147472643" r:id="rId31"/>
    <p:sldId id="2147472644" r:id="rId32"/>
    <p:sldId id="2147472645" r:id="rId33"/>
    <p:sldId id="2147472647" r:id="rId34"/>
    <p:sldId id="2147472648" r:id="rId35"/>
    <p:sldId id="2147472649" r:id="rId36"/>
    <p:sldId id="2147472650" r:id="rId37"/>
    <p:sldId id="2147472767" r:id="rId38"/>
    <p:sldId id="2147472741" r:id="rId39"/>
    <p:sldId id="2147472728" r:id="rId40"/>
    <p:sldId id="2147472739" r:id="rId41"/>
    <p:sldId id="2147472742" r:id="rId42"/>
    <p:sldId id="2147472743" r:id="rId43"/>
    <p:sldId id="2147472744" r:id="rId44"/>
    <p:sldId id="2147472746" r:id="rId45"/>
    <p:sldId id="2147472747" r:id="rId46"/>
    <p:sldId id="2147472748" r:id="rId47"/>
    <p:sldId id="2147472738" r:id="rId48"/>
    <p:sldId id="2147472729" r:id="rId49"/>
    <p:sldId id="2147472732" r:id="rId50"/>
    <p:sldId id="2147472731" r:id="rId51"/>
    <p:sldId id="2147472730" r:id="rId52"/>
    <p:sldId id="2147472733" r:id="rId53"/>
    <p:sldId id="2147472734" r:id="rId54"/>
    <p:sldId id="2147472769" r:id="rId55"/>
    <p:sldId id="2147472770" r:id="rId56"/>
    <p:sldId id="2147472771" r:id="rId57"/>
    <p:sldId id="2147472750" r:id="rId58"/>
    <p:sldId id="2147472752" r:id="rId59"/>
    <p:sldId id="2147472753" r:id="rId60"/>
    <p:sldId id="2147472754" r:id="rId61"/>
    <p:sldId id="2147472653" r:id="rId62"/>
    <p:sldId id="2147472785" r:id="rId63"/>
    <p:sldId id="2147472655" r:id="rId64"/>
    <p:sldId id="2147472627" r:id="rId65"/>
    <p:sldId id="2147472626" r:id="rId66"/>
    <p:sldId id="2147472774" r:id="rId67"/>
    <p:sldId id="2147472782" r:id="rId68"/>
    <p:sldId id="2147472666" r:id="rId69"/>
    <p:sldId id="2147472669" r:id="rId70"/>
    <p:sldId id="2147472781" r:id="rId71"/>
    <p:sldId id="2147472786" r:id="rId72"/>
    <p:sldId id="2147472776" r:id="rId73"/>
    <p:sldId id="2147472775" r:id="rId74"/>
    <p:sldId id="2147472681" r:id="rId75"/>
    <p:sldId id="2147472679" r:id="rId76"/>
    <p:sldId id="2147472764" r:id="rId77"/>
    <p:sldId id="2147472766" r:id="rId78"/>
    <p:sldId id="2147472683" r:id="rId79"/>
    <p:sldId id="2147472682" r:id="rId80"/>
    <p:sldId id="2147472680" r:id="rId81"/>
    <p:sldId id="2147472772" r:id="rId82"/>
    <p:sldId id="2147472755" r:id="rId83"/>
    <p:sldId id="2147472756" r:id="rId84"/>
    <p:sldId id="2147472757" r:id="rId85"/>
    <p:sldId id="2147472665" r:id="rId86"/>
    <p:sldId id="2147472758" r:id="rId87"/>
    <p:sldId id="2147472759" r:id="rId88"/>
    <p:sldId id="2147472760" r:id="rId89"/>
    <p:sldId id="2147472761" r:id="rId90"/>
    <p:sldId id="2147472762" r:id="rId91"/>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3EFACAC-067D-45A3-A8E2-AD5088EA945C}">
          <p14:sldIdLst>
            <p14:sldId id="2147472508"/>
            <p14:sldId id="2144327533"/>
          </p14:sldIdLst>
        </p14:section>
        <p14:section name="DB Actors" id="{E77B550F-77D0-40A7-842A-84153A09D06C}">
          <p14:sldIdLst>
            <p14:sldId id="2147472599"/>
            <p14:sldId id="2147472780"/>
            <p14:sldId id="2147472779"/>
          </p14:sldIdLst>
        </p14:section>
        <p14:section name="Fabric Actors" id="{A7A812B6-9814-4AFF-B73B-8B3465A2D57B}">
          <p14:sldIdLst>
            <p14:sldId id="2147472600"/>
          </p14:sldIdLst>
        </p14:section>
        <p14:section name="Javascript" id="{CE628E9B-4492-4E1C-8E5D-D2AE93DAB4B6}">
          <p14:sldIdLst>
            <p14:sldId id="2147472736"/>
            <p14:sldId id="2147472737"/>
          </p14:sldIdLst>
        </p14:section>
        <p14:section name="Stage Condition" id="{74664A11-12B2-4034-901F-08DED4CDA513}">
          <p14:sldIdLst>
            <p14:sldId id="2147472783"/>
            <p14:sldId id="2147472624"/>
            <p14:sldId id="2147472621"/>
            <p14:sldId id="2147472784"/>
            <p14:sldId id="2147472620"/>
            <p14:sldId id="2147472654"/>
            <p14:sldId id="2147472622"/>
          </p14:sldIdLst>
        </p14:section>
        <p14:section name="Iterations" id="{FE99A565-C314-4091-BAFE-EF2A2B099249}">
          <p14:sldIdLst>
            <p14:sldId id="2147472613"/>
            <p14:sldId id="2147472614"/>
            <p14:sldId id="2147472615"/>
            <p14:sldId id="2147472616"/>
            <p14:sldId id="2147472617"/>
            <p14:sldId id="2147472618"/>
          </p14:sldIdLst>
        </p14:section>
        <p14:section name="Strings" id="{79D67353-3EBC-469A-9474-422AD85467E6}">
          <p14:sldIdLst>
            <p14:sldId id="2147472638"/>
            <p14:sldId id="2147472639"/>
            <p14:sldId id="2147472640"/>
            <p14:sldId id="2147472641"/>
            <p14:sldId id="2147472642"/>
            <p14:sldId id="2147472643"/>
            <p14:sldId id="2147472644"/>
            <p14:sldId id="2147472645"/>
          </p14:sldIdLst>
        </p14:section>
        <p14:section name="Date" id="{44BB0FA7-CCA9-400F-ADD2-016428FD88F2}">
          <p14:sldIdLst>
            <p14:sldId id="2147472647"/>
            <p14:sldId id="2147472648"/>
            <p14:sldId id="2147472649"/>
            <p14:sldId id="2147472650"/>
          </p14:sldIdLst>
        </p14:section>
        <p14:section name="Collections" id="{74BB92D5-3118-470B-872D-6E8E85E4E363}">
          <p14:sldIdLst>
            <p14:sldId id="2147472767"/>
            <p14:sldId id="2147472741"/>
            <p14:sldId id="2147472728"/>
            <p14:sldId id="2147472739"/>
            <p14:sldId id="2147472742"/>
            <p14:sldId id="2147472743"/>
            <p14:sldId id="2147472744"/>
            <p14:sldId id="2147472746"/>
            <p14:sldId id="2147472747"/>
            <p14:sldId id="2147472748"/>
            <p14:sldId id="2147472738"/>
            <p14:sldId id="2147472729"/>
            <p14:sldId id="2147472732"/>
            <p14:sldId id="2147472731"/>
            <p14:sldId id="2147472730"/>
            <p14:sldId id="2147472733"/>
            <p14:sldId id="2147472734"/>
          </p14:sldIdLst>
        </p14:section>
        <p14:section name="Parse &amp; Stringify" id="{24888253-0D5D-4019-AE1C-6BDB97EA106C}">
          <p14:sldIdLst>
            <p14:sldId id="2147472769"/>
            <p14:sldId id="2147472770"/>
            <p14:sldId id="2147472771"/>
            <p14:sldId id="2147472750"/>
            <p14:sldId id="2147472752"/>
            <p14:sldId id="2147472753"/>
            <p14:sldId id="2147472754"/>
          </p14:sldIdLst>
        </p14:section>
        <p14:section name="Inner Flows" id="{AA30AFDE-1195-45DA-BF50-BD3D12287BE8}">
          <p14:sldIdLst>
            <p14:sldId id="2147472653"/>
            <p14:sldId id="2147472785"/>
            <p14:sldId id="2147472655"/>
            <p14:sldId id="2147472627"/>
            <p14:sldId id="2147472626"/>
          </p14:sldIdLst>
        </p14:section>
        <p14:section name="Pubsub" id="{BB9A4873-F81F-4688-B2BF-4D565F1D5AA6}">
          <p14:sldIdLst>
            <p14:sldId id="2147472774"/>
            <p14:sldId id="2147472782"/>
            <p14:sldId id="2147472666"/>
            <p14:sldId id="2147472669"/>
            <p14:sldId id="2147472781"/>
            <p14:sldId id="2147472786"/>
            <p14:sldId id="2147472776"/>
          </p14:sldIdLst>
        </p14:section>
        <p14:section name="Stream" id="{1A4C1E5A-0044-4561-88AD-8DA500EA15D3}">
          <p14:sldIdLst>
            <p14:sldId id="2147472775"/>
            <p14:sldId id="2147472681"/>
            <p14:sldId id="2147472679"/>
            <p14:sldId id="2147472764"/>
            <p14:sldId id="2147472766"/>
            <p14:sldId id="2147472683"/>
            <p14:sldId id="2147472682"/>
            <p14:sldId id="2147472680"/>
          </p14:sldIdLst>
        </p14:section>
        <p14:section name="System" id="{271FD4A0-21A8-4E14-ACF5-1BEC7C9D7641}">
          <p14:sldIdLst>
            <p14:sldId id="2147472772"/>
            <p14:sldId id="2147472755"/>
            <p14:sldId id="2147472756"/>
            <p14:sldId id="2147472757"/>
            <p14:sldId id="2147472665"/>
            <p14:sldId id="2147472758"/>
            <p14:sldId id="2147472759"/>
            <p14:sldId id="2147472760"/>
            <p14:sldId id="2147472761"/>
            <p14:sldId id="214747276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FDA7E1C-9F48-440F-55C2-91EAED98EC64}" name="Shani Rotem" initials="SR" userId="S::shani@k2view.com::0a96f960-8390-4f68-b383-86105f630b89" providerId="AD"/>
  <p188:author id="{7390D7C4-D94B-1094-22A8-B1EE0A296953}" name="Alex Messel" initials="AM" userId="S::alex.messel@k2view.com::cf157839-ae73-4cda-97a7-d10bfe3b24a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2F2"/>
    <a:srgbClr val="00CAE2"/>
    <a:srgbClr val="ECE0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5410C7-3285-EFF5-889A-BE700F7FCE3D}" v="1" dt="2026-04-09T18:37:20.6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80" d="100"/>
          <a:sy n="80" d="100"/>
        </p:scale>
        <p:origin x="136" y="-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viewProps" Target="viewProps.xml"/><Relationship Id="rId9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Messel" userId="S::alex.messel@k2view.com::cf157839-ae73-4cda-97a7-d10bfe3b24af" providerId="AD" clId="Web-{3E5410C7-3285-EFF5-889A-BE700F7FCE3D}"/>
    <pc:docChg chg="modSld">
      <pc:chgData name="Alex Messel" userId="S::alex.messel@k2view.com::cf157839-ae73-4cda-97a7-d10bfe3b24af" providerId="AD" clId="Web-{3E5410C7-3285-EFF5-889A-BE700F7FCE3D}" dt="2026-04-09T18:37:20.637" v="0" actId="20577"/>
      <pc:docMkLst>
        <pc:docMk/>
      </pc:docMkLst>
      <pc:sldChg chg="modSp">
        <pc:chgData name="Alex Messel" userId="S::alex.messel@k2view.com::cf157839-ae73-4cda-97a7-d10bfe3b24af" providerId="AD" clId="Web-{3E5410C7-3285-EFF5-889A-BE700F7FCE3D}" dt="2026-04-09T18:37:20.637" v="0" actId="20577"/>
        <pc:sldMkLst>
          <pc:docMk/>
          <pc:sldMk cId="4247963658" sldId="2147472783"/>
        </pc:sldMkLst>
        <pc:spChg chg="mod">
          <ac:chgData name="Alex Messel" userId="S::alex.messel@k2view.com::cf157839-ae73-4cda-97a7-d10bfe3b24af" providerId="AD" clId="Web-{3E5410C7-3285-EFF5-889A-BE700F7FCE3D}" dt="2026-04-09T18:37:20.637" v="0" actId="20577"/>
          <ac:spMkLst>
            <pc:docMk/>
            <pc:sldMk cId="4247963658" sldId="2147472783"/>
            <ac:spMk id="4" creationId="{BCC222AF-6B4E-3097-FF2E-0E5089776512}"/>
          </ac:spMkLst>
        </pc:spChg>
      </pc:sldChg>
    </pc:docChg>
  </pc:docChgLst>
</pc:chgInfo>
</file>

<file path=ppt/comments/modernComment_7FFFD4E9_8A5B099F.xml><?xml version="1.0" encoding="utf-8"?>
<p188:cmLst xmlns:a="http://schemas.openxmlformats.org/drawingml/2006/main" xmlns:r="http://schemas.openxmlformats.org/officeDocument/2006/relationships" xmlns:p188="http://schemas.microsoft.com/office/powerpoint/2018/8/main">
  <p188:cm id="{F43D3279-645E-44BB-B916-9EBBE4D3113B}" authorId="{CFDA7E1C-9F48-440F-55C2-91EAED98EC64}" status="resolved" created="2025-05-05T13:16:28.739">
    <pc:sldMkLst xmlns:pc="http://schemas.microsoft.com/office/powerpoint/2013/main/command">
      <pc:docMk/>
      <pc:sldMk cId="2321222047" sldId="2147472617"/>
    </pc:sldMkLst>
    <p188:replyLst>
      <p188:reply id="{2B71E931-297F-490C-AC58-339B8A4B67D0}" authorId="{7390D7C4-D94B-1094-22A8-B1EE0A296953}" created="2025-05-05T14:04:21.700">
        <p188:txBody>
          <a:bodyPr/>
          <a:lstStyle/>
          <a:p>
            <a:r>
              <a:rPr lang="en-US"/>
              <a:t>It loops over values in a collection or stream and converts the collection to a stream inside. It is similar to the Mapper actor, but forEach is a terminator, meaning there is no output. By the way, the Actor description is incorrect regarding output. </a:t>
            </a:r>
          </a:p>
        </p188:txBody>
      </p188:reply>
      <p188:reply id="{3A3899FE-5EA8-485B-8DAB-0D4FF2FC7F63}" authorId="{CFDA7E1C-9F48-440F-55C2-91EAED98EC64}" created="2025-05-06T09:52:24.985">
        <p188:txBody>
          <a:bodyPr/>
          <a:lstStyle/>
          <a:p>
            <a:r>
              <a:rPr lang="en-US"/>
              <a:t>[@Alex Messel] Stream is list a file read / API result... how do you do forEach on that?? </a:t>
            </a:r>
          </a:p>
        </p188:txBody>
      </p188:reply>
      <p188:reply id="{595927DC-1895-4486-BF34-910D3A4E6581}" authorId="{7390D7C4-D94B-1094-22A8-B1EE0A296953}" created="2025-05-06T19:40:53.793">
        <p188:txBody>
          <a:bodyPr/>
          <a:lstStyle/>
          <a:p>
            <a:r>
              <a:rPr lang="en-US"/>
              <a:t>Good question. That's what the documentation said, maybe it is just poo english and it meant to say that collections is bein converted to stream inside. </a:t>
            </a:r>
          </a:p>
        </p188:txBody>
      </p188:reply>
    </p188:replyLst>
    <p188:txBody>
      <a:bodyPr/>
      <a:lstStyle/>
      <a:p>
        <a:r>
          <a:rPr lang="en-US"/>
          <a:t>What does it mean ForEach on stream?</a:t>
        </a:r>
      </a:p>
    </p188:txBody>
  </p188:cm>
  <p188:cm id="{3668F531-70F0-48F4-853F-7833125C4DFD}" authorId="{CFDA7E1C-9F48-440F-55C2-91EAED98EC64}" status="resolved" created="2025-05-05T13:40:26.198">
    <pc:sldMkLst xmlns:pc="http://schemas.microsoft.com/office/powerpoint/2013/main/command">
      <pc:docMk/>
      <pc:sldMk cId="2321222047" sldId="2147472617"/>
    </pc:sldMkLst>
    <p188:replyLst>
      <p188:reply id="{3EAA0668-C01D-42CD-B8B9-1A7AA87BBBB4}" authorId="{7390D7C4-D94B-1094-22A8-B1EE0A296953}" created="2025-05-05T13:52:38.549">
        <p188:txBody>
          <a:bodyPr/>
          <a:lstStyle/>
          <a:p>
            <a:r>
              <a:rPr lang="en-US"/>
              <a:t>correct. Except this one doesn't return  result of inner flow and automatically loops over collection from input.</a:t>
            </a:r>
          </a:p>
        </p188:txBody>
      </p188:reply>
    </p188:replyLst>
    <p188:txBody>
      <a:bodyPr/>
      <a:lstStyle/>
      <a:p>
        <a:r>
          <a:rPr lang="en-US"/>
          <a:t>[@Alex Messel] What is special about forEach? exact same as loop and calling innerFlow or javascript?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3F75B-7228-48BC-9683-90948C293748}"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9409D-F537-4CCC-A32D-DA5DDF242412}" type="slidenum">
              <a:rPr lang="en-US" smtClean="0"/>
              <a:t>‹#›</a:t>
            </a:fld>
            <a:endParaRPr lang="en-US"/>
          </a:p>
        </p:txBody>
      </p:sp>
    </p:spTree>
    <p:extLst>
      <p:ext uri="{BB962C8B-B14F-4D97-AF65-F5344CB8AC3E}">
        <p14:creationId xmlns:p14="http://schemas.microsoft.com/office/powerpoint/2010/main" val="743483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29409D-F537-4CCC-A32D-DA5DDF242412}" type="slidenum">
              <a:rPr lang="en-US" smtClean="0"/>
              <a:t>1</a:t>
            </a:fld>
            <a:endParaRPr lang="en-US"/>
          </a:p>
        </p:txBody>
      </p:sp>
    </p:spTree>
    <p:extLst>
      <p:ext uri="{BB962C8B-B14F-4D97-AF65-F5344CB8AC3E}">
        <p14:creationId xmlns:p14="http://schemas.microsoft.com/office/powerpoint/2010/main" val="2955446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29409D-F537-4CCC-A32D-DA5DDF242412}" type="slidenum">
              <a:rPr lang="en-US" smtClean="0"/>
              <a:t>2</a:t>
            </a:fld>
            <a:endParaRPr lang="en-US"/>
          </a:p>
        </p:txBody>
      </p:sp>
    </p:spTree>
    <p:extLst>
      <p:ext uri="{BB962C8B-B14F-4D97-AF65-F5344CB8AC3E}">
        <p14:creationId xmlns:p14="http://schemas.microsoft.com/office/powerpoint/2010/main" val="1815739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35C3B-9495-3F4E-C276-1799BFC5F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41E4C-4ADD-B607-2094-C454F688EB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43A1FA-3677-EFA4-F313-0B3154E0FDEC}"/>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6661370B-C91C-CBBB-9CC4-4008AC86E7C2}"/>
              </a:ext>
            </a:extLst>
          </p:cNvPr>
          <p:cNvSpPr>
            <a:spLocks noGrp="1"/>
          </p:cNvSpPr>
          <p:nvPr>
            <p:ph type="sldNum" sz="quarter" idx="5"/>
          </p:nvPr>
        </p:nvSpPr>
        <p:spPr/>
        <p:txBody>
          <a:bodyPr/>
          <a:lstStyle/>
          <a:p>
            <a:fld id="{8929409D-F537-4CCC-A32D-DA5DDF242412}" type="slidenum">
              <a:rPr lang="en-US" smtClean="0"/>
              <a:t>3</a:t>
            </a:fld>
            <a:endParaRPr lang="en-US"/>
          </a:p>
        </p:txBody>
      </p:sp>
    </p:spTree>
    <p:extLst>
      <p:ext uri="{BB962C8B-B14F-4D97-AF65-F5344CB8AC3E}">
        <p14:creationId xmlns:p14="http://schemas.microsoft.com/office/powerpoint/2010/main" val="3902988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B21C3-81B1-57B3-548C-130514742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E1817-A296-0DDA-BEFB-8E93CEAF9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2BC10-3CBC-6D92-CB95-F350A2C22BF1}"/>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C200911D-E7C7-F03E-B63D-F2D7E3B2E6C5}"/>
              </a:ext>
            </a:extLst>
          </p:cNvPr>
          <p:cNvSpPr>
            <a:spLocks noGrp="1"/>
          </p:cNvSpPr>
          <p:nvPr>
            <p:ph type="sldNum" sz="quarter" idx="5"/>
          </p:nvPr>
        </p:nvSpPr>
        <p:spPr/>
        <p:txBody>
          <a:bodyPr/>
          <a:lstStyle/>
          <a:p>
            <a:fld id="{8929409D-F537-4CCC-A32D-DA5DDF242412}" type="slidenum">
              <a:rPr lang="en-US" smtClean="0"/>
              <a:t>4</a:t>
            </a:fld>
            <a:endParaRPr lang="en-US"/>
          </a:p>
        </p:txBody>
      </p:sp>
    </p:spTree>
    <p:extLst>
      <p:ext uri="{BB962C8B-B14F-4D97-AF65-F5344CB8AC3E}">
        <p14:creationId xmlns:p14="http://schemas.microsoft.com/office/powerpoint/2010/main" val="1288912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63AAB-32BA-7AFE-7C6D-C89DC7AF54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37099-1D10-1307-9DC6-EFFD9ED45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437A6F-B804-D8BD-FC3E-368C5D8AF6C8}"/>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A5116F35-8B23-E24B-B0CD-A133BB98A782}"/>
              </a:ext>
            </a:extLst>
          </p:cNvPr>
          <p:cNvSpPr>
            <a:spLocks noGrp="1"/>
          </p:cNvSpPr>
          <p:nvPr>
            <p:ph type="sldNum" sz="quarter" idx="5"/>
          </p:nvPr>
        </p:nvSpPr>
        <p:spPr/>
        <p:txBody>
          <a:bodyPr/>
          <a:lstStyle/>
          <a:p>
            <a:fld id="{8929409D-F537-4CCC-A32D-DA5DDF242412}" type="slidenum">
              <a:rPr lang="en-US" smtClean="0"/>
              <a:t>5</a:t>
            </a:fld>
            <a:endParaRPr lang="en-US"/>
          </a:p>
        </p:txBody>
      </p:sp>
    </p:spTree>
    <p:extLst>
      <p:ext uri="{BB962C8B-B14F-4D97-AF65-F5344CB8AC3E}">
        <p14:creationId xmlns:p14="http://schemas.microsoft.com/office/powerpoint/2010/main" val="2102673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EAE39-D987-973F-C4FC-BD09D861E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46AAB-2424-F0D4-3469-FC06106FE4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A9DA09-2B42-22C4-54E0-6639A12FA4EF}"/>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6C075DD0-0D0B-88EC-477C-13E1B461E8EA}"/>
              </a:ext>
            </a:extLst>
          </p:cNvPr>
          <p:cNvSpPr>
            <a:spLocks noGrp="1"/>
          </p:cNvSpPr>
          <p:nvPr>
            <p:ph type="sldNum" sz="quarter" idx="5"/>
          </p:nvPr>
        </p:nvSpPr>
        <p:spPr/>
        <p:txBody>
          <a:bodyPr/>
          <a:lstStyle/>
          <a:p>
            <a:fld id="{8929409D-F537-4CCC-A32D-DA5DDF242412}" type="slidenum">
              <a:rPr lang="en-US" smtClean="0"/>
              <a:t>6</a:t>
            </a:fld>
            <a:endParaRPr lang="en-US"/>
          </a:p>
        </p:txBody>
      </p:sp>
    </p:spTree>
    <p:extLst>
      <p:ext uri="{BB962C8B-B14F-4D97-AF65-F5344CB8AC3E}">
        <p14:creationId xmlns:p14="http://schemas.microsoft.com/office/powerpoint/2010/main" val="852353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46029-6802-82E4-B5F5-31B6FE981F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D6EE1-4ACE-F481-205C-0E6A5AF31B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0BE5F1-68E5-4670-0DE1-F970A77F82B0}"/>
              </a:ext>
            </a:extLst>
          </p:cNvPr>
          <p:cNvSpPr>
            <a:spLocks noGrp="1"/>
          </p:cNvSpPr>
          <p:nvPr>
            <p:ph type="body" idx="1"/>
          </p:nvPr>
        </p:nvSpPr>
        <p:spPr/>
        <p:txBody>
          <a:bodyPr/>
          <a:lstStyle/>
          <a:p>
            <a:r>
              <a:rPr lang="en-US"/>
              <a:t>Orchestrate execution logic using powerful, visual actors </a:t>
            </a:r>
          </a:p>
        </p:txBody>
      </p:sp>
      <p:sp>
        <p:nvSpPr>
          <p:cNvPr id="4" name="Slide Number Placeholder 3">
            <a:extLst>
              <a:ext uri="{FF2B5EF4-FFF2-40B4-BE49-F238E27FC236}">
                <a16:creationId xmlns:a16="http://schemas.microsoft.com/office/drawing/2014/main" id="{D734DED3-7154-0482-E34A-315E25355BE9}"/>
              </a:ext>
            </a:extLst>
          </p:cNvPr>
          <p:cNvSpPr>
            <a:spLocks noGrp="1"/>
          </p:cNvSpPr>
          <p:nvPr>
            <p:ph type="sldNum" sz="quarter" idx="5"/>
          </p:nvPr>
        </p:nvSpPr>
        <p:spPr/>
        <p:txBody>
          <a:bodyPr/>
          <a:lstStyle/>
          <a:p>
            <a:fld id="{8929409D-F537-4CCC-A32D-DA5DDF242412}" type="slidenum">
              <a:rPr lang="en-US" smtClean="0"/>
              <a:t>9</a:t>
            </a:fld>
            <a:endParaRPr lang="en-US"/>
          </a:p>
        </p:txBody>
      </p:sp>
    </p:spTree>
    <p:extLst>
      <p:ext uri="{BB962C8B-B14F-4D97-AF65-F5344CB8AC3E}">
        <p14:creationId xmlns:p14="http://schemas.microsoft.com/office/powerpoint/2010/main" val="1626109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689BE-5EAD-E3BA-7D10-9A5E3A2B6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16B03-2314-3AF3-CC4D-C8711485FE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70A589-67F6-3D66-2F2B-7E3637AE1E0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703890-7FA1-8597-C7AF-9B8E5E4AFC1C}"/>
              </a:ext>
            </a:extLst>
          </p:cNvPr>
          <p:cNvSpPr>
            <a:spLocks noGrp="1"/>
          </p:cNvSpPr>
          <p:nvPr>
            <p:ph type="sldNum" sz="quarter" idx="5"/>
          </p:nvPr>
        </p:nvSpPr>
        <p:spPr/>
        <p:txBody>
          <a:bodyPr/>
          <a:lstStyle/>
          <a:p>
            <a:fld id="{8929409D-F537-4CCC-A32D-DA5DDF242412}" type="slidenum">
              <a:rPr lang="en-US" smtClean="0"/>
              <a:t>10</a:t>
            </a:fld>
            <a:endParaRPr lang="en-US"/>
          </a:p>
        </p:txBody>
      </p:sp>
    </p:spTree>
    <p:extLst>
      <p:ext uri="{BB962C8B-B14F-4D97-AF65-F5344CB8AC3E}">
        <p14:creationId xmlns:p14="http://schemas.microsoft.com/office/powerpoint/2010/main" val="2427757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95EBA-4527-9EEE-277E-00CCA8F47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7C02D6-FD55-4A1A-EBDA-D2FD38E797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3FC6C-A8AE-4FDC-A2C0-94F001E48750}"/>
              </a:ext>
            </a:extLst>
          </p:cNvPr>
          <p:cNvSpPr>
            <a:spLocks noGrp="1"/>
          </p:cNvSpPr>
          <p:nvPr>
            <p:ph type="body" idx="1"/>
          </p:nvPr>
        </p:nvSpPr>
        <p:spPr/>
        <p:txBody>
          <a:bodyPr/>
          <a:lstStyle/>
          <a:p>
            <a:r>
              <a:rPr lang="en-US"/>
              <a:t>Orchestrate execution logic using powerful, visual actors </a:t>
            </a:r>
          </a:p>
        </p:txBody>
      </p:sp>
      <p:sp>
        <p:nvSpPr>
          <p:cNvPr id="4" name="Slide Number Placeholder 3">
            <a:extLst>
              <a:ext uri="{FF2B5EF4-FFF2-40B4-BE49-F238E27FC236}">
                <a16:creationId xmlns:a16="http://schemas.microsoft.com/office/drawing/2014/main" id="{2EFD2618-8317-8A42-FF5B-98A62B007E1F}"/>
              </a:ext>
            </a:extLst>
          </p:cNvPr>
          <p:cNvSpPr>
            <a:spLocks noGrp="1"/>
          </p:cNvSpPr>
          <p:nvPr>
            <p:ph type="sldNum" sz="quarter" idx="5"/>
          </p:nvPr>
        </p:nvSpPr>
        <p:spPr/>
        <p:txBody>
          <a:bodyPr/>
          <a:lstStyle/>
          <a:p>
            <a:fld id="{8929409D-F537-4CCC-A32D-DA5DDF242412}" type="slidenum">
              <a:rPr lang="en-US" smtClean="0"/>
              <a:t>11</a:t>
            </a:fld>
            <a:endParaRPr lang="en-US"/>
          </a:p>
        </p:txBody>
      </p:sp>
    </p:spTree>
    <p:extLst>
      <p:ext uri="{BB962C8B-B14F-4D97-AF65-F5344CB8AC3E}">
        <p14:creationId xmlns:p14="http://schemas.microsoft.com/office/powerpoint/2010/main" val="3162215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4D346-33F1-3F18-0535-B0E709D5C5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38553-D709-8104-036E-996611770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4D32D4-3042-15D9-8786-F39C28478053}"/>
              </a:ext>
            </a:extLst>
          </p:cNvPr>
          <p:cNvSpPr>
            <a:spLocks noGrp="1"/>
          </p:cNvSpPr>
          <p:nvPr>
            <p:ph type="body" idx="1"/>
          </p:nvPr>
        </p:nvSpPr>
        <p:spPr/>
        <p:txBody>
          <a:bodyPr/>
          <a:lstStyle/>
          <a:p>
            <a:r>
              <a:rPr lang="en-US"/>
              <a:t>Orchestrate execution logic using powerful, visual actors </a:t>
            </a:r>
          </a:p>
        </p:txBody>
      </p:sp>
      <p:sp>
        <p:nvSpPr>
          <p:cNvPr id="4" name="Slide Number Placeholder 3">
            <a:extLst>
              <a:ext uri="{FF2B5EF4-FFF2-40B4-BE49-F238E27FC236}">
                <a16:creationId xmlns:a16="http://schemas.microsoft.com/office/drawing/2014/main" id="{C64EB0EB-76DC-7151-607B-20D99F1E5F4B}"/>
              </a:ext>
            </a:extLst>
          </p:cNvPr>
          <p:cNvSpPr>
            <a:spLocks noGrp="1"/>
          </p:cNvSpPr>
          <p:nvPr>
            <p:ph type="sldNum" sz="quarter" idx="5"/>
          </p:nvPr>
        </p:nvSpPr>
        <p:spPr/>
        <p:txBody>
          <a:bodyPr/>
          <a:lstStyle/>
          <a:p>
            <a:fld id="{8929409D-F537-4CCC-A32D-DA5DDF242412}" type="slidenum">
              <a:rPr lang="en-US" smtClean="0"/>
              <a:t>12</a:t>
            </a:fld>
            <a:endParaRPr lang="en-US"/>
          </a:p>
        </p:txBody>
      </p:sp>
    </p:spTree>
    <p:extLst>
      <p:ext uri="{BB962C8B-B14F-4D97-AF65-F5344CB8AC3E}">
        <p14:creationId xmlns:p14="http://schemas.microsoft.com/office/powerpoint/2010/main" val="2307930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2D58E-20B1-246B-54C2-3BAFAFC71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00EC7-8897-8B8A-7BF2-EE0563B48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70D30D-135B-F4E3-9B9A-3DEACD732C5F}"/>
              </a:ext>
            </a:extLst>
          </p:cNvPr>
          <p:cNvSpPr>
            <a:spLocks noGrp="1"/>
          </p:cNvSpPr>
          <p:nvPr>
            <p:ph type="body" idx="1"/>
          </p:nvPr>
        </p:nvSpPr>
        <p:spPr/>
        <p:txBody>
          <a:bodyPr/>
          <a:lstStyle/>
          <a:p>
            <a:r>
              <a:rPr lang="en-US"/>
              <a:t>Orchestrate execution logic using powerful, visual actors </a:t>
            </a:r>
          </a:p>
        </p:txBody>
      </p:sp>
      <p:sp>
        <p:nvSpPr>
          <p:cNvPr id="4" name="Slide Number Placeholder 3">
            <a:extLst>
              <a:ext uri="{FF2B5EF4-FFF2-40B4-BE49-F238E27FC236}">
                <a16:creationId xmlns:a16="http://schemas.microsoft.com/office/drawing/2014/main" id="{3D6149E8-1CFF-DD4E-B10B-8A236A7D585F}"/>
              </a:ext>
            </a:extLst>
          </p:cNvPr>
          <p:cNvSpPr>
            <a:spLocks noGrp="1"/>
          </p:cNvSpPr>
          <p:nvPr>
            <p:ph type="sldNum" sz="quarter" idx="5"/>
          </p:nvPr>
        </p:nvSpPr>
        <p:spPr/>
        <p:txBody>
          <a:bodyPr/>
          <a:lstStyle/>
          <a:p>
            <a:fld id="{8929409D-F537-4CCC-A32D-DA5DDF242412}" type="slidenum">
              <a:rPr lang="en-US" smtClean="0"/>
              <a:t>13</a:t>
            </a:fld>
            <a:endParaRPr lang="en-US"/>
          </a:p>
        </p:txBody>
      </p:sp>
    </p:spTree>
    <p:extLst>
      <p:ext uri="{BB962C8B-B14F-4D97-AF65-F5344CB8AC3E}">
        <p14:creationId xmlns:p14="http://schemas.microsoft.com/office/powerpoint/2010/main" val="4249055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ABDA8-6692-3024-5275-80890BAB4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65A6A1-7177-4ADC-8E72-8795FE6C6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3C1FF-9909-3310-AC23-DBB099170EE8}"/>
              </a:ext>
            </a:extLst>
          </p:cNvPr>
          <p:cNvSpPr>
            <a:spLocks noGrp="1"/>
          </p:cNvSpPr>
          <p:nvPr>
            <p:ph type="body" idx="1"/>
          </p:nvPr>
        </p:nvSpPr>
        <p:spPr/>
        <p:txBody>
          <a:bodyPr/>
          <a:lstStyle/>
          <a:p>
            <a:r>
              <a:rPr lang="en-US"/>
              <a:t>Orchestrate execution logic using powerful, visual actors </a:t>
            </a:r>
          </a:p>
        </p:txBody>
      </p:sp>
      <p:sp>
        <p:nvSpPr>
          <p:cNvPr id="4" name="Slide Number Placeholder 3">
            <a:extLst>
              <a:ext uri="{FF2B5EF4-FFF2-40B4-BE49-F238E27FC236}">
                <a16:creationId xmlns:a16="http://schemas.microsoft.com/office/drawing/2014/main" id="{8C25B46E-B303-8223-EEEB-6EBFF43E9B59}"/>
              </a:ext>
            </a:extLst>
          </p:cNvPr>
          <p:cNvSpPr>
            <a:spLocks noGrp="1"/>
          </p:cNvSpPr>
          <p:nvPr>
            <p:ph type="sldNum" sz="quarter" idx="5"/>
          </p:nvPr>
        </p:nvSpPr>
        <p:spPr/>
        <p:txBody>
          <a:bodyPr/>
          <a:lstStyle/>
          <a:p>
            <a:fld id="{8929409D-F537-4CCC-A32D-DA5DDF242412}" type="slidenum">
              <a:rPr lang="en-US" smtClean="0"/>
              <a:t>14</a:t>
            </a:fld>
            <a:endParaRPr lang="en-US"/>
          </a:p>
        </p:txBody>
      </p:sp>
    </p:spTree>
    <p:extLst>
      <p:ext uri="{BB962C8B-B14F-4D97-AF65-F5344CB8AC3E}">
        <p14:creationId xmlns:p14="http://schemas.microsoft.com/office/powerpoint/2010/main" val="5014761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DAE8E-9C61-9204-5EBD-9CF35B865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DDCEF-436B-58B4-2493-02F6775EA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E493C6-C5A8-E6B2-8A6A-0DC5A0C78864}"/>
              </a:ext>
            </a:extLst>
          </p:cNvPr>
          <p:cNvSpPr>
            <a:spLocks noGrp="1"/>
          </p:cNvSpPr>
          <p:nvPr>
            <p:ph type="body" idx="1"/>
          </p:nvPr>
        </p:nvSpPr>
        <p:spPr/>
        <p:txBody>
          <a:bodyPr/>
          <a:lstStyle/>
          <a:p>
            <a:r>
              <a:rPr lang="en-US"/>
              <a:t>Orchestrate execution logic using powerful, visual actors </a:t>
            </a:r>
          </a:p>
        </p:txBody>
      </p:sp>
      <p:sp>
        <p:nvSpPr>
          <p:cNvPr id="4" name="Slide Number Placeholder 3">
            <a:extLst>
              <a:ext uri="{FF2B5EF4-FFF2-40B4-BE49-F238E27FC236}">
                <a16:creationId xmlns:a16="http://schemas.microsoft.com/office/drawing/2014/main" id="{F735ACC2-CAB2-054A-C152-7C435A465D59}"/>
              </a:ext>
            </a:extLst>
          </p:cNvPr>
          <p:cNvSpPr>
            <a:spLocks noGrp="1"/>
          </p:cNvSpPr>
          <p:nvPr>
            <p:ph type="sldNum" sz="quarter" idx="5"/>
          </p:nvPr>
        </p:nvSpPr>
        <p:spPr/>
        <p:txBody>
          <a:bodyPr/>
          <a:lstStyle/>
          <a:p>
            <a:fld id="{8929409D-F537-4CCC-A32D-DA5DDF242412}" type="slidenum">
              <a:rPr lang="en-US" smtClean="0"/>
              <a:t>15</a:t>
            </a:fld>
            <a:endParaRPr lang="en-US"/>
          </a:p>
        </p:txBody>
      </p:sp>
    </p:spTree>
    <p:extLst>
      <p:ext uri="{BB962C8B-B14F-4D97-AF65-F5344CB8AC3E}">
        <p14:creationId xmlns:p14="http://schemas.microsoft.com/office/powerpoint/2010/main" val="3207390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29409D-F537-4CCC-A32D-DA5DDF242412}" type="slidenum">
              <a:rPr lang="en-US" smtClean="0"/>
              <a:t>16</a:t>
            </a:fld>
            <a:endParaRPr lang="en-US"/>
          </a:p>
        </p:txBody>
      </p:sp>
    </p:spTree>
    <p:extLst>
      <p:ext uri="{BB962C8B-B14F-4D97-AF65-F5344CB8AC3E}">
        <p14:creationId xmlns:p14="http://schemas.microsoft.com/office/powerpoint/2010/main" val="89935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3C9FA-2D2B-C24B-8E2C-CA76759E97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EAD1A-E1C5-FD0C-5D7B-3E38402F9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2F5475-46F2-9D94-4EE4-07963801ED2A}"/>
              </a:ext>
            </a:extLst>
          </p:cNvPr>
          <p:cNvSpPr>
            <a:spLocks noGrp="1"/>
          </p:cNvSpPr>
          <p:nvPr>
            <p:ph type="body" idx="1"/>
          </p:nvPr>
        </p:nvSpPr>
        <p:spPr/>
        <p:txBody>
          <a:bodyPr/>
          <a:lstStyle/>
          <a:p>
            <a:endParaRPr lang="en-IL"/>
          </a:p>
        </p:txBody>
      </p:sp>
      <p:sp>
        <p:nvSpPr>
          <p:cNvPr id="4" name="Slide Number Placeholder 3">
            <a:extLst>
              <a:ext uri="{FF2B5EF4-FFF2-40B4-BE49-F238E27FC236}">
                <a16:creationId xmlns:a16="http://schemas.microsoft.com/office/drawing/2014/main" id="{33DBA8EF-2138-356A-43EA-5A4CA0E014A8}"/>
              </a:ext>
            </a:extLst>
          </p:cNvPr>
          <p:cNvSpPr>
            <a:spLocks noGrp="1"/>
          </p:cNvSpPr>
          <p:nvPr>
            <p:ph type="sldNum" sz="quarter" idx="5"/>
          </p:nvPr>
        </p:nvSpPr>
        <p:spPr/>
        <p:txBody>
          <a:bodyPr/>
          <a:lstStyle/>
          <a:p>
            <a:fld id="{8929409D-F537-4CCC-A32D-DA5DDF242412}" type="slidenum">
              <a:rPr lang="en-US" smtClean="0"/>
              <a:t>17</a:t>
            </a:fld>
            <a:endParaRPr lang="en-US"/>
          </a:p>
        </p:txBody>
      </p:sp>
    </p:spTree>
    <p:extLst>
      <p:ext uri="{BB962C8B-B14F-4D97-AF65-F5344CB8AC3E}">
        <p14:creationId xmlns:p14="http://schemas.microsoft.com/office/powerpoint/2010/main" val="2298620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9372C-07C9-77C4-7546-DF88DD887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BD470-6096-5CA6-53F4-007E36FA73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C2F4B0-099B-2FB2-80C1-27251B8B67BE}"/>
              </a:ext>
            </a:extLst>
          </p:cNvPr>
          <p:cNvSpPr>
            <a:spLocks noGrp="1"/>
          </p:cNvSpPr>
          <p:nvPr>
            <p:ph type="body" idx="1"/>
          </p:nvPr>
        </p:nvSpPr>
        <p:spPr/>
        <p:txBody>
          <a:bodyPr/>
          <a:lstStyle/>
          <a:p>
            <a:endParaRPr lang="en-IL"/>
          </a:p>
        </p:txBody>
      </p:sp>
      <p:sp>
        <p:nvSpPr>
          <p:cNvPr id="4" name="Slide Number Placeholder 3">
            <a:extLst>
              <a:ext uri="{FF2B5EF4-FFF2-40B4-BE49-F238E27FC236}">
                <a16:creationId xmlns:a16="http://schemas.microsoft.com/office/drawing/2014/main" id="{E1974BB5-5883-9BE3-9F30-08DA91AE8C3A}"/>
              </a:ext>
            </a:extLst>
          </p:cNvPr>
          <p:cNvSpPr>
            <a:spLocks noGrp="1"/>
          </p:cNvSpPr>
          <p:nvPr>
            <p:ph type="sldNum" sz="quarter" idx="5"/>
          </p:nvPr>
        </p:nvSpPr>
        <p:spPr/>
        <p:txBody>
          <a:bodyPr/>
          <a:lstStyle/>
          <a:p>
            <a:fld id="{8929409D-F537-4CCC-A32D-DA5DDF242412}" type="slidenum">
              <a:rPr lang="en-US" smtClean="0"/>
              <a:t>18</a:t>
            </a:fld>
            <a:endParaRPr lang="en-US"/>
          </a:p>
        </p:txBody>
      </p:sp>
    </p:spTree>
    <p:extLst>
      <p:ext uri="{BB962C8B-B14F-4D97-AF65-F5344CB8AC3E}">
        <p14:creationId xmlns:p14="http://schemas.microsoft.com/office/powerpoint/2010/main" val="2935605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53788-0794-F781-A2A5-D4CC3015C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448250-EE2E-28DA-0F40-0D9C354D9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2320D2-648D-CAAE-FA9F-6F1F54782BB9}"/>
              </a:ext>
            </a:extLst>
          </p:cNvPr>
          <p:cNvSpPr>
            <a:spLocks noGrp="1"/>
          </p:cNvSpPr>
          <p:nvPr>
            <p:ph type="body" idx="1"/>
          </p:nvPr>
        </p:nvSpPr>
        <p:spPr/>
        <p:txBody>
          <a:bodyPr/>
          <a:lstStyle/>
          <a:p>
            <a:endParaRPr lang="en-IL"/>
          </a:p>
        </p:txBody>
      </p:sp>
      <p:sp>
        <p:nvSpPr>
          <p:cNvPr id="4" name="Slide Number Placeholder 3">
            <a:extLst>
              <a:ext uri="{FF2B5EF4-FFF2-40B4-BE49-F238E27FC236}">
                <a16:creationId xmlns:a16="http://schemas.microsoft.com/office/drawing/2014/main" id="{DA7AE8BE-19B5-3C79-2CA4-F63C02A42FAB}"/>
              </a:ext>
            </a:extLst>
          </p:cNvPr>
          <p:cNvSpPr>
            <a:spLocks noGrp="1"/>
          </p:cNvSpPr>
          <p:nvPr>
            <p:ph type="sldNum" sz="quarter" idx="5"/>
          </p:nvPr>
        </p:nvSpPr>
        <p:spPr/>
        <p:txBody>
          <a:bodyPr/>
          <a:lstStyle/>
          <a:p>
            <a:fld id="{8929409D-F537-4CCC-A32D-DA5DDF242412}" type="slidenum">
              <a:rPr lang="en-US" smtClean="0"/>
              <a:t>19</a:t>
            </a:fld>
            <a:endParaRPr lang="en-US"/>
          </a:p>
        </p:txBody>
      </p:sp>
    </p:spTree>
    <p:extLst>
      <p:ext uri="{BB962C8B-B14F-4D97-AF65-F5344CB8AC3E}">
        <p14:creationId xmlns:p14="http://schemas.microsoft.com/office/powerpoint/2010/main" val="14792049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390E0-D2AC-D4B7-F490-A93961B67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B8EB9-3CF0-B757-1C74-9FF8335CA0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516D2-AC90-1BD7-FBF8-FE95F3C44D76}"/>
              </a:ext>
            </a:extLst>
          </p:cNvPr>
          <p:cNvSpPr>
            <a:spLocks noGrp="1"/>
          </p:cNvSpPr>
          <p:nvPr>
            <p:ph type="body" idx="1"/>
          </p:nvPr>
        </p:nvSpPr>
        <p:spPr/>
        <p:txBody>
          <a:bodyPr/>
          <a:lstStyle/>
          <a:p>
            <a:endParaRPr lang="en-IL"/>
          </a:p>
        </p:txBody>
      </p:sp>
      <p:sp>
        <p:nvSpPr>
          <p:cNvPr id="4" name="Slide Number Placeholder 3">
            <a:extLst>
              <a:ext uri="{FF2B5EF4-FFF2-40B4-BE49-F238E27FC236}">
                <a16:creationId xmlns:a16="http://schemas.microsoft.com/office/drawing/2014/main" id="{FDDC3D53-60FB-52B2-CD2C-15A340893553}"/>
              </a:ext>
            </a:extLst>
          </p:cNvPr>
          <p:cNvSpPr>
            <a:spLocks noGrp="1"/>
          </p:cNvSpPr>
          <p:nvPr>
            <p:ph type="sldNum" sz="quarter" idx="5"/>
          </p:nvPr>
        </p:nvSpPr>
        <p:spPr/>
        <p:txBody>
          <a:bodyPr/>
          <a:lstStyle/>
          <a:p>
            <a:fld id="{8929409D-F537-4CCC-A32D-DA5DDF242412}" type="slidenum">
              <a:rPr lang="en-US" smtClean="0"/>
              <a:t>20</a:t>
            </a:fld>
            <a:endParaRPr lang="en-US"/>
          </a:p>
        </p:txBody>
      </p:sp>
    </p:spTree>
    <p:extLst>
      <p:ext uri="{BB962C8B-B14F-4D97-AF65-F5344CB8AC3E}">
        <p14:creationId xmlns:p14="http://schemas.microsoft.com/office/powerpoint/2010/main" val="2714956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5988-06B7-1929-6AC5-D17C7229D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AE72E-2656-8B2B-D593-2195F2C66D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4888B-D09F-93DB-31D8-23DF8709CA84}"/>
              </a:ext>
            </a:extLst>
          </p:cNvPr>
          <p:cNvSpPr>
            <a:spLocks noGrp="1"/>
          </p:cNvSpPr>
          <p:nvPr>
            <p:ph type="body" idx="1"/>
          </p:nvPr>
        </p:nvSpPr>
        <p:spPr/>
        <p:txBody>
          <a:bodyPr/>
          <a:lstStyle/>
          <a:p>
            <a:endParaRPr lang="en-IL"/>
          </a:p>
        </p:txBody>
      </p:sp>
      <p:sp>
        <p:nvSpPr>
          <p:cNvPr id="4" name="Slide Number Placeholder 3">
            <a:extLst>
              <a:ext uri="{FF2B5EF4-FFF2-40B4-BE49-F238E27FC236}">
                <a16:creationId xmlns:a16="http://schemas.microsoft.com/office/drawing/2014/main" id="{496A5019-E42A-D41C-CC68-3919A7A76D6E}"/>
              </a:ext>
            </a:extLst>
          </p:cNvPr>
          <p:cNvSpPr>
            <a:spLocks noGrp="1"/>
          </p:cNvSpPr>
          <p:nvPr>
            <p:ph type="sldNum" sz="quarter" idx="5"/>
          </p:nvPr>
        </p:nvSpPr>
        <p:spPr/>
        <p:txBody>
          <a:bodyPr/>
          <a:lstStyle/>
          <a:p>
            <a:fld id="{8929409D-F537-4CCC-A32D-DA5DDF242412}" type="slidenum">
              <a:rPr lang="en-US" smtClean="0"/>
              <a:t>21</a:t>
            </a:fld>
            <a:endParaRPr lang="en-US"/>
          </a:p>
        </p:txBody>
      </p:sp>
    </p:spTree>
    <p:extLst>
      <p:ext uri="{BB962C8B-B14F-4D97-AF65-F5344CB8AC3E}">
        <p14:creationId xmlns:p14="http://schemas.microsoft.com/office/powerpoint/2010/main" val="2523604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83AEF-C783-99D9-BF2A-ABB5E7A74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A09EE-9A21-B438-D9EF-27BF6D9AA8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968B2-41B6-F8C2-C911-C7B1347ACCC7}"/>
              </a:ext>
            </a:extLst>
          </p:cNvPr>
          <p:cNvSpPr>
            <a:spLocks noGrp="1"/>
          </p:cNvSpPr>
          <p:nvPr>
            <p:ph type="body" idx="1"/>
          </p:nvPr>
        </p:nvSpPr>
        <p:spPr/>
        <p:txBody>
          <a:bodyPr/>
          <a:lstStyle/>
          <a:p>
            <a:endParaRPr lang="en-IL"/>
          </a:p>
        </p:txBody>
      </p:sp>
      <p:sp>
        <p:nvSpPr>
          <p:cNvPr id="4" name="Slide Number Placeholder 3">
            <a:extLst>
              <a:ext uri="{FF2B5EF4-FFF2-40B4-BE49-F238E27FC236}">
                <a16:creationId xmlns:a16="http://schemas.microsoft.com/office/drawing/2014/main" id="{E9AC341D-D2C6-EE40-9AE5-5757ACDFAA4B}"/>
              </a:ext>
            </a:extLst>
          </p:cNvPr>
          <p:cNvSpPr>
            <a:spLocks noGrp="1"/>
          </p:cNvSpPr>
          <p:nvPr>
            <p:ph type="sldNum" sz="quarter" idx="5"/>
          </p:nvPr>
        </p:nvSpPr>
        <p:spPr/>
        <p:txBody>
          <a:bodyPr/>
          <a:lstStyle/>
          <a:p>
            <a:fld id="{8929409D-F537-4CCC-A32D-DA5DDF242412}" type="slidenum">
              <a:rPr lang="en-US" smtClean="0"/>
              <a:t>22</a:t>
            </a:fld>
            <a:endParaRPr lang="en-US"/>
          </a:p>
        </p:txBody>
      </p:sp>
    </p:spTree>
    <p:extLst>
      <p:ext uri="{BB962C8B-B14F-4D97-AF65-F5344CB8AC3E}">
        <p14:creationId xmlns:p14="http://schemas.microsoft.com/office/powerpoint/2010/main" val="38448797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9724C-A504-4980-4243-B4BBA2C3C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894437-07A5-44F2-AB81-836442C93C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BDC1E6-C667-1A6C-B4BC-110F6383B2E8}"/>
              </a:ext>
            </a:extLst>
          </p:cNvPr>
          <p:cNvSpPr>
            <a:spLocks noGrp="1"/>
          </p:cNvSpPr>
          <p:nvPr>
            <p:ph type="body" idx="1"/>
          </p:nvPr>
        </p:nvSpPr>
        <p:spPr/>
        <p:txBody>
          <a:bodyPr/>
          <a:lstStyle/>
          <a:p>
            <a:endParaRPr lang="en-IL"/>
          </a:p>
        </p:txBody>
      </p:sp>
      <p:sp>
        <p:nvSpPr>
          <p:cNvPr id="4" name="Slide Number Placeholder 3">
            <a:extLst>
              <a:ext uri="{FF2B5EF4-FFF2-40B4-BE49-F238E27FC236}">
                <a16:creationId xmlns:a16="http://schemas.microsoft.com/office/drawing/2014/main" id="{C519E57F-E59A-F25C-868A-2D26318F2A49}"/>
              </a:ext>
            </a:extLst>
          </p:cNvPr>
          <p:cNvSpPr>
            <a:spLocks noGrp="1"/>
          </p:cNvSpPr>
          <p:nvPr>
            <p:ph type="sldNum" sz="quarter" idx="5"/>
          </p:nvPr>
        </p:nvSpPr>
        <p:spPr/>
        <p:txBody>
          <a:bodyPr/>
          <a:lstStyle/>
          <a:p>
            <a:fld id="{8929409D-F537-4CCC-A32D-DA5DDF242412}" type="slidenum">
              <a:rPr lang="en-US" smtClean="0"/>
              <a:t>30</a:t>
            </a:fld>
            <a:endParaRPr lang="en-US"/>
          </a:p>
        </p:txBody>
      </p:sp>
    </p:spTree>
    <p:extLst>
      <p:ext uri="{BB962C8B-B14F-4D97-AF65-F5344CB8AC3E}">
        <p14:creationId xmlns:p14="http://schemas.microsoft.com/office/powerpoint/2010/main" val="938643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92729-A38B-2FDE-5B19-A1AD11D13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88411F-98BE-946E-6557-6012C2734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8FD7E-B01F-E973-8808-F27D253FB37F}"/>
              </a:ext>
            </a:extLst>
          </p:cNvPr>
          <p:cNvSpPr>
            <a:spLocks noGrp="1"/>
          </p:cNvSpPr>
          <p:nvPr>
            <p:ph type="body" idx="1"/>
          </p:nvPr>
        </p:nvSpPr>
        <p:spPr/>
        <p:txBody>
          <a:bodyPr/>
          <a:lstStyle/>
          <a:p>
            <a:r>
              <a:rPr lang="en-US"/>
              <a:t>Need to add slide for the outputs of </a:t>
            </a:r>
            <a:r>
              <a:rPr lang="en-US" err="1"/>
              <a:t>InnerFlowAsync</a:t>
            </a:r>
            <a:endParaRPr lang="en-IL"/>
          </a:p>
        </p:txBody>
      </p:sp>
      <p:sp>
        <p:nvSpPr>
          <p:cNvPr id="4" name="Slide Number Placeholder 3">
            <a:extLst>
              <a:ext uri="{FF2B5EF4-FFF2-40B4-BE49-F238E27FC236}">
                <a16:creationId xmlns:a16="http://schemas.microsoft.com/office/drawing/2014/main" id="{9E0E12B6-C662-10A7-9BE7-35494A804568}"/>
              </a:ext>
            </a:extLst>
          </p:cNvPr>
          <p:cNvSpPr>
            <a:spLocks noGrp="1"/>
          </p:cNvSpPr>
          <p:nvPr>
            <p:ph type="sldNum" sz="quarter" idx="5"/>
          </p:nvPr>
        </p:nvSpPr>
        <p:spPr/>
        <p:txBody>
          <a:bodyPr/>
          <a:lstStyle/>
          <a:p>
            <a:fld id="{8929409D-F537-4CCC-A32D-DA5DDF242412}" type="slidenum">
              <a:rPr lang="en-US" smtClean="0"/>
              <a:t>58</a:t>
            </a:fld>
            <a:endParaRPr lang="en-US"/>
          </a:p>
        </p:txBody>
      </p:sp>
    </p:spTree>
    <p:extLst>
      <p:ext uri="{BB962C8B-B14F-4D97-AF65-F5344CB8AC3E}">
        <p14:creationId xmlns:p14="http://schemas.microsoft.com/office/powerpoint/2010/main" val="40420935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C6637-381C-8060-68FC-FB29F1C3C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06147-1DEB-5469-FAC2-152FFC45F1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0C24E-9394-1045-25ED-BA62607586DE}"/>
              </a:ext>
            </a:extLst>
          </p:cNvPr>
          <p:cNvSpPr>
            <a:spLocks noGrp="1"/>
          </p:cNvSpPr>
          <p:nvPr>
            <p:ph type="body" idx="1"/>
          </p:nvPr>
        </p:nvSpPr>
        <p:spPr/>
        <p:txBody>
          <a:bodyPr/>
          <a:lstStyle/>
          <a:p>
            <a:r>
              <a:rPr lang="en-US"/>
              <a:t>Need to add slide for the outputs of </a:t>
            </a:r>
            <a:r>
              <a:rPr lang="en-US" err="1"/>
              <a:t>InnerFlowAsync</a:t>
            </a:r>
            <a:endParaRPr lang="en-IL"/>
          </a:p>
        </p:txBody>
      </p:sp>
      <p:sp>
        <p:nvSpPr>
          <p:cNvPr id="4" name="Slide Number Placeholder 3">
            <a:extLst>
              <a:ext uri="{FF2B5EF4-FFF2-40B4-BE49-F238E27FC236}">
                <a16:creationId xmlns:a16="http://schemas.microsoft.com/office/drawing/2014/main" id="{561E7D78-432F-F655-1178-A5C6EE515AED}"/>
              </a:ext>
            </a:extLst>
          </p:cNvPr>
          <p:cNvSpPr>
            <a:spLocks noGrp="1"/>
          </p:cNvSpPr>
          <p:nvPr>
            <p:ph type="sldNum" sz="quarter" idx="5"/>
          </p:nvPr>
        </p:nvSpPr>
        <p:spPr/>
        <p:txBody>
          <a:bodyPr/>
          <a:lstStyle/>
          <a:p>
            <a:fld id="{8929409D-F537-4CCC-A32D-DA5DDF242412}" type="slidenum">
              <a:rPr lang="en-US" smtClean="0"/>
              <a:t>59</a:t>
            </a:fld>
            <a:endParaRPr lang="en-US"/>
          </a:p>
        </p:txBody>
      </p:sp>
    </p:spTree>
    <p:extLst>
      <p:ext uri="{BB962C8B-B14F-4D97-AF65-F5344CB8AC3E}">
        <p14:creationId xmlns:p14="http://schemas.microsoft.com/office/powerpoint/2010/main" val="59457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25877-F7CB-1638-E6B7-3CB18B72A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BC924F-DE40-5062-3A6B-0483DA48D4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7CA818-E8E5-E7B9-AC5B-42F311A7FE64}"/>
              </a:ext>
            </a:extLst>
          </p:cNvPr>
          <p:cNvSpPr>
            <a:spLocks noGrp="1"/>
          </p:cNvSpPr>
          <p:nvPr>
            <p:ph type="body" idx="1"/>
          </p:nvPr>
        </p:nvSpPr>
        <p:spPr/>
        <p:txBody>
          <a:bodyPr/>
          <a:lstStyle/>
          <a:p>
            <a:r>
              <a:rPr lang="en-US"/>
              <a:t>Need to add slide for the outputs of </a:t>
            </a:r>
            <a:r>
              <a:rPr lang="en-US" err="1"/>
              <a:t>InnerFlowAsync</a:t>
            </a:r>
            <a:endParaRPr lang="en-IL"/>
          </a:p>
        </p:txBody>
      </p:sp>
      <p:sp>
        <p:nvSpPr>
          <p:cNvPr id="4" name="Slide Number Placeholder 3">
            <a:extLst>
              <a:ext uri="{FF2B5EF4-FFF2-40B4-BE49-F238E27FC236}">
                <a16:creationId xmlns:a16="http://schemas.microsoft.com/office/drawing/2014/main" id="{A050D32D-F806-2C06-5264-227BFC557A1B}"/>
              </a:ext>
            </a:extLst>
          </p:cNvPr>
          <p:cNvSpPr>
            <a:spLocks noGrp="1"/>
          </p:cNvSpPr>
          <p:nvPr>
            <p:ph type="sldNum" sz="quarter" idx="5"/>
          </p:nvPr>
        </p:nvSpPr>
        <p:spPr/>
        <p:txBody>
          <a:bodyPr/>
          <a:lstStyle/>
          <a:p>
            <a:fld id="{8929409D-F537-4CCC-A32D-DA5DDF242412}" type="slidenum">
              <a:rPr lang="en-US" smtClean="0"/>
              <a:t>60</a:t>
            </a:fld>
            <a:endParaRPr lang="en-US"/>
          </a:p>
        </p:txBody>
      </p:sp>
    </p:spTree>
    <p:extLst>
      <p:ext uri="{BB962C8B-B14F-4D97-AF65-F5344CB8AC3E}">
        <p14:creationId xmlns:p14="http://schemas.microsoft.com/office/powerpoint/2010/main" val="4251743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FF782-269C-E20C-1D3D-05E98ECCB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5EAF1-78AE-2973-4FFF-8B8F53F6F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B6B7AA-8792-7E59-6A93-B77500375468}"/>
              </a:ext>
            </a:extLst>
          </p:cNvPr>
          <p:cNvSpPr>
            <a:spLocks noGrp="1"/>
          </p:cNvSpPr>
          <p:nvPr>
            <p:ph type="body" idx="1"/>
          </p:nvPr>
        </p:nvSpPr>
        <p:spPr/>
        <p:txBody>
          <a:bodyPr/>
          <a:lstStyle/>
          <a:p>
            <a:endParaRPr lang="en-IL"/>
          </a:p>
        </p:txBody>
      </p:sp>
      <p:sp>
        <p:nvSpPr>
          <p:cNvPr id="4" name="Slide Number Placeholder 3">
            <a:extLst>
              <a:ext uri="{FF2B5EF4-FFF2-40B4-BE49-F238E27FC236}">
                <a16:creationId xmlns:a16="http://schemas.microsoft.com/office/drawing/2014/main" id="{9798961A-0597-E23E-0386-CC6EE4D8105F}"/>
              </a:ext>
            </a:extLst>
          </p:cNvPr>
          <p:cNvSpPr>
            <a:spLocks noGrp="1"/>
          </p:cNvSpPr>
          <p:nvPr>
            <p:ph type="sldNum" sz="quarter" idx="5"/>
          </p:nvPr>
        </p:nvSpPr>
        <p:spPr/>
        <p:txBody>
          <a:bodyPr/>
          <a:lstStyle/>
          <a:p>
            <a:fld id="{8929409D-F537-4CCC-A32D-DA5DDF242412}" type="slidenum">
              <a:rPr lang="en-US" smtClean="0"/>
              <a:t>61</a:t>
            </a:fld>
            <a:endParaRPr lang="en-US"/>
          </a:p>
        </p:txBody>
      </p:sp>
    </p:spTree>
    <p:extLst>
      <p:ext uri="{BB962C8B-B14F-4D97-AF65-F5344CB8AC3E}">
        <p14:creationId xmlns:p14="http://schemas.microsoft.com/office/powerpoint/2010/main" val="14492586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C9660-3C4D-6353-D12D-342AB154D3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0E0AD-FFCA-D913-AAEE-7244CA0C1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303C6-B490-39F3-FAA3-50DD9EE83919}"/>
              </a:ext>
            </a:extLst>
          </p:cNvPr>
          <p:cNvSpPr>
            <a:spLocks noGrp="1"/>
          </p:cNvSpPr>
          <p:nvPr>
            <p:ph type="body" idx="1"/>
          </p:nvPr>
        </p:nvSpPr>
        <p:spPr/>
        <p:txBody>
          <a:bodyPr/>
          <a:lstStyle/>
          <a:p>
            <a:r>
              <a:rPr lang="en-US"/>
              <a:t>Need to add slide for the outputs of </a:t>
            </a:r>
            <a:r>
              <a:rPr lang="en-US" err="1"/>
              <a:t>InnerFlowAsync</a:t>
            </a:r>
            <a:endParaRPr lang="en-IL"/>
          </a:p>
        </p:txBody>
      </p:sp>
      <p:sp>
        <p:nvSpPr>
          <p:cNvPr id="4" name="Slide Number Placeholder 3">
            <a:extLst>
              <a:ext uri="{FF2B5EF4-FFF2-40B4-BE49-F238E27FC236}">
                <a16:creationId xmlns:a16="http://schemas.microsoft.com/office/drawing/2014/main" id="{179AB8C2-4894-6615-5D3C-BB26D6DCCE3B}"/>
              </a:ext>
            </a:extLst>
          </p:cNvPr>
          <p:cNvSpPr>
            <a:spLocks noGrp="1"/>
          </p:cNvSpPr>
          <p:nvPr>
            <p:ph type="sldNum" sz="quarter" idx="5"/>
          </p:nvPr>
        </p:nvSpPr>
        <p:spPr/>
        <p:txBody>
          <a:bodyPr/>
          <a:lstStyle/>
          <a:p>
            <a:fld id="{8929409D-F537-4CCC-A32D-DA5DDF242412}" type="slidenum">
              <a:rPr lang="en-US" smtClean="0"/>
              <a:t>62</a:t>
            </a:fld>
            <a:endParaRPr lang="en-US"/>
          </a:p>
        </p:txBody>
      </p:sp>
    </p:spTree>
    <p:extLst>
      <p:ext uri="{BB962C8B-B14F-4D97-AF65-F5344CB8AC3E}">
        <p14:creationId xmlns:p14="http://schemas.microsoft.com/office/powerpoint/2010/main" val="24664818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92DB551-97C2-22BF-B760-90EAA00E4B91}"/>
              </a:ext>
            </a:extLst>
          </p:cNvPr>
          <p:cNvSpPr/>
          <p:nvPr/>
        </p:nvSpPr>
        <p:spPr>
          <a:xfrm>
            <a:off x="80920" y="72828"/>
            <a:ext cx="1521303" cy="10919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4" name="Picture Placeholder 4">
            <a:extLst>
              <a:ext uri="{FF2B5EF4-FFF2-40B4-BE49-F238E27FC236}">
                <a16:creationId xmlns:a16="http://schemas.microsoft.com/office/drawing/2014/main" id="{DF78302C-DD1C-A64C-0D25-6D0E0EFF67D2}"/>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728133" y="558800"/>
            <a:ext cx="5367867" cy="6299200"/>
          </a:xfrm>
          <a:custGeom>
            <a:avLst/>
            <a:gdLst>
              <a:gd name="connsiteX0" fmla="*/ 12647 w 2049737"/>
              <a:gd name="connsiteY0" fmla="*/ 0 h 2159877"/>
              <a:gd name="connsiteX1" fmla="*/ 2037090 w 2049737"/>
              <a:gd name="connsiteY1" fmla="*/ 0 h 2159877"/>
              <a:gd name="connsiteX2" fmla="*/ 2049737 w 2049737"/>
              <a:gd name="connsiteY2" fmla="*/ 12647 h 2159877"/>
              <a:gd name="connsiteX3" fmla="*/ 2049737 w 2049737"/>
              <a:gd name="connsiteY3" fmla="*/ 2147230 h 2159877"/>
              <a:gd name="connsiteX4" fmla="*/ 2037090 w 2049737"/>
              <a:gd name="connsiteY4" fmla="*/ 2159877 h 2159877"/>
              <a:gd name="connsiteX5" fmla="*/ 12647 w 2049737"/>
              <a:gd name="connsiteY5" fmla="*/ 2159877 h 2159877"/>
              <a:gd name="connsiteX6" fmla="*/ 0 w 2049737"/>
              <a:gd name="connsiteY6" fmla="*/ 2147230 h 2159877"/>
              <a:gd name="connsiteX7" fmla="*/ 0 w 2049737"/>
              <a:gd name="connsiteY7" fmla="*/ 12647 h 2159877"/>
              <a:gd name="connsiteX8" fmla="*/ 12647 w 2049737"/>
              <a:gd name="connsiteY8" fmla="*/ 0 h 2159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49737" h="2159877">
                <a:moveTo>
                  <a:pt x="12647" y="0"/>
                </a:moveTo>
                <a:lnTo>
                  <a:pt x="2037090" y="0"/>
                </a:lnTo>
                <a:cubicBezTo>
                  <a:pt x="2044075" y="0"/>
                  <a:pt x="2049737" y="5662"/>
                  <a:pt x="2049737" y="12647"/>
                </a:cubicBezTo>
                <a:lnTo>
                  <a:pt x="2049737" y="2147230"/>
                </a:lnTo>
                <a:cubicBezTo>
                  <a:pt x="2049737" y="2154215"/>
                  <a:pt x="2044075" y="2159877"/>
                  <a:pt x="2037090" y="2159877"/>
                </a:cubicBezTo>
                <a:lnTo>
                  <a:pt x="12647" y="2159877"/>
                </a:lnTo>
                <a:cubicBezTo>
                  <a:pt x="5662" y="2159877"/>
                  <a:pt x="0" y="2154215"/>
                  <a:pt x="0" y="2147230"/>
                </a:cubicBezTo>
                <a:lnTo>
                  <a:pt x="0" y="12647"/>
                </a:lnTo>
                <a:cubicBezTo>
                  <a:pt x="0" y="5662"/>
                  <a:pt x="5662" y="0"/>
                  <a:pt x="12647" y="0"/>
                </a:cubicBezTo>
                <a:close/>
              </a:path>
            </a:pathLst>
          </a:custGeom>
          <a:effectLst>
            <a:outerShdw blurRad="381000" algn="ctr" rotWithShape="0">
              <a:schemeClr val="tx1">
                <a:lumMod val="75000"/>
                <a:lumOff val="25000"/>
                <a:alpha val="40000"/>
              </a:schemeClr>
            </a:outerShdw>
          </a:effectLst>
        </p:spPr>
      </p:pic>
      <p:pic>
        <p:nvPicPr>
          <p:cNvPr id="2" name="Graphic 1">
            <a:extLst>
              <a:ext uri="{FF2B5EF4-FFF2-40B4-BE49-F238E27FC236}">
                <a16:creationId xmlns:a16="http://schemas.microsoft.com/office/drawing/2014/main" id="{31DB5385-C9B2-CCE8-8B6B-16ACEAD3B2E8}"/>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35831" y="1164768"/>
            <a:ext cx="2851193" cy="855358"/>
          </a:xfrm>
          <a:prstGeom prst="rect">
            <a:avLst/>
          </a:prstGeom>
        </p:spPr>
      </p:pic>
      <p:sp>
        <p:nvSpPr>
          <p:cNvPr id="12" name="Content Placeholder 3">
            <a:extLst>
              <a:ext uri="{FF2B5EF4-FFF2-40B4-BE49-F238E27FC236}">
                <a16:creationId xmlns:a16="http://schemas.microsoft.com/office/drawing/2014/main" id="{0F447F73-6D9E-DF1B-CF21-A4B39B369CFA}"/>
              </a:ext>
            </a:extLst>
          </p:cNvPr>
          <p:cNvSpPr>
            <a:spLocks noGrp="1"/>
          </p:cNvSpPr>
          <p:nvPr>
            <p:ph sz="quarter" idx="10"/>
          </p:nvPr>
        </p:nvSpPr>
        <p:spPr>
          <a:xfrm>
            <a:off x="6995664" y="4059509"/>
            <a:ext cx="4317001" cy="1075294"/>
          </a:xfrm>
          <a:prstGeom prst="rect">
            <a:avLst/>
          </a:prstGeom>
        </p:spPr>
        <p:txBody>
          <a:bodyPr/>
          <a:lstStyle>
            <a:lvl1pPr marL="0" indent="0">
              <a:buFont typeface="Arial" panose="020B0604020202020204" pitchFamily="34" charset="0"/>
              <a:buNone/>
              <a:defRPr sz="2000" b="1" spc="0">
                <a:solidFill>
                  <a:schemeClr val="tx1"/>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Click to edit Master text styles</a:t>
            </a:r>
          </a:p>
          <a:p>
            <a:pPr marL="228600" marR="0" lvl="1"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Second level</a:t>
            </a:r>
          </a:p>
        </p:txBody>
      </p:sp>
      <p:pic>
        <p:nvPicPr>
          <p:cNvPr id="30" name="Graphic 29">
            <a:extLst>
              <a:ext uri="{FF2B5EF4-FFF2-40B4-BE49-F238E27FC236}">
                <a16:creationId xmlns:a16="http://schemas.microsoft.com/office/drawing/2014/main" id="{A384254D-7517-A188-8627-503DAFC93059}"/>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57245" y="2637401"/>
            <a:ext cx="1509642" cy="1509642"/>
          </a:xfrm>
          <a:prstGeom prst="rect">
            <a:avLst/>
          </a:prstGeom>
        </p:spPr>
      </p:pic>
      <p:sp>
        <p:nvSpPr>
          <p:cNvPr id="9" name="Content Placeholder 8">
            <a:extLst>
              <a:ext uri="{FF2B5EF4-FFF2-40B4-BE49-F238E27FC236}">
                <a16:creationId xmlns:a16="http://schemas.microsoft.com/office/drawing/2014/main" id="{480FE308-09FC-491C-C3D5-EEA0B9452A4E}"/>
              </a:ext>
            </a:extLst>
          </p:cNvPr>
          <p:cNvSpPr>
            <a:spLocks noGrp="1"/>
          </p:cNvSpPr>
          <p:nvPr>
            <p:ph sz="quarter" idx="11" hasCustomPrompt="1"/>
          </p:nvPr>
        </p:nvSpPr>
        <p:spPr>
          <a:xfrm>
            <a:off x="6996113" y="5145017"/>
            <a:ext cx="4704970" cy="324145"/>
          </a:xfrm>
        </p:spPr>
        <p:txBody>
          <a:bodyPr/>
          <a:lstStyle>
            <a:lvl1pPr>
              <a:defRPr b="1">
                <a:solidFill>
                  <a:schemeClr val="tx1"/>
                </a:solidFill>
              </a:defRPr>
            </a:lvl1pPr>
          </a:lstStyle>
          <a:p>
            <a:pPr lvl="0"/>
            <a:r>
              <a:rPr lang="en-US"/>
              <a:t>Speaker:</a:t>
            </a:r>
          </a:p>
        </p:txBody>
      </p:sp>
      <p:sp>
        <p:nvSpPr>
          <p:cNvPr id="11" name="Content Placeholder 8">
            <a:extLst>
              <a:ext uri="{FF2B5EF4-FFF2-40B4-BE49-F238E27FC236}">
                <a16:creationId xmlns:a16="http://schemas.microsoft.com/office/drawing/2014/main" id="{CA57BCDB-83E2-96FE-12A8-C0A78C18F2E0}"/>
              </a:ext>
            </a:extLst>
          </p:cNvPr>
          <p:cNvSpPr>
            <a:spLocks noGrp="1"/>
          </p:cNvSpPr>
          <p:nvPr>
            <p:ph sz="quarter" idx="12" hasCustomPrompt="1"/>
          </p:nvPr>
        </p:nvSpPr>
        <p:spPr>
          <a:xfrm>
            <a:off x="6996113" y="5531159"/>
            <a:ext cx="4704970" cy="324145"/>
          </a:xfrm>
        </p:spPr>
        <p:txBody>
          <a:bodyPr/>
          <a:lstStyle>
            <a:lvl1pPr>
              <a:defRPr b="1">
                <a:solidFill>
                  <a:schemeClr val="tx1"/>
                </a:solidFill>
              </a:defRPr>
            </a:lvl1pPr>
          </a:lstStyle>
          <a:p>
            <a:pPr lvl="0"/>
            <a:r>
              <a:rPr lang="en-US"/>
              <a:t>Title:</a:t>
            </a:r>
          </a:p>
        </p:txBody>
      </p:sp>
      <p:sp>
        <p:nvSpPr>
          <p:cNvPr id="6" name="Content Placeholder 5">
            <a:extLst>
              <a:ext uri="{FF2B5EF4-FFF2-40B4-BE49-F238E27FC236}">
                <a16:creationId xmlns:a16="http://schemas.microsoft.com/office/drawing/2014/main" id="{BF41C380-BADA-0B81-62B2-D66AE948F079}"/>
              </a:ext>
            </a:extLst>
          </p:cNvPr>
          <p:cNvSpPr>
            <a:spLocks noGrp="1"/>
          </p:cNvSpPr>
          <p:nvPr>
            <p:ph sz="quarter" idx="13"/>
          </p:nvPr>
        </p:nvSpPr>
        <p:spPr>
          <a:xfrm>
            <a:off x="6996113" y="2338388"/>
            <a:ext cx="4316412" cy="1593850"/>
          </a:xfrm>
        </p:spPr>
        <p:txBody>
          <a:bodyPr anchor="ctr">
            <a:normAutofit/>
          </a:bodyPr>
          <a:lstStyle>
            <a:lvl1pPr>
              <a:defRPr sz="4000" b="1">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spTree>
    <p:extLst>
      <p:ext uri="{BB962C8B-B14F-4D97-AF65-F5344CB8AC3E}">
        <p14:creationId xmlns:p14="http://schemas.microsoft.com/office/powerpoint/2010/main" val="1160205273"/>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E4D90-FDDA-DF23-B535-2C7BA8E5F609}"/>
              </a:ext>
            </a:extLst>
          </p:cNvPr>
          <p:cNvSpPr>
            <a:spLocks noGrp="1"/>
          </p:cNvSpPr>
          <p:nvPr>
            <p:ph type="title"/>
          </p:nvPr>
        </p:nvSpPr>
        <p:spPr/>
        <p:txBody>
          <a:bodyPr/>
          <a:lstStyle/>
          <a:p>
            <a:r>
              <a:rPr lang="en-US"/>
              <a:t>Click to edit Master title style</a:t>
            </a:r>
          </a:p>
        </p:txBody>
      </p:sp>
      <p:sp>
        <p:nvSpPr>
          <p:cNvPr id="11" name="Rectangle: Rounded Corners 2">
            <a:extLst>
              <a:ext uri="{FF2B5EF4-FFF2-40B4-BE49-F238E27FC236}">
                <a16:creationId xmlns:a16="http://schemas.microsoft.com/office/drawing/2014/main" id="{2FCEEBF7-F66E-1DBE-FA15-1358073EDCF6}"/>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Text Placeholder 15">
            <a:extLst>
              <a:ext uri="{FF2B5EF4-FFF2-40B4-BE49-F238E27FC236}">
                <a16:creationId xmlns:a16="http://schemas.microsoft.com/office/drawing/2014/main" id="{0DF1BF24-B304-80DA-ABDD-430AB653AD5D}"/>
              </a:ext>
            </a:extLst>
          </p:cNvPr>
          <p:cNvSpPr>
            <a:spLocks noGrp="1"/>
          </p:cNvSpPr>
          <p:nvPr>
            <p:ph idx="1"/>
          </p:nvPr>
        </p:nvSpPr>
        <p:spPr>
          <a:xfrm>
            <a:off x="1318622" y="1497027"/>
            <a:ext cx="9554756" cy="46799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Tree>
    <p:extLst>
      <p:ext uri="{BB962C8B-B14F-4D97-AF65-F5344CB8AC3E}">
        <p14:creationId xmlns:p14="http://schemas.microsoft.com/office/powerpoint/2010/main" val="502933028"/>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E4D90-FDDA-DF23-B535-2C7BA8E5F609}"/>
              </a:ext>
            </a:extLst>
          </p:cNvPr>
          <p:cNvSpPr>
            <a:spLocks noGrp="1"/>
          </p:cNvSpPr>
          <p:nvPr>
            <p:ph type="title"/>
          </p:nvPr>
        </p:nvSpPr>
        <p:spPr/>
        <p:txBody>
          <a:bodyPr/>
          <a:lstStyle/>
          <a:p>
            <a:r>
              <a:rPr lang="en-US"/>
              <a:t>Click to edit Master title style</a:t>
            </a:r>
          </a:p>
        </p:txBody>
      </p:sp>
      <p:sp>
        <p:nvSpPr>
          <p:cNvPr id="11" name="Rectangle: Rounded Corners 2">
            <a:extLst>
              <a:ext uri="{FF2B5EF4-FFF2-40B4-BE49-F238E27FC236}">
                <a16:creationId xmlns:a16="http://schemas.microsoft.com/office/drawing/2014/main" id="{2FCEEBF7-F66E-1DBE-FA15-1358073EDCF6}"/>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Content Placeholder 4">
            <a:extLst>
              <a:ext uri="{FF2B5EF4-FFF2-40B4-BE49-F238E27FC236}">
                <a16:creationId xmlns:a16="http://schemas.microsoft.com/office/drawing/2014/main" id="{3350D1D3-32F3-71E6-C667-67FDAF469CBA}"/>
              </a:ext>
            </a:extLst>
          </p:cNvPr>
          <p:cNvSpPr>
            <a:spLocks noGrp="1"/>
          </p:cNvSpPr>
          <p:nvPr>
            <p:ph sz="quarter" idx="11"/>
          </p:nvPr>
        </p:nvSpPr>
        <p:spPr>
          <a:xfrm>
            <a:off x="838200" y="1490663"/>
            <a:ext cx="5153025" cy="468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E937D61-9219-87FB-3B18-2EE668F8927B}"/>
              </a:ext>
            </a:extLst>
          </p:cNvPr>
          <p:cNvSpPr>
            <a:spLocks noGrp="1"/>
          </p:cNvSpPr>
          <p:nvPr>
            <p:ph sz="quarter" idx="12"/>
          </p:nvPr>
        </p:nvSpPr>
        <p:spPr>
          <a:xfrm>
            <a:off x="6277304" y="1490663"/>
            <a:ext cx="5153025" cy="468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7316488"/>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E4D90-FDDA-DF23-B535-2C7BA8E5F609}"/>
              </a:ext>
            </a:extLst>
          </p:cNvPr>
          <p:cNvSpPr>
            <a:spLocks noGrp="1"/>
          </p:cNvSpPr>
          <p:nvPr>
            <p:ph type="title"/>
          </p:nvPr>
        </p:nvSpPr>
        <p:spPr/>
        <p:txBody>
          <a:bodyPr/>
          <a:lstStyle/>
          <a:p>
            <a:r>
              <a:rPr lang="en-US"/>
              <a:t>Click to edit Master title style</a:t>
            </a:r>
          </a:p>
        </p:txBody>
      </p:sp>
      <p:sp>
        <p:nvSpPr>
          <p:cNvPr id="11" name="Rectangle: Rounded Corners 2">
            <a:extLst>
              <a:ext uri="{FF2B5EF4-FFF2-40B4-BE49-F238E27FC236}">
                <a16:creationId xmlns:a16="http://schemas.microsoft.com/office/drawing/2014/main" id="{2FCEEBF7-F66E-1DBE-FA15-1358073EDCF6}"/>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Text Placeholder 15">
            <a:extLst>
              <a:ext uri="{FF2B5EF4-FFF2-40B4-BE49-F238E27FC236}">
                <a16:creationId xmlns:a16="http://schemas.microsoft.com/office/drawing/2014/main" id="{10A2BEA0-7E65-8FB6-662E-5B307BEE9611}"/>
              </a:ext>
            </a:extLst>
          </p:cNvPr>
          <p:cNvSpPr>
            <a:spLocks noGrp="1"/>
          </p:cNvSpPr>
          <p:nvPr>
            <p:ph idx="1"/>
          </p:nvPr>
        </p:nvSpPr>
        <p:spPr>
          <a:xfrm>
            <a:off x="838200" y="1497027"/>
            <a:ext cx="10515600" cy="46799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2" name="Content Placeholder 2">
            <a:extLst>
              <a:ext uri="{FF2B5EF4-FFF2-40B4-BE49-F238E27FC236}">
                <a16:creationId xmlns:a16="http://schemas.microsoft.com/office/drawing/2014/main" id="{FD16D100-018A-D540-6D96-6D161D566C32}"/>
              </a:ext>
            </a:extLst>
          </p:cNvPr>
          <p:cNvSpPr>
            <a:spLocks noGrp="1"/>
          </p:cNvSpPr>
          <p:nvPr>
            <p:ph sz="quarter" idx="14"/>
          </p:nvPr>
        </p:nvSpPr>
        <p:spPr>
          <a:xfrm>
            <a:off x="1527969" y="951848"/>
            <a:ext cx="9136062" cy="364282"/>
          </a:xfrm>
        </p:spPr>
        <p:txBody>
          <a:bodyPr>
            <a:noAutofit/>
          </a:bodyPr>
          <a:lstStyle>
            <a:lvl1pPr marL="0" indent="0" algn="ctr">
              <a:buNone/>
              <a:defRPr sz="2400" b="1">
                <a:solidFill>
                  <a:schemeClr val="tx1"/>
                </a:solidFill>
                <a:latin typeface="+mj-lt"/>
              </a:defRPr>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2555074140"/>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E4D90-FDDA-DF23-B535-2C7BA8E5F609}"/>
              </a:ext>
            </a:extLst>
          </p:cNvPr>
          <p:cNvSpPr>
            <a:spLocks noGrp="1"/>
          </p:cNvSpPr>
          <p:nvPr>
            <p:ph type="title"/>
          </p:nvPr>
        </p:nvSpPr>
        <p:spPr>
          <a:xfrm>
            <a:off x="4177553" y="403270"/>
            <a:ext cx="6695824" cy="778213"/>
          </a:xfrm>
        </p:spPr>
        <p:txBody>
          <a:bodyPr anchor="t"/>
          <a:lstStyle>
            <a:lvl1pPr algn="l">
              <a:defRPr>
                <a:solidFill>
                  <a:schemeClr val="tx2"/>
                </a:solidFill>
              </a:defRPr>
            </a:lvl1pPr>
          </a:lstStyle>
          <a:p>
            <a:r>
              <a:rPr lang="en-US"/>
              <a:t>Click to edit Master title style</a:t>
            </a:r>
          </a:p>
        </p:txBody>
      </p:sp>
      <p:sp>
        <p:nvSpPr>
          <p:cNvPr id="11" name="Rectangle: Rounded Corners 2">
            <a:extLst>
              <a:ext uri="{FF2B5EF4-FFF2-40B4-BE49-F238E27FC236}">
                <a16:creationId xmlns:a16="http://schemas.microsoft.com/office/drawing/2014/main" id="{2FCEEBF7-F66E-1DBE-FA15-1358073EDCF6}"/>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Text Placeholder 15">
            <a:extLst>
              <a:ext uri="{FF2B5EF4-FFF2-40B4-BE49-F238E27FC236}">
                <a16:creationId xmlns:a16="http://schemas.microsoft.com/office/drawing/2014/main" id="{0DF1BF24-B304-80DA-ABDD-430AB653AD5D}"/>
              </a:ext>
            </a:extLst>
          </p:cNvPr>
          <p:cNvSpPr>
            <a:spLocks noGrp="1"/>
          </p:cNvSpPr>
          <p:nvPr>
            <p:ph idx="1"/>
          </p:nvPr>
        </p:nvSpPr>
        <p:spPr>
          <a:xfrm>
            <a:off x="4177552" y="1634247"/>
            <a:ext cx="7176247" cy="4542716"/>
          </a:xfrm>
          <a:prstGeom prst="rect">
            <a:avLst/>
          </a:prstGeom>
        </p:spPr>
        <p:txBody>
          <a:bodyPr vert="horz" lIns="91440" tIns="45720" rIns="91440" bIns="45720" rtlCol="0">
            <a:normAutofit/>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Picture Placeholder 4">
            <a:extLst>
              <a:ext uri="{FF2B5EF4-FFF2-40B4-BE49-F238E27FC236}">
                <a16:creationId xmlns:a16="http://schemas.microsoft.com/office/drawing/2014/main" id="{0CE57B95-064E-5ECE-8F7A-79A8FE79E25E}"/>
              </a:ext>
            </a:extLst>
          </p:cNvPr>
          <p:cNvSpPr>
            <a:spLocks noGrp="1"/>
          </p:cNvSpPr>
          <p:nvPr>
            <p:ph type="pic" sz="quarter" idx="10"/>
          </p:nvPr>
        </p:nvSpPr>
        <p:spPr>
          <a:xfrm>
            <a:off x="228599" y="0"/>
            <a:ext cx="3267635" cy="6858000"/>
          </a:xfrm>
        </p:spPr>
        <p:txBody>
          <a:bodyPr/>
          <a:lstStyle/>
          <a:p>
            <a:r>
              <a:rPr lang="en-US"/>
              <a:t>Click icon to add picture</a:t>
            </a:r>
          </a:p>
        </p:txBody>
      </p:sp>
      <p:pic>
        <p:nvPicPr>
          <p:cNvPr id="6" name="Graphic 5">
            <a:extLst>
              <a:ext uri="{FF2B5EF4-FFF2-40B4-BE49-F238E27FC236}">
                <a16:creationId xmlns:a16="http://schemas.microsoft.com/office/drawing/2014/main" id="{97677E30-2C53-AA24-5BA6-622B7E2A3D4D}"/>
              </a:ext>
            </a:extLst>
          </p:cNvPr>
          <p:cNvPicPr>
            <a:picLocks noChangeAspect="1"/>
          </p:cNvPicPr>
          <p:nvPr userDrawn="1"/>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68982" y="245824"/>
            <a:ext cx="1049640" cy="314892"/>
          </a:xfrm>
          <a:prstGeom prst="rect">
            <a:avLst/>
          </a:prstGeom>
        </p:spPr>
      </p:pic>
    </p:spTree>
    <p:extLst>
      <p:ext uri="{BB962C8B-B14F-4D97-AF65-F5344CB8AC3E}">
        <p14:creationId xmlns:p14="http://schemas.microsoft.com/office/powerpoint/2010/main" val="3640397991"/>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E4D90-FDDA-DF23-B535-2C7BA8E5F609}"/>
              </a:ext>
            </a:extLst>
          </p:cNvPr>
          <p:cNvSpPr>
            <a:spLocks noGrp="1"/>
          </p:cNvSpPr>
          <p:nvPr>
            <p:ph type="title"/>
          </p:nvPr>
        </p:nvSpPr>
        <p:spPr/>
        <p:txBody>
          <a:bodyPr/>
          <a:lstStyle/>
          <a:p>
            <a:r>
              <a:rPr lang="en-US"/>
              <a:t>Click to edit Master title style</a:t>
            </a:r>
          </a:p>
        </p:txBody>
      </p:sp>
      <p:sp>
        <p:nvSpPr>
          <p:cNvPr id="11" name="Rectangle: Rounded Corners 2">
            <a:extLst>
              <a:ext uri="{FF2B5EF4-FFF2-40B4-BE49-F238E27FC236}">
                <a16:creationId xmlns:a16="http://schemas.microsoft.com/office/drawing/2014/main" id="{2FCEEBF7-F66E-1DBE-FA15-1358073EDCF6}"/>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Text Placeholder 15">
            <a:extLst>
              <a:ext uri="{FF2B5EF4-FFF2-40B4-BE49-F238E27FC236}">
                <a16:creationId xmlns:a16="http://schemas.microsoft.com/office/drawing/2014/main" id="{10A2BEA0-7E65-8FB6-662E-5B307BEE9611}"/>
              </a:ext>
            </a:extLst>
          </p:cNvPr>
          <p:cNvSpPr>
            <a:spLocks noGrp="1"/>
          </p:cNvSpPr>
          <p:nvPr>
            <p:ph idx="1"/>
          </p:nvPr>
        </p:nvSpPr>
        <p:spPr>
          <a:xfrm>
            <a:off x="838200" y="1497027"/>
            <a:ext cx="5368391" cy="46799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Tree>
    <p:extLst>
      <p:ext uri="{BB962C8B-B14F-4D97-AF65-F5344CB8AC3E}">
        <p14:creationId xmlns:p14="http://schemas.microsoft.com/office/powerpoint/2010/main" val="1605994104"/>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left and diagram">
    <p:spTree>
      <p:nvGrpSpPr>
        <p:cNvPr id="1" name=""/>
        <p:cNvGrpSpPr/>
        <p:nvPr/>
      </p:nvGrpSpPr>
      <p:grpSpPr>
        <a:xfrm>
          <a:off x="0" y="0"/>
          <a:ext cx="0" cy="0"/>
          <a:chOff x="0" y="0"/>
          <a:chExt cx="0" cy="0"/>
        </a:xfrm>
      </p:grpSpPr>
      <p:sp>
        <p:nvSpPr>
          <p:cNvPr id="4" name="Rectangle: Rounded Corners 2">
            <a:extLst>
              <a:ext uri="{FF2B5EF4-FFF2-40B4-BE49-F238E27FC236}">
                <a16:creationId xmlns:a16="http://schemas.microsoft.com/office/drawing/2014/main" id="{7DDCFA81-94BB-028D-BD03-07C0C06DA187}"/>
              </a:ext>
            </a:extLst>
          </p:cNvPr>
          <p:cNvSpPr/>
          <p:nvPr userDrawn="1"/>
        </p:nvSpPr>
        <p:spPr>
          <a:xfrm>
            <a:off x="447869" y="1784752"/>
            <a:ext cx="4534678" cy="5073247"/>
          </a:xfrm>
          <a:prstGeom prst="roundRect">
            <a:avLst>
              <a:gd name="adj" fmla="val 617"/>
            </a:avLst>
          </a:prstGeom>
          <a:gradFill>
            <a:gsLst>
              <a:gs pos="0">
                <a:schemeClr val="accent2"/>
              </a:gs>
              <a:gs pos="99000">
                <a:schemeClr val="accent4"/>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Title 7">
            <a:extLst>
              <a:ext uri="{FF2B5EF4-FFF2-40B4-BE49-F238E27FC236}">
                <a16:creationId xmlns:a16="http://schemas.microsoft.com/office/drawing/2014/main" id="{4C8FFBD3-E5F7-AD5F-1076-869A234B5FE8}"/>
              </a:ext>
            </a:extLst>
          </p:cNvPr>
          <p:cNvSpPr>
            <a:spLocks noGrp="1"/>
          </p:cNvSpPr>
          <p:nvPr>
            <p:ph type="title"/>
          </p:nvPr>
        </p:nvSpPr>
        <p:spPr/>
        <p:txBody>
          <a:bodyPr/>
          <a:lstStyle/>
          <a:p>
            <a:r>
              <a:rPr lang="en-US"/>
              <a:t>Click to edit Master title style</a:t>
            </a:r>
            <a:endParaRPr lang="en-IL"/>
          </a:p>
        </p:txBody>
      </p:sp>
      <p:sp>
        <p:nvSpPr>
          <p:cNvPr id="9" name="Content Placeholder 8">
            <a:extLst>
              <a:ext uri="{FF2B5EF4-FFF2-40B4-BE49-F238E27FC236}">
                <a16:creationId xmlns:a16="http://schemas.microsoft.com/office/drawing/2014/main" id="{BB8A7525-E001-BED5-B931-A8D07B111CEA}"/>
              </a:ext>
            </a:extLst>
          </p:cNvPr>
          <p:cNvSpPr>
            <a:spLocks noGrp="1"/>
          </p:cNvSpPr>
          <p:nvPr>
            <p:ph sz="quarter" idx="15"/>
          </p:nvPr>
        </p:nvSpPr>
        <p:spPr>
          <a:xfrm>
            <a:off x="924221" y="2865120"/>
            <a:ext cx="3581975" cy="2951941"/>
          </a:xfrm>
        </p:spPr>
        <p:txBody>
          <a:bodyPr/>
          <a:lstStyle>
            <a:lvl1pPr marL="0" indent="0">
              <a:buFont typeface="Arial" panose="020B0604020202020204" pitchFamily="34" charset="0"/>
              <a:buNone/>
              <a:defRPr sz="1800">
                <a:solidFill>
                  <a:schemeClr val="bg1"/>
                </a:solidFill>
              </a:defRPr>
            </a:lvl1pPr>
            <a:lvl2pPr marL="457200" indent="0">
              <a:buNone/>
              <a:defRPr sz="1600">
                <a:solidFill>
                  <a:schemeClr val="bg1"/>
                </a:solidFill>
              </a:defRPr>
            </a:lvl2pPr>
            <a:lvl3pPr marL="914400" indent="0">
              <a:buNone/>
              <a:defRPr>
                <a:solidFill>
                  <a:schemeClr val="bg1"/>
                </a:solidFill>
              </a:defRPr>
            </a:lvl3pPr>
            <a:lvl4pPr marL="1371600" indent="0">
              <a:buNone/>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13">
            <a:extLst>
              <a:ext uri="{FF2B5EF4-FFF2-40B4-BE49-F238E27FC236}">
                <a16:creationId xmlns:a16="http://schemas.microsoft.com/office/drawing/2014/main" id="{87C6EFB2-04A6-34FC-217B-399974D5891C}"/>
              </a:ext>
            </a:extLst>
          </p:cNvPr>
          <p:cNvSpPr>
            <a:spLocks noGrp="1"/>
          </p:cNvSpPr>
          <p:nvPr>
            <p:ph sz="quarter" idx="16"/>
          </p:nvPr>
        </p:nvSpPr>
        <p:spPr>
          <a:xfrm>
            <a:off x="924221" y="2103438"/>
            <a:ext cx="3581975" cy="470919"/>
          </a:xfrm>
        </p:spPr>
        <p:txBody>
          <a:bodyPr/>
          <a:lstStyle>
            <a:lvl1pPr marL="0" indent="0">
              <a:buNone/>
              <a:defRPr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5" name="Content Placeholder 2">
            <a:extLst>
              <a:ext uri="{FF2B5EF4-FFF2-40B4-BE49-F238E27FC236}">
                <a16:creationId xmlns:a16="http://schemas.microsoft.com/office/drawing/2014/main" id="{B9A8345B-B286-490A-82B7-4EC928B71BFE}"/>
              </a:ext>
            </a:extLst>
          </p:cNvPr>
          <p:cNvSpPr>
            <a:spLocks noGrp="1"/>
          </p:cNvSpPr>
          <p:nvPr>
            <p:ph sz="quarter" idx="14"/>
          </p:nvPr>
        </p:nvSpPr>
        <p:spPr>
          <a:xfrm>
            <a:off x="1527969" y="875636"/>
            <a:ext cx="9136062" cy="364282"/>
          </a:xfrm>
        </p:spPr>
        <p:txBody>
          <a:bodyPr>
            <a:normAutofit/>
          </a:bodyPr>
          <a:lstStyle>
            <a:lvl1pPr marL="0" indent="0" algn="ctr">
              <a:buNone/>
              <a:defRPr sz="1800">
                <a:solidFill>
                  <a:schemeClr val="tx1">
                    <a:lumMod val="60000"/>
                    <a:lumOff val="40000"/>
                  </a:schemeClr>
                </a:solidFill>
                <a:latin typeface="+mj-lt"/>
              </a:defRPr>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2631525377"/>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A6DB000-5919-1CB7-9418-78C7BA1B112A}"/>
              </a:ext>
            </a:extLst>
          </p:cNvPr>
          <p:cNvSpPr/>
          <p:nvPr userDrawn="1"/>
        </p:nvSpPr>
        <p:spPr>
          <a:xfrm>
            <a:off x="0" y="3692781"/>
            <a:ext cx="12192000" cy="299906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99">
            <a:extLst>
              <a:ext uri="{FF2B5EF4-FFF2-40B4-BE49-F238E27FC236}">
                <a16:creationId xmlns:a16="http://schemas.microsoft.com/office/drawing/2014/main" id="{06CF29E0-817D-6952-3AF9-CEAD10CC8094}"/>
              </a:ext>
            </a:extLst>
          </p:cNvPr>
          <p:cNvSpPr/>
          <p:nvPr userDrawn="1"/>
        </p:nvSpPr>
        <p:spPr>
          <a:xfrm>
            <a:off x="6323850" y="1371600"/>
            <a:ext cx="5365066" cy="5486400"/>
          </a:xfrm>
          <a:prstGeom prst="roundRect">
            <a:avLst>
              <a:gd name="adj" fmla="val 0"/>
            </a:avLst>
          </a:prstGeom>
          <a:solidFill>
            <a:schemeClr val="bg1"/>
          </a:solidFill>
          <a:ln>
            <a:noFill/>
          </a:ln>
          <a:effectLst>
            <a:outerShdw blurRad="635000" dist="635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Content Placeholder 2">
            <a:extLst>
              <a:ext uri="{FF2B5EF4-FFF2-40B4-BE49-F238E27FC236}">
                <a16:creationId xmlns:a16="http://schemas.microsoft.com/office/drawing/2014/main" id="{7D8666FE-9F9C-91E3-97BD-5F7382C83D24}"/>
              </a:ext>
            </a:extLst>
          </p:cNvPr>
          <p:cNvSpPr>
            <a:spLocks noGrp="1"/>
          </p:cNvSpPr>
          <p:nvPr>
            <p:ph idx="19"/>
          </p:nvPr>
        </p:nvSpPr>
        <p:spPr>
          <a:xfrm>
            <a:off x="6481991" y="1951506"/>
            <a:ext cx="4869181" cy="4597811"/>
          </a:xfrm>
        </p:spPr>
        <p:txBody>
          <a:bodyPr/>
          <a:lstStyle>
            <a:lvl1pPr>
              <a:spcBef>
                <a:spcPts val="600"/>
              </a:spcBef>
              <a:defRPr sz="1700"/>
            </a:lvl1pPr>
            <a:lvl2pPr>
              <a:spcBef>
                <a:spcPts val="600"/>
              </a:spcBef>
              <a:defRPr/>
            </a:lvl2pPr>
            <a:lvl3pPr>
              <a:spcBef>
                <a:spcPts val="600"/>
              </a:spcBef>
              <a:defRPr/>
            </a:lvl3pPr>
            <a:lvl4pPr>
              <a:spcBef>
                <a:spcPts val="600"/>
              </a:spcBef>
              <a:defRPr/>
            </a:lvl4pPr>
            <a:lvl5pPr>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Rectangle: Rounded Corners 99">
            <a:extLst>
              <a:ext uri="{FF2B5EF4-FFF2-40B4-BE49-F238E27FC236}">
                <a16:creationId xmlns:a16="http://schemas.microsoft.com/office/drawing/2014/main" id="{A3302DDC-B226-7DA7-1FFB-4C864134C98F}"/>
              </a:ext>
            </a:extLst>
          </p:cNvPr>
          <p:cNvSpPr/>
          <p:nvPr userDrawn="1"/>
        </p:nvSpPr>
        <p:spPr>
          <a:xfrm>
            <a:off x="503086" y="1371601"/>
            <a:ext cx="5365066" cy="5486400"/>
          </a:xfrm>
          <a:prstGeom prst="roundRect">
            <a:avLst>
              <a:gd name="adj" fmla="val 0"/>
            </a:avLst>
          </a:prstGeom>
          <a:solidFill>
            <a:schemeClr val="bg1"/>
          </a:solidFill>
          <a:ln>
            <a:noFill/>
          </a:ln>
          <a:effectLst>
            <a:outerShdw blurRad="635000" dist="635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a:extLst>
              <a:ext uri="{FF2B5EF4-FFF2-40B4-BE49-F238E27FC236}">
                <a16:creationId xmlns:a16="http://schemas.microsoft.com/office/drawing/2014/main" id="{3ABBA5DA-3EDF-86C4-D3E6-D2ECC239D1FB}"/>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7645969-2BD3-C726-C8D5-A16970ACD966}"/>
              </a:ext>
            </a:extLst>
          </p:cNvPr>
          <p:cNvSpPr>
            <a:spLocks noGrp="1"/>
          </p:cNvSpPr>
          <p:nvPr>
            <p:ph idx="1"/>
          </p:nvPr>
        </p:nvSpPr>
        <p:spPr>
          <a:xfrm>
            <a:off x="751029" y="1957659"/>
            <a:ext cx="4869181" cy="4597811"/>
          </a:xfrm>
        </p:spPr>
        <p:txBody>
          <a:bodyPr/>
          <a:lstStyle>
            <a:lvl1pPr>
              <a:spcBef>
                <a:spcPts val="600"/>
              </a:spcBef>
              <a:defRPr sz="1700"/>
            </a:lvl1pPr>
            <a:lvl2pPr>
              <a:spcBef>
                <a:spcPts val="600"/>
              </a:spcBef>
              <a:defRPr/>
            </a:lvl2pPr>
            <a:lvl3pPr>
              <a:spcBef>
                <a:spcPts val="600"/>
              </a:spcBef>
              <a:defRPr/>
            </a:lvl3pPr>
            <a:lvl4pPr>
              <a:spcBef>
                <a:spcPts val="600"/>
              </a:spcBef>
              <a:defRPr/>
            </a:lvl4pPr>
            <a:lvl5pPr>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Rectangle: Rounded Corners 2">
            <a:extLst>
              <a:ext uri="{FF2B5EF4-FFF2-40B4-BE49-F238E27FC236}">
                <a16:creationId xmlns:a16="http://schemas.microsoft.com/office/drawing/2014/main" id="{0D63DB23-3BD0-F13E-C1F6-305666872208}"/>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Content Placeholder 2">
            <a:extLst>
              <a:ext uri="{FF2B5EF4-FFF2-40B4-BE49-F238E27FC236}">
                <a16:creationId xmlns:a16="http://schemas.microsoft.com/office/drawing/2014/main" id="{6007DFA4-ACE5-2C53-AB12-A3DB6526718E}"/>
              </a:ext>
            </a:extLst>
          </p:cNvPr>
          <p:cNvSpPr>
            <a:spLocks noGrp="1"/>
          </p:cNvSpPr>
          <p:nvPr>
            <p:ph idx="20"/>
          </p:nvPr>
        </p:nvSpPr>
        <p:spPr>
          <a:xfrm>
            <a:off x="751029" y="1580050"/>
            <a:ext cx="4607740" cy="387904"/>
          </a:xfrm>
        </p:spPr>
        <p:txBody>
          <a:bodyPr/>
          <a:lstStyle>
            <a:lvl1pPr marL="0" indent="0">
              <a:buNone/>
              <a:defRPr b="1"/>
            </a:lvl1pPr>
          </a:lstStyle>
          <a:p>
            <a:pPr lvl="0"/>
            <a:r>
              <a:rPr lang="en-US"/>
              <a:t>Click to edit Master text styles</a:t>
            </a:r>
          </a:p>
        </p:txBody>
      </p:sp>
      <p:sp>
        <p:nvSpPr>
          <p:cNvPr id="8" name="Content Placeholder 2">
            <a:extLst>
              <a:ext uri="{FF2B5EF4-FFF2-40B4-BE49-F238E27FC236}">
                <a16:creationId xmlns:a16="http://schemas.microsoft.com/office/drawing/2014/main" id="{786BC371-6E8B-6C2B-37B4-8F48B9CAA860}"/>
              </a:ext>
            </a:extLst>
          </p:cNvPr>
          <p:cNvSpPr>
            <a:spLocks noGrp="1"/>
          </p:cNvSpPr>
          <p:nvPr>
            <p:ph idx="21"/>
          </p:nvPr>
        </p:nvSpPr>
        <p:spPr>
          <a:xfrm>
            <a:off x="6481991" y="1580050"/>
            <a:ext cx="4607740" cy="387904"/>
          </a:xfrm>
        </p:spPr>
        <p:txBody>
          <a:bodyPr/>
          <a:lstStyle>
            <a:lvl1pPr marL="0" indent="0">
              <a:buNone/>
              <a:defRPr b="1"/>
            </a:lvl1pPr>
          </a:lstStyle>
          <a:p>
            <a:pPr lvl="0"/>
            <a:r>
              <a:rPr lang="en-US"/>
              <a:t>Click to edit Master text styles</a:t>
            </a:r>
          </a:p>
        </p:txBody>
      </p:sp>
    </p:spTree>
    <p:extLst>
      <p:ext uri="{BB962C8B-B14F-4D97-AF65-F5344CB8AC3E}">
        <p14:creationId xmlns:p14="http://schemas.microsoft.com/office/powerpoint/2010/main" val="3800723095"/>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40460F8F-BC23-1371-B5C1-EA184A44BF1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138478" y="395564"/>
            <a:ext cx="3702797" cy="3702797"/>
          </a:xfrm>
          <a:prstGeom prst="rect">
            <a:avLst/>
          </a:prstGeom>
        </p:spPr>
      </p:pic>
      <p:sp>
        <p:nvSpPr>
          <p:cNvPr id="2" name="Title 1">
            <a:extLst>
              <a:ext uri="{FF2B5EF4-FFF2-40B4-BE49-F238E27FC236}">
                <a16:creationId xmlns:a16="http://schemas.microsoft.com/office/drawing/2014/main" id="{3ABBA5DA-3EDF-86C4-D3E6-D2ECC239D1FB}"/>
              </a:ext>
            </a:extLst>
          </p:cNvPr>
          <p:cNvSpPr>
            <a:spLocks noGrp="1"/>
          </p:cNvSpPr>
          <p:nvPr>
            <p:ph type="title" hasCustomPrompt="1"/>
          </p:nvPr>
        </p:nvSpPr>
        <p:spPr>
          <a:xfrm>
            <a:off x="4358972" y="575033"/>
            <a:ext cx="3983510" cy="589735"/>
          </a:xfrm>
        </p:spPr>
        <p:txBody>
          <a:bodyPr/>
          <a:lstStyle/>
          <a:p>
            <a:r>
              <a:rPr lang="en-US"/>
              <a:t>Agenda</a:t>
            </a:r>
            <a:endParaRPr lang="en-IL"/>
          </a:p>
        </p:txBody>
      </p:sp>
      <p:sp>
        <p:nvSpPr>
          <p:cNvPr id="7" name="Rectangle: Rounded Corners 2">
            <a:extLst>
              <a:ext uri="{FF2B5EF4-FFF2-40B4-BE49-F238E27FC236}">
                <a16:creationId xmlns:a16="http://schemas.microsoft.com/office/drawing/2014/main" id="{0D63DB23-3BD0-F13E-C1F6-305666872208}"/>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 Placeholder 10">
            <a:extLst>
              <a:ext uri="{FF2B5EF4-FFF2-40B4-BE49-F238E27FC236}">
                <a16:creationId xmlns:a16="http://schemas.microsoft.com/office/drawing/2014/main" id="{BDC72BAE-80A0-5C49-CAEE-031C5AED18FC}"/>
              </a:ext>
            </a:extLst>
          </p:cNvPr>
          <p:cNvSpPr>
            <a:spLocks noGrp="1"/>
          </p:cNvSpPr>
          <p:nvPr>
            <p:ph type="body" sz="quarter" idx="17" hasCustomPrompt="1"/>
          </p:nvPr>
        </p:nvSpPr>
        <p:spPr>
          <a:xfrm>
            <a:off x="4358972" y="283939"/>
            <a:ext cx="3983510" cy="222826"/>
          </a:xfrm>
        </p:spPr>
        <p:txBody>
          <a:bodyPr>
            <a:noAutofit/>
          </a:bodyPr>
          <a:lstStyle>
            <a:lvl1pPr marL="0" indent="0" algn="ctr">
              <a:buNone/>
              <a:defRPr sz="1400" spc="6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WELCOME</a:t>
            </a:r>
            <a:endParaRPr lang="en-IL"/>
          </a:p>
        </p:txBody>
      </p:sp>
      <p:sp>
        <p:nvSpPr>
          <p:cNvPr id="4" name="Content Placeholder 7">
            <a:extLst>
              <a:ext uri="{FF2B5EF4-FFF2-40B4-BE49-F238E27FC236}">
                <a16:creationId xmlns:a16="http://schemas.microsoft.com/office/drawing/2014/main" id="{2C75A184-3551-32B7-6FBD-9F35B2230E76}"/>
              </a:ext>
            </a:extLst>
          </p:cNvPr>
          <p:cNvSpPr>
            <a:spLocks noGrp="1"/>
          </p:cNvSpPr>
          <p:nvPr>
            <p:ph sz="quarter" idx="15" hasCustomPrompt="1"/>
          </p:nvPr>
        </p:nvSpPr>
        <p:spPr>
          <a:xfrm>
            <a:off x="6096000" y="1634327"/>
            <a:ext cx="5143837" cy="4398851"/>
          </a:xfrm>
        </p:spPr>
        <p:txBody>
          <a:bodyPr>
            <a:normAutofit/>
          </a:bodyPr>
          <a:lstStyle>
            <a:lvl1pPr marL="234900" indent="-234900">
              <a:lnSpc>
                <a:spcPct val="100000"/>
              </a:lnSpc>
              <a:spcAft>
                <a:spcPts val="600"/>
              </a:spcAft>
              <a:buClr>
                <a:schemeClr val="tx2"/>
              </a:buClr>
              <a:buFont typeface="Arial" panose="020B0604020202020204" pitchFamily="34" charset="0"/>
              <a:buChar char="•"/>
              <a:defRPr sz="2400"/>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Agenda 1</a:t>
            </a:r>
          </a:p>
        </p:txBody>
      </p:sp>
      <p:sp>
        <p:nvSpPr>
          <p:cNvPr id="13" name="Rectangle: Rounded Corners 1">
            <a:extLst>
              <a:ext uri="{FF2B5EF4-FFF2-40B4-BE49-F238E27FC236}">
                <a16:creationId xmlns:a16="http://schemas.microsoft.com/office/drawing/2014/main" id="{DFA0E7EB-2D4D-A1C8-92ED-BC44135D9867}"/>
              </a:ext>
            </a:extLst>
          </p:cNvPr>
          <p:cNvSpPr/>
          <p:nvPr userDrawn="1"/>
        </p:nvSpPr>
        <p:spPr>
          <a:xfrm>
            <a:off x="554591" y="1938936"/>
            <a:ext cx="3983510" cy="3983508"/>
          </a:xfrm>
          <a:prstGeom prst="roundRect">
            <a:avLst/>
          </a:prstGeom>
          <a:solidFill>
            <a:schemeClr val="bg1"/>
          </a:solidFill>
          <a:ln>
            <a:noFill/>
          </a:ln>
          <a:effectLst>
            <a:outerShdw blurRad="520700" dist="1016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0450342"/>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F0722B5-9D37-347B-12DC-5AB596BEEECF}"/>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85841" y="314643"/>
            <a:ext cx="3702797" cy="3702797"/>
          </a:xfrm>
          <a:prstGeom prst="rect">
            <a:avLst/>
          </a:prstGeom>
        </p:spPr>
      </p:pic>
      <p:sp>
        <p:nvSpPr>
          <p:cNvPr id="3" name="Rectangle: Rounded Corners 1">
            <a:extLst>
              <a:ext uri="{FF2B5EF4-FFF2-40B4-BE49-F238E27FC236}">
                <a16:creationId xmlns:a16="http://schemas.microsoft.com/office/drawing/2014/main" id="{D318ED5D-4D6A-8E54-B8A3-0FFF1BB52F38}"/>
              </a:ext>
            </a:extLst>
          </p:cNvPr>
          <p:cNvSpPr/>
          <p:nvPr/>
        </p:nvSpPr>
        <p:spPr>
          <a:xfrm>
            <a:off x="1201954" y="1858015"/>
            <a:ext cx="3983510" cy="3983508"/>
          </a:xfrm>
          <a:prstGeom prst="roundRect">
            <a:avLst/>
          </a:prstGeom>
          <a:solidFill>
            <a:schemeClr val="bg1"/>
          </a:solidFill>
          <a:ln>
            <a:noFill/>
          </a:ln>
          <a:effectLst>
            <a:outerShdw blurRad="520700" dist="1016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CE080144-37AF-4610-887E-9D43059D6D0B}"/>
              </a:ext>
            </a:extLst>
          </p:cNvPr>
          <p:cNvSpPr>
            <a:spLocks noGrp="1"/>
          </p:cNvSpPr>
          <p:nvPr>
            <p:ph type="pic" sz="quarter" idx="11"/>
          </p:nvPr>
        </p:nvSpPr>
        <p:spPr>
          <a:xfrm>
            <a:off x="1342310" y="1998370"/>
            <a:ext cx="3702797" cy="3702797"/>
          </a:xfrm>
          <a:custGeom>
            <a:avLst/>
            <a:gdLst>
              <a:gd name="connsiteX0" fmla="*/ 617145 w 3702797"/>
              <a:gd name="connsiteY0" fmla="*/ 0 h 3702797"/>
              <a:gd name="connsiteX1" fmla="*/ 3085652 w 3702797"/>
              <a:gd name="connsiteY1" fmla="*/ 0 h 3702797"/>
              <a:gd name="connsiteX2" fmla="*/ 3702797 w 3702797"/>
              <a:gd name="connsiteY2" fmla="*/ 617145 h 3702797"/>
              <a:gd name="connsiteX3" fmla="*/ 3702797 w 3702797"/>
              <a:gd name="connsiteY3" fmla="*/ 3085652 h 3702797"/>
              <a:gd name="connsiteX4" fmla="*/ 3085652 w 3702797"/>
              <a:gd name="connsiteY4" fmla="*/ 3702797 h 3702797"/>
              <a:gd name="connsiteX5" fmla="*/ 617145 w 3702797"/>
              <a:gd name="connsiteY5" fmla="*/ 3702797 h 3702797"/>
              <a:gd name="connsiteX6" fmla="*/ 0 w 3702797"/>
              <a:gd name="connsiteY6" fmla="*/ 3085652 h 3702797"/>
              <a:gd name="connsiteX7" fmla="*/ 0 w 3702797"/>
              <a:gd name="connsiteY7" fmla="*/ 617145 h 3702797"/>
              <a:gd name="connsiteX8" fmla="*/ 617145 w 3702797"/>
              <a:gd name="connsiteY8" fmla="*/ 0 h 3702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797" h="3702797">
                <a:moveTo>
                  <a:pt x="617145" y="0"/>
                </a:moveTo>
                <a:lnTo>
                  <a:pt x="3085652" y="0"/>
                </a:lnTo>
                <a:cubicBezTo>
                  <a:pt x="3426492" y="0"/>
                  <a:pt x="3702797" y="276305"/>
                  <a:pt x="3702797" y="617145"/>
                </a:cubicBezTo>
                <a:lnTo>
                  <a:pt x="3702797" y="3085652"/>
                </a:lnTo>
                <a:cubicBezTo>
                  <a:pt x="3702797" y="3426492"/>
                  <a:pt x="3426492" y="3702797"/>
                  <a:pt x="3085652" y="3702797"/>
                </a:cubicBezTo>
                <a:lnTo>
                  <a:pt x="617145" y="3702797"/>
                </a:lnTo>
                <a:cubicBezTo>
                  <a:pt x="276305" y="3702797"/>
                  <a:pt x="0" y="3426492"/>
                  <a:pt x="0" y="3085652"/>
                </a:cubicBezTo>
                <a:lnTo>
                  <a:pt x="0" y="617145"/>
                </a:lnTo>
                <a:cubicBezTo>
                  <a:pt x="0" y="276305"/>
                  <a:pt x="276305" y="0"/>
                  <a:pt x="617145" y="0"/>
                </a:cubicBezTo>
                <a:close/>
              </a:path>
            </a:pathLst>
          </a:custGeom>
        </p:spPr>
        <p:txBody>
          <a:bodyPr wrap="square">
            <a:noAutofit/>
          </a:bodyPr>
          <a:lstStyle/>
          <a:p>
            <a:r>
              <a:rPr lang="en-US"/>
              <a:t>Click icon to add picture</a:t>
            </a:r>
          </a:p>
        </p:txBody>
      </p:sp>
      <p:pic>
        <p:nvPicPr>
          <p:cNvPr id="4" name="Graphic 3">
            <a:extLst>
              <a:ext uri="{FF2B5EF4-FFF2-40B4-BE49-F238E27FC236}">
                <a16:creationId xmlns:a16="http://schemas.microsoft.com/office/drawing/2014/main" id="{4D8FFC89-F55F-0C54-9004-5838569CCD92}"/>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11554" y="1858015"/>
            <a:ext cx="2851193" cy="855358"/>
          </a:xfrm>
          <a:prstGeom prst="rect">
            <a:avLst/>
          </a:prstGeom>
        </p:spPr>
      </p:pic>
      <p:sp>
        <p:nvSpPr>
          <p:cNvPr id="7" name="Rectangle 6">
            <a:extLst>
              <a:ext uri="{FF2B5EF4-FFF2-40B4-BE49-F238E27FC236}">
                <a16:creationId xmlns:a16="http://schemas.microsoft.com/office/drawing/2014/main" id="{39A5EABE-223D-9D68-DB34-1657408D9C4D}"/>
              </a:ext>
            </a:extLst>
          </p:cNvPr>
          <p:cNvSpPr/>
          <p:nvPr/>
        </p:nvSpPr>
        <p:spPr>
          <a:xfrm>
            <a:off x="113288" y="0"/>
            <a:ext cx="1521303" cy="116476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Rectangle: Rounded Corners 2">
            <a:extLst>
              <a:ext uri="{FF2B5EF4-FFF2-40B4-BE49-F238E27FC236}">
                <a16:creationId xmlns:a16="http://schemas.microsoft.com/office/drawing/2014/main" id="{15D7661B-58D5-53E9-C986-BCEDE510931B}"/>
              </a:ext>
            </a:extLst>
          </p:cNvPr>
          <p:cNvSpPr/>
          <p:nvPr/>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 Placeholder 15">
            <a:extLst>
              <a:ext uri="{FF2B5EF4-FFF2-40B4-BE49-F238E27FC236}">
                <a16:creationId xmlns:a16="http://schemas.microsoft.com/office/drawing/2014/main" id="{5A8991E1-C02F-C634-95AF-611D4414F190}"/>
              </a:ext>
            </a:extLst>
          </p:cNvPr>
          <p:cNvSpPr>
            <a:spLocks noGrp="1"/>
          </p:cNvSpPr>
          <p:nvPr>
            <p:ph type="body" sz="quarter" idx="12"/>
          </p:nvPr>
        </p:nvSpPr>
        <p:spPr>
          <a:xfrm>
            <a:off x="7006538" y="3231021"/>
            <a:ext cx="3472306" cy="1827213"/>
          </a:xfrm>
        </p:spPr>
        <p:txBody>
          <a:bodyPr>
            <a:normAutofit/>
          </a:bodyPr>
          <a:lstStyle>
            <a:lvl1pPr>
              <a:defRPr sz="3200" b="1">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spTree>
    <p:extLst>
      <p:ext uri="{BB962C8B-B14F-4D97-AF65-F5344CB8AC3E}">
        <p14:creationId xmlns:p14="http://schemas.microsoft.com/office/powerpoint/2010/main" val="2534154135"/>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ivider logo">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F0722B5-9D37-347B-12DC-5AB596BEEECF}"/>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75959" y="1577601"/>
            <a:ext cx="3702797" cy="3702797"/>
          </a:xfrm>
          <a:prstGeom prst="rect">
            <a:avLst/>
          </a:prstGeom>
        </p:spPr>
      </p:pic>
      <p:pic>
        <p:nvPicPr>
          <p:cNvPr id="4" name="Graphic 3">
            <a:extLst>
              <a:ext uri="{FF2B5EF4-FFF2-40B4-BE49-F238E27FC236}">
                <a16:creationId xmlns:a16="http://schemas.microsoft.com/office/drawing/2014/main" id="{4D8FFC89-F55F-0C54-9004-5838569CCD92}"/>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835313" y="2197881"/>
            <a:ext cx="2851193" cy="855358"/>
          </a:xfrm>
          <a:prstGeom prst="rect">
            <a:avLst/>
          </a:prstGeom>
        </p:spPr>
      </p:pic>
      <p:sp>
        <p:nvSpPr>
          <p:cNvPr id="7" name="Rectangle 6">
            <a:extLst>
              <a:ext uri="{FF2B5EF4-FFF2-40B4-BE49-F238E27FC236}">
                <a16:creationId xmlns:a16="http://schemas.microsoft.com/office/drawing/2014/main" id="{39A5EABE-223D-9D68-DB34-1657408D9C4D}"/>
              </a:ext>
            </a:extLst>
          </p:cNvPr>
          <p:cNvSpPr/>
          <p:nvPr/>
        </p:nvSpPr>
        <p:spPr>
          <a:xfrm>
            <a:off x="113288" y="0"/>
            <a:ext cx="1521303" cy="116476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Rectangle: Rounded Corners 2">
            <a:extLst>
              <a:ext uri="{FF2B5EF4-FFF2-40B4-BE49-F238E27FC236}">
                <a16:creationId xmlns:a16="http://schemas.microsoft.com/office/drawing/2014/main" id="{15D7661B-58D5-53E9-C986-BCEDE510931B}"/>
              </a:ext>
            </a:extLst>
          </p:cNvPr>
          <p:cNvSpPr/>
          <p:nvPr/>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itle 8">
            <a:extLst>
              <a:ext uri="{FF2B5EF4-FFF2-40B4-BE49-F238E27FC236}">
                <a16:creationId xmlns:a16="http://schemas.microsoft.com/office/drawing/2014/main" id="{3EEE3792-9F5C-922B-FA48-98939F9B4E9F}"/>
              </a:ext>
            </a:extLst>
          </p:cNvPr>
          <p:cNvSpPr>
            <a:spLocks noGrp="1"/>
          </p:cNvSpPr>
          <p:nvPr>
            <p:ph type="title"/>
          </p:nvPr>
        </p:nvSpPr>
        <p:spPr>
          <a:xfrm>
            <a:off x="5851497" y="3205787"/>
            <a:ext cx="4393020" cy="1396057"/>
          </a:xfrm>
        </p:spPr>
        <p:txBody>
          <a:bodyPr anchor="t"/>
          <a:lstStyle>
            <a:lvl1pPr algn="l">
              <a:defRPr>
                <a:solidFill>
                  <a:schemeClr val="tx1"/>
                </a:solidFill>
              </a:defRPr>
            </a:lvl1pPr>
          </a:lstStyle>
          <a:p>
            <a:r>
              <a:rPr lang="en-US"/>
              <a:t>Click to edit Master title style</a:t>
            </a:r>
            <a:endParaRPr lang="en-IL"/>
          </a:p>
        </p:txBody>
      </p:sp>
    </p:spTree>
    <p:extLst>
      <p:ext uri="{BB962C8B-B14F-4D97-AF65-F5344CB8AC3E}">
        <p14:creationId xmlns:p14="http://schemas.microsoft.com/office/powerpoint/2010/main" val="642077800"/>
      </p:ext>
    </p:extLst>
  </p:cSld>
  <p:clrMapOvr>
    <a:masterClrMapping/>
  </p:clrMapOvr>
  <p:transition spd="slow">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CF6553E-7D49-43BA-E1CE-1B71851F0CDA}"/>
              </a:ext>
            </a:extLst>
          </p:cNvPr>
          <p:cNvSpPr/>
          <p:nvPr userDrawn="1"/>
        </p:nvSpPr>
        <p:spPr>
          <a:xfrm>
            <a:off x="1041174" y="1478368"/>
            <a:ext cx="5054826" cy="4032308"/>
          </a:xfrm>
          <a:prstGeom prst="roundRect">
            <a:avLst>
              <a:gd name="adj" fmla="val 617"/>
            </a:avLst>
          </a:prstGeom>
          <a:gradFill>
            <a:gsLst>
              <a:gs pos="0">
                <a:schemeClr val="accent2"/>
              </a:gs>
              <a:gs pos="99000">
                <a:schemeClr val="accent4"/>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a:extLst>
              <a:ext uri="{FF2B5EF4-FFF2-40B4-BE49-F238E27FC236}">
                <a16:creationId xmlns:a16="http://schemas.microsoft.com/office/drawing/2014/main" id="{48CBBEB7-B4F8-2589-07E2-4021B268F957}"/>
              </a:ext>
            </a:extLst>
          </p:cNvPr>
          <p:cNvSpPr>
            <a:spLocks noGrp="1"/>
          </p:cNvSpPr>
          <p:nvPr>
            <p:ph type="title"/>
          </p:nvPr>
        </p:nvSpPr>
        <p:spPr>
          <a:xfrm>
            <a:off x="6472983" y="1582680"/>
            <a:ext cx="4708471" cy="2128130"/>
          </a:xfrm>
          <a:prstGeom prst="rect">
            <a:avLst/>
          </a:prstGeom>
        </p:spPr>
        <p:txBody>
          <a:bodyPr>
            <a:noAutofit/>
          </a:bodyPr>
          <a:lstStyle>
            <a:lvl1pPr algn="l">
              <a:defRPr sz="3600" b="1">
                <a:solidFill>
                  <a:schemeClr val="tx1"/>
                </a:solidFill>
              </a:defRPr>
            </a:lvl1pPr>
          </a:lstStyle>
          <a:p>
            <a:r>
              <a:rPr lang="en-US"/>
              <a:t>Click to edit Master title style</a:t>
            </a:r>
            <a:endParaRPr lang="en-IL"/>
          </a:p>
        </p:txBody>
      </p:sp>
      <p:sp>
        <p:nvSpPr>
          <p:cNvPr id="5" name="Rectangle: Rounded Corners 2">
            <a:extLst>
              <a:ext uri="{FF2B5EF4-FFF2-40B4-BE49-F238E27FC236}">
                <a16:creationId xmlns:a16="http://schemas.microsoft.com/office/drawing/2014/main" id="{3810EE8E-F791-0EA7-F70A-EE0293CCA476}"/>
              </a:ext>
            </a:extLst>
          </p:cNvPr>
          <p:cNvSpPr/>
          <p:nvPr/>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ight Triangle 34">
            <a:extLst>
              <a:ext uri="{FF2B5EF4-FFF2-40B4-BE49-F238E27FC236}">
                <a16:creationId xmlns:a16="http://schemas.microsoft.com/office/drawing/2014/main" id="{2839356A-171E-2146-FA4F-C02129C84AB0}"/>
              </a:ext>
            </a:extLst>
          </p:cNvPr>
          <p:cNvSpPr/>
          <p:nvPr/>
        </p:nvSpPr>
        <p:spPr>
          <a:xfrm rot="5400000">
            <a:off x="1142229" y="1582679"/>
            <a:ext cx="276526" cy="276526"/>
          </a:xfrm>
          <a:prstGeom prst="rtTriangle">
            <a:avLst/>
          </a:prstGeom>
          <a:solidFill>
            <a:srgbClr val="E3EFFF"/>
          </a:solidFill>
          <a:ln>
            <a:noFill/>
          </a:ln>
          <a:effectLst>
            <a:outerShdw blurRad="457200" sx="102000" sy="102000" algn="ctr" rotWithShape="0">
              <a:prstClr val="black">
                <a:alpha val="3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9" name="Title 1">
            <a:extLst>
              <a:ext uri="{FF2B5EF4-FFF2-40B4-BE49-F238E27FC236}">
                <a16:creationId xmlns:a16="http://schemas.microsoft.com/office/drawing/2014/main" id="{E801F289-0ECE-E3D3-110F-3BB9C30B5C26}"/>
              </a:ext>
            </a:extLst>
          </p:cNvPr>
          <p:cNvSpPr txBox="1">
            <a:spLocks/>
          </p:cNvSpPr>
          <p:nvPr/>
        </p:nvSpPr>
        <p:spPr>
          <a:xfrm>
            <a:off x="1830732" y="2817803"/>
            <a:ext cx="3475710" cy="165324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algn="ctr"/>
            <a:r>
              <a:rPr lang="en-US" sz="3200">
                <a:solidFill>
                  <a:schemeClr val="bg1"/>
                </a:solidFill>
              </a:rPr>
              <a:t>Click to edit Master title style</a:t>
            </a:r>
            <a:endParaRPr lang="en-IL" sz="3200">
              <a:solidFill>
                <a:schemeClr val="bg1"/>
              </a:solidFill>
            </a:endParaRPr>
          </a:p>
        </p:txBody>
      </p:sp>
      <p:sp>
        <p:nvSpPr>
          <p:cNvPr id="60" name="Content Placeholder 6">
            <a:extLst>
              <a:ext uri="{FF2B5EF4-FFF2-40B4-BE49-F238E27FC236}">
                <a16:creationId xmlns:a16="http://schemas.microsoft.com/office/drawing/2014/main" id="{7CD1E4E9-373E-B08C-9BF0-9099F0C25D0C}"/>
              </a:ext>
            </a:extLst>
          </p:cNvPr>
          <p:cNvSpPr>
            <a:spLocks noGrp="1"/>
          </p:cNvSpPr>
          <p:nvPr>
            <p:ph sz="quarter" idx="14"/>
          </p:nvPr>
        </p:nvSpPr>
        <p:spPr>
          <a:xfrm>
            <a:off x="6472983" y="3987350"/>
            <a:ext cx="4255317" cy="589735"/>
          </a:xfrm>
        </p:spPr>
        <p:txBody>
          <a:bodyPr/>
          <a:lstStyle>
            <a:lvl1pPr marL="0" indent="0">
              <a:buNone/>
              <a:defRPr sz="1800" b="1"/>
            </a:lvl1pPr>
          </a:lstStyle>
          <a:p>
            <a:pPr lvl="0"/>
            <a:r>
              <a:rPr lang="en-US"/>
              <a:t>Click to edit Master text styles</a:t>
            </a:r>
          </a:p>
        </p:txBody>
      </p:sp>
      <p:sp>
        <p:nvSpPr>
          <p:cNvPr id="61" name="Content Placeholder 6">
            <a:extLst>
              <a:ext uri="{FF2B5EF4-FFF2-40B4-BE49-F238E27FC236}">
                <a16:creationId xmlns:a16="http://schemas.microsoft.com/office/drawing/2014/main" id="{C3FC5C1B-8B04-A893-0281-824EF33B9761}"/>
              </a:ext>
            </a:extLst>
          </p:cNvPr>
          <p:cNvSpPr>
            <a:spLocks noGrp="1"/>
          </p:cNvSpPr>
          <p:nvPr>
            <p:ph sz="quarter" idx="15"/>
          </p:nvPr>
        </p:nvSpPr>
        <p:spPr>
          <a:xfrm>
            <a:off x="6472982" y="4577085"/>
            <a:ext cx="4255317" cy="589735"/>
          </a:xfrm>
        </p:spPr>
        <p:txBody>
          <a:bodyPr>
            <a:normAutofit/>
          </a:bodyPr>
          <a:lstStyle>
            <a:lvl1pPr marL="0" indent="0">
              <a:buFont typeface="Arial" panose="020B0604020202020204" pitchFamily="34" charset="0"/>
              <a:buNone/>
              <a:defRPr sz="1600" b="0">
                <a:solidFill>
                  <a:schemeClr val="tx1">
                    <a:lumMod val="60000"/>
                    <a:lumOff val="40000"/>
                  </a:schemeClr>
                </a:solidFill>
              </a:defRPr>
            </a:lvl1pPr>
          </a:lstStyle>
          <a:p>
            <a:pPr lvl="0"/>
            <a:r>
              <a:rPr lang="en-US"/>
              <a:t>Click to edit Master text styles</a:t>
            </a:r>
          </a:p>
        </p:txBody>
      </p:sp>
    </p:spTree>
    <p:extLst>
      <p:ext uri="{BB962C8B-B14F-4D97-AF65-F5344CB8AC3E}">
        <p14:creationId xmlns:p14="http://schemas.microsoft.com/office/powerpoint/2010/main" val="1789238096"/>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74113-52B6-8171-1E2D-FC529671065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62729150"/>
      </p:ext>
    </p:extLst>
  </p:cSld>
  <p:clrMapOvr>
    <a:masterClrMapping/>
  </p:clrMapOvr>
  <p:transition spd="slow">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911FC77-AF24-FB37-1640-3D361C1BF0C2}"/>
              </a:ext>
            </a:extLst>
          </p:cNvPr>
          <p:cNvSpPr/>
          <p:nvPr userDrawn="1"/>
        </p:nvSpPr>
        <p:spPr>
          <a:xfrm>
            <a:off x="143932" y="203200"/>
            <a:ext cx="1176867" cy="482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5666877"/>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Cover">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92DB551-97C2-22BF-B760-90EAA00E4B91}"/>
              </a:ext>
            </a:extLst>
          </p:cNvPr>
          <p:cNvSpPr/>
          <p:nvPr/>
        </p:nvSpPr>
        <p:spPr>
          <a:xfrm>
            <a:off x="80920" y="72828"/>
            <a:ext cx="1521303" cy="10919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Content Placeholder 3">
            <a:extLst>
              <a:ext uri="{FF2B5EF4-FFF2-40B4-BE49-F238E27FC236}">
                <a16:creationId xmlns:a16="http://schemas.microsoft.com/office/drawing/2014/main" id="{0F447F73-6D9E-DF1B-CF21-A4B39B369CFA}"/>
              </a:ext>
            </a:extLst>
          </p:cNvPr>
          <p:cNvSpPr>
            <a:spLocks noGrp="1"/>
          </p:cNvSpPr>
          <p:nvPr>
            <p:ph sz="quarter" idx="10"/>
          </p:nvPr>
        </p:nvSpPr>
        <p:spPr>
          <a:xfrm>
            <a:off x="7278885" y="4157574"/>
            <a:ext cx="4317001" cy="1443045"/>
          </a:xfrm>
          <a:prstGeom prst="rect">
            <a:avLst/>
          </a:prstGeom>
        </p:spPr>
        <p:txBody>
          <a:bodyPr/>
          <a:lstStyle>
            <a:lvl1pPr marL="0" indent="0">
              <a:buFont typeface="Arial" panose="020B0604020202020204" pitchFamily="34" charset="0"/>
              <a:buNone/>
              <a:defRPr sz="2000" b="1" spc="0">
                <a:solidFill>
                  <a:schemeClr val="tx1"/>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Click to edit Master text styles</a:t>
            </a:r>
          </a:p>
          <a:p>
            <a:pPr marL="228600" marR="0" lvl="1"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Second level</a:t>
            </a:r>
          </a:p>
          <a:p>
            <a:pPr marL="228600" marR="0" lvl="2"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Third level</a:t>
            </a:r>
          </a:p>
          <a:p>
            <a:pPr marL="228600" marR="0" lvl="3"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Fourth level</a:t>
            </a:r>
          </a:p>
        </p:txBody>
      </p:sp>
      <p:pic>
        <p:nvPicPr>
          <p:cNvPr id="30" name="Graphic 29">
            <a:extLst>
              <a:ext uri="{FF2B5EF4-FFF2-40B4-BE49-F238E27FC236}">
                <a16:creationId xmlns:a16="http://schemas.microsoft.com/office/drawing/2014/main" id="{A384254D-7517-A188-8627-503DAFC93059}"/>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657245" y="2637401"/>
            <a:ext cx="1509642" cy="1509642"/>
          </a:xfrm>
          <a:prstGeom prst="rect">
            <a:avLst/>
          </a:prstGeom>
        </p:spPr>
      </p:pic>
      <p:sp>
        <p:nvSpPr>
          <p:cNvPr id="3" name="Title 2">
            <a:extLst>
              <a:ext uri="{FF2B5EF4-FFF2-40B4-BE49-F238E27FC236}">
                <a16:creationId xmlns:a16="http://schemas.microsoft.com/office/drawing/2014/main" id="{2CB724A9-25D9-9C5C-A6F4-F06D77A362C1}"/>
              </a:ext>
            </a:extLst>
          </p:cNvPr>
          <p:cNvSpPr>
            <a:spLocks noGrp="1"/>
          </p:cNvSpPr>
          <p:nvPr>
            <p:ph type="title"/>
          </p:nvPr>
        </p:nvSpPr>
        <p:spPr>
          <a:xfrm>
            <a:off x="7278885" y="2700426"/>
            <a:ext cx="4524957" cy="1305935"/>
          </a:xfrm>
        </p:spPr>
        <p:txBody>
          <a:bodyPr anchor="t"/>
          <a:lstStyle>
            <a:lvl1pPr algn="l">
              <a:defRPr sz="3600"/>
            </a:lvl1pPr>
          </a:lstStyle>
          <a:p>
            <a:r>
              <a:rPr lang="en-US"/>
              <a:t>Click to edit Master title style</a:t>
            </a:r>
          </a:p>
        </p:txBody>
      </p:sp>
    </p:spTree>
    <p:extLst>
      <p:ext uri="{BB962C8B-B14F-4D97-AF65-F5344CB8AC3E}">
        <p14:creationId xmlns:p14="http://schemas.microsoft.com/office/powerpoint/2010/main" val="3085769553"/>
      </p:ext>
    </p:extLst>
  </p:cSld>
  <p:clrMapOvr>
    <a:masterClrMapping/>
  </p:clrMapOvr>
  <p:transition spd="slow">
    <p:wipe dir="r"/>
  </p:transition>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sv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2AED8235-2D3E-644C-A4F6-A65FDBB30437}"/>
              </a:ext>
            </a:extLst>
          </p:cNvPr>
          <p:cNvSpPr>
            <a:spLocks noGrp="1"/>
          </p:cNvSpPr>
          <p:nvPr>
            <p:ph type="body" idx="1"/>
          </p:nvPr>
        </p:nvSpPr>
        <p:spPr>
          <a:xfrm>
            <a:off x="838200" y="1432290"/>
            <a:ext cx="10515600" cy="4744673"/>
          </a:xfrm>
          <a:prstGeom prst="rect">
            <a:avLst/>
          </a:prstGeom>
        </p:spPr>
        <p:txBody>
          <a:bodyPr vert="horz" lIns="91440" tIns="45720" rIns="91440" bIns="45720" rtlCol="0">
            <a:normAutofit/>
          </a:bodyPr>
          <a:lstStyle/>
          <a:p>
            <a:pPr lvl="0"/>
            <a:r>
              <a:rPr lang="en-US"/>
              <a:t>Click to </a:t>
            </a:r>
            <a:r>
              <a:rPr lang="en-US" noProof="0"/>
              <a:t>edit Master </a:t>
            </a:r>
            <a:r>
              <a:rPr lang="en-US"/>
              <a:t>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17" name="Title Placeholder 16">
            <a:extLst>
              <a:ext uri="{FF2B5EF4-FFF2-40B4-BE49-F238E27FC236}">
                <a16:creationId xmlns:a16="http://schemas.microsoft.com/office/drawing/2014/main" id="{C94B83B8-5520-6AC4-EAF0-3AF8E53A3E55}"/>
              </a:ext>
            </a:extLst>
          </p:cNvPr>
          <p:cNvSpPr>
            <a:spLocks noGrp="1"/>
          </p:cNvSpPr>
          <p:nvPr>
            <p:ph type="title"/>
          </p:nvPr>
        </p:nvSpPr>
        <p:spPr>
          <a:xfrm>
            <a:off x="1318622" y="386169"/>
            <a:ext cx="9554756" cy="589735"/>
          </a:xfrm>
          <a:prstGeom prst="rect">
            <a:avLst/>
          </a:prstGeom>
        </p:spPr>
        <p:txBody>
          <a:bodyPr vert="horz" lIns="91440" tIns="45720" rIns="91440" bIns="45720" rtlCol="0" anchor="ctr">
            <a:normAutofit/>
          </a:bodyPr>
          <a:lstStyle/>
          <a:p>
            <a:r>
              <a:rPr lang="en-US"/>
              <a:t>Click to edit Master title style</a:t>
            </a:r>
            <a:endParaRPr lang="en-IL"/>
          </a:p>
        </p:txBody>
      </p:sp>
      <p:pic>
        <p:nvPicPr>
          <p:cNvPr id="21" name="Graphic 20">
            <a:extLst>
              <a:ext uri="{FF2B5EF4-FFF2-40B4-BE49-F238E27FC236}">
                <a16:creationId xmlns:a16="http://schemas.microsoft.com/office/drawing/2014/main" id="{E8E1D21A-1A6C-C984-9ADC-5CE9475EA1AC}"/>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215604" y="386169"/>
            <a:ext cx="1025924" cy="307777"/>
          </a:xfrm>
          <a:prstGeom prst="rect">
            <a:avLst/>
          </a:prstGeom>
        </p:spPr>
      </p:pic>
      <p:sp>
        <p:nvSpPr>
          <p:cNvPr id="2" name="Date Placeholder 4">
            <a:extLst>
              <a:ext uri="{FF2B5EF4-FFF2-40B4-BE49-F238E27FC236}">
                <a16:creationId xmlns:a16="http://schemas.microsoft.com/office/drawing/2014/main" id="{0E393809-AAD2-2093-C9B6-D4856C465E6A}"/>
              </a:ext>
            </a:extLst>
          </p:cNvPr>
          <p:cNvSpPr>
            <a:spLocks noGrp="1"/>
          </p:cNvSpPr>
          <p:nvPr>
            <p:ph type="dt" sz="half" idx="2"/>
          </p:nvPr>
        </p:nvSpPr>
        <p:spPr>
          <a:xfrm>
            <a:off x="838200" y="6356350"/>
            <a:ext cx="2743199" cy="365125"/>
          </a:xfrm>
          <a:prstGeom prst="rect">
            <a:avLst/>
          </a:prstGeom>
        </p:spPr>
        <p:txBody>
          <a:bodyPr/>
          <a:lstStyle>
            <a:lvl1pPr>
              <a:defRPr sz="1100">
                <a:solidFill>
                  <a:schemeClr val="tx1">
                    <a:lumMod val="60000"/>
                    <a:lumOff val="40000"/>
                  </a:schemeClr>
                </a:solidFill>
              </a:defRPr>
            </a:lvl1pPr>
          </a:lstStyle>
          <a:p>
            <a:fld id="{11A8D46A-5540-D042-B349-A8BC7C95A2BE}" type="datetimeFigureOut">
              <a:rPr lang="en-IL" smtClean="0"/>
              <a:pPr/>
              <a:t>04/09/2026</a:t>
            </a:fld>
            <a:endParaRPr lang="en-IL"/>
          </a:p>
        </p:txBody>
      </p:sp>
      <p:sp>
        <p:nvSpPr>
          <p:cNvPr id="3" name="Footer Placeholder 5">
            <a:extLst>
              <a:ext uri="{FF2B5EF4-FFF2-40B4-BE49-F238E27FC236}">
                <a16:creationId xmlns:a16="http://schemas.microsoft.com/office/drawing/2014/main" id="{C03BC77C-B92D-BCA1-FCD3-A3EB5DAAD752}"/>
              </a:ext>
            </a:extLst>
          </p:cNvPr>
          <p:cNvSpPr>
            <a:spLocks noGrp="1"/>
          </p:cNvSpPr>
          <p:nvPr>
            <p:ph type="ftr" sz="quarter" idx="3"/>
          </p:nvPr>
        </p:nvSpPr>
        <p:spPr>
          <a:xfrm>
            <a:off x="4038600" y="6356350"/>
            <a:ext cx="4114800" cy="365125"/>
          </a:xfrm>
          <a:prstGeom prst="rect">
            <a:avLst/>
          </a:prstGeom>
        </p:spPr>
        <p:txBody>
          <a:bodyPr/>
          <a:lstStyle>
            <a:lvl1pPr algn="ctr">
              <a:defRPr sz="1100">
                <a:solidFill>
                  <a:schemeClr val="tx1">
                    <a:lumMod val="60000"/>
                    <a:lumOff val="40000"/>
                  </a:schemeClr>
                </a:solidFill>
              </a:defRPr>
            </a:lvl1pPr>
          </a:lstStyle>
          <a:p>
            <a:endParaRPr lang="en-IL"/>
          </a:p>
        </p:txBody>
      </p:sp>
      <p:sp>
        <p:nvSpPr>
          <p:cNvPr id="4" name="Slide Number Placeholder 6">
            <a:extLst>
              <a:ext uri="{FF2B5EF4-FFF2-40B4-BE49-F238E27FC236}">
                <a16:creationId xmlns:a16="http://schemas.microsoft.com/office/drawing/2014/main" id="{5C3C4BD0-B3AD-B9B3-9980-E32B58DA1D73}"/>
              </a:ext>
            </a:extLst>
          </p:cNvPr>
          <p:cNvSpPr>
            <a:spLocks noGrp="1"/>
          </p:cNvSpPr>
          <p:nvPr>
            <p:ph type="sldNum" sz="quarter" idx="4"/>
          </p:nvPr>
        </p:nvSpPr>
        <p:spPr>
          <a:xfrm>
            <a:off x="8610600" y="6356350"/>
            <a:ext cx="2743200" cy="365125"/>
          </a:xfrm>
          <a:prstGeom prst="rect">
            <a:avLst/>
          </a:prstGeom>
        </p:spPr>
        <p:txBody>
          <a:bodyPr/>
          <a:lstStyle>
            <a:lvl1pPr algn="r" rtl="1">
              <a:defRPr sz="1100">
                <a:solidFill>
                  <a:schemeClr val="tx1">
                    <a:lumMod val="60000"/>
                    <a:lumOff val="40000"/>
                  </a:schemeClr>
                </a:solidFill>
              </a:defRPr>
            </a:lvl1pPr>
          </a:lstStyle>
          <a:p>
            <a:fld id="{0CD2D99E-3C87-4344-A2E9-B25C5378F534}" type="slidenum">
              <a:rPr lang="en-IL" smtClean="0"/>
              <a:pPr/>
              <a:t>‹#›</a:t>
            </a:fld>
            <a:endParaRPr lang="en-IL"/>
          </a:p>
        </p:txBody>
      </p:sp>
    </p:spTree>
    <p:extLst>
      <p:ext uri="{BB962C8B-B14F-4D97-AF65-F5344CB8AC3E}">
        <p14:creationId xmlns:p14="http://schemas.microsoft.com/office/powerpoint/2010/main" val="341429551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726" r:id="rId3"/>
    <p:sldLayoutId id="2147483682"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725" r:id="rId15"/>
  </p:sldLayoutIdLst>
  <p:transition spd="slow">
    <p:wipe dir="r"/>
  </p:transition>
  <p:txStyles>
    <p:titleStyle>
      <a:lvl1pPr algn="ctr" defTabSz="914400" rtl="0" eaLnBrk="1" latinLnBrk="0" hangingPunct="1">
        <a:lnSpc>
          <a:spcPct val="90000"/>
        </a:lnSpc>
        <a:spcBef>
          <a:spcPct val="0"/>
        </a:spcBef>
        <a:buNone/>
        <a:defRPr sz="3200" b="1" kern="1200">
          <a:solidFill>
            <a:schemeClr val="tx2"/>
          </a:solidFill>
          <a:latin typeface="Roboto" panose="02000000000000000000" pitchFamily="2" charset="0"/>
          <a:ea typeface="Roboto" panose="02000000000000000000" pitchFamily="2" charset="0"/>
          <a:cs typeface="Roboto" panose="02000000000000000000" pitchFamily="2" charset="0"/>
        </a:defRPr>
      </a:lvl1pPr>
    </p:titleStyle>
    <p:body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15.xml"/><Relationship Id="rId5" Type="http://schemas.openxmlformats.org/officeDocument/2006/relationships/image" Target="../media/image1.svg"/><Relationship Id="rId4"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hyperlink" Target="https://support.k2view.com/Academy/articles/19_Broadway/actors/05_db_actors.ht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1.svg"/><Relationship Id="rId4" Type="http://schemas.openxmlformats.org/officeDocument/2006/relationships/slide" Target="slide25.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 Target="slide62.xml"/><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sv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microsoft.com/office/2018/10/relationships/comments" Target="../comments/modernComment_7FFFD4E9_8A5B099F.xml"/><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38.png"/><Relationship Id="rId4" Type="http://schemas.openxmlformats.org/officeDocument/2006/relationships/image" Target="../media/image10.jpg"/></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6.xml"/><Relationship Id="rId5" Type="http://schemas.openxmlformats.org/officeDocument/2006/relationships/image" Target="../media/image63.png"/><Relationship Id="rId4" Type="http://schemas.openxmlformats.org/officeDocument/2006/relationships/image" Target="../media/image62.png"/></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6.xml"/><Relationship Id="rId5" Type="http://schemas.openxmlformats.org/officeDocument/2006/relationships/image" Target="../media/image71.png"/><Relationship Id="rId4" Type="http://schemas.openxmlformats.org/officeDocument/2006/relationships/image" Target="../media/image70.png"/></Relationships>
</file>

<file path=ppt/slides/_rels/slide4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6.xml"/><Relationship Id="rId4" Type="http://schemas.openxmlformats.org/officeDocument/2006/relationships/image" Target="../media/image74.png"/></Relationships>
</file>

<file path=ppt/slides/_rels/slide4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6.xml"/><Relationship Id="rId4" Type="http://schemas.openxmlformats.org/officeDocument/2006/relationships/image" Target="../media/image77.png"/></Relationships>
</file>

<file path=ppt/slides/_rels/slide4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xml"/><Relationship Id="rId4" Type="http://schemas.openxmlformats.org/officeDocument/2006/relationships/image" Target="../media/image80.png"/></Relationships>
</file>

<file path=ppt/slides/_rels/slide4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6.xml"/><Relationship Id="rId4" Type="http://schemas.openxmlformats.org/officeDocument/2006/relationships/image" Target="../media/image82.png"/></Relationships>
</file>

<file path=ppt/slides/_rels/slide4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3.png"/><Relationship Id="rId1" Type="http://schemas.openxmlformats.org/officeDocument/2006/relationships/slideLayout" Target="../slideLayouts/slideLayout6.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4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7.png"/><Relationship Id="rId1" Type="http://schemas.openxmlformats.org/officeDocument/2006/relationships/slideLayout" Target="../slideLayouts/slideLayout6.xml"/><Relationship Id="rId4" Type="http://schemas.openxmlformats.org/officeDocument/2006/relationships/image" Target="../media/image88.png"/></Relationships>
</file>

<file path=ppt/slides/_rels/slide4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6.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78.png"/></Relationships>
</file>

<file path=ppt/slides/_rels/slide4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78.png"/><Relationship Id="rId1" Type="http://schemas.openxmlformats.org/officeDocument/2006/relationships/slideLayout" Target="../slideLayouts/slideLayout6.xml"/><Relationship Id="rId4" Type="http://schemas.openxmlformats.org/officeDocument/2006/relationships/image" Target="../media/image94.png"/></Relationships>
</file>

<file path=ppt/slides/_rels/slide5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78.png"/><Relationship Id="rId1" Type="http://schemas.openxmlformats.org/officeDocument/2006/relationships/slideLayout" Target="../slideLayouts/slideLayout6.xml"/><Relationship Id="rId4" Type="http://schemas.openxmlformats.org/officeDocument/2006/relationships/image" Target="../media/image9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6.xml"/><Relationship Id="rId5" Type="http://schemas.openxmlformats.org/officeDocument/2006/relationships/image" Target="../media/image104.png"/><Relationship Id="rId4" Type="http://schemas.openxmlformats.org/officeDocument/2006/relationships/image" Target="../media/image103.png"/></Relationships>
</file>

<file path=ppt/slides/_rels/slide5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image" Target="../media/image113.png"/><Relationship Id="rId4" Type="http://schemas.openxmlformats.org/officeDocument/2006/relationships/image" Target="../media/image112.png"/></Relationships>
</file>

<file path=ppt/slides/_rels/slide6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15.png"/></Relationships>
</file>

<file path=ppt/slides/_rels/slide6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17.png"/><Relationship Id="rId1" Type="http://schemas.openxmlformats.org/officeDocument/2006/relationships/slideLayout" Target="../slideLayouts/slideLayout6.xml"/><Relationship Id="rId4" Type="http://schemas.openxmlformats.org/officeDocument/2006/relationships/image" Target="../media/image11.svg"/></Relationships>
</file>

<file path=ppt/slides/_rels/slide72.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18.png"/><Relationship Id="rId1" Type="http://schemas.openxmlformats.org/officeDocument/2006/relationships/slideLayout" Target="../slideLayouts/slideLayout6.xml"/><Relationship Id="rId4" Type="http://schemas.openxmlformats.org/officeDocument/2006/relationships/image" Target="../media/image11.svg"/></Relationships>
</file>

<file path=ppt/slides/_rels/slide7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21.png"/><Relationship Id="rId1" Type="http://schemas.openxmlformats.org/officeDocument/2006/relationships/slideLayout" Target="../slideLayouts/slideLayout6.xml"/><Relationship Id="rId4" Type="http://schemas.openxmlformats.org/officeDocument/2006/relationships/image" Target="../media/image11.svg"/></Relationships>
</file>

<file path=ppt/slides/_rels/slide75.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60C95F-F1CE-2B21-D3C2-FAFF1590535C}"/>
              </a:ext>
            </a:extLst>
          </p:cNvPr>
          <p:cNvSpPr>
            <a:spLocks noGrp="1"/>
          </p:cNvSpPr>
          <p:nvPr>
            <p:ph sz="quarter" idx="10"/>
          </p:nvPr>
        </p:nvSpPr>
        <p:spPr>
          <a:xfrm>
            <a:off x="7944928" y="2185245"/>
            <a:ext cx="3419322" cy="881821"/>
          </a:xfrm>
        </p:spPr>
        <p:txBody>
          <a:bodyPr>
            <a:noAutofit/>
          </a:bodyPr>
          <a:lstStyle/>
          <a:p>
            <a:r>
              <a:rPr lang="en-US" sz="4400" dirty="0"/>
              <a:t>Alpinist</a:t>
            </a:r>
            <a:endParaRPr lang="en-IL" sz="4400" dirty="0">
              <a:latin typeface="Roboto" panose="02000000000000000000" pitchFamily="2" charset="0"/>
              <a:ea typeface="Roboto" panose="02000000000000000000" pitchFamily="2" charset="0"/>
            </a:endParaRPr>
          </a:p>
        </p:txBody>
      </p:sp>
      <p:sp>
        <p:nvSpPr>
          <p:cNvPr id="3" name="Title 2">
            <a:extLst>
              <a:ext uri="{FF2B5EF4-FFF2-40B4-BE49-F238E27FC236}">
                <a16:creationId xmlns:a16="http://schemas.microsoft.com/office/drawing/2014/main" id="{98B7E7F3-B74B-5CA6-89CD-1EDD4DB8F739}"/>
              </a:ext>
            </a:extLst>
          </p:cNvPr>
          <p:cNvSpPr>
            <a:spLocks noGrp="1"/>
          </p:cNvSpPr>
          <p:nvPr>
            <p:ph type="title"/>
          </p:nvPr>
        </p:nvSpPr>
        <p:spPr>
          <a:xfrm>
            <a:off x="6839293" y="3429000"/>
            <a:ext cx="4524957" cy="2119813"/>
          </a:xfrm>
        </p:spPr>
        <p:txBody>
          <a:bodyPr>
            <a:normAutofit fontScale="90000"/>
          </a:bodyPr>
          <a:lstStyle/>
          <a:p>
            <a:br>
              <a:rPr lang="en-US" dirty="0">
                <a:latin typeface="Roboto"/>
                <a:ea typeface="Roboto"/>
                <a:cs typeface="Roboto"/>
              </a:rPr>
            </a:br>
            <a:r>
              <a:rPr lang="en-US" dirty="0">
                <a:latin typeface="Roboto"/>
                <a:ea typeface="Roboto"/>
                <a:cs typeface="Roboto"/>
              </a:rPr>
              <a:t>Course 3</a:t>
            </a:r>
            <a:br>
              <a:rPr lang="en-US" dirty="0">
                <a:latin typeface="Roboto"/>
                <a:ea typeface="Roboto"/>
                <a:cs typeface="Roboto"/>
              </a:rPr>
            </a:br>
            <a:r>
              <a:rPr lang="en-US" dirty="0">
                <a:latin typeface="Roboto"/>
                <a:ea typeface="Roboto"/>
                <a:cs typeface="Roboto"/>
              </a:rPr>
              <a:t>BW Actors</a:t>
            </a:r>
            <a:br>
              <a:rPr lang="en-US" dirty="0">
                <a:latin typeface="Roboto"/>
                <a:ea typeface="Roboto"/>
                <a:cs typeface="Roboto"/>
              </a:rPr>
            </a:br>
            <a:br>
              <a:rPr lang="en-US" dirty="0">
                <a:latin typeface="Roboto"/>
                <a:ea typeface="Roboto"/>
                <a:cs typeface="Roboto"/>
              </a:rPr>
            </a:br>
            <a:endParaRPr lang="en-US" dirty="0"/>
          </a:p>
        </p:txBody>
      </p:sp>
      <p:pic>
        <p:nvPicPr>
          <p:cNvPr id="4" name="Graphic 3">
            <a:extLst>
              <a:ext uri="{FF2B5EF4-FFF2-40B4-BE49-F238E27FC236}">
                <a16:creationId xmlns:a16="http://schemas.microsoft.com/office/drawing/2014/main" id="{0D5B06E2-5CFE-9DDE-45C1-C70BB4904350}"/>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849683" y="1804772"/>
            <a:ext cx="1095245" cy="1095245"/>
          </a:xfrm>
          <a:prstGeom prst="rect">
            <a:avLst/>
          </a:prstGeom>
        </p:spPr>
      </p:pic>
      <p:pic>
        <p:nvPicPr>
          <p:cNvPr id="5" name="Picture Placeholder 4">
            <a:extLst>
              <a:ext uri="{FF2B5EF4-FFF2-40B4-BE49-F238E27FC236}">
                <a16:creationId xmlns:a16="http://schemas.microsoft.com/office/drawing/2014/main" id="{FF0E64FE-5B39-8FC5-4E55-0F92708C973D}"/>
              </a:ext>
            </a:extLst>
          </p:cNvPr>
          <p:cNvPicPr>
            <a:picLocks noChangeAspect="1"/>
          </p:cNvPicPr>
          <p:nvPr/>
        </p:nvPicPr>
        <p:blipFill rotWithShape="1">
          <a:blip r:embed="rId4">
            <a:extLst>
              <a:ext uri="{28A0092B-C50C-407E-A947-70E740481C1C}">
                <a14:useLocalDpi xmlns:a14="http://schemas.microsoft.com/office/drawing/2010/main" val="0"/>
              </a:ext>
            </a:extLst>
          </a:blip>
          <a:srcRect t="16140" r="16140"/>
          <a:stretch/>
        </p:blipFill>
        <p:spPr>
          <a:xfrm>
            <a:off x="768556" y="558801"/>
            <a:ext cx="5287020" cy="6299200"/>
          </a:xfrm>
          <a:custGeom>
            <a:avLst/>
            <a:gdLst>
              <a:gd name="connsiteX0" fmla="*/ 12647 w 2049737"/>
              <a:gd name="connsiteY0" fmla="*/ 0 h 2159877"/>
              <a:gd name="connsiteX1" fmla="*/ 2037090 w 2049737"/>
              <a:gd name="connsiteY1" fmla="*/ 0 h 2159877"/>
              <a:gd name="connsiteX2" fmla="*/ 2049737 w 2049737"/>
              <a:gd name="connsiteY2" fmla="*/ 12647 h 2159877"/>
              <a:gd name="connsiteX3" fmla="*/ 2049737 w 2049737"/>
              <a:gd name="connsiteY3" fmla="*/ 2147230 h 2159877"/>
              <a:gd name="connsiteX4" fmla="*/ 2037090 w 2049737"/>
              <a:gd name="connsiteY4" fmla="*/ 2159877 h 2159877"/>
              <a:gd name="connsiteX5" fmla="*/ 12647 w 2049737"/>
              <a:gd name="connsiteY5" fmla="*/ 2159877 h 2159877"/>
              <a:gd name="connsiteX6" fmla="*/ 0 w 2049737"/>
              <a:gd name="connsiteY6" fmla="*/ 2147230 h 2159877"/>
              <a:gd name="connsiteX7" fmla="*/ 0 w 2049737"/>
              <a:gd name="connsiteY7" fmla="*/ 12647 h 2159877"/>
              <a:gd name="connsiteX8" fmla="*/ 12647 w 2049737"/>
              <a:gd name="connsiteY8" fmla="*/ 0 h 2159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49737" h="2159877">
                <a:moveTo>
                  <a:pt x="12647" y="0"/>
                </a:moveTo>
                <a:lnTo>
                  <a:pt x="2037090" y="0"/>
                </a:lnTo>
                <a:cubicBezTo>
                  <a:pt x="2044075" y="0"/>
                  <a:pt x="2049737" y="5662"/>
                  <a:pt x="2049737" y="12647"/>
                </a:cubicBezTo>
                <a:lnTo>
                  <a:pt x="2049737" y="2147230"/>
                </a:lnTo>
                <a:cubicBezTo>
                  <a:pt x="2049737" y="2154215"/>
                  <a:pt x="2044075" y="2159877"/>
                  <a:pt x="2037090" y="2159877"/>
                </a:cubicBezTo>
                <a:lnTo>
                  <a:pt x="12647" y="2159877"/>
                </a:lnTo>
                <a:cubicBezTo>
                  <a:pt x="5662" y="2159877"/>
                  <a:pt x="0" y="2154215"/>
                  <a:pt x="0" y="2147230"/>
                </a:cubicBezTo>
                <a:lnTo>
                  <a:pt x="0" y="12647"/>
                </a:lnTo>
                <a:cubicBezTo>
                  <a:pt x="0" y="5662"/>
                  <a:pt x="5662" y="0"/>
                  <a:pt x="12647" y="0"/>
                </a:cubicBezTo>
                <a:close/>
              </a:path>
            </a:pathLst>
          </a:custGeom>
          <a:effectLst>
            <a:outerShdw blurRad="381000" algn="ctr" rotWithShape="0">
              <a:schemeClr val="tx1">
                <a:lumMod val="75000"/>
                <a:lumOff val="25000"/>
                <a:alpha val="40000"/>
              </a:schemeClr>
            </a:outerShdw>
          </a:effectLst>
        </p:spPr>
      </p:pic>
      <p:pic>
        <p:nvPicPr>
          <p:cNvPr id="6" name="Graphic 5">
            <a:extLst>
              <a:ext uri="{FF2B5EF4-FFF2-40B4-BE49-F238E27FC236}">
                <a16:creationId xmlns:a16="http://schemas.microsoft.com/office/drawing/2014/main" id="{6F2BB523-2DC2-0891-8EAB-C10C0EA55CF3}"/>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28133" y="130254"/>
            <a:ext cx="1025924" cy="307777"/>
          </a:xfrm>
          <a:prstGeom prst="rect">
            <a:avLst/>
          </a:prstGeom>
        </p:spPr>
      </p:pic>
    </p:spTree>
    <p:extLst>
      <p:ext uri="{BB962C8B-B14F-4D97-AF65-F5344CB8AC3E}">
        <p14:creationId xmlns:p14="http://schemas.microsoft.com/office/powerpoint/2010/main" val="1810261612"/>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C1B19-C394-C8B8-D306-4F48501F455B}"/>
              </a:ext>
            </a:extLst>
          </p:cNvPr>
          <p:cNvSpPr>
            <a:spLocks noGrp="1"/>
          </p:cNvSpPr>
          <p:nvPr>
            <p:ph type="title"/>
          </p:nvPr>
        </p:nvSpPr>
        <p:spPr/>
        <p:txBody>
          <a:bodyPr/>
          <a:lstStyle/>
          <a:p>
            <a:r>
              <a:rPr lang="en-US"/>
              <a:t>Agenda</a:t>
            </a:r>
          </a:p>
        </p:txBody>
      </p:sp>
      <p:sp>
        <p:nvSpPr>
          <p:cNvPr id="8" name="Text Placeholder 7">
            <a:extLst>
              <a:ext uri="{FF2B5EF4-FFF2-40B4-BE49-F238E27FC236}">
                <a16:creationId xmlns:a16="http://schemas.microsoft.com/office/drawing/2014/main" id="{4F70D577-75DE-26EF-68DA-DCB96DCDB301}"/>
              </a:ext>
            </a:extLst>
          </p:cNvPr>
          <p:cNvSpPr>
            <a:spLocks noGrp="1"/>
          </p:cNvSpPr>
          <p:nvPr>
            <p:ph type="body" sz="quarter" idx="17"/>
          </p:nvPr>
        </p:nvSpPr>
        <p:spPr/>
        <p:txBody>
          <a:bodyPr/>
          <a:lstStyle/>
          <a:p>
            <a:r>
              <a:rPr lang="en-US"/>
              <a:t>WELCOME</a:t>
            </a:r>
          </a:p>
        </p:txBody>
      </p:sp>
      <p:sp>
        <p:nvSpPr>
          <p:cNvPr id="9" name="Content Placeholder 8">
            <a:extLst>
              <a:ext uri="{FF2B5EF4-FFF2-40B4-BE49-F238E27FC236}">
                <a16:creationId xmlns:a16="http://schemas.microsoft.com/office/drawing/2014/main" id="{303698EF-329A-BBC0-4024-5B838DF64D6B}"/>
              </a:ext>
            </a:extLst>
          </p:cNvPr>
          <p:cNvSpPr>
            <a:spLocks noGrp="1"/>
          </p:cNvSpPr>
          <p:nvPr>
            <p:ph sz="quarter" idx="4294967295"/>
          </p:nvPr>
        </p:nvSpPr>
        <p:spPr>
          <a:xfrm>
            <a:off x="6450483" y="1453984"/>
            <a:ext cx="5623530" cy="4740339"/>
          </a:xfrm>
        </p:spPr>
        <p:txBody>
          <a:bodyPr vert="horz" lIns="91440" tIns="45720" rIns="91440" bIns="45720" rtlCol="0" anchor="t">
            <a:normAutofit fontScale="77500" lnSpcReduction="20000"/>
          </a:bodyPr>
          <a:lstStyle/>
          <a:p>
            <a:r>
              <a:rPr lang="en-GB" sz="2400" dirty="0"/>
              <a:t>DB Actors </a:t>
            </a:r>
          </a:p>
          <a:p>
            <a:r>
              <a:rPr lang="en-US" sz="2400" dirty="0"/>
              <a:t>Fabric Actors</a:t>
            </a:r>
          </a:p>
          <a:p>
            <a:r>
              <a:rPr lang="en-US" sz="2400" dirty="0"/>
              <a:t>JavaScript</a:t>
            </a:r>
          </a:p>
          <a:p>
            <a:r>
              <a:rPr lang="en-US" sz="2400" dirty="0"/>
              <a:t>Stage Condition</a:t>
            </a:r>
          </a:p>
          <a:p>
            <a:r>
              <a:rPr lang="en-US" sz="2400" dirty="0"/>
              <a:t>Strings</a:t>
            </a:r>
          </a:p>
          <a:p>
            <a:r>
              <a:rPr lang="en-US" sz="2400" dirty="0"/>
              <a:t>Dates</a:t>
            </a:r>
          </a:p>
          <a:p>
            <a:r>
              <a:rPr lang="en-US" sz="2400" dirty="0"/>
              <a:t>Collections</a:t>
            </a:r>
          </a:p>
          <a:p>
            <a:r>
              <a:rPr lang="en-US" sz="2400" dirty="0"/>
              <a:t>Parse &amp; Stringify</a:t>
            </a:r>
          </a:p>
          <a:p>
            <a:r>
              <a:rPr lang="en-US" sz="2400" dirty="0"/>
              <a:t>Inner Flows</a:t>
            </a:r>
          </a:p>
          <a:p>
            <a:r>
              <a:rPr lang="en-US" sz="2400" dirty="0" err="1"/>
              <a:t>PubSub</a:t>
            </a:r>
            <a:endParaRPr lang="en-US" sz="2400" dirty="0"/>
          </a:p>
          <a:p>
            <a:r>
              <a:rPr lang="en-US" sz="2400" dirty="0"/>
              <a:t>Files</a:t>
            </a:r>
          </a:p>
          <a:p>
            <a:r>
              <a:rPr lang="en-US" sz="2400" dirty="0"/>
              <a:t>System</a:t>
            </a:r>
          </a:p>
          <a:p>
            <a:r>
              <a:rPr lang="en-US" sz="2400" dirty="0"/>
              <a:t>HTTP</a:t>
            </a:r>
          </a:p>
          <a:p>
            <a:endParaRPr lang="en-US" sz="2400" dirty="0"/>
          </a:p>
          <a:p>
            <a:endParaRPr lang="en-US" sz="2400" dirty="0"/>
          </a:p>
        </p:txBody>
      </p:sp>
      <p:pic>
        <p:nvPicPr>
          <p:cNvPr id="4" name="Picture Placeholder 94">
            <a:extLst>
              <a:ext uri="{FF2B5EF4-FFF2-40B4-BE49-F238E27FC236}">
                <a16:creationId xmlns:a16="http://schemas.microsoft.com/office/drawing/2014/main" id="{892EBB4E-6753-E654-9266-02C8ACFF3814}"/>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694945" y="2092307"/>
            <a:ext cx="3702797" cy="3702797"/>
          </a:xfrm>
          <a:custGeom>
            <a:avLst/>
            <a:gdLst>
              <a:gd name="connsiteX0" fmla="*/ 617145 w 3702797"/>
              <a:gd name="connsiteY0" fmla="*/ 0 h 3702797"/>
              <a:gd name="connsiteX1" fmla="*/ 3085652 w 3702797"/>
              <a:gd name="connsiteY1" fmla="*/ 0 h 3702797"/>
              <a:gd name="connsiteX2" fmla="*/ 3702797 w 3702797"/>
              <a:gd name="connsiteY2" fmla="*/ 617145 h 3702797"/>
              <a:gd name="connsiteX3" fmla="*/ 3702797 w 3702797"/>
              <a:gd name="connsiteY3" fmla="*/ 3085652 h 3702797"/>
              <a:gd name="connsiteX4" fmla="*/ 3085652 w 3702797"/>
              <a:gd name="connsiteY4" fmla="*/ 3702797 h 3702797"/>
              <a:gd name="connsiteX5" fmla="*/ 617145 w 3702797"/>
              <a:gd name="connsiteY5" fmla="*/ 3702797 h 3702797"/>
              <a:gd name="connsiteX6" fmla="*/ 0 w 3702797"/>
              <a:gd name="connsiteY6" fmla="*/ 3085652 h 3702797"/>
              <a:gd name="connsiteX7" fmla="*/ 0 w 3702797"/>
              <a:gd name="connsiteY7" fmla="*/ 617145 h 3702797"/>
              <a:gd name="connsiteX8" fmla="*/ 617145 w 3702797"/>
              <a:gd name="connsiteY8" fmla="*/ 0 h 3702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797" h="3702797">
                <a:moveTo>
                  <a:pt x="617145" y="0"/>
                </a:moveTo>
                <a:lnTo>
                  <a:pt x="3085652" y="0"/>
                </a:lnTo>
                <a:cubicBezTo>
                  <a:pt x="3426492" y="0"/>
                  <a:pt x="3702797" y="276305"/>
                  <a:pt x="3702797" y="617145"/>
                </a:cubicBezTo>
                <a:lnTo>
                  <a:pt x="3702797" y="3085652"/>
                </a:lnTo>
                <a:cubicBezTo>
                  <a:pt x="3702797" y="3426492"/>
                  <a:pt x="3426492" y="3702797"/>
                  <a:pt x="3085652" y="3702797"/>
                </a:cubicBezTo>
                <a:lnTo>
                  <a:pt x="617145" y="3702797"/>
                </a:lnTo>
                <a:cubicBezTo>
                  <a:pt x="276305" y="3702797"/>
                  <a:pt x="0" y="3426492"/>
                  <a:pt x="0" y="3085652"/>
                </a:cubicBezTo>
                <a:lnTo>
                  <a:pt x="0" y="617145"/>
                </a:lnTo>
                <a:cubicBezTo>
                  <a:pt x="0" y="276305"/>
                  <a:pt x="276305" y="0"/>
                  <a:pt x="617145" y="0"/>
                </a:cubicBezTo>
                <a:close/>
              </a:path>
            </a:pathLst>
          </a:custGeom>
        </p:spPr>
      </p:pic>
    </p:spTree>
    <p:extLst>
      <p:ext uri="{BB962C8B-B14F-4D97-AF65-F5344CB8AC3E}">
        <p14:creationId xmlns:p14="http://schemas.microsoft.com/office/powerpoint/2010/main" val="2693431701"/>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337C9-B767-C602-C6D1-DE9FDFAF7CB8}"/>
            </a:ext>
          </a:extLst>
        </p:cNvPr>
        <p:cNvGrpSpPr/>
        <p:nvPr/>
      </p:nvGrpSpPr>
      <p:grpSpPr>
        <a:xfrm>
          <a:off x="0" y="0"/>
          <a:ext cx="0" cy="0"/>
          <a:chOff x="0" y="0"/>
          <a:chExt cx="0" cy="0"/>
        </a:xfrm>
      </p:grpSpPr>
      <p:pic>
        <p:nvPicPr>
          <p:cNvPr id="11" name="Picture Placeholder 10" descr="A person standing on a mountain top&#10;&#10;Description automatically generated">
            <a:extLst>
              <a:ext uri="{FF2B5EF4-FFF2-40B4-BE49-F238E27FC236}">
                <a16:creationId xmlns:a16="http://schemas.microsoft.com/office/drawing/2014/main" id="{FF244B50-632D-803C-EE46-61FA7C50196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4112" r="34112"/>
          <a:stretch>
            <a:fillRect/>
          </a:stretch>
        </p:blipFill>
        <p:spPr/>
      </p:pic>
      <p:sp>
        <p:nvSpPr>
          <p:cNvPr id="2" name="Title 1">
            <a:extLst>
              <a:ext uri="{FF2B5EF4-FFF2-40B4-BE49-F238E27FC236}">
                <a16:creationId xmlns:a16="http://schemas.microsoft.com/office/drawing/2014/main" id="{78604956-CA93-9810-99E8-C123A6CC9C22}"/>
              </a:ext>
            </a:extLst>
          </p:cNvPr>
          <p:cNvSpPr>
            <a:spLocks noGrp="1"/>
          </p:cNvSpPr>
          <p:nvPr>
            <p:ph type="title"/>
          </p:nvPr>
        </p:nvSpPr>
        <p:spPr/>
        <p:txBody>
          <a:bodyPr>
            <a:normAutofit/>
          </a:bodyPr>
          <a:lstStyle/>
          <a:p>
            <a:r>
              <a:rPr lang="en-GB" dirty="0"/>
              <a:t>BW – DB Actors </a:t>
            </a:r>
            <a:endParaRPr lang="en-IL" dirty="0"/>
          </a:p>
        </p:txBody>
      </p:sp>
      <p:sp>
        <p:nvSpPr>
          <p:cNvPr id="3" name="Content Placeholder 2">
            <a:extLst>
              <a:ext uri="{FF2B5EF4-FFF2-40B4-BE49-F238E27FC236}">
                <a16:creationId xmlns:a16="http://schemas.microsoft.com/office/drawing/2014/main" id="{09B803D7-E5D0-E468-F9D7-4B2F86D5FD2B}"/>
              </a:ext>
            </a:extLst>
          </p:cNvPr>
          <p:cNvSpPr>
            <a:spLocks noGrp="1"/>
          </p:cNvSpPr>
          <p:nvPr>
            <p:ph idx="1"/>
          </p:nvPr>
        </p:nvSpPr>
        <p:spPr>
          <a:xfrm>
            <a:off x="3697130" y="1097280"/>
            <a:ext cx="7176247" cy="5623882"/>
          </a:xfrm>
        </p:spPr>
        <p:txBody>
          <a:bodyPr>
            <a:normAutofit/>
          </a:bodyPr>
          <a:lstStyle/>
          <a:p>
            <a:pPr marL="0" indent="0" algn="l">
              <a:buNone/>
            </a:pPr>
            <a:r>
              <a:rPr lang="en-US" b="0" i="0" u="none" strike="noStrike" dirty="0">
                <a:solidFill>
                  <a:srgbClr val="2E2E2E"/>
                </a:solidFill>
                <a:effectLst/>
                <a:latin typeface="Roboto" panose="02000000000000000000" pitchFamily="2" charset="0"/>
              </a:rPr>
              <a:t>Broadway has a category of </a:t>
            </a:r>
            <a:r>
              <a:rPr lang="en-US" b="0" i="0" u="none" strike="noStrike" dirty="0">
                <a:solidFill>
                  <a:srgbClr val="2E2E2E"/>
                </a:solidFill>
                <a:effectLst/>
                <a:latin typeface="Roboto" panose="02000000000000000000" pitchFamily="2" charset="0"/>
                <a:hlinkClick r:id="rId4"/>
              </a:rPr>
              <a:t>DB Actors</a:t>
            </a:r>
            <a:r>
              <a:rPr lang="en-US" b="0" i="0" u="none" strike="noStrike" dirty="0">
                <a:solidFill>
                  <a:srgbClr val="2E2E2E"/>
                </a:solidFill>
                <a:effectLst/>
                <a:latin typeface="Roboto" panose="02000000000000000000" pitchFamily="2" charset="0"/>
              </a:rPr>
              <a:t> that are useful for performing DB commands and actions like creating a new table, loading data or fetching it and executing other DB commands</a:t>
            </a:r>
            <a:endParaRPr lang="en-US" b="1" i="0" u="none" strike="noStrike" dirty="0">
              <a:solidFill>
                <a:srgbClr val="2E2E2E"/>
              </a:solidFill>
              <a:effectLst/>
              <a:latin typeface="Roboto" panose="02000000000000000000" pitchFamily="2" charset="0"/>
            </a:endParaRPr>
          </a:p>
          <a:p>
            <a:pPr algn="l">
              <a:buFont typeface="Arial" panose="020B0604020202020204" pitchFamily="34" charset="0"/>
              <a:buChar char="•"/>
            </a:pPr>
            <a:r>
              <a:rPr lang="en-US" dirty="0" err="1">
                <a:solidFill>
                  <a:schemeClr val="bg2">
                    <a:lumMod val="50000"/>
                  </a:schemeClr>
                </a:solidFill>
              </a:rPr>
              <a:t>DbLoad</a:t>
            </a:r>
            <a:r>
              <a:rPr lang="en-US" b="0" i="0" u="none" strike="noStrike" dirty="0">
                <a:solidFill>
                  <a:srgbClr val="2E2E2E"/>
                </a:solidFill>
                <a:effectLst/>
                <a:latin typeface="Roboto" panose="02000000000000000000" pitchFamily="2" charset="0"/>
              </a:rPr>
              <a:t> - Loads data into a database using an INSERT, UPDATE or UPSERT command.</a:t>
            </a:r>
            <a:br>
              <a:rPr lang="en-US" sz="1600" b="0" i="0" u="none" strike="noStrike" dirty="0">
                <a:solidFill>
                  <a:srgbClr val="000000"/>
                </a:solidFill>
                <a:effectLst/>
                <a:highlight>
                  <a:srgbClr val="FFFFFF"/>
                </a:highlight>
                <a:latin typeface="Segoe UI" panose="020B0502040204020203" pitchFamily="34" charset="0"/>
              </a:rPr>
            </a:br>
            <a:br>
              <a:rPr lang="en-US" sz="1600" b="0" i="0" u="none" strike="noStrike" dirty="0">
                <a:solidFill>
                  <a:srgbClr val="000000"/>
                </a:solidFill>
                <a:effectLst/>
                <a:highlight>
                  <a:srgbClr val="FFFFFF"/>
                </a:highlight>
                <a:latin typeface="Segoe UI" panose="020B0502040204020203" pitchFamily="34" charset="0"/>
              </a:rPr>
            </a:br>
            <a:r>
              <a:rPr lang="en-US" b="1" dirty="0">
                <a:solidFill>
                  <a:srgbClr val="2E2E2E"/>
                </a:solidFill>
                <a:latin typeface="Roboto" panose="02000000000000000000" pitchFamily="2" charset="0"/>
              </a:rPr>
              <a:t>Batch Mode: </a:t>
            </a:r>
            <a:r>
              <a:rPr lang="en-US" dirty="0">
                <a:solidFill>
                  <a:srgbClr val="2E2E2E"/>
                </a:solidFill>
                <a:latin typeface="Roboto" panose="02000000000000000000" pitchFamily="2" charset="0"/>
              </a:rPr>
              <a:t>When the </a:t>
            </a:r>
            <a:r>
              <a:rPr lang="en-US" b="1" dirty="0">
                <a:solidFill>
                  <a:srgbClr val="2E2E2E"/>
                </a:solidFill>
                <a:latin typeface="Roboto" panose="02000000000000000000" pitchFamily="2" charset="0"/>
              </a:rPr>
              <a:t>batch</a:t>
            </a:r>
            <a:r>
              <a:rPr lang="en-US" dirty="0">
                <a:solidFill>
                  <a:srgbClr val="2E2E2E"/>
                </a:solidFill>
                <a:latin typeface="Roboto" panose="02000000000000000000" pitchFamily="2" charset="0"/>
              </a:rPr>
              <a:t> input argument is set to true, the Actor accumulates statements and executes them as a batch to improve performance. It must run within a transaction, and any errors are reported upon committing the batch. </a:t>
            </a:r>
            <a:br>
              <a:rPr lang="en-US" dirty="0">
                <a:solidFill>
                  <a:srgbClr val="2E2E2E"/>
                </a:solidFill>
                <a:latin typeface="Roboto" panose="02000000000000000000" pitchFamily="2" charset="0"/>
              </a:rPr>
            </a:br>
            <a:r>
              <a:rPr lang="en-US" dirty="0">
                <a:solidFill>
                  <a:srgbClr val="2E2E2E"/>
                </a:solidFill>
                <a:latin typeface="Roboto" panose="02000000000000000000" pitchFamily="2" charset="0"/>
              </a:rPr>
              <a:t>The default batch size is 1,000 statements.</a:t>
            </a:r>
            <a:endParaRPr lang="en-US" i="0" u="none" strike="noStrike" dirty="0">
              <a:solidFill>
                <a:srgbClr val="2E2E2E"/>
              </a:solidFill>
              <a:effectLst/>
              <a:latin typeface="Roboto" panose="02000000000000000000" pitchFamily="2" charset="0"/>
            </a:endParaRPr>
          </a:p>
        </p:txBody>
      </p:sp>
      <p:sp>
        <p:nvSpPr>
          <p:cNvPr id="9" name="AutoShape 4">
            <a:extLst>
              <a:ext uri="{FF2B5EF4-FFF2-40B4-BE49-F238E27FC236}">
                <a16:creationId xmlns:a16="http://schemas.microsoft.com/office/drawing/2014/main" id="{16DF68BF-C6D7-0B37-CD0C-D527479578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38CC741C-4A5A-760E-8985-6B4C7C87EC6B}"/>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Tree>
    <p:extLst>
      <p:ext uri="{BB962C8B-B14F-4D97-AF65-F5344CB8AC3E}">
        <p14:creationId xmlns:p14="http://schemas.microsoft.com/office/powerpoint/2010/main" val="137487454"/>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E2FBF-B1D7-64D2-BD5E-C6DCD534F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EFE55-67AE-AD93-1E2F-F57352B16021}"/>
              </a:ext>
            </a:extLst>
          </p:cNvPr>
          <p:cNvSpPr>
            <a:spLocks noGrp="1"/>
          </p:cNvSpPr>
          <p:nvPr>
            <p:ph type="title"/>
          </p:nvPr>
        </p:nvSpPr>
        <p:spPr/>
        <p:txBody>
          <a:bodyPr>
            <a:normAutofit/>
          </a:bodyPr>
          <a:lstStyle/>
          <a:p>
            <a:r>
              <a:rPr lang="en-GB" dirty="0"/>
              <a:t>BW – DB Actors </a:t>
            </a:r>
            <a:endParaRPr lang="en-IL" dirty="0"/>
          </a:p>
        </p:txBody>
      </p:sp>
      <p:sp>
        <p:nvSpPr>
          <p:cNvPr id="3" name="Content Placeholder 2">
            <a:extLst>
              <a:ext uri="{FF2B5EF4-FFF2-40B4-BE49-F238E27FC236}">
                <a16:creationId xmlns:a16="http://schemas.microsoft.com/office/drawing/2014/main" id="{FE8131DC-155A-28A9-0E4E-AAEE82E25BE5}"/>
              </a:ext>
            </a:extLst>
          </p:cNvPr>
          <p:cNvSpPr>
            <a:spLocks noGrp="1"/>
          </p:cNvSpPr>
          <p:nvPr>
            <p:ph idx="1"/>
          </p:nvPr>
        </p:nvSpPr>
        <p:spPr>
          <a:xfrm>
            <a:off x="3968496" y="1097280"/>
            <a:ext cx="8092440" cy="5623882"/>
          </a:xfrm>
        </p:spPr>
        <p:txBody>
          <a:bodyPr>
            <a:normAutofit/>
          </a:bodyPr>
          <a:lstStyle/>
          <a:p>
            <a:pPr algn="l">
              <a:buFont typeface="Arial" panose="020B0604020202020204" pitchFamily="34" charset="0"/>
              <a:buChar char="•"/>
            </a:pPr>
            <a:r>
              <a:rPr lang="en-US" dirty="0" err="1">
                <a:solidFill>
                  <a:schemeClr val="bg2">
                    <a:lumMod val="50000"/>
                  </a:schemeClr>
                </a:solidFill>
              </a:rPr>
              <a:t>DbCommand</a:t>
            </a:r>
            <a:r>
              <a:rPr lang="en-US" b="0" i="0" u="none" strike="noStrike" dirty="0">
                <a:solidFill>
                  <a:srgbClr val="2E2E2E"/>
                </a:solidFill>
                <a:effectLst/>
                <a:latin typeface="Roboto" panose="02000000000000000000" pitchFamily="2" charset="0"/>
              </a:rPr>
              <a:t> - Performs database commands on a DB interface. </a:t>
            </a:r>
            <a:br>
              <a:rPr lang="en-US" b="0" i="0" u="none" strike="noStrike" dirty="0">
                <a:solidFill>
                  <a:srgbClr val="2E2E2E"/>
                </a:solidFill>
                <a:effectLst/>
                <a:latin typeface="Roboto" panose="02000000000000000000" pitchFamily="2" charset="0"/>
              </a:rPr>
            </a:br>
            <a:br>
              <a:rPr lang="en-US" b="0" i="0" u="none" strike="noStrike" dirty="0">
                <a:solidFill>
                  <a:srgbClr val="2E2E2E"/>
                </a:solidFill>
                <a:effectLst/>
                <a:latin typeface="Roboto" panose="02000000000000000000" pitchFamily="2" charset="0"/>
              </a:rPr>
            </a:br>
            <a:r>
              <a:rPr lang="en-US" b="0" i="0" u="none" strike="noStrike" dirty="0">
                <a:solidFill>
                  <a:srgbClr val="2E2E2E"/>
                </a:solidFill>
                <a:effectLst/>
                <a:latin typeface="Roboto" panose="02000000000000000000" pitchFamily="2" charset="0"/>
              </a:rPr>
              <a:t>It has two extensions: </a:t>
            </a:r>
          </a:p>
          <a:p>
            <a:pPr marL="742950" lvl="1" indent="-285750" algn="l">
              <a:buFont typeface="Arial" panose="020B0604020202020204" pitchFamily="34" charset="0"/>
              <a:buChar char="•"/>
            </a:pPr>
            <a:r>
              <a:rPr lang="en-US" sz="2000" dirty="0" err="1">
                <a:solidFill>
                  <a:schemeClr val="bg2">
                    <a:lumMod val="50000"/>
                  </a:schemeClr>
                </a:solidFill>
              </a:rPr>
              <a:t>DbFetchField</a:t>
            </a:r>
            <a:r>
              <a:rPr lang="en-US" b="0" i="0" u="none" strike="noStrike" dirty="0">
                <a:solidFill>
                  <a:srgbClr val="2E2E2E"/>
                </a:solidFill>
                <a:effectLst/>
                <a:latin typeface="Roboto" panose="02000000000000000000" pitchFamily="2" charset="0"/>
              </a:rPr>
              <a:t> - Returns the first field of the first row</a:t>
            </a:r>
          </a:p>
          <a:p>
            <a:pPr marL="742950" lvl="1" indent="-285750" algn="l">
              <a:buFont typeface="Arial" panose="020B0604020202020204" pitchFamily="34" charset="0"/>
              <a:buChar char="•"/>
            </a:pPr>
            <a:r>
              <a:rPr lang="en-US" sz="2000" dirty="0" err="1">
                <a:solidFill>
                  <a:schemeClr val="bg2">
                    <a:lumMod val="50000"/>
                  </a:schemeClr>
                </a:solidFill>
              </a:rPr>
              <a:t>DbFetchFirstRow</a:t>
            </a:r>
            <a:r>
              <a:rPr lang="en-US" b="0" i="0" u="none" strike="noStrike" dirty="0">
                <a:solidFill>
                  <a:srgbClr val="2E2E2E"/>
                </a:solidFill>
                <a:effectLst/>
                <a:latin typeface="Roboto" panose="02000000000000000000" pitchFamily="2" charset="0"/>
              </a:rPr>
              <a:t> - Returns the first row</a:t>
            </a:r>
            <a:endParaRPr lang="en-US" sz="1600" dirty="0">
              <a:solidFill>
                <a:srgbClr val="000000"/>
              </a:solidFill>
              <a:highlight>
                <a:srgbClr val="FFFFFF"/>
              </a:highlight>
              <a:latin typeface="Segoe UI" panose="020B0502040204020203" pitchFamily="34" charset="0"/>
            </a:endParaRPr>
          </a:p>
          <a:p>
            <a:pPr marL="742950" lvl="1" indent="-285750" algn="l">
              <a:buFont typeface="Arial" panose="020B0604020202020204" pitchFamily="34" charset="0"/>
              <a:buChar char="•"/>
            </a:pPr>
            <a:endParaRPr lang="en-US" sz="1600" b="0" i="0" dirty="0">
              <a:solidFill>
                <a:srgbClr val="000000"/>
              </a:solidFill>
              <a:effectLst/>
              <a:highlight>
                <a:srgbClr val="FFFFFF"/>
              </a:highlight>
              <a:latin typeface="Segoe UI" panose="020B0502040204020203" pitchFamily="34" charset="0"/>
            </a:endParaRPr>
          </a:p>
          <a:p>
            <a:pPr marL="0" lvl="1" indent="0">
              <a:spcBef>
                <a:spcPts val="1000"/>
              </a:spcBef>
              <a:buNone/>
            </a:pPr>
            <a:r>
              <a:rPr lang="en-US" sz="2000" dirty="0">
                <a:solidFill>
                  <a:srgbClr val="2E2E2E"/>
                </a:solidFill>
                <a:latin typeface="Roboto" panose="02000000000000000000" pitchFamily="2" charset="0"/>
              </a:rPr>
              <a:t>   Parameters and Non-Prepared Statements Support:</a:t>
            </a:r>
          </a:p>
          <a:p>
            <a:pPr lvl="1">
              <a:spcAft>
                <a:spcPts val="750"/>
              </a:spcAft>
            </a:pPr>
            <a:r>
              <a:rPr lang="en-US" b="1" i="0" dirty="0">
                <a:solidFill>
                  <a:srgbClr val="2E2E2E"/>
                </a:solidFill>
                <a:effectLst/>
                <a:latin typeface="Roboto" panose="02000000000000000000" pitchFamily="2" charset="0"/>
              </a:rPr>
              <a:t>?/${0}</a:t>
            </a:r>
            <a:r>
              <a:rPr lang="en-US" b="0" i="0" dirty="0">
                <a:solidFill>
                  <a:srgbClr val="2E2E2E"/>
                </a:solidFill>
                <a:effectLst/>
                <a:latin typeface="Roboto" panose="02000000000000000000" pitchFamily="2" charset="0"/>
              </a:rPr>
              <a:t> - for </a:t>
            </a:r>
            <a:r>
              <a:rPr lang="en-US" b="1" i="0" dirty="0">
                <a:solidFill>
                  <a:srgbClr val="2E2E2E"/>
                </a:solidFill>
                <a:effectLst/>
                <a:latin typeface="Roboto" panose="02000000000000000000" pitchFamily="2" charset="0"/>
              </a:rPr>
              <a:t>ordered</a:t>
            </a:r>
            <a:r>
              <a:rPr lang="en-US" b="0" i="0" dirty="0">
                <a:solidFill>
                  <a:srgbClr val="2E2E2E"/>
                </a:solidFill>
                <a:effectLst/>
                <a:latin typeface="Roboto" panose="02000000000000000000" pitchFamily="2" charset="0"/>
              </a:rPr>
              <a:t> parameters.</a:t>
            </a:r>
          </a:p>
          <a:p>
            <a:pPr lvl="1">
              <a:spcAft>
                <a:spcPts val="750"/>
              </a:spcAft>
            </a:pPr>
            <a:r>
              <a:rPr lang="en-US" b="1" i="0" dirty="0">
                <a:solidFill>
                  <a:srgbClr val="2E2E2E"/>
                </a:solidFill>
                <a:effectLst/>
                <a:latin typeface="Roboto" panose="02000000000000000000" pitchFamily="2" charset="0"/>
              </a:rPr>
              <a:t>${</a:t>
            </a:r>
            <a:r>
              <a:rPr lang="en-US" b="1" i="0" dirty="0" err="1">
                <a:solidFill>
                  <a:srgbClr val="2E2E2E"/>
                </a:solidFill>
                <a:effectLst/>
                <a:latin typeface="Roboto" panose="02000000000000000000" pitchFamily="2" charset="0"/>
              </a:rPr>
              <a:t>param_value</a:t>
            </a:r>
            <a:r>
              <a:rPr lang="en-US" b="1" i="0" dirty="0">
                <a:solidFill>
                  <a:srgbClr val="2E2E2E"/>
                </a:solidFill>
                <a:effectLst/>
                <a:latin typeface="Roboto" panose="02000000000000000000" pitchFamily="2" charset="0"/>
              </a:rPr>
              <a:t>}</a:t>
            </a:r>
            <a:r>
              <a:rPr lang="en-US" b="0" i="0" dirty="0">
                <a:solidFill>
                  <a:srgbClr val="2E2E2E"/>
                </a:solidFill>
                <a:effectLst/>
                <a:latin typeface="Roboto" panose="02000000000000000000" pitchFamily="2" charset="0"/>
              </a:rPr>
              <a:t> - for </a:t>
            </a:r>
            <a:r>
              <a:rPr lang="en-US" b="1" i="0" dirty="0">
                <a:solidFill>
                  <a:srgbClr val="2E2E2E"/>
                </a:solidFill>
                <a:effectLst/>
                <a:latin typeface="Roboto" panose="02000000000000000000" pitchFamily="2" charset="0"/>
              </a:rPr>
              <a:t>named</a:t>
            </a:r>
            <a:r>
              <a:rPr lang="en-US" b="0" i="0" dirty="0">
                <a:solidFill>
                  <a:srgbClr val="2E2E2E"/>
                </a:solidFill>
                <a:effectLst/>
                <a:latin typeface="Roboto" panose="02000000000000000000" pitchFamily="2" charset="0"/>
              </a:rPr>
              <a:t> parameters.</a:t>
            </a:r>
          </a:p>
          <a:p>
            <a:pPr lvl="1">
              <a:spcAft>
                <a:spcPts val="750"/>
              </a:spcAft>
            </a:pPr>
            <a:r>
              <a:rPr lang="en-US" b="1" i="0" dirty="0">
                <a:solidFill>
                  <a:srgbClr val="2E2E2E"/>
                </a:solidFill>
                <a:effectLst/>
                <a:latin typeface="Roboto" panose="02000000000000000000" pitchFamily="2" charset="0"/>
              </a:rPr>
              <a:t>${@param}</a:t>
            </a:r>
            <a:r>
              <a:rPr lang="en-US" b="0" i="0" dirty="0">
                <a:solidFill>
                  <a:srgbClr val="2E2E2E"/>
                </a:solidFill>
                <a:effectLst/>
                <a:latin typeface="Roboto" panose="02000000000000000000" pitchFamily="2" charset="0"/>
              </a:rPr>
              <a:t> - for non-prepared statement parameters.</a:t>
            </a:r>
          </a:p>
          <a:p>
            <a:pPr marL="0" indent="0">
              <a:buNone/>
            </a:pPr>
            <a:r>
              <a:rPr lang="en-US" dirty="0">
                <a:solidFill>
                  <a:srgbClr val="2E2E2E"/>
                </a:solidFill>
                <a:highlight>
                  <a:srgbClr val="FFFFFF"/>
                </a:highlight>
                <a:latin typeface="Roboto" panose="02000000000000000000" pitchFamily="2" charset="0"/>
              </a:rPr>
              <a:t>   For example: </a:t>
            </a:r>
            <a:br>
              <a:rPr lang="en-US" dirty="0">
                <a:solidFill>
                  <a:srgbClr val="2E2E2E"/>
                </a:solidFill>
                <a:highlight>
                  <a:srgbClr val="FFFFFF"/>
                </a:highlight>
                <a:latin typeface="Roboto" panose="02000000000000000000" pitchFamily="2" charset="0"/>
              </a:rPr>
            </a:br>
            <a:r>
              <a:rPr lang="en-US" sz="1800" b="0" i="0" u="none" strike="noStrike" dirty="0">
                <a:solidFill>
                  <a:srgbClr val="000000"/>
                </a:solidFill>
                <a:effectLst/>
                <a:highlight>
                  <a:srgbClr val="FFFFFF"/>
                </a:highlight>
                <a:latin typeface="Segoe UI" panose="020B0502040204020203" pitchFamily="34" charset="0"/>
              </a:rPr>
              <a:t>Select * From ${</a:t>
            </a:r>
            <a:r>
              <a:rPr lang="en-US" sz="1800" b="1" i="0" u="none" strike="noStrike" dirty="0">
                <a:solidFill>
                  <a:srgbClr val="000000"/>
                </a:solidFill>
                <a:effectLst/>
                <a:highlight>
                  <a:srgbClr val="FFFFFF"/>
                </a:highlight>
                <a:latin typeface="Segoe UI" panose="020B0502040204020203" pitchFamily="34" charset="0"/>
              </a:rPr>
              <a:t>@</a:t>
            </a:r>
            <a:r>
              <a:rPr lang="en-US" sz="1800" b="0" i="0" u="none" strike="noStrike" dirty="0">
                <a:solidFill>
                  <a:srgbClr val="000000"/>
                </a:solidFill>
                <a:effectLst/>
                <a:highlight>
                  <a:srgbClr val="FFFFFF"/>
                </a:highlight>
                <a:latin typeface="Segoe UI" panose="020B0502040204020203" pitchFamily="34" charset="0"/>
              </a:rPr>
              <a:t>table} where ${</a:t>
            </a:r>
            <a:r>
              <a:rPr lang="en-US" sz="1800" b="1" i="0" u="none" strike="noStrike" dirty="0">
                <a:solidFill>
                  <a:srgbClr val="000000"/>
                </a:solidFill>
                <a:effectLst/>
                <a:highlight>
                  <a:srgbClr val="FFFFFF"/>
                </a:highlight>
                <a:latin typeface="Segoe UI" panose="020B0502040204020203" pitchFamily="34" charset="0"/>
              </a:rPr>
              <a:t>@</a:t>
            </a:r>
            <a:r>
              <a:rPr lang="en-US" sz="1800" b="0" i="0" u="none" strike="noStrike" dirty="0">
                <a:solidFill>
                  <a:srgbClr val="000000"/>
                </a:solidFill>
                <a:effectLst/>
                <a:highlight>
                  <a:srgbClr val="FFFFFF"/>
                </a:highlight>
                <a:latin typeface="Segoe UI" panose="020B0502040204020203" pitchFamily="34" charset="0"/>
              </a:rPr>
              <a:t>column} = ${</a:t>
            </a:r>
            <a:r>
              <a:rPr lang="en-US" sz="1800" b="0" i="0" u="none" strike="noStrike" dirty="0" err="1">
                <a:solidFill>
                  <a:srgbClr val="000000"/>
                </a:solidFill>
                <a:effectLst/>
                <a:highlight>
                  <a:srgbClr val="FFFFFF"/>
                </a:highlight>
                <a:latin typeface="Segoe UI" panose="020B0502040204020203" pitchFamily="34" charset="0"/>
              </a:rPr>
              <a:t>case_sts</a:t>
            </a:r>
            <a:r>
              <a:rPr lang="en-US" sz="1800" b="0" i="0" u="none" strike="noStrike" dirty="0">
                <a:solidFill>
                  <a:srgbClr val="000000"/>
                </a:solidFill>
                <a:effectLst/>
                <a:highlight>
                  <a:srgbClr val="FFFFFF"/>
                </a:highlight>
                <a:latin typeface="Segoe UI" panose="020B0502040204020203" pitchFamily="34" charset="0"/>
              </a:rPr>
              <a:t>}</a:t>
            </a:r>
          </a:p>
        </p:txBody>
      </p:sp>
      <p:sp>
        <p:nvSpPr>
          <p:cNvPr id="9" name="AutoShape 4">
            <a:extLst>
              <a:ext uri="{FF2B5EF4-FFF2-40B4-BE49-F238E27FC236}">
                <a16:creationId xmlns:a16="http://schemas.microsoft.com/office/drawing/2014/main" id="{84743861-D2FD-2B74-5CD2-E9606C3E64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3E68B5A7-0075-E852-6BDF-8C3998DBA51D}"/>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pic>
        <p:nvPicPr>
          <p:cNvPr id="13" name="Picture Placeholder 10" descr="A person standing on a mountain top&#10;&#10;Description automatically generated">
            <a:extLst>
              <a:ext uri="{FF2B5EF4-FFF2-40B4-BE49-F238E27FC236}">
                <a16:creationId xmlns:a16="http://schemas.microsoft.com/office/drawing/2014/main" id="{2DB4DA55-3F8F-DBDF-31C5-992ED065A183}"/>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4112" r="34112"/>
          <a:stretch>
            <a:fillRect/>
          </a:stretch>
        </p:blipFill>
        <p:spPr>
          <a:xfrm>
            <a:off x="228599" y="0"/>
            <a:ext cx="3267635" cy="6858000"/>
          </a:xfrm>
        </p:spPr>
      </p:pic>
    </p:spTree>
    <p:extLst>
      <p:ext uri="{BB962C8B-B14F-4D97-AF65-F5344CB8AC3E}">
        <p14:creationId xmlns:p14="http://schemas.microsoft.com/office/powerpoint/2010/main" val="1805861355"/>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AFD52-C31A-58B7-9646-9450BC020FFF}"/>
            </a:ext>
          </a:extLst>
        </p:cNvPr>
        <p:cNvGrpSpPr/>
        <p:nvPr/>
      </p:nvGrpSpPr>
      <p:grpSpPr>
        <a:xfrm>
          <a:off x="0" y="0"/>
          <a:ext cx="0" cy="0"/>
          <a:chOff x="0" y="0"/>
          <a:chExt cx="0" cy="0"/>
        </a:xfrm>
      </p:grpSpPr>
      <p:pic>
        <p:nvPicPr>
          <p:cNvPr id="11" name="Picture Placeholder 10" descr="A person standing on a mountain top&#10;&#10;Description automatically generated">
            <a:extLst>
              <a:ext uri="{FF2B5EF4-FFF2-40B4-BE49-F238E27FC236}">
                <a16:creationId xmlns:a16="http://schemas.microsoft.com/office/drawing/2014/main" id="{2C571878-E09E-F028-92CF-91B0C1B0491F}"/>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4112" r="34112"/>
          <a:stretch>
            <a:fillRect/>
          </a:stretch>
        </p:blipFill>
        <p:spPr/>
      </p:pic>
      <p:sp>
        <p:nvSpPr>
          <p:cNvPr id="2" name="Title 1">
            <a:extLst>
              <a:ext uri="{FF2B5EF4-FFF2-40B4-BE49-F238E27FC236}">
                <a16:creationId xmlns:a16="http://schemas.microsoft.com/office/drawing/2014/main" id="{70E733C4-EA6C-9456-2B98-7906F3813280}"/>
              </a:ext>
            </a:extLst>
          </p:cNvPr>
          <p:cNvSpPr>
            <a:spLocks noGrp="1"/>
          </p:cNvSpPr>
          <p:nvPr>
            <p:ph type="title"/>
          </p:nvPr>
        </p:nvSpPr>
        <p:spPr/>
        <p:txBody>
          <a:bodyPr>
            <a:normAutofit/>
          </a:bodyPr>
          <a:lstStyle/>
          <a:p>
            <a:r>
              <a:rPr lang="en-GB" dirty="0"/>
              <a:t>BW – DB Actors </a:t>
            </a:r>
            <a:endParaRPr lang="en-IL" dirty="0"/>
          </a:p>
        </p:txBody>
      </p:sp>
      <p:sp>
        <p:nvSpPr>
          <p:cNvPr id="3" name="Content Placeholder 2">
            <a:extLst>
              <a:ext uri="{FF2B5EF4-FFF2-40B4-BE49-F238E27FC236}">
                <a16:creationId xmlns:a16="http://schemas.microsoft.com/office/drawing/2014/main" id="{C1AA2254-525A-5999-1A62-6020D87EFBCD}"/>
              </a:ext>
            </a:extLst>
          </p:cNvPr>
          <p:cNvSpPr>
            <a:spLocks noGrp="1"/>
          </p:cNvSpPr>
          <p:nvPr>
            <p:ph idx="1"/>
          </p:nvPr>
        </p:nvSpPr>
        <p:spPr>
          <a:xfrm>
            <a:off x="3697130" y="1097280"/>
            <a:ext cx="7176247" cy="5623882"/>
          </a:xfrm>
        </p:spPr>
        <p:txBody>
          <a:bodyPr>
            <a:normAutofit/>
          </a:bodyPr>
          <a:lstStyle/>
          <a:p>
            <a:pPr algn="l">
              <a:buFont typeface="Arial" panose="020B0604020202020204" pitchFamily="34" charset="0"/>
              <a:buChar char="•"/>
            </a:pPr>
            <a:r>
              <a:rPr lang="en-US" dirty="0" err="1">
                <a:solidFill>
                  <a:schemeClr val="bg2">
                    <a:lumMod val="50000"/>
                  </a:schemeClr>
                </a:solidFill>
              </a:rPr>
              <a:t>DbCreateTable</a:t>
            </a:r>
            <a:r>
              <a:rPr lang="en-US" b="0" i="0" u="none" strike="noStrike" dirty="0">
                <a:solidFill>
                  <a:srgbClr val="2E2E2E"/>
                </a:solidFill>
                <a:effectLst/>
                <a:latin typeface="Roboto" panose="02000000000000000000" pitchFamily="2" charset="0"/>
              </a:rPr>
              <a:t> - </a:t>
            </a:r>
            <a:r>
              <a:rPr lang="en-US" dirty="0">
                <a:solidFill>
                  <a:srgbClr val="2E2E2E"/>
                </a:solidFill>
                <a:latin typeface="Roboto" panose="02000000000000000000" pitchFamily="2" charset="0"/>
              </a:rPr>
              <a:t>C</a:t>
            </a:r>
            <a:r>
              <a:rPr lang="en-US" b="0" i="0" u="none" strike="noStrike" dirty="0">
                <a:solidFill>
                  <a:srgbClr val="2E2E2E"/>
                </a:solidFill>
                <a:effectLst/>
                <a:latin typeface="Roboto" panose="02000000000000000000" pitchFamily="2" charset="0"/>
              </a:rPr>
              <a:t>reates a new database table.</a:t>
            </a:r>
          </a:p>
          <a:p>
            <a:pPr algn="l">
              <a:buFont typeface="Arial" panose="020B0604020202020204" pitchFamily="34" charset="0"/>
              <a:buChar char="•"/>
            </a:pPr>
            <a:r>
              <a:rPr lang="en-US" dirty="0" err="1">
                <a:solidFill>
                  <a:schemeClr val="bg2">
                    <a:lumMod val="50000"/>
                  </a:schemeClr>
                </a:solidFill>
              </a:rPr>
              <a:t>DbDelete</a:t>
            </a:r>
            <a:r>
              <a:rPr lang="en-US" b="0" i="0" u="none" strike="noStrike" dirty="0">
                <a:solidFill>
                  <a:srgbClr val="2E2E2E"/>
                </a:solidFill>
                <a:effectLst/>
                <a:latin typeface="Roboto" panose="02000000000000000000" pitchFamily="2" charset="0"/>
              </a:rPr>
              <a:t> - Deletes data from a database using DELETE based on keys</a:t>
            </a:r>
          </a:p>
          <a:p>
            <a:pPr lvl="1"/>
            <a:endParaRPr lang="he-IL" sz="1600" dirty="0">
              <a:solidFill>
                <a:srgbClr val="000000"/>
              </a:solidFill>
              <a:highlight>
                <a:srgbClr val="FFFFFF"/>
              </a:highlight>
              <a:latin typeface="Segoe UI" panose="020B0502040204020203" pitchFamily="34" charset="0"/>
            </a:endParaRPr>
          </a:p>
        </p:txBody>
      </p:sp>
      <p:sp>
        <p:nvSpPr>
          <p:cNvPr id="9" name="AutoShape 4">
            <a:extLst>
              <a:ext uri="{FF2B5EF4-FFF2-40B4-BE49-F238E27FC236}">
                <a16:creationId xmlns:a16="http://schemas.microsoft.com/office/drawing/2014/main" id="{2CC199DA-83E1-8420-FF4F-8CA4DF39289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CD77F3BF-FAC8-FFC4-E7C0-7B075BB45663}"/>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
        <p:nvSpPr>
          <p:cNvPr id="5" name="AutoShape 4">
            <a:extLst>
              <a:ext uri="{FF2B5EF4-FFF2-40B4-BE49-F238E27FC236}">
                <a16:creationId xmlns:a16="http://schemas.microsoft.com/office/drawing/2014/main" id="{0B9B9299-E037-6522-B23C-0A8753977657}"/>
              </a:ext>
            </a:extLst>
          </p:cNvPr>
          <p:cNvSpPr>
            <a:spLocks noChangeAspect="1" noChangeArrowheads="1"/>
          </p:cNvSpPr>
          <p:nvPr/>
        </p:nvSpPr>
        <p:spPr bwMode="auto">
          <a:xfrm>
            <a:off x="7662672"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6" name="Rectangle 5">
            <a:hlinkClick r:id="rId4" action="ppaction://hlinksldjump"/>
            <a:extLst>
              <a:ext uri="{FF2B5EF4-FFF2-40B4-BE49-F238E27FC236}">
                <a16:creationId xmlns:a16="http://schemas.microsoft.com/office/drawing/2014/main" id="{CB232103-145F-C02E-1ACF-3CCB615609F6}"/>
              </a:ext>
            </a:extLst>
          </p:cNvPr>
          <p:cNvSpPr/>
          <p:nvPr/>
        </p:nvSpPr>
        <p:spPr>
          <a:xfrm>
            <a:off x="4406175" y="2596944"/>
            <a:ext cx="6978105" cy="3684984"/>
          </a:xfrm>
          <a:prstGeom prst="rect">
            <a:avLst/>
          </a:prstGeom>
          <a:solidFill>
            <a:schemeClr val="bg2"/>
          </a:solidFill>
          <a:ln>
            <a:noFill/>
          </a:ln>
          <a:effectLst>
            <a:outerShdw blurRad="157150" dist="145807" dir="6240000" sx="101824" sy="101824" algn="br" rotWithShape="0">
              <a:prstClr val="black">
                <a:alpha val="17111"/>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a:p>
        </p:txBody>
      </p:sp>
      <p:sp>
        <p:nvSpPr>
          <p:cNvPr id="7" name="Content Placeholder 2">
            <a:extLst>
              <a:ext uri="{FF2B5EF4-FFF2-40B4-BE49-F238E27FC236}">
                <a16:creationId xmlns:a16="http://schemas.microsoft.com/office/drawing/2014/main" id="{DA8C81F2-03E3-E161-F6B3-DD5761BF3AAF}"/>
              </a:ext>
            </a:extLst>
          </p:cNvPr>
          <p:cNvSpPr txBox="1">
            <a:spLocks/>
          </p:cNvSpPr>
          <p:nvPr/>
        </p:nvSpPr>
        <p:spPr>
          <a:xfrm>
            <a:off x="4560286" y="3361514"/>
            <a:ext cx="6663683" cy="2710102"/>
          </a:xfrm>
          <a:prstGeom prst="rect">
            <a:avLst/>
          </a:prstGeom>
        </p:spPr>
        <p:txBody>
          <a:bodyPr vert="horz" lIns="91440" tIns="45720" rIns="91440" bIns="45720" rtlCol="0" anchor="t">
            <a:normAutofit fontScale="85000" lnSpcReduction="10000"/>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lumMod val="60000"/>
                    <a:lumOff val="40000"/>
                  </a:schemeClr>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lumMod val="60000"/>
                    <a:lumOff val="40000"/>
                  </a:schemeClr>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lumMod val="60000"/>
                    <a:lumOff val="40000"/>
                  </a:schemeClr>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t>Utilize the </a:t>
            </a:r>
            <a:r>
              <a:rPr lang="en-US" sz="2100" dirty="0" err="1"/>
              <a:t>DBLoad</a:t>
            </a:r>
            <a:r>
              <a:rPr lang="en-US" sz="2100" dirty="0"/>
              <a:t> Actor, as it has a built-in functionality of running INSERT, UPDATE or UPSERT commands (e.g. instead of </a:t>
            </a:r>
            <a:r>
              <a:rPr lang="en-US" sz="2100" dirty="0" err="1"/>
              <a:t>DBCommand</a:t>
            </a:r>
            <a:r>
              <a:rPr lang="en-US" sz="2100" dirty="0"/>
              <a:t> ).</a:t>
            </a:r>
          </a:p>
          <a:p>
            <a:pPr lvl="1"/>
            <a:r>
              <a:rPr lang="en-US" sz="1900" dirty="0">
                <a:solidFill>
                  <a:schemeClr val="tx1"/>
                </a:solidFill>
              </a:rPr>
              <a:t>Batch capabilities </a:t>
            </a:r>
          </a:p>
          <a:p>
            <a:pPr lvl="1"/>
            <a:r>
              <a:rPr lang="en-US" sz="1900" dirty="0" err="1">
                <a:solidFill>
                  <a:schemeClr val="tx1"/>
                </a:solidFill>
              </a:rPr>
              <a:t>IngloreNull</a:t>
            </a:r>
            <a:endParaRPr lang="en-US" sz="1900" dirty="0">
              <a:solidFill>
                <a:schemeClr val="tx1"/>
              </a:solidFill>
            </a:endParaRPr>
          </a:p>
          <a:p>
            <a:r>
              <a:rPr lang="en-US" dirty="0"/>
              <a:t>When selecting one value, take the following into consideration:</a:t>
            </a:r>
          </a:p>
          <a:p>
            <a:pPr lvl="1"/>
            <a:r>
              <a:rPr lang="en-US" dirty="0">
                <a:solidFill>
                  <a:schemeClr val="tx1"/>
                </a:solidFill>
              </a:rPr>
              <a:t>When selecting one row, use the </a:t>
            </a:r>
            <a:r>
              <a:rPr lang="en-US" b="1" dirty="0" err="1">
                <a:solidFill>
                  <a:schemeClr val="tx1"/>
                </a:solidFill>
              </a:rPr>
              <a:t>DbFetchFirstRow</a:t>
            </a:r>
            <a:r>
              <a:rPr lang="en-US" dirty="0">
                <a:solidFill>
                  <a:schemeClr val="tx1"/>
                </a:solidFill>
              </a:rPr>
              <a:t> Actor instead of the </a:t>
            </a:r>
            <a:r>
              <a:rPr lang="en-US" b="1" dirty="0" err="1">
                <a:solidFill>
                  <a:schemeClr val="tx1"/>
                </a:solidFill>
              </a:rPr>
              <a:t>DbCommand</a:t>
            </a:r>
            <a:r>
              <a:rPr lang="en-US" dirty="0">
                <a:solidFill>
                  <a:schemeClr val="tx1"/>
                </a:solidFill>
              </a:rPr>
              <a:t> Actor.</a:t>
            </a:r>
          </a:p>
          <a:p>
            <a:pPr lvl="1"/>
            <a:r>
              <a:rPr lang="en-US" dirty="0">
                <a:solidFill>
                  <a:schemeClr val="tx1"/>
                </a:solidFill>
              </a:rPr>
              <a:t>When selecting one value, use the </a:t>
            </a:r>
            <a:r>
              <a:rPr lang="en-US" b="1" dirty="0" err="1">
                <a:solidFill>
                  <a:schemeClr val="tx1"/>
                </a:solidFill>
              </a:rPr>
              <a:t>DbFetchField</a:t>
            </a:r>
            <a:r>
              <a:rPr lang="en-US" dirty="0">
                <a:solidFill>
                  <a:schemeClr val="tx1"/>
                </a:solidFill>
              </a:rPr>
              <a:t> Actor instead of the </a:t>
            </a:r>
            <a:r>
              <a:rPr lang="en-US" b="1" dirty="0" err="1">
                <a:solidFill>
                  <a:schemeClr val="tx1"/>
                </a:solidFill>
              </a:rPr>
              <a:t>DbCommand</a:t>
            </a:r>
            <a:r>
              <a:rPr lang="en-US" dirty="0">
                <a:solidFill>
                  <a:schemeClr val="tx1"/>
                </a:solidFill>
              </a:rPr>
              <a:t> Actor.</a:t>
            </a:r>
          </a:p>
        </p:txBody>
      </p:sp>
      <p:sp>
        <p:nvSpPr>
          <p:cNvPr id="8" name="TextBox 7">
            <a:extLst>
              <a:ext uri="{FF2B5EF4-FFF2-40B4-BE49-F238E27FC236}">
                <a16:creationId xmlns:a16="http://schemas.microsoft.com/office/drawing/2014/main" id="{A0AE2E70-B84D-F858-CDFE-05278BDD21CD}"/>
              </a:ext>
            </a:extLst>
          </p:cNvPr>
          <p:cNvSpPr txBox="1"/>
          <p:nvPr/>
        </p:nvSpPr>
        <p:spPr>
          <a:xfrm>
            <a:off x="5299782" y="2829843"/>
            <a:ext cx="2927757" cy="369332"/>
          </a:xfrm>
          <a:prstGeom prst="rect">
            <a:avLst/>
          </a:prstGeom>
          <a:noFill/>
        </p:spPr>
        <p:txBody>
          <a:bodyPr wrap="square">
            <a:spAutoFit/>
          </a:bodyPr>
          <a:lstStyle/>
          <a:p>
            <a:pPr marL="0" defTabSz="914400" rtl="0" eaLnBrk="1" latinLnBrk="0" hangingPunct="1"/>
            <a:r>
              <a:rPr lang="en-US" sz="1800" b="1" dirty="0"/>
              <a:t>Db Actors Best practice:</a:t>
            </a:r>
          </a:p>
        </p:txBody>
      </p:sp>
      <p:pic>
        <p:nvPicPr>
          <p:cNvPr id="10" name="Graphic 9">
            <a:extLst>
              <a:ext uri="{FF2B5EF4-FFF2-40B4-BE49-F238E27FC236}">
                <a16:creationId xmlns:a16="http://schemas.microsoft.com/office/drawing/2014/main" id="{6758FCF0-2C83-42BB-922A-99DC9D8614D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00966" y="2794177"/>
            <a:ext cx="459756" cy="459756"/>
          </a:xfrm>
          <a:prstGeom prst="rect">
            <a:avLst/>
          </a:prstGeom>
        </p:spPr>
      </p:pic>
    </p:spTree>
    <p:extLst>
      <p:ext uri="{BB962C8B-B14F-4D97-AF65-F5344CB8AC3E}">
        <p14:creationId xmlns:p14="http://schemas.microsoft.com/office/powerpoint/2010/main" val="1327845665"/>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E0344-A374-5035-4FAD-8ED781DD4270}"/>
            </a:ext>
          </a:extLst>
        </p:cNvPr>
        <p:cNvGrpSpPr/>
        <p:nvPr/>
      </p:nvGrpSpPr>
      <p:grpSpPr>
        <a:xfrm>
          <a:off x="0" y="0"/>
          <a:ext cx="0" cy="0"/>
          <a:chOff x="0" y="0"/>
          <a:chExt cx="0" cy="0"/>
        </a:xfrm>
      </p:grpSpPr>
      <p:pic>
        <p:nvPicPr>
          <p:cNvPr id="11" name="Picture Placeholder 10" descr="A person standing on a mountain top&#10;&#10;Description automatically generated">
            <a:extLst>
              <a:ext uri="{FF2B5EF4-FFF2-40B4-BE49-F238E27FC236}">
                <a16:creationId xmlns:a16="http://schemas.microsoft.com/office/drawing/2014/main" id="{311B004E-8378-C503-B12A-346E1823A2B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4112" r="34112"/>
          <a:stretch>
            <a:fillRect/>
          </a:stretch>
        </p:blipFill>
        <p:spPr/>
      </p:pic>
      <p:sp>
        <p:nvSpPr>
          <p:cNvPr id="2" name="Title 1">
            <a:extLst>
              <a:ext uri="{FF2B5EF4-FFF2-40B4-BE49-F238E27FC236}">
                <a16:creationId xmlns:a16="http://schemas.microsoft.com/office/drawing/2014/main" id="{52319182-FFC7-D8DA-4F1D-6A6D980883CC}"/>
              </a:ext>
            </a:extLst>
          </p:cNvPr>
          <p:cNvSpPr>
            <a:spLocks noGrp="1"/>
          </p:cNvSpPr>
          <p:nvPr>
            <p:ph type="title"/>
          </p:nvPr>
        </p:nvSpPr>
        <p:spPr/>
        <p:txBody>
          <a:bodyPr>
            <a:normAutofit/>
          </a:bodyPr>
          <a:lstStyle/>
          <a:p>
            <a:r>
              <a:rPr lang="en-GB" dirty="0"/>
              <a:t>BW – Fabric Actors </a:t>
            </a:r>
            <a:endParaRPr lang="en-IL" dirty="0"/>
          </a:p>
        </p:txBody>
      </p:sp>
      <p:sp>
        <p:nvSpPr>
          <p:cNvPr id="3" name="Content Placeholder 2">
            <a:extLst>
              <a:ext uri="{FF2B5EF4-FFF2-40B4-BE49-F238E27FC236}">
                <a16:creationId xmlns:a16="http://schemas.microsoft.com/office/drawing/2014/main" id="{3DF4A95A-16E3-7285-2B25-D538CD97B816}"/>
              </a:ext>
            </a:extLst>
          </p:cNvPr>
          <p:cNvSpPr>
            <a:spLocks noGrp="1"/>
          </p:cNvSpPr>
          <p:nvPr>
            <p:ph idx="1"/>
          </p:nvPr>
        </p:nvSpPr>
        <p:spPr>
          <a:xfrm>
            <a:off x="3697130" y="1097280"/>
            <a:ext cx="7176247" cy="5623882"/>
          </a:xfrm>
        </p:spPr>
        <p:txBody>
          <a:bodyPr>
            <a:normAutofit/>
          </a:bodyPr>
          <a:lstStyle/>
          <a:p>
            <a:pPr marL="0" indent="0" algn="l">
              <a:buNone/>
            </a:pPr>
            <a:r>
              <a:rPr lang="en-US" b="0" i="0" u="none" strike="noStrike" dirty="0">
                <a:solidFill>
                  <a:srgbClr val="2E2E2E"/>
                </a:solidFill>
                <a:effectLst/>
                <a:latin typeface="Roboto" panose="02000000000000000000" pitchFamily="2" charset="0"/>
              </a:rPr>
              <a:t>Broadway has a category of </a:t>
            </a:r>
            <a:r>
              <a:rPr lang="en-US" dirty="0">
                <a:solidFill>
                  <a:srgbClr val="2E2E2E"/>
                </a:solidFill>
                <a:latin typeface="Roboto" panose="02000000000000000000" pitchFamily="2" charset="0"/>
              </a:rPr>
              <a:t>fabric actors </a:t>
            </a:r>
            <a:r>
              <a:rPr lang="en-US" b="0" i="0" u="none" strike="noStrike" dirty="0">
                <a:solidFill>
                  <a:srgbClr val="2E2E2E"/>
                </a:solidFill>
                <a:effectLst/>
                <a:latin typeface="Roboto" panose="02000000000000000000" pitchFamily="2" charset="0"/>
              </a:rPr>
              <a:t>that are useful to execute the Fabric commands.</a:t>
            </a:r>
            <a:endParaRPr lang="en-US" b="1" i="0" u="none" strike="noStrike" dirty="0">
              <a:solidFill>
                <a:srgbClr val="2E2E2E"/>
              </a:solidFill>
              <a:effectLst/>
              <a:latin typeface="Roboto" panose="02000000000000000000" pitchFamily="2" charset="0"/>
            </a:endParaRPr>
          </a:p>
          <a:p>
            <a:pPr algn="l"/>
            <a:r>
              <a:rPr lang="en-US" dirty="0" err="1">
                <a:solidFill>
                  <a:schemeClr val="bg2">
                    <a:lumMod val="50000"/>
                  </a:schemeClr>
                </a:solidFill>
              </a:rPr>
              <a:t>FabricGet</a:t>
            </a:r>
            <a:r>
              <a:rPr lang="en-US" b="0" i="0" u="none" strike="noStrike" dirty="0">
                <a:solidFill>
                  <a:srgbClr val="2E2E2E"/>
                </a:solidFill>
                <a:effectLst/>
                <a:latin typeface="Roboto" panose="02000000000000000000" pitchFamily="2" charset="0"/>
              </a:rPr>
              <a:t> </a:t>
            </a:r>
            <a:r>
              <a:rPr lang="en-US" dirty="0">
                <a:solidFill>
                  <a:srgbClr val="2E2E2E"/>
                </a:solidFill>
                <a:latin typeface="Roboto" panose="02000000000000000000" pitchFamily="2" charset="0"/>
              </a:rPr>
              <a:t>- P</a:t>
            </a:r>
            <a:r>
              <a:rPr lang="en-US" b="0" i="0" u="none" strike="noStrike" dirty="0">
                <a:solidFill>
                  <a:srgbClr val="2E2E2E"/>
                </a:solidFill>
                <a:effectLst/>
                <a:latin typeface="Roboto" panose="02000000000000000000" pitchFamily="2" charset="0"/>
              </a:rPr>
              <a:t>erforms the GET command on the current Fabric session.</a:t>
            </a:r>
            <a:br>
              <a:rPr lang="en-US" b="0" i="0" u="none" strike="noStrike" dirty="0">
                <a:solidFill>
                  <a:srgbClr val="2E2E2E"/>
                </a:solidFill>
                <a:effectLst/>
                <a:latin typeface="Roboto" panose="02000000000000000000" pitchFamily="2" charset="0"/>
              </a:rPr>
            </a:br>
            <a:br>
              <a:rPr lang="en-US" b="0" i="0" u="none" strike="noStrike" dirty="0">
                <a:solidFill>
                  <a:srgbClr val="2E2E2E"/>
                </a:solidFill>
                <a:effectLst/>
                <a:latin typeface="Roboto" panose="02000000000000000000" pitchFamily="2" charset="0"/>
              </a:rPr>
            </a:br>
            <a:r>
              <a:rPr lang="en-US" b="0" i="0" dirty="0">
                <a:solidFill>
                  <a:srgbClr val="2E2E2E"/>
                </a:solidFill>
                <a:effectLst/>
                <a:latin typeface="Roboto" panose="02000000000000000000" pitchFamily="2" charset="0"/>
              </a:rPr>
              <a:t>The </a:t>
            </a:r>
            <a:r>
              <a:rPr lang="en-US" b="1" i="0" dirty="0" err="1">
                <a:solidFill>
                  <a:srgbClr val="2E2E2E"/>
                </a:solidFill>
                <a:effectLst/>
                <a:latin typeface="Roboto" panose="02000000000000000000" pitchFamily="2" charset="0"/>
              </a:rPr>
              <a:t>FabricGet</a:t>
            </a:r>
            <a:r>
              <a:rPr lang="en-US" b="0" i="0" dirty="0">
                <a:solidFill>
                  <a:srgbClr val="2E2E2E"/>
                </a:solidFill>
                <a:effectLst/>
                <a:latin typeface="Roboto" panose="02000000000000000000" pitchFamily="2" charset="0"/>
              </a:rPr>
              <a:t> Actor supports fetching multiple instances from different LUs and enables setting </a:t>
            </a:r>
            <a:r>
              <a:rPr lang="en-US" b="1" i="0" dirty="0">
                <a:solidFill>
                  <a:srgbClr val="2E2E2E"/>
                </a:solidFill>
                <a:effectLst/>
                <a:latin typeface="Roboto" panose="02000000000000000000" pitchFamily="2" charset="0"/>
              </a:rPr>
              <a:t>parallel</a:t>
            </a:r>
            <a:r>
              <a:rPr lang="en-US" b="0" i="0" dirty="0">
                <a:solidFill>
                  <a:srgbClr val="2E2E2E"/>
                </a:solidFill>
                <a:effectLst/>
                <a:latin typeface="Roboto" panose="02000000000000000000" pitchFamily="2" charset="0"/>
              </a:rPr>
              <a:t> and </a:t>
            </a:r>
            <a:r>
              <a:rPr lang="en-US" b="1" i="0" dirty="0" err="1">
                <a:solidFill>
                  <a:srgbClr val="2E2E2E"/>
                </a:solidFill>
                <a:effectLst/>
                <a:latin typeface="Roboto" panose="02000000000000000000" pitchFamily="2" charset="0"/>
              </a:rPr>
              <a:t>stop_on_error</a:t>
            </a:r>
            <a:r>
              <a:rPr lang="en-US" b="0" i="0" dirty="0">
                <a:solidFill>
                  <a:srgbClr val="2E2E2E"/>
                </a:solidFill>
                <a:effectLst/>
                <a:latin typeface="Roboto" panose="02000000000000000000" pitchFamily="2" charset="0"/>
              </a:rPr>
              <a:t> arguments.</a:t>
            </a:r>
            <a:br>
              <a:rPr lang="en-US" b="0" i="0" dirty="0">
                <a:solidFill>
                  <a:srgbClr val="2E2E2E"/>
                </a:solidFill>
                <a:effectLst/>
                <a:latin typeface="Roboto" panose="02000000000000000000" pitchFamily="2" charset="0"/>
              </a:rPr>
            </a:br>
            <a:endParaRPr lang="en-US" b="0" i="0" u="none" strike="noStrike" dirty="0">
              <a:solidFill>
                <a:srgbClr val="2E2E2E"/>
              </a:solidFill>
              <a:effectLst/>
              <a:latin typeface="Roboto" panose="02000000000000000000" pitchFamily="2" charset="0"/>
            </a:endParaRPr>
          </a:p>
          <a:p>
            <a:r>
              <a:rPr lang="en-US" dirty="0" err="1">
                <a:solidFill>
                  <a:schemeClr val="bg2">
                    <a:lumMod val="50000"/>
                  </a:schemeClr>
                </a:solidFill>
              </a:rPr>
              <a:t>FabricDelete</a:t>
            </a:r>
            <a:r>
              <a:rPr lang="en-US" dirty="0">
                <a:solidFill>
                  <a:srgbClr val="2E2E2E"/>
                </a:solidFill>
                <a:latin typeface="Roboto" panose="02000000000000000000" pitchFamily="2" charset="0"/>
              </a:rPr>
              <a:t> – Delete an instance from Fabric</a:t>
            </a:r>
            <a:endParaRPr lang="en-US" b="0" i="0" u="none" strike="noStrike" dirty="0">
              <a:solidFill>
                <a:srgbClr val="2E2E2E"/>
              </a:solidFill>
              <a:effectLst/>
              <a:latin typeface="Roboto" panose="02000000000000000000" pitchFamily="2" charset="0"/>
            </a:endParaRPr>
          </a:p>
          <a:p>
            <a:pPr algn="l"/>
            <a:r>
              <a:rPr lang="en-US" dirty="0" err="1">
                <a:solidFill>
                  <a:schemeClr val="bg2">
                    <a:lumMod val="50000"/>
                  </a:schemeClr>
                </a:solidFill>
              </a:rPr>
              <a:t>FabricSet</a:t>
            </a:r>
            <a:r>
              <a:rPr lang="en-US" b="0" i="0" u="none" strike="noStrike" dirty="0">
                <a:solidFill>
                  <a:srgbClr val="2E2E2E"/>
                </a:solidFill>
                <a:effectLst/>
                <a:latin typeface="Roboto" panose="02000000000000000000" pitchFamily="2" charset="0"/>
              </a:rPr>
              <a:t> </a:t>
            </a:r>
            <a:r>
              <a:rPr lang="en-US" dirty="0">
                <a:solidFill>
                  <a:srgbClr val="2E2E2E"/>
                </a:solidFill>
                <a:latin typeface="Roboto" panose="02000000000000000000" pitchFamily="2" charset="0"/>
              </a:rPr>
              <a:t>- S</a:t>
            </a:r>
            <a:r>
              <a:rPr lang="en-US" b="0" i="0" u="none" strike="noStrike" dirty="0">
                <a:solidFill>
                  <a:srgbClr val="2E2E2E"/>
                </a:solidFill>
                <a:effectLst/>
                <a:latin typeface="Roboto" panose="02000000000000000000" pitchFamily="2" charset="0"/>
              </a:rPr>
              <a:t>ets a global value on the Fabric session.</a:t>
            </a:r>
          </a:p>
          <a:p>
            <a:pPr algn="l"/>
            <a:r>
              <a:rPr lang="en-US" dirty="0" err="1">
                <a:solidFill>
                  <a:schemeClr val="bg2">
                    <a:lumMod val="50000"/>
                  </a:schemeClr>
                </a:solidFill>
              </a:rPr>
              <a:t>FabricSetRead</a:t>
            </a:r>
            <a:r>
              <a:rPr lang="en-US" dirty="0">
                <a:solidFill>
                  <a:srgbClr val="2E2E2E"/>
                </a:solidFill>
                <a:latin typeface="Roboto" panose="02000000000000000000" pitchFamily="2" charset="0"/>
              </a:rPr>
              <a:t> – Read a global value from the session.</a:t>
            </a:r>
            <a:endParaRPr lang="en-US" b="0" i="0" u="none" strike="noStrike" dirty="0">
              <a:solidFill>
                <a:srgbClr val="2E2E2E"/>
              </a:solidFill>
              <a:effectLst/>
              <a:latin typeface="Roboto" panose="02000000000000000000" pitchFamily="2" charset="0"/>
            </a:endParaRPr>
          </a:p>
        </p:txBody>
      </p:sp>
      <p:sp>
        <p:nvSpPr>
          <p:cNvPr id="9" name="AutoShape 4">
            <a:extLst>
              <a:ext uri="{FF2B5EF4-FFF2-40B4-BE49-F238E27FC236}">
                <a16:creationId xmlns:a16="http://schemas.microsoft.com/office/drawing/2014/main" id="{7422DB7F-A25A-799B-74B2-E79B492912E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B579EB52-D5BE-4B12-A3E9-74C50A868C66}"/>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Tree>
    <p:extLst>
      <p:ext uri="{BB962C8B-B14F-4D97-AF65-F5344CB8AC3E}">
        <p14:creationId xmlns:p14="http://schemas.microsoft.com/office/powerpoint/2010/main" val="209950317"/>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2A68F-F0A1-E681-899A-D5ADF29C8D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0B792-87A7-8034-2A44-55A8F592B4D3}"/>
              </a:ext>
            </a:extLst>
          </p:cNvPr>
          <p:cNvSpPr>
            <a:spLocks noGrp="1"/>
          </p:cNvSpPr>
          <p:nvPr>
            <p:ph type="title"/>
          </p:nvPr>
        </p:nvSpPr>
        <p:spPr/>
        <p:txBody>
          <a:bodyPr>
            <a:normAutofit/>
          </a:bodyPr>
          <a:lstStyle/>
          <a:p>
            <a:r>
              <a:rPr lang="en-US" b="1" dirty="0"/>
              <a:t>JavaScript</a:t>
            </a:r>
            <a:endParaRPr lang="en-US" dirty="0"/>
          </a:p>
        </p:txBody>
      </p:sp>
      <p:sp>
        <p:nvSpPr>
          <p:cNvPr id="3" name="Content Placeholder 2">
            <a:extLst>
              <a:ext uri="{FF2B5EF4-FFF2-40B4-BE49-F238E27FC236}">
                <a16:creationId xmlns:a16="http://schemas.microsoft.com/office/drawing/2014/main" id="{548C18C4-3FD2-3A4C-7C86-0A2A782ED51E}"/>
              </a:ext>
            </a:extLst>
          </p:cNvPr>
          <p:cNvSpPr>
            <a:spLocks noGrp="1"/>
          </p:cNvSpPr>
          <p:nvPr>
            <p:ph idx="1"/>
          </p:nvPr>
        </p:nvSpPr>
        <p:spPr>
          <a:xfrm>
            <a:off x="658367" y="1102390"/>
            <a:ext cx="11055578" cy="1716337"/>
          </a:xfrm>
        </p:spPr>
        <p:txBody>
          <a:bodyPr>
            <a:normAutofit/>
          </a:bodyPr>
          <a:lstStyle/>
          <a:p>
            <a:pPr marL="0" indent="0">
              <a:buNone/>
            </a:pPr>
            <a:r>
              <a:rPr lang="en-US" sz="1800" dirty="0" err="1">
                <a:solidFill>
                  <a:srgbClr val="1082F2"/>
                </a:solidFill>
              </a:rPr>
              <a:t>FlowArgs</a:t>
            </a:r>
            <a:endParaRPr lang="en-US" sz="1800" dirty="0">
              <a:solidFill>
                <a:srgbClr val="1082F2"/>
              </a:solidFill>
            </a:endParaRPr>
          </a:p>
          <a:p>
            <a:pPr marL="0" indent="0">
              <a:buNone/>
            </a:pPr>
            <a:r>
              <a:rPr lang="en-US" sz="1400" b="0" i="0" dirty="0">
                <a:solidFill>
                  <a:srgbClr val="000000"/>
                </a:solidFill>
                <a:effectLst/>
                <a:latin typeface="Helvetica" panose="020B0604020202020204" pitchFamily="34" charset="0"/>
              </a:rPr>
              <a:t>The </a:t>
            </a:r>
            <a:r>
              <a:rPr lang="en-US" sz="1400" b="0" i="0" dirty="0" err="1">
                <a:solidFill>
                  <a:srgbClr val="000000"/>
                </a:solidFill>
                <a:effectLst/>
                <a:latin typeface="Helvetica" panose="020B0604020202020204" pitchFamily="34" charset="0"/>
              </a:rPr>
              <a:t>FlowArgs</a:t>
            </a:r>
            <a:r>
              <a:rPr lang="en-US" sz="1400" b="0" i="0" dirty="0">
                <a:solidFill>
                  <a:srgbClr val="000000"/>
                </a:solidFill>
                <a:effectLst/>
                <a:latin typeface="Helvetica" panose="020B0604020202020204" pitchFamily="34" charset="0"/>
              </a:rPr>
              <a:t> can be accessed by any JavaScript Actor, using </a:t>
            </a:r>
            <a:r>
              <a:rPr lang="en-US" sz="1400" b="0" i="0" dirty="0" err="1">
                <a:solidFill>
                  <a:srgbClr val="000000"/>
                </a:solidFill>
                <a:effectLst/>
                <a:latin typeface="Helvetica" panose="020B0604020202020204" pitchFamily="34" charset="0"/>
              </a:rPr>
              <a:t>FlowArgs.</a:t>
            </a:r>
            <a:r>
              <a:rPr lang="en-US" sz="1400" b="0" i="1" dirty="0" err="1">
                <a:solidFill>
                  <a:srgbClr val="000000"/>
                </a:solidFill>
                <a:effectLst/>
                <a:latin typeface="Helvetica" panose="020B0604020202020204" pitchFamily="34" charset="0"/>
              </a:rPr>
              <a:t>ExternalName</a:t>
            </a:r>
            <a:r>
              <a:rPr lang="en-US" sz="1400" b="0" i="0" dirty="0">
                <a:solidFill>
                  <a:srgbClr val="000000"/>
                </a:solidFill>
                <a:effectLst/>
                <a:latin typeface="Helvetica" panose="020B0604020202020204" pitchFamily="34" charset="0"/>
              </a:rPr>
              <a:t> </a:t>
            </a:r>
            <a:br>
              <a:rPr lang="en-US" sz="1400" b="0" i="0" dirty="0">
                <a:solidFill>
                  <a:srgbClr val="000000"/>
                </a:solidFill>
                <a:effectLst/>
                <a:latin typeface="Helvetica" panose="020B0604020202020204" pitchFamily="34" charset="0"/>
              </a:rPr>
            </a:br>
            <a:endParaRPr lang="en-US" sz="1200" b="0" i="0" dirty="0">
              <a:solidFill>
                <a:srgbClr val="000000"/>
              </a:solidFill>
              <a:effectLst/>
              <a:latin typeface="Helvetica" panose="020B0604020202020204" pitchFamily="34" charset="0"/>
            </a:endParaRPr>
          </a:p>
        </p:txBody>
      </p:sp>
      <p:grpSp>
        <p:nvGrpSpPr>
          <p:cNvPr id="14" name="Group 13">
            <a:extLst>
              <a:ext uri="{FF2B5EF4-FFF2-40B4-BE49-F238E27FC236}">
                <a16:creationId xmlns:a16="http://schemas.microsoft.com/office/drawing/2014/main" id="{D1B6703E-4D7C-99A0-FF6D-123A7BF56544}"/>
              </a:ext>
            </a:extLst>
          </p:cNvPr>
          <p:cNvGrpSpPr/>
          <p:nvPr/>
        </p:nvGrpSpPr>
        <p:grpSpPr>
          <a:xfrm>
            <a:off x="2686897" y="1960558"/>
            <a:ext cx="4403651" cy="1752490"/>
            <a:chOff x="3025225" y="2068968"/>
            <a:chExt cx="4403651" cy="1752490"/>
          </a:xfrm>
        </p:grpSpPr>
        <p:pic>
          <p:nvPicPr>
            <p:cNvPr id="7" name="Picture 6">
              <a:extLst>
                <a:ext uri="{FF2B5EF4-FFF2-40B4-BE49-F238E27FC236}">
                  <a16:creationId xmlns:a16="http://schemas.microsoft.com/office/drawing/2014/main" id="{02190B2E-15D2-7A07-BAC9-338ED57BB6AF}"/>
                </a:ext>
              </a:extLst>
            </p:cNvPr>
            <p:cNvPicPr>
              <a:picLocks noChangeAspect="1"/>
            </p:cNvPicPr>
            <p:nvPr/>
          </p:nvPicPr>
          <p:blipFill>
            <a:blip r:embed="rId2"/>
            <a:stretch>
              <a:fillRect/>
            </a:stretch>
          </p:blipFill>
          <p:spPr>
            <a:xfrm>
              <a:off x="3958451" y="2068968"/>
              <a:ext cx="3470425" cy="1752490"/>
            </a:xfrm>
            <a:prstGeom prst="rect">
              <a:avLst/>
            </a:prstGeom>
          </p:spPr>
        </p:pic>
        <p:pic>
          <p:nvPicPr>
            <p:cNvPr id="10" name="Picture 9">
              <a:extLst>
                <a:ext uri="{FF2B5EF4-FFF2-40B4-BE49-F238E27FC236}">
                  <a16:creationId xmlns:a16="http://schemas.microsoft.com/office/drawing/2014/main" id="{FEFA2118-F7CE-0B16-29A1-3A1E8780458B}"/>
                </a:ext>
              </a:extLst>
            </p:cNvPr>
            <p:cNvPicPr>
              <a:picLocks noChangeAspect="1"/>
            </p:cNvPicPr>
            <p:nvPr/>
          </p:nvPicPr>
          <p:blipFill>
            <a:blip r:embed="rId3"/>
            <a:stretch>
              <a:fillRect/>
            </a:stretch>
          </p:blipFill>
          <p:spPr>
            <a:xfrm>
              <a:off x="3025225" y="2809789"/>
              <a:ext cx="1514686" cy="619211"/>
            </a:xfrm>
            <a:prstGeom prst="rect">
              <a:avLst/>
            </a:prstGeom>
          </p:spPr>
        </p:pic>
        <p:cxnSp>
          <p:nvCxnSpPr>
            <p:cNvPr id="11" name="Straight Arrow Connector 10">
              <a:extLst>
                <a:ext uri="{FF2B5EF4-FFF2-40B4-BE49-F238E27FC236}">
                  <a16:creationId xmlns:a16="http://schemas.microsoft.com/office/drawing/2014/main" id="{457E0C46-9753-B35A-37A0-A8D37B0DA7F0}"/>
                </a:ext>
              </a:extLst>
            </p:cNvPr>
            <p:cNvCxnSpPr>
              <a:cxnSpLocks/>
            </p:cNvCxnSpPr>
            <p:nvPr/>
          </p:nvCxnSpPr>
          <p:spPr>
            <a:xfrm flipH="1">
              <a:off x="3639312" y="2596896"/>
              <a:ext cx="319139" cy="310896"/>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Content Placeholder 2">
            <a:extLst>
              <a:ext uri="{FF2B5EF4-FFF2-40B4-BE49-F238E27FC236}">
                <a16:creationId xmlns:a16="http://schemas.microsoft.com/office/drawing/2014/main" id="{A57246B6-9E82-9E0F-4B40-B60DAB24D2B5}"/>
              </a:ext>
            </a:extLst>
          </p:cNvPr>
          <p:cNvSpPr txBox="1">
            <a:spLocks/>
          </p:cNvSpPr>
          <p:nvPr/>
        </p:nvSpPr>
        <p:spPr>
          <a:xfrm>
            <a:off x="630610" y="3760454"/>
            <a:ext cx="11055578" cy="1716337"/>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rgbClr val="1082F2"/>
                </a:solidFill>
              </a:rPr>
              <a:t>Self</a:t>
            </a:r>
          </a:p>
          <a:p>
            <a:pPr marL="0" indent="0">
              <a:buFont typeface="Arial" panose="020B0604020202020204" pitchFamily="34" charset="0"/>
              <a:buNone/>
            </a:pPr>
            <a:r>
              <a:rPr lang="en-US" sz="1400" dirty="0">
                <a:solidFill>
                  <a:srgbClr val="000000"/>
                </a:solidFill>
                <a:latin typeface="Helvetica" panose="020B0604020202020204" pitchFamily="34" charset="0"/>
              </a:rPr>
              <a:t>The 'self' keyword provide access to the Actor state. It is kept between executions of the same actor </a:t>
            </a:r>
            <a:endParaRPr lang="en-US" sz="1200" dirty="0">
              <a:solidFill>
                <a:srgbClr val="000000"/>
              </a:solidFill>
              <a:latin typeface="Helvetica" panose="020B0604020202020204" pitchFamily="34" charset="0"/>
            </a:endParaRPr>
          </a:p>
        </p:txBody>
      </p:sp>
      <p:pic>
        <p:nvPicPr>
          <p:cNvPr id="17" name="Picture 16">
            <a:extLst>
              <a:ext uri="{FF2B5EF4-FFF2-40B4-BE49-F238E27FC236}">
                <a16:creationId xmlns:a16="http://schemas.microsoft.com/office/drawing/2014/main" id="{9DC78261-40E9-AB04-9C48-8DE495AE28A8}"/>
              </a:ext>
            </a:extLst>
          </p:cNvPr>
          <p:cNvPicPr>
            <a:picLocks noChangeAspect="1"/>
          </p:cNvPicPr>
          <p:nvPr/>
        </p:nvPicPr>
        <p:blipFill>
          <a:blip r:embed="rId4"/>
          <a:stretch>
            <a:fillRect/>
          </a:stretch>
        </p:blipFill>
        <p:spPr>
          <a:xfrm>
            <a:off x="3631229" y="4477068"/>
            <a:ext cx="7645143" cy="2058771"/>
          </a:xfrm>
          <a:prstGeom prst="rect">
            <a:avLst/>
          </a:prstGeom>
        </p:spPr>
      </p:pic>
      <p:pic>
        <p:nvPicPr>
          <p:cNvPr id="20" name="Picture 19">
            <a:extLst>
              <a:ext uri="{FF2B5EF4-FFF2-40B4-BE49-F238E27FC236}">
                <a16:creationId xmlns:a16="http://schemas.microsoft.com/office/drawing/2014/main" id="{D7CF1C0C-A590-D848-6176-8768ED0F65EF}"/>
              </a:ext>
            </a:extLst>
          </p:cNvPr>
          <p:cNvPicPr>
            <a:picLocks noChangeAspect="1"/>
          </p:cNvPicPr>
          <p:nvPr/>
        </p:nvPicPr>
        <p:blipFill>
          <a:blip r:embed="rId5"/>
          <a:stretch>
            <a:fillRect/>
          </a:stretch>
        </p:blipFill>
        <p:spPr>
          <a:xfrm>
            <a:off x="3300984" y="5330501"/>
            <a:ext cx="832353" cy="1334905"/>
          </a:xfrm>
          <a:prstGeom prst="rect">
            <a:avLst/>
          </a:prstGeom>
        </p:spPr>
      </p:pic>
      <p:cxnSp>
        <p:nvCxnSpPr>
          <p:cNvPr id="21" name="Straight Arrow Connector 20">
            <a:extLst>
              <a:ext uri="{FF2B5EF4-FFF2-40B4-BE49-F238E27FC236}">
                <a16:creationId xmlns:a16="http://schemas.microsoft.com/office/drawing/2014/main" id="{691B5EFB-D72C-31B1-229B-16C477FF9074}"/>
              </a:ext>
            </a:extLst>
          </p:cNvPr>
          <p:cNvCxnSpPr>
            <a:cxnSpLocks/>
          </p:cNvCxnSpPr>
          <p:nvPr/>
        </p:nvCxnSpPr>
        <p:spPr>
          <a:xfrm flipH="1">
            <a:off x="4187952" y="5230368"/>
            <a:ext cx="374904" cy="338328"/>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3982176"/>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98D69-C69E-6C5E-34D7-3C836ABD1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6A0A1-CD32-6082-58BE-663833120B29}"/>
              </a:ext>
            </a:extLst>
          </p:cNvPr>
          <p:cNvSpPr>
            <a:spLocks noGrp="1"/>
          </p:cNvSpPr>
          <p:nvPr>
            <p:ph type="title"/>
          </p:nvPr>
        </p:nvSpPr>
        <p:spPr/>
        <p:txBody>
          <a:bodyPr>
            <a:normAutofit/>
          </a:bodyPr>
          <a:lstStyle/>
          <a:p>
            <a:r>
              <a:rPr lang="en-US" b="1" dirty="0"/>
              <a:t>JavaScript</a:t>
            </a:r>
            <a:endParaRPr lang="en-US" dirty="0"/>
          </a:p>
        </p:txBody>
      </p:sp>
      <p:sp>
        <p:nvSpPr>
          <p:cNvPr id="3" name="Content Placeholder 2">
            <a:extLst>
              <a:ext uri="{FF2B5EF4-FFF2-40B4-BE49-F238E27FC236}">
                <a16:creationId xmlns:a16="http://schemas.microsoft.com/office/drawing/2014/main" id="{D86C7210-52D0-F5B7-918A-BF765344D25F}"/>
              </a:ext>
            </a:extLst>
          </p:cNvPr>
          <p:cNvSpPr>
            <a:spLocks noGrp="1"/>
          </p:cNvSpPr>
          <p:nvPr>
            <p:ph idx="1"/>
          </p:nvPr>
        </p:nvSpPr>
        <p:spPr>
          <a:xfrm>
            <a:off x="658367" y="1102390"/>
            <a:ext cx="11055578" cy="1716337"/>
          </a:xfrm>
        </p:spPr>
        <p:txBody>
          <a:bodyPr>
            <a:normAutofit/>
          </a:bodyPr>
          <a:lstStyle/>
          <a:p>
            <a:pPr marL="0" indent="0">
              <a:buNone/>
            </a:pPr>
            <a:r>
              <a:rPr lang="en-US" sz="1800" dirty="0">
                <a:solidFill>
                  <a:srgbClr val="1082F2"/>
                </a:solidFill>
              </a:rPr>
              <a:t>Actor’s output</a:t>
            </a:r>
          </a:p>
          <a:p>
            <a:pPr marL="0" indent="0">
              <a:buNone/>
            </a:pPr>
            <a:r>
              <a:rPr lang="en-US" sz="1400" b="0" i="0" dirty="0">
                <a:solidFill>
                  <a:srgbClr val="000000"/>
                </a:solidFill>
                <a:effectLst/>
                <a:latin typeface="Helvetica" panose="020B0604020202020204" pitchFamily="34" charset="0"/>
              </a:rPr>
              <a:t>Actor’s output can be referenced by JavaScript code</a:t>
            </a:r>
            <a:br>
              <a:rPr lang="en-US" sz="1400" b="0" i="0" dirty="0">
                <a:solidFill>
                  <a:srgbClr val="000000"/>
                </a:solidFill>
                <a:effectLst/>
                <a:latin typeface="Helvetica" panose="020B0604020202020204" pitchFamily="34" charset="0"/>
              </a:rPr>
            </a:br>
            <a:endParaRPr lang="en-US" sz="1200" b="0" i="0" dirty="0">
              <a:solidFill>
                <a:srgbClr val="000000"/>
              </a:solidFill>
              <a:effectLst/>
              <a:latin typeface="Helvetica" panose="020B0604020202020204" pitchFamily="34" charset="0"/>
            </a:endParaRPr>
          </a:p>
        </p:txBody>
      </p:sp>
      <p:pic>
        <p:nvPicPr>
          <p:cNvPr id="5" name="Picture 4">
            <a:extLst>
              <a:ext uri="{FF2B5EF4-FFF2-40B4-BE49-F238E27FC236}">
                <a16:creationId xmlns:a16="http://schemas.microsoft.com/office/drawing/2014/main" id="{DDE953FF-FD74-7277-8704-2AE64105FF50}"/>
              </a:ext>
            </a:extLst>
          </p:cNvPr>
          <p:cNvPicPr>
            <a:picLocks noChangeAspect="1"/>
          </p:cNvPicPr>
          <p:nvPr/>
        </p:nvPicPr>
        <p:blipFill>
          <a:blip r:embed="rId2"/>
          <a:stretch>
            <a:fillRect/>
          </a:stretch>
        </p:blipFill>
        <p:spPr>
          <a:xfrm>
            <a:off x="3208021" y="2063007"/>
            <a:ext cx="5775958" cy="2731986"/>
          </a:xfrm>
          <a:prstGeom prst="rect">
            <a:avLst/>
          </a:prstGeom>
        </p:spPr>
      </p:pic>
    </p:spTree>
    <p:extLst>
      <p:ext uri="{BB962C8B-B14F-4D97-AF65-F5344CB8AC3E}">
        <p14:creationId xmlns:p14="http://schemas.microsoft.com/office/powerpoint/2010/main" val="2006963774"/>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3CBFA-5B78-0BCE-B47C-42FCC28633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908291-C055-6A0C-BE5E-EA9B1D1D1AD5}"/>
              </a:ext>
            </a:extLst>
          </p:cNvPr>
          <p:cNvSpPr>
            <a:spLocks noGrp="1"/>
          </p:cNvSpPr>
          <p:nvPr>
            <p:ph type="title"/>
          </p:nvPr>
        </p:nvSpPr>
        <p:spPr/>
        <p:txBody>
          <a:bodyPr>
            <a:normAutofit/>
          </a:bodyPr>
          <a:lstStyle/>
          <a:p>
            <a:r>
              <a:rPr lang="en-US" b="1" dirty="0"/>
              <a:t>Control Flows: Stage Conditions</a:t>
            </a:r>
            <a:endParaRPr lang="en-US" dirty="0"/>
          </a:p>
        </p:txBody>
      </p:sp>
      <p:sp>
        <p:nvSpPr>
          <p:cNvPr id="4" name="Content Placeholder 3">
            <a:extLst>
              <a:ext uri="{FF2B5EF4-FFF2-40B4-BE49-F238E27FC236}">
                <a16:creationId xmlns:a16="http://schemas.microsoft.com/office/drawing/2014/main" id="{BCC222AF-6B4E-3097-FF2E-0E5089776512}"/>
              </a:ext>
            </a:extLst>
          </p:cNvPr>
          <p:cNvSpPr>
            <a:spLocks noGrp="1"/>
          </p:cNvSpPr>
          <p:nvPr>
            <p:ph idx="1"/>
          </p:nvPr>
        </p:nvSpPr>
        <p:spPr/>
        <p:txBody>
          <a:bodyPr vert="horz" lIns="91440" tIns="45720" rIns="91440" bIns="45720" rtlCol="0" anchor="t">
            <a:normAutofit/>
          </a:bodyPr>
          <a:lstStyle/>
          <a:p>
            <a:pPr marL="0" indent="0">
              <a:buNone/>
            </a:pPr>
            <a:r>
              <a:rPr lang="en-US" sz="2800" dirty="0">
                <a:solidFill>
                  <a:schemeClr val="bg2">
                    <a:lumMod val="50000"/>
                  </a:schemeClr>
                </a:solidFill>
              </a:rPr>
              <a:t>The Stage Condition </a:t>
            </a:r>
            <a:r>
              <a:rPr lang="en-US" dirty="0">
                <a:solidFill>
                  <a:srgbClr val="2E2E2E"/>
                </a:solidFill>
                <a:latin typeface="Roboto"/>
                <a:ea typeface="Roboto"/>
                <a:cs typeface="Roboto"/>
              </a:rPr>
              <a:t>splits the flow execution based on a condition </a:t>
            </a:r>
          </a:p>
          <a:p>
            <a:r>
              <a:rPr lang="en-US" dirty="0"/>
              <a:t>If a Stage condition is </a:t>
            </a:r>
            <a:r>
              <a:rPr lang="en-US" b="1" dirty="0"/>
              <a:t>true</a:t>
            </a:r>
            <a:r>
              <a:rPr lang="en-US" dirty="0"/>
              <a:t>, the actors in the stage will be executed</a:t>
            </a:r>
          </a:p>
          <a:p>
            <a:r>
              <a:rPr lang="en-US" dirty="0"/>
              <a:t>If a Stage condition is </a:t>
            </a:r>
            <a:r>
              <a:rPr lang="en-US" b="1" dirty="0"/>
              <a:t>false</a:t>
            </a:r>
            <a:r>
              <a:rPr lang="en-US" dirty="0"/>
              <a:t>, the </a:t>
            </a:r>
            <a:r>
              <a:rPr lang="en-US" b="1" dirty="0"/>
              <a:t>ELSE</a:t>
            </a:r>
            <a:r>
              <a:rPr lang="en-US" dirty="0"/>
              <a:t> stage actors will be executed</a:t>
            </a:r>
          </a:p>
          <a:p>
            <a:r>
              <a:rPr lang="en-US" b="0" i="0" u="none" strike="noStrike" dirty="0">
                <a:solidFill>
                  <a:srgbClr val="000000"/>
                </a:solidFill>
                <a:effectLst/>
              </a:rPr>
              <a:t>Stages without Stage Conditions are </a:t>
            </a:r>
            <a:r>
              <a:rPr lang="en-US" b="1" i="0" u="none" strike="noStrike" dirty="0">
                <a:solidFill>
                  <a:srgbClr val="000000"/>
                </a:solidFill>
                <a:effectLst/>
              </a:rPr>
              <a:t>always executed</a:t>
            </a:r>
            <a:r>
              <a:rPr lang="en-US" b="0" i="0" u="none" strike="noStrike" dirty="0">
                <a:solidFill>
                  <a:srgbClr val="000000"/>
                </a:solidFill>
                <a:effectLst/>
              </a:rPr>
              <a:t> and don't affect Stages with Conditions.</a:t>
            </a:r>
          </a:p>
          <a:p>
            <a:pPr marL="198755" indent="-198755"/>
            <a:r>
              <a:rPr lang="en-US" dirty="0">
                <a:solidFill>
                  <a:srgbClr val="000000"/>
                </a:solidFill>
              </a:rPr>
              <a:t>Fabric does not support two ‘ELSE’ stages on the same stage (do not split 1 stage to multiple if-else conditions)</a:t>
            </a:r>
            <a:endParaRPr lang="en-US" dirty="0">
              <a:ea typeface="Calibri" panose="020F0502020204030204"/>
              <a:cs typeface="Calibri" panose="020F0502020204030204"/>
            </a:endParaRPr>
          </a:p>
          <a:p>
            <a:pPr lvl="1"/>
            <a:endParaRPr lang="en-US" sz="2000" dirty="0"/>
          </a:p>
        </p:txBody>
      </p:sp>
      <p:sp>
        <p:nvSpPr>
          <p:cNvPr id="2" name="Content Placeholder 3">
            <a:extLst>
              <a:ext uri="{FF2B5EF4-FFF2-40B4-BE49-F238E27FC236}">
                <a16:creationId xmlns:a16="http://schemas.microsoft.com/office/drawing/2014/main" id="{6D9AAE5C-17F6-C25A-AD9B-7C7CEED15640}"/>
              </a:ext>
            </a:extLst>
          </p:cNvPr>
          <p:cNvSpPr txBox="1">
            <a:spLocks/>
          </p:cNvSpPr>
          <p:nvPr/>
        </p:nvSpPr>
        <p:spPr>
          <a:xfrm>
            <a:off x="6800169" y="1387462"/>
            <a:ext cx="1658740" cy="273665"/>
          </a:xfrm>
          <a:prstGeom prst="rect">
            <a:avLst/>
          </a:prstGeom>
        </p:spPr>
        <p:txBody>
          <a:bodyPr vert="horz" lIns="91440" tIns="45720" rIns="91440" bIns="45720" rtlCol="0">
            <a:normAutofit fontScale="70000" lnSpcReduction="20000"/>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spcBef>
                <a:spcPts val="0"/>
              </a:spcBef>
              <a:buNone/>
            </a:pPr>
            <a:r>
              <a:rPr lang="en-US" sz="2000" dirty="0"/>
              <a:t>Example 1: If is true</a:t>
            </a:r>
          </a:p>
        </p:txBody>
      </p:sp>
      <p:sp>
        <p:nvSpPr>
          <p:cNvPr id="5" name="Content Placeholder 3">
            <a:extLst>
              <a:ext uri="{FF2B5EF4-FFF2-40B4-BE49-F238E27FC236}">
                <a16:creationId xmlns:a16="http://schemas.microsoft.com/office/drawing/2014/main" id="{F0CDAEDA-2A3D-5457-16ED-16D9DF728D2D}"/>
              </a:ext>
            </a:extLst>
          </p:cNvPr>
          <p:cNvSpPr txBox="1">
            <a:spLocks/>
          </p:cNvSpPr>
          <p:nvPr/>
        </p:nvSpPr>
        <p:spPr>
          <a:xfrm>
            <a:off x="9410969" y="1387462"/>
            <a:ext cx="1658740" cy="273665"/>
          </a:xfrm>
          <a:prstGeom prst="rect">
            <a:avLst/>
          </a:prstGeom>
        </p:spPr>
        <p:txBody>
          <a:bodyPr vert="horz" lIns="91440" tIns="45720" rIns="91440" bIns="45720" rtlCol="0">
            <a:normAutofit fontScale="70000" lnSpcReduction="20000"/>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spcBef>
                <a:spcPts val="0"/>
              </a:spcBef>
              <a:buNone/>
            </a:pPr>
            <a:r>
              <a:rPr lang="en-US" sz="2000" dirty="0"/>
              <a:t>Example 1: If is false</a:t>
            </a:r>
          </a:p>
        </p:txBody>
      </p:sp>
      <p:pic>
        <p:nvPicPr>
          <p:cNvPr id="11" name="Picture 10">
            <a:extLst>
              <a:ext uri="{FF2B5EF4-FFF2-40B4-BE49-F238E27FC236}">
                <a16:creationId xmlns:a16="http://schemas.microsoft.com/office/drawing/2014/main" id="{5E3BF491-5104-A1A8-CC09-F86EA79925CC}"/>
              </a:ext>
            </a:extLst>
          </p:cNvPr>
          <p:cNvPicPr>
            <a:picLocks noChangeAspect="1"/>
          </p:cNvPicPr>
          <p:nvPr/>
        </p:nvPicPr>
        <p:blipFill>
          <a:blip r:embed="rId3"/>
          <a:stretch>
            <a:fillRect/>
          </a:stretch>
        </p:blipFill>
        <p:spPr>
          <a:xfrm>
            <a:off x="9359419" y="1630910"/>
            <a:ext cx="1877266" cy="4787030"/>
          </a:xfrm>
          <a:prstGeom prst="rect">
            <a:avLst/>
          </a:prstGeom>
        </p:spPr>
      </p:pic>
      <p:pic>
        <p:nvPicPr>
          <p:cNvPr id="13" name="Picture 12">
            <a:extLst>
              <a:ext uri="{FF2B5EF4-FFF2-40B4-BE49-F238E27FC236}">
                <a16:creationId xmlns:a16="http://schemas.microsoft.com/office/drawing/2014/main" id="{CA123B39-E5CE-3667-0E46-7403EC7BDA8D}"/>
              </a:ext>
            </a:extLst>
          </p:cNvPr>
          <p:cNvPicPr>
            <a:picLocks noChangeAspect="1"/>
          </p:cNvPicPr>
          <p:nvPr/>
        </p:nvPicPr>
        <p:blipFill>
          <a:blip r:embed="rId4"/>
          <a:stretch>
            <a:fillRect/>
          </a:stretch>
        </p:blipFill>
        <p:spPr>
          <a:xfrm>
            <a:off x="6681096" y="1630908"/>
            <a:ext cx="1955990" cy="4787031"/>
          </a:xfrm>
          <a:prstGeom prst="rect">
            <a:avLst/>
          </a:prstGeom>
        </p:spPr>
      </p:pic>
    </p:spTree>
    <p:extLst>
      <p:ext uri="{BB962C8B-B14F-4D97-AF65-F5344CB8AC3E}">
        <p14:creationId xmlns:p14="http://schemas.microsoft.com/office/powerpoint/2010/main" val="4247963658"/>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AA704-9D85-B819-80A1-030C49E4572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236E731-8192-BE39-7C8C-A5CC9AEEB9DC}"/>
              </a:ext>
            </a:extLst>
          </p:cNvPr>
          <p:cNvSpPr>
            <a:spLocks noGrp="1"/>
          </p:cNvSpPr>
          <p:nvPr>
            <p:ph type="title"/>
          </p:nvPr>
        </p:nvSpPr>
        <p:spPr/>
        <p:txBody>
          <a:bodyPr>
            <a:normAutofit/>
          </a:bodyPr>
          <a:lstStyle/>
          <a:p>
            <a:r>
              <a:rPr lang="en-US" b="1" dirty="0"/>
              <a:t>Control Flows: Conditions Actors</a:t>
            </a:r>
            <a:endParaRPr lang="en-US" dirty="0"/>
          </a:p>
        </p:txBody>
      </p:sp>
      <p:sp>
        <p:nvSpPr>
          <p:cNvPr id="6" name="Content Placeholder 2">
            <a:extLst>
              <a:ext uri="{FF2B5EF4-FFF2-40B4-BE49-F238E27FC236}">
                <a16:creationId xmlns:a16="http://schemas.microsoft.com/office/drawing/2014/main" id="{EF4AD3A6-DB6E-3C1C-0DD5-D38AC3513326}"/>
              </a:ext>
            </a:extLst>
          </p:cNvPr>
          <p:cNvSpPr>
            <a:spLocks noGrp="1"/>
          </p:cNvSpPr>
          <p:nvPr>
            <p:ph idx="1"/>
          </p:nvPr>
        </p:nvSpPr>
        <p:spPr>
          <a:xfrm>
            <a:off x="861238" y="1181483"/>
            <a:ext cx="10026953" cy="5461238"/>
          </a:xfrm>
        </p:spPr>
        <p:txBody>
          <a:bodyPr vert="horz" lIns="91440" tIns="45720" rIns="91440" bIns="45720" rtlCol="0" anchor="t">
            <a:normAutofit/>
          </a:bodyPr>
          <a:lstStyle/>
          <a:p>
            <a:pPr marL="0" indent="0" fontAlgn="base">
              <a:buNone/>
            </a:pPr>
            <a:r>
              <a:rPr lang="en-US" sz="1800" dirty="0">
                <a:solidFill>
                  <a:srgbClr val="2E2E2E"/>
                </a:solidFill>
                <a:latin typeface="Roboto"/>
                <a:ea typeface="Roboto"/>
                <a:cs typeface="Roboto"/>
              </a:rPr>
              <a:t>Any actor can be a Stage Condition actor – the first output parameter is automatically checked for </a:t>
            </a:r>
            <a:r>
              <a:rPr lang="en-US" sz="1800" b="1" dirty="0">
                <a:solidFill>
                  <a:srgbClr val="2E2E2E"/>
                </a:solidFill>
                <a:latin typeface="Roboto"/>
                <a:ea typeface="Roboto"/>
                <a:cs typeface="Roboto"/>
              </a:rPr>
              <a:t>True/False</a:t>
            </a:r>
            <a:r>
              <a:rPr lang="en-US" sz="1800" dirty="0">
                <a:solidFill>
                  <a:srgbClr val="2E2E2E"/>
                </a:solidFill>
                <a:latin typeface="Roboto"/>
                <a:ea typeface="Roboto"/>
                <a:cs typeface="Roboto"/>
              </a:rPr>
              <a:t>.</a:t>
            </a:r>
            <a:br>
              <a:rPr lang="en-US" sz="1800" dirty="0">
                <a:solidFill>
                  <a:srgbClr val="2E2E2E"/>
                </a:solidFill>
                <a:latin typeface="Roboto"/>
                <a:ea typeface="Roboto"/>
                <a:cs typeface="Roboto"/>
              </a:rPr>
            </a:br>
            <a:r>
              <a:rPr lang="en-US" sz="1800" dirty="0">
                <a:solidFill>
                  <a:srgbClr val="2E2E2E"/>
                </a:solidFill>
                <a:latin typeface="Roboto"/>
                <a:ea typeface="Roboto"/>
                <a:cs typeface="Roboto"/>
              </a:rPr>
              <a:t>The output parameter doesn’t have to be a Boolean. The Broadway will automatically cast its type to Boolean.</a:t>
            </a:r>
            <a:br>
              <a:rPr lang="en-US" sz="1800" dirty="0">
                <a:solidFill>
                  <a:srgbClr val="2E2E2E"/>
                </a:solidFill>
                <a:latin typeface="Roboto"/>
                <a:ea typeface="Roboto"/>
                <a:cs typeface="Roboto"/>
              </a:rPr>
            </a:br>
            <a:endParaRPr lang="en-US" sz="1800" dirty="0">
              <a:solidFill>
                <a:srgbClr val="2E2E2E"/>
              </a:solidFill>
              <a:latin typeface="Roboto"/>
              <a:ea typeface="Roboto"/>
              <a:cs typeface="Roboto"/>
            </a:endParaRPr>
          </a:p>
          <a:p>
            <a:pPr marL="0" indent="0" algn="l" rtl="0" fontAlgn="base">
              <a:buNone/>
            </a:pPr>
            <a:endParaRPr lang="en-US" sz="1800" dirty="0">
              <a:solidFill>
                <a:srgbClr val="2E2E2E"/>
              </a:solidFill>
              <a:latin typeface="Roboto"/>
              <a:ea typeface="Roboto"/>
              <a:cs typeface="Roboto"/>
            </a:endParaRPr>
          </a:p>
          <a:p>
            <a:pPr marL="0" indent="0" algn="l" rtl="0" fontAlgn="base">
              <a:buNone/>
            </a:pPr>
            <a:endParaRPr lang="en-US" sz="1800" dirty="0">
              <a:solidFill>
                <a:srgbClr val="000000"/>
              </a:solidFill>
              <a:latin typeface="Segoe UI" panose="020B0502040204020203" pitchFamily="34" charset="0"/>
            </a:endParaRPr>
          </a:p>
          <a:p>
            <a:pPr marL="0" indent="0" algn="l" rtl="0" fontAlgn="base">
              <a:buNone/>
            </a:pPr>
            <a:endParaRPr lang="en-US" sz="1800" dirty="0">
              <a:solidFill>
                <a:srgbClr val="2E2E2E"/>
              </a:solidFill>
              <a:latin typeface="Roboto"/>
              <a:ea typeface="Roboto"/>
              <a:cs typeface="Roboto"/>
            </a:endParaRPr>
          </a:p>
          <a:p>
            <a:pPr marL="0" indent="0" algn="l" rtl="0" fontAlgn="base">
              <a:buNone/>
            </a:pPr>
            <a:endParaRPr lang="en-US" sz="1800" dirty="0">
              <a:solidFill>
                <a:srgbClr val="2E2E2E"/>
              </a:solidFill>
              <a:latin typeface="Roboto"/>
              <a:ea typeface="Roboto"/>
              <a:cs typeface="Roboto"/>
            </a:endParaRPr>
          </a:p>
          <a:p>
            <a:pPr marL="0" indent="0" algn="l" rtl="0" fontAlgn="base">
              <a:buNone/>
            </a:pPr>
            <a:endParaRPr lang="en-US" sz="1800" dirty="0">
              <a:solidFill>
                <a:srgbClr val="2E2E2E"/>
              </a:solidFill>
              <a:latin typeface="Roboto"/>
              <a:ea typeface="Roboto"/>
              <a:cs typeface="Roboto"/>
            </a:endParaRPr>
          </a:p>
          <a:p>
            <a:pPr marL="0" indent="0">
              <a:buNone/>
            </a:pPr>
            <a:endParaRPr lang="en-US" sz="1800" dirty="0">
              <a:solidFill>
                <a:srgbClr val="2E2E2E"/>
              </a:solidFill>
              <a:latin typeface="Roboto"/>
              <a:ea typeface="Roboto"/>
              <a:cs typeface="Roboto"/>
            </a:endParaRPr>
          </a:p>
          <a:p>
            <a:pPr marL="0" indent="0">
              <a:buNone/>
            </a:pPr>
            <a:endParaRPr lang="en-US" sz="1800" dirty="0">
              <a:solidFill>
                <a:srgbClr val="2E2E2E"/>
              </a:solidFill>
              <a:latin typeface="Roboto"/>
              <a:ea typeface="Roboto"/>
              <a:cs typeface="Roboto"/>
            </a:endParaRPr>
          </a:p>
        </p:txBody>
      </p:sp>
      <p:sp>
        <p:nvSpPr>
          <p:cNvPr id="7" name="AutoShape 4">
            <a:extLst>
              <a:ext uri="{FF2B5EF4-FFF2-40B4-BE49-F238E27FC236}">
                <a16:creationId xmlns:a16="http://schemas.microsoft.com/office/drawing/2014/main" id="{2243C09C-5C70-813D-9251-E9B3B6052F0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14" name="Rectangle 13">
            <a:hlinkClick r:id="rId3" action="ppaction://hlinksldjump"/>
            <a:extLst>
              <a:ext uri="{FF2B5EF4-FFF2-40B4-BE49-F238E27FC236}">
                <a16:creationId xmlns:a16="http://schemas.microsoft.com/office/drawing/2014/main" id="{51990FA2-477E-1EDA-9C34-45D83007AC61}"/>
              </a:ext>
            </a:extLst>
          </p:cNvPr>
          <p:cNvSpPr/>
          <p:nvPr/>
        </p:nvSpPr>
        <p:spPr>
          <a:xfrm>
            <a:off x="8382218" y="4694109"/>
            <a:ext cx="3019953" cy="1348882"/>
          </a:xfrm>
          <a:prstGeom prst="rect">
            <a:avLst/>
          </a:prstGeom>
          <a:solidFill>
            <a:schemeClr val="bg1"/>
          </a:solidFill>
          <a:ln w="28575">
            <a:solidFill>
              <a:schemeClr val="bg2"/>
            </a:solidFill>
          </a:ln>
          <a:effectLst>
            <a:outerShdw blurRad="157150" dist="145807" dir="6240000" sx="101824" sy="101824" algn="br" rotWithShape="0">
              <a:prstClr val="black">
                <a:alpha val="17111"/>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a:p>
        </p:txBody>
      </p:sp>
      <p:sp>
        <p:nvSpPr>
          <p:cNvPr id="17" name="TextBox 16">
            <a:extLst>
              <a:ext uri="{FF2B5EF4-FFF2-40B4-BE49-F238E27FC236}">
                <a16:creationId xmlns:a16="http://schemas.microsoft.com/office/drawing/2014/main" id="{18C2D7D9-D028-69C6-C8BB-96DB6A0D34E7}"/>
              </a:ext>
            </a:extLst>
          </p:cNvPr>
          <p:cNvSpPr txBox="1"/>
          <p:nvPr/>
        </p:nvSpPr>
        <p:spPr>
          <a:xfrm>
            <a:off x="9093968" y="4828273"/>
            <a:ext cx="2034434" cy="369332"/>
          </a:xfrm>
          <a:prstGeom prst="rect">
            <a:avLst/>
          </a:prstGeom>
          <a:noFill/>
        </p:spPr>
        <p:txBody>
          <a:bodyPr wrap="square">
            <a:spAutoFit/>
          </a:bodyPr>
          <a:lstStyle/>
          <a:p>
            <a:pPr marL="0" defTabSz="914400" rtl="0" eaLnBrk="1" latinLnBrk="0" hangingPunct="1"/>
            <a:r>
              <a:rPr lang="en-US" sz="1800" b="1"/>
              <a:t>Note:</a:t>
            </a:r>
          </a:p>
        </p:txBody>
      </p:sp>
      <p:sp>
        <p:nvSpPr>
          <p:cNvPr id="18" name="Content Placeholder 2">
            <a:extLst>
              <a:ext uri="{FF2B5EF4-FFF2-40B4-BE49-F238E27FC236}">
                <a16:creationId xmlns:a16="http://schemas.microsoft.com/office/drawing/2014/main" id="{57AA5E5C-5086-A041-4DD0-898A12D69086}"/>
              </a:ext>
            </a:extLst>
          </p:cNvPr>
          <p:cNvSpPr txBox="1">
            <a:spLocks/>
          </p:cNvSpPr>
          <p:nvPr/>
        </p:nvSpPr>
        <p:spPr>
          <a:xfrm>
            <a:off x="8577777" y="5409843"/>
            <a:ext cx="2689221" cy="577489"/>
          </a:xfrm>
          <a:prstGeom prst="rect">
            <a:avLst/>
          </a:prstGeom>
        </p:spPr>
        <p:txBody>
          <a:bodyPr vert="horz" lIns="91440" tIns="45720" rIns="91440" bIns="45720" rtlCol="0" anchor="t">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lumMod val="60000"/>
                    <a:lumOff val="40000"/>
                  </a:schemeClr>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lumMod val="60000"/>
                    <a:lumOff val="40000"/>
                  </a:schemeClr>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lumMod val="60000"/>
                    <a:lumOff val="40000"/>
                  </a:schemeClr>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00" rtl="0" eaLnBrk="1" latinLnBrk="0" hangingPunct="1">
              <a:buNone/>
            </a:pPr>
            <a:r>
              <a:rPr lang="en-US" sz="1400" b="0" i="0" u="none" strike="noStrike" dirty="0">
                <a:solidFill>
                  <a:srgbClr val="2E2E2E"/>
                </a:solidFill>
                <a:effectLst/>
                <a:latin typeface="Roboto" panose="02000000000000000000" pitchFamily="2" charset="0"/>
              </a:rPr>
              <a:t>The first Stage in the flow (root) cannot be split.</a:t>
            </a:r>
            <a:endParaRPr lang="en-US" sz="1600" dirty="0">
              <a:solidFill>
                <a:srgbClr val="3B3C47"/>
              </a:solidFill>
              <a:latin typeface="Calibri"/>
              <a:cs typeface="Calibri"/>
            </a:endParaRPr>
          </a:p>
        </p:txBody>
      </p:sp>
      <p:pic>
        <p:nvPicPr>
          <p:cNvPr id="19" name="Graphic 18">
            <a:extLst>
              <a:ext uri="{FF2B5EF4-FFF2-40B4-BE49-F238E27FC236}">
                <a16:creationId xmlns:a16="http://schemas.microsoft.com/office/drawing/2014/main" id="{404116D6-1652-00C2-0338-FFE1DBB59B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22428" y="4828273"/>
            <a:ext cx="439947" cy="439947"/>
          </a:xfrm>
          <a:prstGeom prst="rect">
            <a:avLst/>
          </a:prstGeom>
        </p:spPr>
      </p:pic>
      <p:pic>
        <p:nvPicPr>
          <p:cNvPr id="4" name="Picture 3">
            <a:extLst>
              <a:ext uri="{FF2B5EF4-FFF2-40B4-BE49-F238E27FC236}">
                <a16:creationId xmlns:a16="http://schemas.microsoft.com/office/drawing/2014/main" id="{3DC08A6A-FA8F-41BD-D8DA-62841CF58FE6}"/>
              </a:ext>
            </a:extLst>
          </p:cNvPr>
          <p:cNvPicPr>
            <a:picLocks noChangeAspect="1"/>
          </p:cNvPicPr>
          <p:nvPr/>
        </p:nvPicPr>
        <p:blipFill>
          <a:blip r:embed="rId5"/>
          <a:stretch>
            <a:fillRect/>
          </a:stretch>
        </p:blipFill>
        <p:spPr>
          <a:xfrm>
            <a:off x="861238" y="2739738"/>
            <a:ext cx="1512999" cy="3802761"/>
          </a:xfrm>
          <a:prstGeom prst="rect">
            <a:avLst/>
          </a:prstGeom>
        </p:spPr>
      </p:pic>
      <p:pic>
        <p:nvPicPr>
          <p:cNvPr id="15" name="Picture 14">
            <a:extLst>
              <a:ext uri="{FF2B5EF4-FFF2-40B4-BE49-F238E27FC236}">
                <a16:creationId xmlns:a16="http://schemas.microsoft.com/office/drawing/2014/main" id="{B80FCD8C-8663-295E-1AEC-B3387B5D7831}"/>
              </a:ext>
            </a:extLst>
          </p:cNvPr>
          <p:cNvPicPr>
            <a:picLocks noChangeAspect="1"/>
          </p:cNvPicPr>
          <p:nvPr/>
        </p:nvPicPr>
        <p:blipFill>
          <a:blip r:embed="rId6"/>
          <a:stretch>
            <a:fillRect/>
          </a:stretch>
        </p:blipFill>
        <p:spPr>
          <a:xfrm>
            <a:off x="2718353" y="2739737"/>
            <a:ext cx="1499681" cy="3802761"/>
          </a:xfrm>
          <a:prstGeom prst="rect">
            <a:avLst/>
          </a:prstGeom>
        </p:spPr>
      </p:pic>
      <p:pic>
        <p:nvPicPr>
          <p:cNvPr id="20" name="Picture 19">
            <a:extLst>
              <a:ext uri="{FF2B5EF4-FFF2-40B4-BE49-F238E27FC236}">
                <a16:creationId xmlns:a16="http://schemas.microsoft.com/office/drawing/2014/main" id="{87CB9050-1C7B-ADD2-761D-718B2D2814A4}"/>
              </a:ext>
            </a:extLst>
          </p:cNvPr>
          <p:cNvPicPr>
            <a:picLocks noChangeAspect="1"/>
          </p:cNvPicPr>
          <p:nvPr/>
        </p:nvPicPr>
        <p:blipFill>
          <a:blip r:embed="rId7"/>
          <a:stretch>
            <a:fillRect/>
          </a:stretch>
        </p:blipFill>
        <p:spPr>
          <a:xfrm>
            <a:off x="4562150" y="2739737"/>
            <a:ext cx="1521105" cy="3802762"/>
          </a:xfrm>
          <a:prstGeom prst="rect">
            <a:avLst/>
          </a:prstGeom>
        </p:spPr>
      </p:pic>
      <p:pic>
        <p:nvPicPr>
          <p:cNvPr id="22" name="Picture 21">
            <a:extLst>
              <a:ext uri="{FF2B5EF4-FFF2-40B4-BE49-F238E27FC236}">
                <a16:creationId xmlns:a16="http://schemas.microsoft.com/office/drawing/2014/main" id="{ADD0ED93-F4C7-ACBD-1BA9-AF9BD0F701DE}"/>
              </a:ext>
            </a:extLst>
          </p:cNvPr>
          <p:cNvPicPr>
            <a:picLocks noChangeAspect="1"/>
          </p:cNvPicPr>
          <p:nvPr/>
        </p:nvPicPr>
        <p:blipFill>
          <a:blip r:embed="rId8"/>
          <a:stretch>
            <a:fillRect/>
          </a:stretch>
        </p:blipFill>
        <p:spPr>
          <a:xfrm>
            <a:off x="6427371" y="2739737"/>
            <a:ext cx="1552286" cy="3802763"/>
          </a:xfrm>
          <a:prstGeom prst="rect">
            <a:avLst/>
          </a:prstGeom>
        </p:spPr>
      </p:pic>
      <p:sp>
        <p:nvSpPr>
          <p:cNvPr id="23" name="Content Placeholder 3">
            <a:extLst>
              <a:ext uri="{FF2B5EF4-FFF2-40B4-BE49-F238E27FC236}">
                <a16:creationId xmlns:a16="http://schemas.microsoft.com/office/drawing/2014/main" id="{CFC55FE7-CD5A-36D7-2E29-F5A22FF6444A}"/>
              </a:ext>
            </a:extLst>
          </p:cNvPr>
          <p:cNvSpPr txBox="1">
            <a:spLocks/>
          </p:cNvSpPr>
          <p:nvPr/>
        </p:nvSpPr>
        <p:spPr>
          <a:xfrm>
            <a:off x="861238" y="2466072"/>
            <a:ext cx="1658740" cy="273665"/>
          </a:xfrm>
          <a:prstGeom prst="rect">
            <a:avLst/>
          </a:prstGeom>
        </p:spPr>
        <p:txBody>
          <a:bodyPr vert="horz" lIns="91440" tIns="45720" rIns="91440" bIns="45720" rtlCol="0">
            <a:normAutofit fontScale="70000" lnSpcReduction="20000"/>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spcBef>
                <a:spcPts val="0"/>
              </a:spcBef>
              <a:buNone/>
            </a:pPr>
            <a:r>
              <a:rPr lang="en-US" sz="2000" dirty="0"/>
              <a:t>Boolean condition</a:t>
            </a:r>
          </a:p>
        </p:txBody>
      </p:sp>
      <p:sp>
        <p:nvSpPr>
          <p:cNvPr id="24" name="Content Placeholder 3">
            <a:extLst>
              <a:ext uri="{FF2B5EF4-FFF2-40B4-BE49-F238E27FC236}">
                <a16:creationId xmlns:a16="http://schemas.microsoft.com/office/drawing/2014/main" id="{33583EFC-BFE8-960F-7EAB-A69DCEAD637D}"/>
              </a:ext>
            </a:extLst>
          </p:cNvPr>
          <p:cNvSpPr txBox="1">
            <a:spLocks/>
          </p:cNvSpPr>
          <p:nvPr/>
        </p:nvSpPr>
        <p:spPr>
          <a:xfrm>
            <a:off x="2669193" y="2466072"/>
            <a:ext cx="1658740" cy="273665"/>
          </a:xfrm>
          <a:prstGeom prst="rect">
            <a:avLst/>
          </a:prstGeom>
        </p:spPr>
        <p:txBody>
          <a:bodyPr vert="horz" lIns="91440" tIns="45720" rIns="91440" bIns="45720" rtlCol="0">
            <a:normAutofit fontScale="70000" lnSpcReduction="20000"/>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spcBef>
                <a:spcPts val="0"/>
              </a:spcBef>
              <a:buNone/>
            </a:pPr>
            <a:endParaRPr lang="en-US" sz="2000" dirty="0"/>
          </a:p>
        </p:txBody>
      </p:sp>
      <p:sp>
        <p:nvSpPr>
          <p:cNvPr id="26" name="Content Placeholder 3">
            <a:extLst>
              <a:ext uri="{FF2B5EF4-FFF2-40B4-BE49-F238E27FC236}">
                <a16:creationId xmlns:a16="http://schemas.microsoft.com/office/drawing/2014/main" id="{3C992F44-CB80-1CD8-7A3B-09704E83D218}"/>
              </a:ext>
            </a:extLst>
          </p:cNvPr>
          <p:cNvSpPr txBox="1">
            <a:spLocks/>
          </p:cNvSpPr>
          <p:nvPr/>
        </p:nvSpPr>
        <p:spPr>
          <a:xfrm>
            <a:off x="2669193" y="2452997"/>
            <a:ext cx="1658740" cy="273665"/>
          </a:xfrm>
          <a:prstGeom prst="rect">
            <a:avLst/>
          </a:prstGeom>
        </p:spPr>
        <p:txBody>
          <a:bodyPr vert="horz" lIns="91440" tIns="45720" rIns="91440" bIns="45720" rtlCol="0">
            <a:normAutofit fontScale="70000" lnSpcReduction="20000"/>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spcBef>
                <a:spcPts val="0"/>
              </a:spcBef>
              <a:buNone/>
            </a:pPr>
            <a:r>
              <a:rPr lang="en-US" sz="2000" dirty="0"/>
              <a:t>0=false, != 0: True</a:t>
            </a:r>
          </a:p>
        </p:txBody>
      </p:sp>
      <p:sp>
        <p:nvSpPr>
          <p:cNvPr id="27" name="Content Placeholder 3">
            <a:extLst>
              <a:ext uri="{FF2B5EF4-FFF2-40B4-BE49-F238E27FC236}">
                <a16:creationId xmlns:a16="http://schemas.microsoft.com/office/drawing/2014/main" id="{577A3EA9-2CF2-36AD-7604-D2482D1226B8}"/>
              </a:ext>
            </a:extLst>
          </p:cNvPr>
          <p:cNvSpPr txBox="1">
            <a:spLocks/>
          </p:cNvSpPr>
          <p:nvPr/>
        </p:nvSpPr>
        <p:spPr>
          <a:xfrm>
            <a:off x="4477147" y="2194560"/>
            <a:ext cx="1950223" cy="519027"/>
          </a:xfrm>
          <a:prstGeom prst="rect">
            <a:avLst/>
          </a:prstGeom>
        </p:spPr>
        <p:txBody>
          <a:bodyPr vert="horz" lIns="91440" tIns="45720" rIns="91440" bIns="45720" rtlCol="0">
            <a:no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spcBef>
                <a:spcPts val="0"/>
              </a:spcBef>
              <a:buNone/>
            </a:pPr>
            <a:r>
              <a:rPr lang="en-US" sz="1400" dirty="0"/>
              <a:t>Empty string =false.</a:t>
            </a:r>
            <a:br>
              <a:rPr lang="en-US" sz="1400" dirty="0"/>
            </a:br>
            <a:r>
              <a:rPr lang="en-US" sz="1400" dirty="0"/>
              <a:t>Non-empty string = true</a:t>
            </a:r>
          </a:p>
        </p:txBody>
      </p:sp>
      <p:sp>
        <p:nvSpPr>
          <p:cNvPr id="28" name="Content Placeholder 3">
            <a:extLst>
              <a:ext uri="{FF2B5EF4-FFF2-40B4-BE49-F238E27FC236}">
                <a16:creationId xmlns:a16="http://schemas.microsoft.com/office/drawing/2014/main" id="{CC2A086E-85B5-28FC-545E-AE5657305ADC}"/>
              </a:ext>
            </a:extLst>
          </p:cNvPr>
          <p:cNvSpPr txBox="1">
            <a:spLocks/>
          </p:cNvSpPr>
          <p:nvPr/>
        </p:nvSpPr>
        <p:spPr>
          <a:xfrm>
            <a:off x="6431995" y="2194560"/>
            <a:ext cx="2190433" cy="519027"/>
          </a:xfrm>
          <a:prstGeom prst="rect">
            <a:avLst/>
          </a:prstGeom>
        </p:spPr>
        <p:txBody>
          <a:bodyPr vert="horz" lIns="91440" tIns="45720" rIns="91440" bIns="45720" rtlCol="0">
            <a:no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spcBef>
                <a:spcPts val="0"/>
              </a:spcBef>
              <a:buNone/>
            </a:pPr>
            <a:r>
              <a:rPr lang="en-US" sz="1400" dirty="0"/>
              <a:t>Inner flow: depends on the first output parameter</a:t>
            </a:r>
          </a:p>
        </p:txBody>
      </p:sp>
    </p:spTree>
    <p:extLst>
      <p:ext uri="{BB962C8B-B14F-4D97-AF65-F5344CB8AC3E}">
        <p14:creationId xmlns:p14="http://schemas.microsoft.com/office/powerpoint/2010/main" val="4108275544"/>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B9780-9F0C-41DA-C663-C7ABD5B42D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6809CA-D91A-ED6C-2493-3FF8E9FF4714}"/>
              </a:ext>
            </a:extLst>
          </p:cNvPr>
          <p:cNvSpPr>
            <a:spLocks noGrp="1"/>
          </p:cNvSpPr>
          <p:nvPr>
            <p:ph type="title"/>
          </p:nvPr>
        </p:nvSpPr>
        <p:spPr/>
        <p:txBody>
          <a:bodyPr>
            <a:normAutofit/>
          </a:bodyPr>
          <a:lstStyle/>
          <a:p>
            <a:r>
              <a:rPr lang="en-US" b="1"/>
              <a:t>Control Flows: </a:t>
            </a:r>
            <a:r>
              <a:rPr lang="en-US" b="1" err="1"/>
              <a:t>ElseIf</a:t>
            </a:r>
            <a:r>
              <a:rPr lang="en-US" b="1"/>
              <a:t> Stage Condition (v8.0+)</a:t>
            </a:r>
            <a:endParaRPr lang="en-US"/>
          </a:p>
        </p:txBody>
      </p:sp>
      <p:sp>
        <p:nvSpPr>
          <p:cNvPr id="4" name="Content Placeholder 3">
            <a:extLst>
              <a:ext uri="{FF2B5EF4-FFF2-40B4-BE49-F238E27FC236}">
                <a16:creationId xmlns:a16="http://schemas.microsoft.com/office/drawing/2014/main" id="{C043B012-CEC0-0DD6-D7A1-538144C001DE}"/>
              </a:ext>
            </a:extLst>
          </p:cNvPr>
          <p:cNvSpPr>
            <a:spLocks noGrp="1"/>
          </p:cNvSpPr>
          <p:nvPr>
            <p:ph idx="1"/>
          </p:nvPr>
        </p:nvSpPr>
        <p:spPr>
          <a:xfrm>
            <a:off x="862263" y="975904"/>
            <a:ext cx="4507899" cy="4245453"/>
          </a:xfrm>
        </p:spPr>
        <p:txBody>
          <a:bodyPr vert="horz" lIns="91440" tIns="45720" rIns="91440" bIns="45720" rtlCol="0" anchor="t">
            <a:normAutofit/>
          </a:bodyPr>
          <a:lstStyle/>
          <a:p>
            <a:pPr marL="198755" indent="-198755"/>
            <a:r>
              <a:rPr lang="en-US" sz="1600" dirty="0" err="1"/>
              <a:t>ElseIf</a:t>
            </a:r>
            <a:r>
              <a:rPr lang="en-US" sz="1600" dirty="0"/>
              <a:t> condition works when multiple Stages  exists at the same level.</a:t>
            </a:r>
            <a:endParaRPr lang="en-US" dirty="0"/>
          </a:p>
          <a:p>
            <a:pPr marL="198755" indent="-198755"/>
            <a:r>
              <a:rPr lang="en-US" sz="1600" dirty="0" err="1"/>
              <a:t>ElseIf</a:t>
            </a:r>
            <a:r>
              <a:rPr lang="en-US" sz="1600" dirty="0"/>
              <a:t> logic is defined by </a:t>
            </a:r>
            <a:r>
              <a:rPr lang="en-US" sz="1600" b="1" dirty="0"/>
              <a:t>adding Stage Condition </a:t>
            </a:r>
            <a:r>
              <a:rPr lang="en-US" sz="1600" dirty="0"/>
              <a:t>and marking the same stage as </a:t>
            </a:r>
            <a:r>
              <a:rPr lang="en-US" sz="1600" b="1" dirty="0"/>
              <a:t>else.</a:t>
            </a:r>
            <a:endParaRPr lang="en-US" sz="1600" b="1" dirty="0">
              <a:ea typeface="Calibri" panose="020F0502020204030204"/>
              <a:cs typeface="Calibri" panose="020F0502020204030204"/>
            </a:endParaRPr>
          </a:p>
          <a:p>
            <a:pPr marL="198755" indent="-198755"/>
            <a:endParaRPr lang="en-US" sz="1600" dirty="0">
              <a:ea typeface="Calibri" panose="020F0502020204030204"/>
              <a:cs typeface="Calibri" panose="020F0502020204030204"/>
            </a:endParaRPr>
          </a:p>
          <a:p>
            <a:pPr lvl="1"/>
            <a:endParaRPr lang="en-US" sz="1600" dirty="0"/>
          </a:p>
        </p:txBody>
      </p:sp>
      <p:pic>
        <p:nvPicPr>
          <p:cNvPr id="7" name="Picture 6">
            <a:extLst>
              <a:ext uri="{FF2B5EF4-FFF2-40B4-BE49-F238E27FC236}">
                <a16:creationId xmlns:a16="http://schemas.microsoft.com/office/drawing/2014/main" id="{431CDA0F-64B4-E58F-532A-8744674F3F80}"/>
              </a:ext>
            </a:extLst>
          </p:cNvPr>
          <p:cNvPicPr>
            <a:picLocks noChangeAspect="1"/>
          </p:cNvPicPr>
          <p:nvPr/>
        </p:nvPicPr>
        <p:blipFill>
          <a:blip r:embed="rId3"/>
          <a:stretch>
            <a:fillRect/>
          </a:stretch>
        </p:blipFill>
        <p:spPr>
          <a:xfrm>
            <a:off x="5370163" y="975904"/>
            <a:ext cx="1678523" cy="5672869"/>
          </a:xfrm>
          <a:prstGeom prst="rect">
            <a:avLst/>
          </a:prstGeom>
        </p:spPr>
      </p:pic>
      <p:pic>
        <p:nvPicPr>
          <p:cNvPr id="9" name="Picture 8">
            <a:extLst>
              <a:ext uri="{FF2B5EF4-FFF2-40B4-BE49-F238E27FC236}">
                <a16:creationId xmlns:a16="http://schemas.microsoft.com/office/drawing/2014/main" id="{03EF5647-3C42-1AD1-2D6A-2DBE40B54E08}"/>
              </a:ext>
            </a:extLst>
          </p:cNvPr>
          <p:cNvPicPr>
            <a:picLocks noChangeAspect="1"/>
          </p:cNvPicPr>
          <p:nvPr/>
        </p:nvPicPr>
        <p:blipFill>
          <a:blip r:embed="rId4"/>
          <a:stretch>
            <a:fillRect/>
          </a:stretch>
        </p:blipFill>
        <p:spPr>
          <a:xfrm>
            <a:off x="7505045" y="975903"/>
            <a:ext cx="1723403" cy="5672869"/>
          </a:xfrm>
          <a:prstGeom prst="rect">
            <a:avLst/>
          </a:prstGeom>
        </p:spPr>
      </p:pic>
      <p:pic>
        <p:nvPicPr>
          <p:cNvPr id="10" name="Picture 9">
            <a:extLst>
              <a:ext uri="{FF2B5EF4-FFF2-40B4-BE49-F238E27FC236}">
                <a16:creationId xmlns:a16="http://schemas.microsoft.com/office/drawing/2014/main" id="{7CDB4877-6A89-E5D9-336D-182B004BD8BF}"/>
              </a:ext>
            </a:extLst>
          </p:cNvPr>
          <p:cNvPicPr>
            <a:picLocks noChangeAspect="1"/>
          </p:cNvPicPr>
          <p:nvPr/>
        </p:nvPicPr>
        <p:blipFill>
          <a:blip r:embed="rId5"/>
          <a:stretch>
            <a:fillRect/>
          </a:stretch>
        </p:blipFill>
        <p:spPr>
          <a:xfrm>
            <a:off x="9684807" y="975903"/>
            <a:ext cx="1705452" cy="5672869"/>
          </a:xfrm>
          <a:prstGeom prst="rect">
            <a:avLst/>
          </a:prstGeom>
        </p:spPr>
      </p:pic>
    </p:spTree>
    <p:extLst>
      <p:ext uri="{BB962C8B-B14F-4D97-AF65-F5344CB8AC3E}">
        <p14:creationId xmlns:p14="http://schemas.microsoft.com/office/powerpoint/2010/main" val="2799924627"/>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AD552-0950-9309-71C2-CB6FFAF848E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C85E38D-0382-869D-CEAC-B6CAE4A155F1}"/>
              </a:ext>
            </a:extLst>
          </p:cNvPr>
          <p:cNvSpPr>
            <a:spLocks noGrp="1"/>
          </p:cNvSpPr>
          <p:nvPr>
            <p:ph type="title"/>
          </p:nvPr>
        </p:nvSpPr>
        <p:spPr/>
        <p:txBody>
          <a:bodyPr>
            <a:normAutofit/>
          </a:bodyPr>
          <a:lstStyle/>
          <a:p>
            <a:r>
              <a:rPr lang="en-US" b="1"/>
              <a:t>Control Flows: </a:t>
            </a:r>
            <a:r>
              <a:rPr lang="en-US" b="1" err="1"/>
              <a:t>ElseIf</a:t>
            </a:r>
            <a:r>
              <a:rPr lang="en-US" b="1"/>
              <a:t> Stage Condition (v8.0+)</a:t>
            </a:r>
            <a:endParaRPr lang="en-US"/>
          </a:p>
        </p:txBody>
      </p:sp>
      <p:sp>
        <p:nvSpPr>
          <p:cNvPr id="4" name="Content Placeholder 3">
            <a:extLst>
              <a:ext uri="{FF2B5EF4-FFF2-40B4-BE49-F238E27FC236}">
                <a16:creationId xmlns:a16="http://schemas.microsoft.com/office/drawing/2014/main" id="{5B4ED9A2-F23D-F574-AD96-3A8E7FCB05F5}"/>
              </a:ext>
            </a:extLst>
          </p:cNvPr>
          <p:cNvSpPr>
            <a:spLocks noGrp="1"/>
          </p:cNvSpPr>
          <p:nvPr>
            <p:ph idx="1"/>
          </p:nvPr>
        </p:nvSpPr>
        <p:spPr>
          <a:xfrm>
            <a:off x="862263" y="975904"/>
            <a:ext cx="4507899" cy="4245453"/>
          </a:xfrm>
        </p:spPr>
        <p:txBody>
          <a:bodyPr vert="horz" lIns="91440" tIns="45720" rIns="91440" bIns="45720" rtlCol="0" anchor="t">
            <a:normAutofit/>
          </a:bodyPr>
          <a:lstStyle/>
          <a:p>
            <a:pPr marL="198755" indent="-198755"/>
            <a:r>
              <a:rPr lang="en-US" sz="1600" dirty="0"/>
              <a:t>The condition evaluation order (top to bottom):</a:t>
            </a:r>
            <a:endParaRPr lang="en-US" sz="1600" dirty="0">
              <a:ea typeface="Calibri" panose="020F0502020204030204"/>
              <a:cs typeface="Calibri" panose="020F0502020204030204"/>
            </a:endParaRPr>
          </a:p>
          <a:p>
            <a:pPr lvl="1"/>
            <a:r>
              <a:rPr lang="en-US" sz="1400" dirty="0"/>
              <a:t>Stage with a condition only (no else)</a:t>
            </a:r>
          </a:p>
          <a:p>
            <a:pPr lvl="1"/>
            <a:r>
              <a:rPr lang="en-US" sz="1400" dirty="0"/>
              <a:t>Stage with else and condition</a:t>
            </a:r>
          </a:p>
          <a:p>
            <a:pPr lvl="1"/>
            <a:r>
              <a:rPr lang="en-US" sz="1400" dirty="0"/>
              <a:t>Else stage ( default fallback)</a:t>
            </a:r>
            <a:endParaRPr lang="en-US" sz="1400" dirty="0">
              <a:ea typeface="Calibri"/>
              <a:cs typeface="Calibri"/>
            </a:endParaRPr>
          </a:p>
          <a:p>
            <a:pPr marL="457200" lvl="1" indent="0">
              <a:buNone/>
            </a:pPr>
            <a:endParaRPr lang="en-US" sz="1400" b="1" dirty="0"/>
          </a:p>
          <a:p>
            <a:pPr marL="198755" indent="-198755"/>
            <a:endParaRPr lang="en-US" sz="1600" dirty="0">
              <a:ea typeface="Calibri" panose="020F0502020204030204"/>
              <a:cs typeface="Calibri" panose="020F0502020204030204"/>
            </a:endParaRPr>
          </a:p>
          <a:p>
            <a:pPr lvl="1"/>
            <a:endParaRPr lang="en-US" sz="1600" dirty="0"/>
          </a:p>
        </p:txBody>
      </p:sp>
      <p:pic>
        <p:nvPicPr>
          <p:cNvPr id="8" name="Picture 7">
            <a:extLst>
              <a:ext uri="{FF2B5EF4-FFF2-40B4-BE49-F238E27FC236}">
                <a16:creationId xmlns:a16="http://schemas.microsoft.com/office/drawing/2014/main" id="{8D0CF24B-47D7-6290-5032-EC1126E0EAC9}"/>
              </a:ext>
            </a:extLst>
          </p:cNvPr>
          <p:cNvPicPr>
            <a:picLocks noChangeAspect="1"/>
          </p:cNvPicPr>
          <p:nvPr/>
        </p:nvPicPr>
        <p:blipFill>
          <a:blip r:embed="rId3"/>
          <a:stretch>
            <a:fillRect/>
          </a:stretch>
        </p:blipFill>
        <p:spPr>
          <a:xfrm>
            <a:off x="5607896" y="975904"/>
            <a:ext cx="2616667" cy="5145625"/>
          </a:xfrm>
          <a:prstGeom prst="rect">
            <a:avLst/>
          </a:prstGeom>
        </p:spPr>
      </p:pic>
    </p:spTree>
    <p:extLst>
      <p:ext uri="{BB962C8B-B14F-4D97-AF65-F5344CB8AC3E}">
        <p14:creationId xmlns:p14="http://schemas.microsoft.com/office/powerpoint/2010/main" val="1564194805"/>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D6688-DCD0-844B-36DF-85FAC1C6C82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A94C7F-1CB7-32C4-F612-6CF38FB06CF0}"/>
              </a:ext>
            </a:extLst>
          </p:cNvPr>
          <p:cNvSpPr>
            <a:spLocks noGrp="1"/>
          </p:cNvSpPr>
          <p:nvPr>
            <p:ph type="title"/>
          </p:nvPr>
        </p:nvSpPr>
        <p:spPr/>
        <p:txBody>
          <a:bodyPr>
            <a:normAutofit/>
          </a:bodyPr>
          <a:lstStyle/>
          <a:p>
            <a:r>
              <a:rPr lang="en-US" b="1"/>
              <a:t>Control Flows: Merged Stage</a:t>
            </a:r>
            <a:endParaRPr lang="en-US"/>
          </a:p>
        </p:txBody>
      </p:sp>
      <p:sp>
        <p:nvSpPr>
          <p:cNvPr id="4" name="Content Placeholder 3">
            <a:extLst>
              <a:ext uri="{FF2B5EF4-FFF2-40B4-BE49-F238E27FC236}">
                <a16:creationId xmlns:a16="http://schemas.microsoft.com/office/drawing/2014/main" id="{73CC7339-4874-14EC-6C74-6169C24DF5AE}"/>
              </a:ext>
            </a:extLst>
          </p:cNvPr>
          <p:cNvSpPr>
            <a:spLocks noGrp="1"/>
          </p:cNvSpPr>
          <p:nvPr>
            <p:ph idx="1"/>
          </p:nvPr>
        </p:nvSpPr>
        <p:spPr>
          <a:xfrm>
            <a:off x="862263" y="975904"/>
            <a:ext cx="10856495" cy="1561813"/>
          </a:xfrm>
        </p:spPr>
        <p:txBody>
          <a:bodyPr>
            <a:normAutofit lnSpcReduction="10000"/>
          </a:bodyPr>
          <a:lstStyle/>
          <a:p>
            <a:r>
              <a:rPr lang="en-US" dirty="0"/>
              <a:t>A merged Stage acts like </a:t>
            </a:r>
            <a:r>
              <a:rPr lang="en-US" b="1" dirty="0"/>
              <a:t>a joining point</a:t>
            </a:r>
            <a:r>
              <a:rPr lang="en-US" dirty="0"/>
              <a:t> after a Stage Condition splits a flow</a:t>
            </a:r>
          </a:p>
          <a:p>
            <a:r>
              <a:rPr lang="en-US" dirty="0"/>
              <a:t>A merged Stage runs only after all its parent Stages are executed.</a:t>
            </a:r>
          </a:p>
          <a:p>
            <a:r>
              <a:rPr lang="en-US" dirty="0"/>
              <a:t>If none of the parent branches executed (e.g., all Stage conditions are false), </a:t>
            </a:r>
            <a:r>
              <a:rPr lang="en-US" b="1" dirty="0"/>
              <a:t>the merged Stage will not execute.</a:t>
            </a:r>
            <a:endParaRPr lang="en-US" b="1" i="0" u="none" strike="noStrike" dirty="0">
              <a:solidFill>
                <a:srgbClr val="000000"/>
              </a:solidFill>
              <a:effectLst/>
            </a:endParaRPr>
          </a:p>
          <a:p>
            <a:endParaRPr lang="en-US" dirty="0"/>
          </a:p>
          <a:p>
            <a:pPr lvl="1"/>
            <a:endParaRPr lang="en-US" sz="1600" dirty="0"/>
          </a:p>
        </p:txBody>
      </p:sp>
      <p:pic>
        <p:nvPicPr>
          <p:cNvPr id="7" name="Picture 6">
            <a:extLst>
              <a:ext uri="{FF2B5EF4-FFF2-40B4-BE49-F238E27FC236}">
                <a16:creationId xmlns:a16="http://schemas.microsoft.com/office/drawing/2014/main" id="{CA2C3764-A97C-5A98-8857-6FD6FA819233}"/>
              </a:ext>
            </a:extLst>
          </p:cNvPr>
          <p:cNvPicPr>
            <a:picLocks noChangeAspect="1"/>
          </p:cNvPicPr>
          <p:nvPr/>
        </p:nvPicPr>
        <p:blipFill>
          <a:blip r:embed="rId3"/>
          <a:stretch>
            <a:fillRect/>
          </a:stretch>
        </p:blipFill>
        <p:spPr>
          <a:xfrm>
            <a:off x="2496709" y="2651768"/>
            <a:ext cx="3053445" cy="3692841"/>
          </a:xfrm>
          <a:prstGeom prst="rect">
            <a:avLst/>
          </a:prstGeom>
        </p:spPr>
      </p:pic>
      <p:pic>
        <p:nvPicPr>
          <p:cNvPr id="9" name="Picture 8">
            <a:extLst>
              <a:ext uri="{FF2B5EF4-FFF2-40B4-BE49-F238E27FC236}">
                <a16:creationId xmlns:a16="http://schemas.microsoft.com/office/drawing/2014/main" id="{02FDF167-131F-E1A5-CC18-9F18531B31C9}"/>
              </a:ext>
            </a:extLst>
          </p:cNvPr>
          <p:cNvPicPr>
            <a:picLocks noChangeAspect="1"/>
          </p:cNvPicPr>
          <p:nvPr/>
        </p:nvPicPr>
        <p:blipFill>
          <a:blip r:embed="rId4"/>
          <a:stretch>
            <a:fillRect/>
          </a:stretch>
        </p:blipFill>
        <p:spPr>
          <a:xfrm>
            <a:off x="6096000" y="2591841"/>
            <a:ext cx="3111890" cy="3752768"/>
          </a:xfrm>
          <a:prstGeom prst="rect">
            <a:avLst/>
          </a:prstGeom>
        </p:spPr>
      </p:pic>
      <p:sp>
        <p:nvSpPr>
          <p:cNvPr id="10" name="Content Placeholder 3">
            <a:extLst>
              <a:ext uri="{FF2B5EF4-FFF2-40B4-BE49-F238E27FC236}">
                <a16:creationId xmlns:a16="http://schemas.microsoft.com/office/drawing/2014/main" id="{D80D6AA2-ACE1-8F02-44F9-0A34257652A2}"/>
              </a:ext>
            </a:extLst>
          </p:cNvPr>
          <p:cNvSpPr txBox="1">
            <a:spLocks/>
          </p:cNvSpPr>
          <p:nvPr/>
        </p:nvSpPr>
        <p:spPr>
          <a:xfrm>
            <a:off x="2496708" y="2427948"/>
            <a:ext cx="3053445" cy="273664"/>
          </a:xfrm>
          <a:prstGeom prst="rect">
            <a:avLst/>
          </a:prstGeom>
        </p:spPr>
        <p:txBody>
          <a:bodyPr vert="horz" lIns="91440" tIns="45720" rIns="91440" bIns="45720" rtlCol="0">
            <a:normAutofit fontScale="70000" lnSpcReduction="20000"/>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spcBef>
                <a:spcPts val="0"/>
              </a:spcBef>
              <a:buNone/>
            </a:pPr>
            <a:r>
              <a:rPr lang="en-US" sz="2000" dirty="0"/>
              <a:t>Condition met – continue with the flow</a:t>
            </a:r>
          </a:p>
        </p:txBody>
      </p:sp>
      <p:sp>
        <p:nvSpPr>
          <p:cNvPr id="11" name="Content Placeholder 3">
            <a:extLst>
              <a:ext uri="{FF2B5EF4-FFF2-40B4-BE49-F238E27FC236}">
                <a16:creationId xmlns:a16="http://schemas.microsoft.com/office/drawing/2014/main" id="{35D1CADF-8BF3-3290-E380-09C642B163F0}"/>
              </a:ext>
            </a:extLst>
          </p:cNvPr>
          <p:cNvSpPr txBox="1">
            <a:spLocks/>
          </p:cNvSpPr>
          <p:nvPr/>
        </p:nvSpPr>
        <p:spPr>
          <a:xfrm>
            <a:off x="6040910" y="2353178"/>
            <a:ext cx="3214686" cy="300727"/>
          </a:xfrm>
          <a:prstGeom prst="rect">
            <a:avLst/>
          </a:prstGeom>
        </p:spPr>
        <p:txBody>
          <a:bodyPr vert="horz" lIns="91440" tIns="45720" rIns="91440" bIns="45720" rtlCol="0">
            <a:no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spcBef>
                <a:spcPts val="0"/>
              </a:spcBef>
              <a:buNone/>
            </a:pPr>
            <a:r>
              <a:rPr lang="en-US" sz="1400" dirty="0"/>
              <a:t>No condition met – break from the flow</a:t>
            </a:r>
          </a:p>
        </p:txBody>
      </p:sp>
    </p:spTree>
    <p:extLst>
      <p:ext uri="{BB962C8B-B14F-4D97-AF65-F5344CB8AC3E}">
        <p14:creationId xmlns:p14="http://schemas.microsoft.com/office/powerpoint/2010/main" val="3977582153"/>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07B13-556B-5ABF-2C25-DB12946A6F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6F44E5-82E7-D0F3-3841-FA37EC132125}"/>
              </a:ext>
            </a:extLst>
          </p:cNvPr>
          <p:cNvSpPr>
            <a:spLocks noGrp="1"/>
          </p:cNvSpPr>
          <p:nvPr>
            <p:ph type="title"/>
          </p:nvPr>
        </p:nvSpPr>
        <p:spPr/>
        <p:txBody>
          <a:bodyPr>
            <a:normAutofit/>
          </a:bodyPr>
          <a:lstStyle/>
          <a:p>
            <a:r>
              <a:rPr lang="en-US" b="1">
                <a:latin typeface="Roboto"/>
                <a:ea typeface="Roboto"/>
                <a:cs typeface="Roboto"/>
              </a:rPr>
              <a:t>Control Flows: </a:t>
            </a:r>
            <a:r>
              <a:rPr lang="en-US">
                <a:latin typeface="Roboto"/>
                <a:ea typeface="Roboto"/>
                <a:cs typeface="Roboto"/>
              </a:rPr>
              <a:t>Merged Stage - "Break" Behavior</a:t>
            </a:r>
            <a:endParaRPr lang="en-US"/>
          </a:p>
        </p:txBody>
      </p:sp>
      <p:sp>
        <p:nvSpPr>
          <p:cNvPr id="4" name="Content Placeholder 3">
            <a:extLst>
              <a:ext uri="{FF2B5EF4-FFF2-40B4-BE49-F238E27FC236}">
                <a16:creationId xmlns:a16="http://schemas.microsoft.com/office/drawing/2014/main" id="{39850471-AA53-66C3-F9BA-2CCCEDB17D06}"/>
              </a:ext>
            </a:extLst>
          </p:cNvPr>
          <p:cNvSpPr>
            <a:spLocks noGrp="1"/>
          </p:cNvSpPr>
          <p:nvPr>
            <p:ph idx="1"/>
          </p:nvPr>
        </p:nvSpPr>
        <p:spPr>
          <a:xfrm>
            <a:off x="324955" y="1298289"/>
            <a:ext cx="4799572" cy="1000361"/>
          </a:xfrm>
        </p:spPr>
        <p:txBody>
          <a:bodyPr vert="horz" lIns="91440" tIns="45720" rIns="91440" bIns="45720" rtlCol="0" anchor="t">
            <a:normAutofit/>
          </a:bodyPr>
          <a:lstStyle/>
          <a:p>
            <a:pPr marL="0" indent="0">
              <a:buNone/>
            </a:pPr>
            <a:r>
              <a:rPr lang="en-US" sz="1600"/>
              <a:t>If none of the parent branches executed (e.g., all Stage conditions are false), </a:t>
            </a:r>
            <a:r>
              <a:rPr lang="en-US" sz="1600" b="1"/>
              <a:t>the merged Stage is not executed and the flow will stop.</a:t>
            </a:r>
            <a:endParaRPr lang="en-US" sz="1600" b="1" i="0" u="none" strike="noStrike">
              <a:solidFill>
                <a:srgbClr val="3B3C47"/>
              </a:solidFill>
              <a:effectLst/>
              <a:ea typeface="Calibri" panose="020F0502020204030204"/>
              <a:cs typeface="Calibri" panose="020F0502020204030204"/>
            </a:endParaRPr>
          </a:p>
          <a:p>
            <a:pPr lvl="1"/>
            <a:endParaRPr lang="en-US" sz="1600">
              <a:ea typeface="Calibri" panose="020F0502020204030204"/>
              <a:cs typeface="Calibri" panose="020F0502020204030204"/>
            </a:endParaRPr>
          </a:p>
        </p:txBody>
      </p:sp>
      <p:pic>
        <p:nvPicPr>
          <p:cNvPr id="12" name="Picture 11" descr="A screenshot of a computer&#10;&#10;AI-generated content may be incorrect.">
            <a:extLst>
              <a:ext uri="{FF2B5EF4-FFF2-40B4-BE49-F238E27FC236}">
                <a16:creationId xmlns:a16="http://schemas.microsoft.com/office/drawing/2014/main" id="{987373F7-D07E-8C0F-0609-CEEE782FA6C8}"/>
              </a:ext>
            </a:extLst>
          </p:cNvPr>
          <p:cNvPicPr>
            <a:picLocks noChangeAspect="1"/>
          </p:cNvPicPr>
          <p:nvPr/>
        </p:nvPicPr>
        <p:blipFill>
          <a:blip r:embed="rId3"/>
          <a:stretch>
            <a:fillRect/>
          </a:stretch>
        </p:blipFill>
        <p:spPr>
          <a:xfrm>
            <a:off x="324703" y="2294548"/>
            <a:ext cx="4801821" cy="3802673"/>
          </a:xfrm>
          <a:prstGeom prst="rect">
            <a:avLst/>
          </a:prstGeom>
        </p:spPr>
      </p:pic>
      <p:sp>
        <p:nvSpPr>
          <p:cNvPr id="14" name="Content Placeholder 3">
            <a:extLst>
              <a:ext uri="{FF2B5EF4-FFF2-40B4-BE49-F238E27FC236}">
                <a16:creationId xmlns:a16="http://schemas.microsoft.com/office/drawing/2014/main" id="{DAA0E62A-89DF-A085-C618-C94CD9DC53EE}"/>
              </a:ext>
            </a:extLst>
          </p:cNvPr>
          <p:cNvSpPr txBox="1">
            <a:spLocks/>
          </p:cNvSpPr>
          <p:nvPr/>
        </p:nvSpPr>
        <p:spPr>
          <a:xfrm>
            <a:off x="5860201" y="1294380"/>
            <a:ext cx="6264957" cy="1000361"/>
          </a:xfrm>
          <a:prstGeom prst="rect">
            <a:avLst/>
          </a:prstGeom>
        </p:spPr>
        <p:txBody>
          <a:bodyPr vert="horz" lIns="91440" tIns="45720" rIns="91440" bIns="45720" rtlCol="0" anchor="t">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If </a:t>
            </a:r>
            <a:r>
              <a:rPr lang="en-US" sz="1600" dirty="0">
                <a:ea typeface="Calibri" panose="020F0502020204030204"/>
                <a:cs typeface="Calibri" panose="020F0502020204030204"/>
              </a:rPr>
              <a:t>the </a:t>
            </a:r>
            <a:r>
              <a:rPr lang="en-US" sz="1600" b="1" dirty="0">
                <a:ea typeface="Calibri" panose="020F0502020204030204"/>
                <a:cs typeface="Calibri" panose="020F0502020204030204"/>
              </a:rPr>
              <a:t>Merged Stage is inside a loop</a:t>
            </a:r>
            <a:r>
              <a:rPr lang="en-US" sz="1600" dirty="0">
                <a:ea typeface="Calibri" panose="020F0502020204030204"/>
                <a:cs typeface="Calibri" panose="020F0502020204030204"/>
              </a:rPr>
              <a:t> –  only the loop is skipped</a:t>
            </a:r>
            <a:endParaRPr lang="en-US" dirty="0">
              <a:ea typeface="Calibri" panose="020F0502020204030204"/>
              <a:cs typeface="Calibri" panose="020F0502020204030204"/>
            </a:endParaRPr>
          </a:p>
          <a:p>
            <a:pPr marL="198755" indent="-198755"/>
            <a:endParaRPr lang="en-US" sz="1600" dirty="0">
              <a:ea typeface="Calibri" panose="020F0502020204030204"/>
              <a:cs typeface="Calibri" panose="020F0502020204030204"/>
            </a:endParaRPr>
          </a:p>
          <a:p>
            <a:pPr lvl="1"/>
            <a:endParaRPr lang="en-US" sz="1600" dirty="0">
              <a:ea typeface="Calibri" panose="020F0502020204030204"/>
              <a:cs typeface="Calibri" panose="020F0502020204030204"/>
            </a:endParaRPr>
          </a:p>
        </p:txBody>
      </p:sp>
      <p:pic>
        <p:nvPicPr>
          <p:cNvPr id="5" name="Picture 4">
            <a:extLst>
              <a:ext uri="{FF2B5EF4-FFF2-40B4-BE49-F238E27FC236}">
                <a16:creationId xmlns:a16="http://schemas.microsoft.com/office/drawing/2014/main" id="{27FCB7F2-A533-D4C6-47C4-441C6A257AEF}"/>
              </a:ext>
            </a:extLst>
          </p:cNvPr>
          <p:cNvPicPr>
            <a:picLocks noChangeAspect="1"/>
          </p:cNvPicPr>
          <p:nvPr/>
        </p:nvPicPr>
        <p:blipFill>
          <a:blip r:embed="rId4"/>
          <a:stretch>
            <a:fillRect/>
          </a:stretch>
        </p:blipFill>
        <p:spPr>
          <a:xfrm>
            <a:off x="5706489" y="2288585"/>
            <a:ext cx="5855997" cy="3480100"/>
          </a:xfrm>
          <a:prstGeom prst="rect">
            <a:avLst/>
          </a:prstGeom>
        </p:spPr>
      </p:pic>
    </p:spTree>
    <p:extLst>
      <p:ext uri="{BB962C8B-B14F-4D97-AF65-F5344CB8AC3E}">
        <p14:creationId xmlns:p14="http://schemas.microsoft.com/office/powerpoint/2010/main" val="4027761400"/>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E8EDC-CE93-F6B0-F9AA-BD64FA7DC8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704A0BD-CEDD-5EFA-CC19-EE7D7C0889CA}"/>
              </a:ext>
            </a:extLst>
          </p:cNvPr>
          <p:cNvSpPr>
            <a:spLocks noGrp="1"/>
          </p:cNvSpPr>
          <p:nvPr>
            <p:ph type="title"/>
          </p:nvPr>
        </p:nvSpPr>
        <p:spPr>
          <a:xfrm>
            <a:off x="1318622" y="386169"/>
            <a:ext cx="9554756" cy="589735"/>
          </a:xfrm>
        </p:spPr>
        <p:txBody>
          <a:bodyPr anchor="ctr">
            <a:normAutofit/>
          </a:bodyPr>
          <a:lstStyle/>
          <a:p>
            <a:r>
              <a:rPr lang="en-US" b="1" dirty="0"/>
              <a:t>Control Flows: Condition Branch</a:t>
            </a:r>
            <a:endParaRPr lang="en-US" dirty="0"/>
          </a:p>
        </p:txBody>
      </p:sp>
      <p:pic>
        <p:nvPicPr>
          <p:cNvPr id="4" name="Picture 3">
            <a:extLst>
              <a:ext uri="{FF2B5EF4-FFF2-40B4-BE49-F238E27FC236}">
                <a16:creationId xmlns:a16="http://schemas.microsoft.com/office/drawing/2014/main" id="{F786BCB5-8AAA-9F25-F31C-047BE3DE56E7}"/>
              </a:ext>
            </a:extLst>
          </p:cNvPr>
          <p:cNvPicPr>
            <a:picLocks noChangeAspect="1"/>
          </p:cNvPicPr>
          <p:nvPr/>
        </p:nvPicPr>
        <p:blipFill>
          <a:blip r:embed="rId3"/>
          <a:stretch>
            <a:fillRect/>
          </a:stretch>
        </p:blipFill>
        <p:spPr>
          <a:xfrm>
            <a:off x="2600077" y="2056483"/>
            <a:ext cx="7322827" cy="4415348"/>
          </a:xfrm>
          <a:prstGeom prst="rect">
            <a:avLst/>
          </a:prstGeom>
        </p:spPr>
      </p:pic>
      <p:sp>
        <p:nvSpPr>
          <p:cNvPr id="5" name="Content Placeholder 3">
            <a:extLst>
              <a:ext uri="{FF2B5EF4-FFF2-40B4-BE49-F238E27FC236}">
                <a16:creationId xmlns:a16="http://schemas.microsoft.com/office/drawing/2014/main" id="{916E502E-432D-F988-3706-3FC61030ACAF}"/>
              </a:ext>
            </a:extLst>
          </p:cNvPr>
          <p:cNvSpPr>
            <a:spLocks noGrp="1"/>
          </p:cNvSpPr>
          <p:nvPr>
            <p:ph idx="1"/>
          </p:nvPr>
        </p:nvSpPr>
        <p:spPr>
          <a:xfrm>
            <a:off x="782541" y="1186926"/>
            <a:ext cx="9084704" cy="1309783"/>
          </a:xfrm>
        </p:spPr>
        <p:txBody>
          <a:bodyPr>
            <a:normAutofit/>
          </a:bodyPr>
          <a:lstStyle/>
          <a:p>
            <a:pPr marL="457200" lvl="1" indent="0">
              <a:buNone/>
            </a:pPr>
            <a:r>
              <a:rPr lang="en-US" sz="2000" dirty="0"/>
              <a:t>Split stages appear after the IF stage acts as a "branch" of the IF statement. Only the branch with the met condition will be executed.</a:t>
            </a:r>
          </a:p>
        </p:txBody>
      </p:sp>
    </p:spTree>
    <p:extLst>
      <p:ext uri="{BB962C8B-B14F-4D97-AF65-F5344CB8AC3E}">
        <p14:creationId xmlns:p14="http://schemas.microsoft.com/office/powerpoint/2010/main" val="1790786944"/>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7871AE-97EA-1241-DFDD-BA46E0D8AD2D}"/>
              </a:ext>
            </a:extLst>
          </p:cNvPr>
          <p:cNvSpPr>
            <a:spLocks noGrp="1"/>
          </p:cNvSpPr>
          <p:nvPr>
            <p:ph idx="19"/>
          </p:nvPr>
        </p:nvSpPr>
        <p:spPr/>
        <p:txBody>
          <a:bodyPr/>
          <a:lstStyle/>
          <a:p>
            <a:r>
              <a:rPr lang="en-US" sz="1800">
                <a:solidFill>
                  <a:schemeClr val="bg2">
                    <a:lumMod val="50000"/>
                  </a:schemeClr>
                </a:solidFill>
              </a:rPr>
              <a:t>Dynamic</a:t>
            </a:r>
            <a:r>
              <a:rPr lang="en-US"/>
              <a:t> </a:t>
            </a:r>
            <a:r>
              <a:rPr lang="en-US" sz="1800"/>
              <a:t>– Logic adapts in real-time to input data and conditions</a:t>
            </a:r>
            <a:endParaRPr lang="en-US"/>
          </a:p>
          <a:p>
            <a:r>
              <a:rPr lang="en-US" sz="1800">
                <a:solidFill>
                  <a:schemeClr val="bg2">
                    <a:lumMod val="50000"/>
                  </a:schemeClr>
                </a:solidFill>
              </a:rPr>
              <a:t>Scalable </a:t>
            </a:r>
            <a:r>
              <a:rPr lang="en-US" sz="1800"/>
              <a:t>– Efficiently process large sets, even with nested flows</a:t>
            </a:r>
            <a:endParaRPr lang="en-US"/>
          </a:p>
          <a:p>
            <a:r>
              <a:rPr lang="en-US" sz="1800">
                <a:solidFill>
                  <a:schemeClr val="bg2">
                    <a:lumMod val="50000"/>
                  </a:schemeClr>
                </a:solidFill>
              </a:rPr>
              <a:t>Visual</a:t>
            </a:r>
            <a:r>
              <a:rPr lang="en-US"/>
              <a:t> </a:t>
            </a:r>
            <a:r>
              <a:rPr lang="en-US" sz="1800"/>
              <a:t>– intuitive design and debugging. </a:t>
            </a:r>
          </a:p>
        </p:txBody>
      </p:sp>
      <p:sp>
        <p:nvSpPr>
          <p:cNvPr id="3" name="Title 2">
            <a:extLst>
              <a:ext uri="{FF2B5EF4-FFF2-40B4-BE49-F238E27FC236}">
                <a16:creationId xmlns:a16="http://schemas.microsoft.com/office/drawing/2014/main" id="{88A32126-235D-8D8B-9C3F-4AEE22268630}"/>
              </a:ext>
            </a:extLst>
          </p:cNvPr>
          <p:cNvSpPr>
            <a:spLocks noGrp="1"/>
          </p:cNvSpPr>
          <p:nvPr>
            <p:ph type="title"/>
          </p:nvPr>
        </p:nvSpPr>
        <p:spPr/>
        <p:txBody>
          <a:bodyPr>
            <a:normAutofit/>
          </a:bodyPr>
          <a:lstStyle/>
          <a:p>
            <a:r>
              <a:rPr lang="en-US" b="1"/>
              <a:t>Control Flows: Loops and Iterations</a:t>
            </a:r>
            <a:endParaRPr lang="en-US"/>
          </a:p>
        </p:txBody>
      </p:sp>
      <p:sp>
        <p:nvSpPr>
          <p:cNvPr id="4" name="Content Placeholder 3">
            <a:extLst>
              <a:ext uri="{FF2B5EF4-FFF2-40B4-BE49-F238E27FC236}">
                <a16:creationId xmlns:a16="http://schemas.microsoft.com/office/drawing/2014/main" id="{C46D6370-17BF-A640-CAE9-F89EE44A4AE3}"/>
              </a:ext>
            </a:extLst>
          </p:cNvPr>
          <p:cNvSpPr>
            <a:spLocks noGrp="1"/>
          </p:cNvSpPr>
          <p:nvPr>
            <p:ph idx="1"/>
          </p:nvPr>
        </p:nvSpPr>
        <p:spPr/>
        <p:txBody>
          <a:bodyPr>
            <a:normAutofit fontScale="92500" lnSpcReduction="10000"/>
          </a:bodyPr>
          <a:lstStyle/>
          <a:p>
            <a:r>
              <a:rPr lang="en-US">
                <a:solidFill>
                  <a:schemeClr val="bg2">
                    <a:lumMod val="50000"/>
                  </a:schemeClr>
                </a:solidFill>
              </a:rPr>
              <a:t>Iterations (</a:t>
            </a:r>
            <a:r>
              <a:rPr lang="en-US" err="1">
                <a:solidFill>
                  <a:schemeClr val="bg2">
                    <a:lumMod val="50000"/>
                  </a:schemeClr>
                </a:solidFill>
              </a:rPr>
              <a:t>ForEach</a:t>
            </a:r>
            <a:r>
              <a:rPr lang="en-US">
                <a:solidFill>
                  <a:schemeClr val="bg2">
                    <a:lumMod val="50000"/>
                  </a:schemeClr>
                </a:solidFill>
              </a:rPr>
              <a:t> Style)</a:t>
            </a:r>
          </a:p>
          <a:p>
            <a:pPr lvl="1"/>
            <a:r>
              <a:rPr lang="en-US"/>
              <a:t>Repeats logic over a real data set</a:t>
            </a:r>
          </a:p>
          <a:p>
            <a:pPr lvl="1"/>
            <a:r>
              <a:rPr lang="en-US"/>
              <a:t>Similar to for-each loops</a:t>
            </a:r>
          </a:p>
          <a:p>
            <a:pPr lvl="1"/>
            <a:r>
              <a:rPr lang="en-US"/>
              <a:t>Stops when no more records remain</a:t>
            </a:r>
          </a:p>
          <a:p>
            <a:r>
              <a:rPr lang="en-US">
                <a:solidFill>
                  <a:schemeClr val="bg2">
                    <a:lumMod val="50000"/>
                  </a:schemeClr>
                </a:solidFill>
              </a:rPr>
              <a:t>ForLoop Actor</a:t>
            </a:r>
          </a:p>
          <a:p>
            <a:pPr lvl="1"/>
            <a:r>
              <a:rPr lang="en-US"/>
              <a:t>Loops N times over a virtual data set</a:t>
            </a:r>
          </a:p>
          <a:p>
            <a:pPr lvl="1"/>
            <a:r>
              <a:rPr lang="en-US"/>
              <a:t>Based on a range of integers</a:t>
            </a:r>
          </a:p>
          <a:p>
            <a:r>
              <a:rPr lang="en-US">
                <a:solidFill>
                  <a:schemeClr val="bg2">
                    <a:lumMod val="50000"/>
                  </a:schemeClr>
                </a:solidFill>
              </a:rPr>
              <a:t>While Actor</a:t>
            </a:r>
          </a:p>
          <a:p>
            <a:pPr lvl="1"/>
            <a:r>
              <a:rPr lang="en-US"/>
              <a:t>Executes as long as a condition is true</a:t>
            </a:r>
          </a:p>
          <a:p>
            <a:pPr lvl="1"/>
            <a:r>
              <a:rPr lang="en-US"/>
              <a:t>Doesn’t require a data set.</a:t>
            </a:r>
          </a:p>
          <a:p>
            <a:r>
              <a:rPr lang="en-US" err="1">
                <a:solidFill>
                  <a:schemeClr val="bg2">
                    <a:lumMod val="50000"/>
                  </a:schemeClr>
                </a:solidFill>
              </a:rPr>
              <a:t>ForEach</a:t>
            </a:r>
            <a:r>
              <a:rPr lang="en-US">
                <a:solidFill>
                  <a:schemeClr val="bg2">
                    <a:lumMod val="50000"/>
                  </a:schemeClr>
                </a:solidFill>
              </a:rPr>
              <a:t> Actor</a:t>
            </a:r>
          </a:p>
          <a:p>
            <a:pPr lvl="1"/>
            <a:r>
              <a:rPr lang="en-US"/>
              <a:t>Traverses each value in a collection or stream</a:t>
            </a:r>
          </a:p>
          <a:p>
            <a:pPr lvl="1"/>
            <a:r>
              <a:rPr lang="en-US"/>
              <a:t>Invokes JavaScript and/or Broadway flow for each item</a:t>
            </a:r>
          </a:p>
          <a:p>
            <a:pPr lvl="1"/>
            <a:r>
              <a:rPr lang="en-US"/>
              <a:t>Acts as a stream termination point</a:t>
            </a:r>
          </a:p>
          <a:p>
            <a:pPr lvl="1"/>
            <a:endParaRPr lang="en-US"/>
          </a:p>
        </p:txBody>
      </p:sp>
      <p:sp>
        <p:nvSpPr>
          <p:cNvPr id="5" name="Content Placeholder 4">
            <a:extLst>
              <a:ext uri="{FF2B5EF4-FFF2-40B4-BE49-F238E27FC236}">
                <a16:creationId xmlns:a16="http://schemas.microsoft.com/office/drawing/2014/main" id="{0FB09AE9-F308-49B9-62FC-E6744EC93B3B}"/>
              </a:ext>
            </a:extLst>
          </p:cNvPr>
          <p:cNvSpPr>
            <a:spLocks noGrp="1"/>
          </p:cNvSpPr>
          <p:nvPr>
            <p:ph idx="20"/>
          </p:nvPr>
        </p:nvSpPr>
        <p:spPr/>
        <p:txBody>
          <a:bodyPr>
            <a:normAutofit lnSpcReduction="10000"/>
          </a:bodyPr>
          <a:lstStyle/>
          <a:p>
            <a:r>
              <a:rPr lang="en-US"/>
              <a:t>Flow Types</a:t>
            </a:r>
          </a:p>
        </p:txBody>
      </p:sp>
      <p:sp>
        <p:nvSpPr>
          <p:cNvPr id="6" name="Content Placeholder 5">
            <a:extLst>
              <a:ext uri="{FF2B5EF4-FFF2-40B4-BE49-F238E27FC236}">
                <a16:creationId xmlns:a16="http://schemas.microsoft.com/office/drawing/2014/main" id="{EED83B6F-89F3-C2D3-3854-61E3053EB275}"/>
              </a:ext>
            </a:extLst>
          </p:cNvPr>
          <p:cNvSpPr>
            <a:spLocks noGrp="1"/>
          </p:cNvSpPr>
          <p:nvPr>
            <p:ph idx="21"/>
          </p:nvPr>
        </p:nvSpPr>
        <p:spPr/>
        <p:txBody>
          <a:bodyPr>
            <a:normAutofit lnSpcReduction="10000"/>
          </a:bodyPr>
          <a:lstStyle/>
          <a:p>
            <a:r>
              <a:rPr lang="en-US"/>
              <a:t>Key Benefits</a:t>
            </a:r>
          </a:p>
        </p:txBody>
      </p:sp>
    </p:spTree>
    <p:extLst>
      <p:ext uri="{BB962C8B-B14F-4D97-AF65-F5344CB8AC3E}">
        <p14:creationId xmlns:p14="http://schemas.microsoft.com/office/powerpoint/2010/main" val="2672342254"/>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5A998-8FF0-B530-F26F-3EB4A4DB2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3B5C96-7456-D2D6-112D-B7D3F46B4C40}"/>
              </a:ext>
            </a:extLst>
          </p:cNvPr>
          <p:cNvSpPr>
            <a:spLocks noGrp="1"/>
          </p:cNvSpPr>
          <p:nvPr>
            <p:ph type="title"/>
          </p:nvPr>
        </p:nvSpPr>
        <p:spPr/>
        <p:txBody>
          <a:bodyPr>
            <a:normAutofit/>
          </a:bodyPr>
          <a:lstStyle/>
          <a:p>
            <a:pPr algn="ctr"/>
            <a:r>
              <a:rPr lang="en-GB"/>
              <a:t>Iterations </a:t>
            </a:r>
            <a:endParaRPr lang="en-IL"/>
          </a:p>
        </p:txBody>
      </p:sp>
      <p:sp>
        <p:nvSpPr>
          <p:cNvPr id="3" name="Content Placeholder 2">
            <a:extLst>
              <a:ext uri="{FF2B5EF4-FFF2-40B4-BE49-F238E27FC236}">
                <a16:creationId xmlns:a16="http://schemas.microsoft.com/office/drawing/2014/main" id="{9FAB95EC-C59B-1F8D-CB50-A262CA281A1B}"/>
              </a:ext>
            </a:extLst>
          </p:cNvPr>
          <p:cNvSpPr>
            <a:spLocks noGrp="1"/>
          </p:cNvSpPr>
          <p:nvPr>
            <p:ph idx="1"/>
          </p:nvPr>
        </p:nvSpPr>
        <p:spPr>
          <a:xfrm>
            <a:off x="3857063" y="1005242"/>
            <a:ext cx="8106338" cy="1401074"/>
          </a:xfrm>
        </p:spPr>
        <p:txBody>
          <a:bodyPr vert="horz" lIns="91440" tIns="45720" rIns="91440" bIns="45720" numCol="1" rtlCol="0" anchor="t">
            <a:normAutofit fontScale="92500"/>
          </a:bodyPr>
          <a:lstStyle/>
          <a:p>
            <a:r>
              <a:rPr lang="en-US" sz="2100">
                <a:solidFill>
                  <a:schemeClr val="bg2">
                    <a:lumMod val="50000"/>
                  </a:schemeClr>
                </a:solidFill>
              </a:rPr>
              <a:t>What are Iterations for?</a:t>
            </a:r>
          </a:p>
          <a:p>
            <a:pPr lvl="1"/>
            <a:r>
              <a:rPr lang="en-US"/>
              <a:t>Automate repetitive logic over data sets using iteration actors</a:t>
            </a:r>
            <a:endParaRPr lang="en-US" sz="1800"/>
          </a:p>
          <a:p>
            <a:pPr lvl="1"/>
            <a:r>
              <a:rPr lang="en-US"/>
              <a:t>Runs logic until all data has been processed</a:t>
            </a:r>
          </a:p>
          <a:p>
            <a:pPr lvl="1"/>
            <a:r>
              <a:rPr lang="en-US" sz="1700">
                <a:solidFill>
                  <a:srgbClr val="2E2E2E"/>
                </a:solidFill>
                <a:ea typeface="Roboto"/>
                <a:cs typeface="Roboto"/>
              </a:rPr>
              <a:t>Example: Iterate over Database result set, API/HTTP response, Kafka message stream</a:t>
            </a:r>
            <a:endParaRPr lang="en-US" sz="1900">
              <a:solidFill>
                <a:schemeClr val="bg2">
                  <a:lumMod val="50000"/>
                </a:schemeClr>
              </a:solidFill>
            </a:endParaRPr>
          </a:p>
          <a:p>
            <a:pPr lvl="1"/>
            <a:endParaRPr lang="en-US">
              <a:solidFill>
                <a:srgbClr val="2E2E2E"/>
              </a:solidFill>
              <a:latin typeface="Roboto"/>
              <a:ea typeface="Roboto"/>
              <a:cs typeface="Roboto"/>
            </a:endParaRPr>
          </a:p>
          <a:p>
            <a:pPr lvl="1"/>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p:txBody>
      </p:sp>
      <p:pic>
        <p:nvPicPr>
          <p:cNvPr id="11" name="Picture Placeholder 10" descr="A person standing on a mountain top&#10;&#10;Description automatically generated">
            <a:extLst>
              <a:ext uri="{FF2B5EF4-FFF2-40B4-BE49-F238E27FC236}">
                <a16:creationId xmlns:a16="http://schemas.microsoft.com/office/drawing/2014/main" id="{84CA839F-404C-DA7A-AF97-F4E60930454B}"/>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4112" r="34112"/>
          <a:stretch/>
        </p:blipFill>
        <p:spPr/>
      </p:pic>
      <p:sp>
        <p:nvSpPr>
          <p:cNvPr id="9" name="AutoShape 4">
            <a:extLst>
              <a:ext uri="{FF2B5EF4-FFF2-40B4-BE49-F238E27FC236}">
                <a16:creationId xmlns:a16="http://schemas.microsoft.com/office/drawing/2014/main" id="{A161FFF7-47B0-5F80-82B0-C9E9EDEE771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8" name="Picture 7">
            <a:extLst>
              <a:ext uri="{FF2B5EF4-FFF2-40B4-BE49-F238E27FC236}">
                <a16:creationId xmlns:a16="http://schemas.microsoft.com/office/drawing/2014/main" id="{BE9EC0DE-1B1B-3EEE-A433-6136729D1B1A}"/>
              </a:ext>
            </a:extLst>
          </p:cNvPr>
          <p:cNvPicPr>
            <a:picLocks noChangeAspect="1"/>
          </p:cNvPicPr>
          <p:nvPr/>
        </p:nvPicPr>
        <p:blipFill>
          <a:blip r:embed="rId4"/>
          <a:stretch>
            <a:fillRect/>
          </a:stretch>
        </p:blipFill>
        <p:spPr>
          <a:xfrm>
            <a:off x="3857063" y="5020411"/>
            <a:ext cx="7772400" cy="1664694"/>
          </a:xfrm>
          <a:prstGeom prst="rect">
            <a:avLst/>
          </a:prstGeom>
        </p:spPr>
      </p:pic>
      <p:pic>
        <p:nvPicPr>
          <p:cNvPr id="12" name="Picture 11">
            <a:extLst>
              <a:ext uri="{FF2B5EF4-FFF2-40B4-BE49-F238E27FC236}">
                <a16:creationId xmlns:a16="http://schemas.microsoft.com/office/drawing/2014/main" id="{BBCB2D4E-CFBE-10B4-FBCF-8F59D76814BC}"/>
              </a:ext>
            </a:extLst>
          </p:cNvPr>
          <p:cNvPicPr>
            <a:picLocks noChangeAspect="1"/>
          </p:cNvPicPr>
          <p:nvPr/>
        </p:nvPicPr>
        <p:blipFill>
          <a:blip r:embed="rId5"/>
          <a:stretch>
            <a:fillRect/>
          </a:stretch>
        </p:blipFill>
        <p:spPr>
          <a:xfrm>
            <a:off x="3857063" y="2358815"/>
            <a:ext cx="7772400" cy="2431221"/>
          </a:xfrm>
          <a:prstGeom prst="rect">
            <a:avLst/>
          </a:prstGeom>
        </p:spPr>
      </p:pic>
    </p:spTree>
    <p:extLst>
      <p:ext uri="{BB962C8B-B14F-4D97-AF65-F5344CB8AC3E}">
        <p14:creationId xmlns:p14="http://schemas.microsoft.com/office/powerpoint/2010/main" val="2003968107"/>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B3CA3-64D4-A0F8-2356-9F05AEC0A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9C8C01-1BDC-66F0-C778-3208816A4A4F}"/>
              </a:ext>
            </a:extLst>
          </p:cNvPr>
          <p:cNvSpPr>
            <a:spLocks noGrp="1"/>
          </p:cNvSpPr>
          <p:nvPr>
            <p:ph type="title"/>
          </p:nvPr>
        </p:nvSpPr>
        <p:spPr>
          <a:xfrm>
            <a:off x="4177553" y="403270"/>
            <a:ext cx="6695824" cy="487067"/>
          </a:xfrm>
        </p:spPr>
        <p:txBody>
          <a:bodyPr>
            <a:normAutofit fontScale="90000"/>
          </a:bodyPr>
          <a:lstStyle/>
          <a:p>
            <a:pPr algn="ctr"/>
            <a:r>
              <a:rPr lang="en-GB"/>
              <a:t>ForLoop</a:t>
            </a:r>
            <a:endParaRPr lang="en-IL"/>
          </a:p>
        </p:txBody>
      </p:sp>
      <p:sp>
        <p:nvSpPr>
          <p:cNvPr id="3" name="Content Placeholder 2">
            <a:extLst>
              <a:ext uri="{FF2B5EF4-FFF2-40B4-BE49-F238E27FC236}">
                <a16:creationId xmlns:a16="http://schemas.microsoft.com/office/drawing/2014/main" id="{CDC51296-4EA4-EB32-53E0-A8C5221316FD}"/>
              </a:ext>
            </a:extLst>
          </p:cNvPr>
          <p:cNvSpPr>
            <a:spLocks noGrp="1"/>
          </p:cNvSpPr>
          <p:nvPr>
            <p:ph idx="1"/>
          </p:nvPr>
        </p:nvSpPr>
        <p:spPr>
          <a:xfrm>
            <a:off x="3857063" y="911483"/>
            <a:ext cx="8106338" cy="1605611"/>
          </a:xfrm>
        </p:spPr>
        <p:txBody>
          <a:bodyPr vert="horz" lIns="91440" tIns="45720" rIns="91440" bIns="45720" numCol="1" rtlCol="0" anchor="t">
            <a:normAutofit fontScale="92500"/>
          </a:bodyPr>
          <a:lstStyle/>
          <a:p>
            <a:r>
              <a:rPr lang="en-US" sz="2100">
                <a:solidFill>
                  <a:schemeClr val="bg2">
                    <a:lumMod val="50000"/>
                  </a:schemeClr>
                </a:solidFill>
              </a:rPr>
              <a:t>What is a ForLoop?</a:t>
            </a:r>
            <a:endParaRPr lang="en-US" sz="1700">
              <a:solidFill>
                <a:srgbClr val="2E2E2E"/>
              </a:solidFill>
              <a:ea typeface="Roboto"/>
              <a:cs typeface="Roboto"/>
            </a:endParaRPr>
          </a:p>
          <a:p>
            <a:pPr lvl="1"/>
            <a:r>
              <a:rPr lang="en-US" sz="1600"/>
              <a:t>Repeat logic a fixed number of times </a:t>
            </a:r>
            <a:r>
              <a:rPr lang="en-US" sz="1600">
                <a:solidFill>
                  <a:srgbClr val="2E2E2E"/>
                </a:solidFill>
                <a:ea typeface="Roboto"/>
                <a:cs typeface="Roboto"/>
              </a:rPr>
              <a:t>over a synthetic range</a:t>
            </a:r>
            <a:r>
              <a:rPr lang="en-US" sz="1600"/>
              <a:t>,  without relying on a data set</a:t>
            </a:r>
            <a:r>
              <a:rPr lang="en-US" sz="1700">
                <a:solidFill>
                  <a:srgbClr val="2E2E2E"/>
                </a:solidFill>
                <a:ea typeface="Roboto"/>
                <a:cs typeface="Roboto"/>
              </a:rPr>
              <a:t>, running logic once per generated number.</a:t>
            </a:r>
          </a:p>
          <a:p>
            <a:pPr lvl="1"/>
            <a:r>
              <a:rPr lang="en-US" sz="1600"/>
              <a:t>Each run receives its </a:t>
            </a:r>
            <a:r>
              <a:rPr lang="en-US" sz="1600" b="1"/>
              <a:t>iteration number</a:t>
            </a:r>
            <a:r>
              <a:rPr lang="en-US" sz="1600"/>
              <a:t> as input.</a:t>
            </a:r>
          </a:p>
          <a:p>
            <a:pPr lvl="1"/>
            <a:r>
              <a:rPr lang="en-US" sz="1700">
                <a:solidFill>
                  <a:srgbClr val="2E2E2E"/>
                </a:solidFill>
                <a:ea typeface="Roboto"/>
                <a:cs typeface="Roboto"/>
              </a:rPr>
              <a:t>Ideal for fixed-count logic and retries, but can be used with dynamic start/end numbers.</a:t>
            </a:r>
          </a:p>
          <a:p>
            <a:pPr lvl="1"/>
            <a:endParaRPr lang="en-US" sz="1700">
              <a:solidFill>
                <a:srgbClr val="2E2E2E"/>
              </a:solidFill>
              <a:ea typeface="Roboto"/>
              <a:cs typeface="Roboto"/>
            </a:endParaRPr>
          </a:p>
          <a:p>
            <a:pPr lvl="1"/>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p:txBody>
      </p:sp>
      <p:pic>
        <p:nvPicPr>
          <p:cNvPr id="11" name="Picture Placeholder 10" descr="A person standing on a mountain top&#10;&#10;Description automatically generated">
            <a:extLst>
              <a:ext uri="{FF2B5EF4-FFF2-40B4-BE49-F238E27FC236}">
                <a16:creationId xmlns:a16="http://schemas.microsoft.com/office/drawing/2014/main" id="{C78E28F7-59D3-63C5-2D83-18FCD3057D17}"/>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4112" r="34112"/>
          <a:stretch/>
        </p:blipFill>
        <p:spPr/>
      </p:pic>
      <p:sp>
        <p:nvSpPr>
          <p:cNvPr id="9" name="AutoShape 4">
            <a:extLst>
              <a:ext uri="{FF2B5EF4-FFF2-40B4-BE49-F238E27FC236}">
                <a16:creationId xmlns:a16="http://schemas.microsoft.com/office/drawing/2014/main" id="{4CB62A5B-A475-1AB8-A7D3-313DB1F275A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17" name="Picture 16">
            <a:extLst>
              <a:ext uri="{FF2B5EF4-FFF2-40B4-BE49-F238E27FC236}">
                <a16:creationId xmlns:a16="http://schemas.microsoft.com/office/drawing/2014/main" id="{94FA12D9-ED1F-BE97-E154-086C3F6261D7}"/>
              </a:ext>
            </a:extLst>
          </p:cNvPr>
          <p:cNvPicPr>
            <a:picLocks noChangeAspect="1"/>
          </p:cNvPicPr>
          <p:nvPr/>
        </p:nvPicPr>
        <p:blipFill>
          <a:blip r:embed="rId4"/>
          <a:stretch>
            <a:fillRect/>
          </a:stretch>
        </p:blipFill>
        <p:spPr>
          <a:xfrm>
            <a:off x="4024032" y="3008288"/>
            <a:ext cx="7772400" cy="1989145"/>
          </a:xfrm>
          <a:prstGeom prst="rect">
            <a:avLst/>
          </a:prstGeom>
        </p:spPr>
      </p:pic>
    </p:spTree>
    <p:extLst>
      <p:ext uri="{BB962C8B-B14F-4D97-AF65-F5344CB8AC3E}">
        <p14:creationId xmlns:p14="http://schemas.microsoft.com/office/powerpoint/2010/main" val="2360171992"/>
      </p:ext>
    </p:ext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1B5D7-FC27-375C-1016-C868D173B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D0D3E-EA3F-9CF9-6A0B-56D4A54994C4}"/>
              </a:ext>
            </a:extLst>
          </p:cNvPr>
          <p:cNvSpPr>
            <a:spLocks noGrp="1"/>
          </p:cNvSpPr>
          <p:nvPr>
            <p:ph type="title"/>
          </p:nvPr>
        </p:nvSpPr>
        <p:spPr/>
        <p:txBody>
          <a:bodyPr>
            <a:normAutofit/>
          </a:bodyPr>
          <a:lstStyle/>
          <a:p>
            <a:pPr algn="ctr"/>
            <a:r>
              <a:rPr lang="en-GB"/>
              <a:t>While</a:t>
            </a:r>
            <a:endParaRPr lang="en-IL"/>
          </a:p>
        </p:txBody>
      </p:sp>
      <p:sp>
        <p:nvSpPr>
          <p:cNvPr id="3" name="Content Placeholder 2">
            <a:extLst>
              <a:ext uri="{FF2B5EF4-FFF2-40B4-BE49-F238E27FC236}">
                <a16:creationId xmlns:a16="http://schemas.microsoft.com/office/drawing/2014/main" id="{D905C0E2-8EAE-AD5F-5AE0-70B8C231A8D1}"/>
              </a:ext>
            </a:extLst>
          </p:cNvPr>
          <p:cNvSpPr>
            <a:spLocks noGrp="1"/>
          </p:cNvSpPr>
          <p:nvPr>
            <p:ph idx="1"/>
          </p:nvPr>
        </p:nvSpPr>
        <p:spPr>
          <a:xfrm>
            <a:off x="3693078" y="1046748"/>
            <a:ext cx="8103354" cy="1561124"/>
          </a:xfrm>
        </p:spPr>
        <p:txBody>
          <a:bodyPr vert="horz" lIns="91440" tIns="45720" rIns="91440" bIns="45720" numCol="1" rtlCol="0" anchor="t">
            <a:normAutofit fontScale="92500" lnSpcReduction="20000"/>
          </a:bodyPr>
          <a:lstStyle/>
          <a:p>
            <a:r>
              <a:rPr lang="en-US" sz="2100" dirty="0">
                <a:solidFill>
                  <a:schemeClr val="bg2">
                    <a:lumMod val="50000"/>
                  </a:schemeClr>
                </a:solidFill>
              </a:rPr>
              <a:t>What is a While loop? </a:t>
            </a:r>
            <a:endParaRPr lang="en-US" sz="1700" dirty="0">
              <a:solidFill>
                <a:srgbClr val="2E2E2E"/>
              </a:solidFill>
              <a:ea typeface="Roboto"/>
              <a:cs typeface="Roboto"/>
            </a:endParaRPr>
          </a:p>
          <a:p>
            <a:pPr lvl="1"/>
            <a:r>
              <a:rPr lang="en-US" sz="1600" dirty="0"/>
              <a:t>Repeat actions based on dynamic conditions—powered by JavaScript</a:t>
            </a:r>
            <a:r>
              <a:rPr lang="en-US" sz="1700" dirty="0">
                <a:solidFill>
                  <a:srgbClr val="2E2E2E"/>
                </a:solidFill>
                <a:ea typeface="Roboto"/>
                <a:cs typeface="Roboto"/>
              </a:rPr>
              <a:t>.</a:t>
            </a:r>
          </a:p>
          <a:p>
            <a:pPr lvl="1"/>
            <a:r>
              <a:rPr lang="en-US" sz="1600" dirty="0"/>
              <a:t>Executes as long as the </a:t>
            </a:r>
            <a:r>
              <a:rPr lang="en-US" sz="1600" b="1" dirty="0"/>
              <a:t>JavaScript script returns a truthy value. </a:t>
            </a:r>
            <a:r>
              <a:rPr lang="en-US" sz="1600" dirty="0"/>
              <a:t>Ends once the script returns a false value</a:t>
            </a:r>
          </a:p>
          <a:p>
            <a:pPr lvl="1"/>
            <a:r>
              <a:rPr lang="en-US" sz="1600" dirty="0"/>
              <a:t>Ideal for creating </a:t>
            </a:r>
            <a:r>
              <a:rPr lang="en-US" sz="1600" b="1" dirty="0"/>
              <a:t>logical loops</a:t>
            </a:r>
            <a:r>
              <a:rPr lang="en-US" sz="1600" dirty="0"/>
              <a:t> based on conditions: poll until a status changes, retry until success, etc.</a:t>
            </a:r>
            <a:endParaRPr lang="en-US" sz="1700" dirty="0">
              <a:solidFill>
                <a:srgbClr val="2E2E2E"/>
              </a:solidFill>
              <a:ea typeface="Roboto"/>
              <a:cs typeface="Roboto"/>
            </a:endParaRPr>
          </a:p>
          <a:p>
            <a:pPr lvl="1"/>
            <a:endParaRPr lang="en-US" sz="1700" dirty="0">
              <a:solidFill>
                <a:srgbClr val="2E2E2E"/>
              </a:solidFill>
              <a:ea typeface="Roboto"/>
              <a:cs typeface="Roboto"/>
            </a:endParaRPr>
          </a:p>
          <a:p>
            <a:pPr lvl="1"/>
            <a:endParaRPr lang="en-US" dirty="0">
              <a:solidFill>
                <a:srgbClr val="2E2E2E"/>
              </a:solidFill>
              <a:latin typeface="Roboto"/>
              <a:ea typeface="Roboto"/>
              <a:cs typeface="Roboto"/>
            </a:endParaRPr>
          </a:p>
          <a:p>
            <a:pPr marL="0" indent="0">
              <a:buNone/>
            </a:pPr>
            <a:endParaRPr lang="en-US" dirty="0">
              <a:solidFill>
                <a:srgbClr val="2E2E2E"/>
              </a:solidFill>
              <a:latin typeface="Roboto"/>
              <a:ea typeface="Roboto"/>
              <a:cs typeface="Roboto"/>
            </a:endParaRPr>
          </a:p>
          <a:p>
            <a:pPr marL="0" indent="0">
              <a:buNone/>
            </a:pPr>
            <a:endParaRPr lang="en-US" dirty="0">
              <a:solidFill>
                <a:srgbClr val="2E2E2E"/>
              </a:solidFill>
              <a:latin typeface="Roboto"/>
              <a:ea typeface="Roboto"/>
              <a:cs typeface="Roboto"/>
            </a:endParaRPr>
          </a:p>
          <a:p>
            <a:pPr marL="0" indent="0">
              <a:buNone/>
            </a:pPr>
            <a:endParaRPr lang="en-US" dirty="0">
              <a:solidFill>
                <a:srgbClr val="2E2E2E"/>
              </a:solidFill>
              <a:latin typeface="Roboto"/>
              <a:ea typeface="Roboto"/>
              <a:cs typeface="Roboto"/>
            </a:endParaRPr>
          </a:p>
          <a:p>
            <a:pPr marL="0" indent="0">
              <a:buNone/>
            </a:pPr>
            <a:endParaRPr lang="en-US" dirty="0">
              <a:solidFill>
                <a:srgbClr val="2E2E2E"/>
              </a:solidFill>
              <a:latin typeface="Roboto"/>
              <a:ea typeface="Roboto"/>
              <a:cs typeface="Roboto"/>
            </a:endParaRPr>
          </a:p>
          <a:p>
            <a:pPr marL="0" indent="0">
              <a:buNone/>
            </a:pPr>
            <a:endParaRPr lang="en-US" dirty="0">
              <a:solidFill>
                <a:srgbClr val="2E2E2E"/>
              </a:solidFill>
              <a:latin typeface="Roboto"/>
              <a:ea typeface="Roboto"/>
              <a:cs typeface="Roboto"/>
            </a:endParaRPr>
          </a:p>
          <a:p>
            <a:pPr marL="0" indent="0">
              <a:buNone/>
            </a:pPr>
            <a:endParaRPr lang="en-US" dirty="0">
              <a:solidFill>
                <a:srgbClr val="2E2E2E"/>
              </a:solidFill>
              <a:latin typeface="Roboto"/>
              <a:ea typeface="Roboto"/>
              <a:cs typeface="Roboto"/>
            </a:endParaRPr>
          </a:p>
        </p:txBody>
      </p:sp>
      <p:pic>
        <p:nvPicPr>
          <p:cNvPr id="11" name="Picture Placeholder 10" descr="A person standing on a mountain top&#10;&#10;Description automatically generated">
            <a:extLst>
              <a:ext uri="{FF2B5EF4-FFF2-40B4-BE49-F238E27FC236}">
                <a16:creationId xmlns:a16="http://schemas.microsoft.com/office/drawing/2014/main" id="{9CFD7146-A628-1BD9-9ACA-E68CB0AC961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4112" r="34112"/>
          <a:stretch/>
        </p:blipFill>
        <p:spPr/>
      </p:pic>
      <p:sp>
        <p:nvSpPr>
          <p:cNvPr id="9" name="AutoShape 4">
            <a:extLst>
              <a:ext uri="{FF2B5EF4-FFF2-40B4-BE49-F238E27FC236}">
                <a16:creationId xmlns:a16="http://schemas.microsoft.com/office/drawing/2014/main" id="{F1D66E0E-787D-4218-ACDA-36F14D2FE79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5" name="Picture 4">
            <a:extLst>
              <a:ext uri="{FF2B5EF4-FFF2-40B4-BE49-F238E27FC236}">
                <a16:creationId xmlns:a16="http://schemas.microsoft.com/office/drawing/2014/main" id="{8F7072B1-72C6-280C-6F2B-FFD499782918}"/>
              </a:ext>
            </a:extLst>
          </p:cNvPr>
          <p:cNvPicPr>
            <a:picLocks noChangeAspect="1"/>
          </p:cNvPicPr>
          <p:nvPr/>
        </p:nvPicPr>
        <p:blipFill>
          <a:blip r:embed="rId4"/>
          <a:stretch>
            <a:fillRect/>
          </a:stretch>
        </p:blipFill>
        <p:spPr>
          <a:xfrm>
            <a:off x="4059613" y="2493302"/>
            <a:ext cx="7772400" cy="1992265"/>
          </a:xfrm>
          <a:prstGeom prst="rect">
            <a:avLst/>
          </a:prstGeom>
        </p:spPr>
      </p:pic>
      <p:pic>
        <p:nvPicPr>
          <p:cNvPr id="6" name="Picture 5">
            <a:extLst>
              <a:ext uri="{FF2B5EF4-FFF2-40B4-BE49-F238E27FC236}">
                <a16:creationId xmlns:a16="http://schemas.microsoft.com/office/drawing/2014/main" id="{09992EF5-DED5-56DA-9B04-6DCB1A220560}"/>
              </a:ext>
            </a:extLst>
          </p:cNvPr>
          <p:cNvPicPr>
            <a:picLocks noChangeAspect="1"/>
          </p:cNvPicPr>
          <p:nvPr/>
        </p:nvPicPr>
        <p:blipFill>
          <a:blip r:embed="rId5"/>
          <a:stretch>
            <a:fillRect/>
          </a:stretch>
        </p:blipFill>
        <p:spPr>
          <a:xfrm>
            <a:off x="4024032" y="4472160"/>
            <a:ext cx="7772400" cy="2185184"/>
          </a:xfrm>
          <a:prstGeom prst="rect">
            <a:avLst/>
          </a:prstGeom>
        </p:spPr>
      </p:pic>
    </p:spTree>
    <p:extLst>
      <p:ext uri="{BB962C8B-B14F-4D97-AF65-F5344CB8AC3E}">
        <p14:creationId xmlns:p14="http://schemas.microsoft.com/office/powerpoint/2010/main" val="4022385432"/>
      </p:ext>
    </p:ext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B921A-9D27-53F2-3F2B-5EA015031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4B87E-9D03-E1F3-7E75-AD1F8FD7317D}"/>
              </a:ext>
            </a:extLst>
          </p:cNvPr>
          <p:cNvSpPr>
            <a:spLocks noGrp="1"/>
          </p:cNvSpPr>
          <p:nvPr>
            <p:ph type="title"/>
          </p:nvPr>
        </p:nvSpPr>
        <p:spPr/>
        <p:txBody>
          <a:bodyPr>
            <a:normAutofit/>
          </a:bodyPr>
          <a:lstStyle/>
          <a:p>
            <a:pPr algn="ctr"/>
            <a:r>
              <a:rPr lang="en-GB" err="1"/>
              <a:t>ForEach</a:t>
            </a:r>
            <a:endParaRPr lang="en-IL"/>
          </a:p>
        </p:txBody>
      </p:sp>
      <p:sp>
        <p:nvSpPr>
          <p:cNvPr id="3" name="Content Placeholder 2">
            <a:extLst>
              <a:ext uri="{FF2B5EF4-FFF2-40B4-BE49-F238E27FC236}">
                <a16:creationId xmlns:a16="http://schemas.microsoft.com/office/drawing/2014/main" id="{05111CD3-EAF2-B67C-37A3-A8A982CBA22B}"/>
              </a:ext>
            </a:extLst>
          </p:cNvPr>
          <p:cNvSpPr>
            <a:spLocks noGrp="1"/>
          </p:cNvSpPr>
          <p:nvPr>
            <p:ph idx="1"/>
          </p:nvPr>
        </p:nvSpPr>
        <p:spPr>
          <a:xfrm>
            <a:off x="3898231" y="1046748"/>
            <a:ext cx="7898201" cy="1600200"/>
          </a:xfrm>
        </p:spPr>
        <p:txBody>
          <a:bodyPr vert="horz" lIns="91440" tIns="45720" rIns="91440" bIns="45720" numCol="1" rtlCol="0" anchor="t">
            <a:normAutofit fontScale="92500" lnSpcReduction="20000"/>
          </a:bodyPr>
          <a:lstStyle/>
          <a:p>
            <a:pPr marL="198755" indent="-198755"/>
            <a:r>
              <a:rPr lang="en-US" sz="2100" dirty="0">
                <a:solidFill>
                  <a:schemeClr val="bg2">
                    <a:lumMod val="50000"/>
                  </a:schemeClr>
                </a:solidFill>
              </a:rPr>
              <a:t>What is a </a:t>
            </a:r>
            <a:r>
              <a:rPr lang="en-US" sz="2100" dirty="0" err="1">
                <a:solidFill>
                  <a:schemeClr val="bg2">
                    <a:lumMod val="50000"/>
                  </a:schemeClr>
                </a:solidFill>
              </a:rPr>
              <a:t>ForEach</a:t>
            </a:r>
            <a:r>
              <a:rPr lang="en-US" sz="2100" dirty="0">
                <a:solidFill>
                  <a:schemeClr val="bg2">
                    <a:lumMod val="50000"/>
                  </a:schemeClr>
                </a:solidFill>
              </a:rPr>
              <a:t>? </a:t>
            </a:r>
            <a:endParaRPr lang="en-US" sz="1700" dirty="0">
              <a:solidFill>
                <a:schemeClr val="bg2">
                  <a:lumMod val="50000"/>
                </a:schemeClr>
              </a:solidFill>
              <a:ea typeface="Roboto"/>
              <a:cs typeface="Roboto"/>
            </a:endParaRPr>
          </a:p>
          <a:p>
            <a:pPr lvl="1"/>
            <a:r>
              <a:rPr lang="en-US" sz="1600" dirty="0"/>
              <a:t>Iterate over values in a collection and apply custom logic per entry</a:t>
            </a:r>
            <a:r>
              <a:rPr lang="en-US" sz="1700" dirty="0">
                <a:solidFill>
                  <a:srgbClr val="2E2E2E"/>
                </a:solidFill>
                <a:ea typeface="Roboto"/>
                <a:cs typeface="Roboto"/>
              </a:rPr>
              <a:t>.</a:t>
            </a:r>
          </a:p>
          <a:p>
            <a:pPr lvl="1"/>
            <a:r>
              <a:rPr lang="en-US" sz="1600" dirty="0"/>
              <a:t>Each value is passed to logic as the 'value' parameter.</a:t>
            </a:r>
            <a:endParaRPr lang="en-US" sz="1600" dirty="0">
              <a:ea typeface="Calibri"/>
              <a:cs typeface="Calibri"/>
            </a:endParaRPr>
          </a:p>
          <a:p>
            <a:pPr lvl="1"/>
            <a:r>
              <a:rPr lang="en-US" sz="1600" b="1" dirty="0"/>
              <a:t>Parallel execution is available for faster processing of a large dataset </a:t>
            </a:r>
            <a:r>
              <a:rPr lang="en-US" sz="1600" dirty="0"/>
              <a:t>(multithreading doesn’t preserve the collection order during execution). </a:t>
            </a:r>
            <a:endParaRPr lang="en-US" sz="1600" dirty="0">
              <a:ea typeface="Calibri"/>
              <a:cs typeface="Calibri"/>
            </a:endParaRPr>
          </a:p>
          <a:p>
            <a:pPr lvl="1"/>
            <a:r>
              <a:rPr lang="en-US" sz="1600" dirty="0"/>
              <a:t>Ideal for triggering downstream logic for each data item.</a:t>
            </a:r>
            <a:endParaRPr lang="en-US" sz="1700" dirty="0">
              <a:solidFill>
                <a:srgbClr val="2E2E2E"/>
              </a:solidFill>
              <a:ea typeface="Roboto"/>
              <a:cs typeface="Roboto"/>
            </a:endParaRPr>
          </a:p>
          <a:p>
            <a:pPr lvl="1"/>
            <a:endParaRPr lang="en-US" dirty="0">
              <a:solidFill>
                <a:srgbClr val="2E2E2E"/>
              </a:solidFill>
              <a:latin typeface="Roboto"/>
              <a:ea typeface="Roboto"/>
              <a:cs typeface="Roboto"/>
            </a:endParaRPr>
          </a:p>
          <a:p>
            <a:pPr marL="0" indent="0">
              <a:buNone/>
            </a:pPr>
            <a:endParaRPr lang="en-US" dirty="0">
              <a:solidFill>
                <a:srgbClr val="2E2E2E"/>
              </a:solidFill>
              <a:latin typeface="Roboto"/>
              <a:ea typeface="Roboto"/>
              <a:cs typeface="Roboto"/>
            </a:endParaRPr>
          </a:p>
          <a:p>
            <a:pPr marL="0" indent="0">
              <a:buNone/>
            </a:pPr>
            <a:endParaRPr lang="en-US" dirty="0">
              <a:solidFill>
                <a:srgbClr val="2E2E2E"/>
              </a:solidFill>
              <a:latin typeface="Roboto"/>
              <a:ea typeface="Roboto"/>
              <a:cs typeface="Roboto"/>
            </a:endParaRPr>
          </a:p>
          <a:p>
            <a:pPr marL="0" indent="0">
              <a:buNone/>
            </a:pPr>
            <a:endParaRPr lang="en-US" dirty="0">
              <a:solidFill>
                <a:srgbClr val="2E2E2E"/>
              </a:solidFill>
              <a:latin typeface="Roboto"/>
              <a:ea typeface="Roboto"/>
              <a:cs typeface="Roboto"/>
            </a:endParaRPr>
          </a:p>
          <a:p>
            <a:pPr marL="0" indent="0">
              <a:buNone/>
            </a:pPr>
            <a:endParaRPr lang="en-US" dirty="0">
              <a:solidFill>
                <a:srgbClr val="2E2E2E"/>
              </a:solidFill>
              <a:latin typeface="Roboto"/>
              <a:ea typeface="Roboto"/>
              <a:cs typeface="Roboto"/>
            </a:endParaRPr>
          </a:p>
          <a:p>
            <a:pPr marL="0" indent="0">
              <a:buNone/>
            </a:pPr>
            <a:endParaRPr lang="en-US" dirty="0">
              <a:solidFill>
                <a:srgbClr val="2E2E2E"/>
              </a:solidFill>
              <a:latin typeface="Roboto"/>
              <a:ea typeface="Roboto"/>
              <a:cs typeface="Roboto"/>
            </a:endParaRPr>
          </a:p>
          <a:p>
            <a:pPr marL="0" indent="0">
              <a:buNone/>
            </a:pPr>
            <a:endParaRPr lang="en-US" dirty="0">
              <a:solidFill>
                <a:srgbClr val="2E2E2E"/>
              </a:solidFill>
              <a:latin typeface="Roboto"/>
              <a:ea typeface="Roboto"/>
              <a:cs typeface="Roboto"/>
            </a:endParaRPr>
          </a:p>
        </p:txBody>
      </p:sp>
      <p:pic>
        <p:nvPicPr>
          <p:cNvPr id="11" name="Picture Placeholder 10" descr="A person standing on a mountain top&#10;&#10;Description automatically generated">
            <a:extLst>
              <a:ext uri="{FF2B5EF4-FFF2-40B4-BE49-F238E27FC236}">
                <a16:creationId xmlns:a16="http://schemas.microsoft.com/office/drawing/2014/main" id="{554F38C0-B353-11EF-EC8A-8D9EEE677411}"/>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l="34112" r="34112"/>
          <a:stretch/>
        </p:blipFill>
        <p:spPr/>
      </p:pic>
      <p:sp>
        <p:nvSpPr>
          <p:cNvPr id="9" name="AutoShape 4">
            <a:extLst>
              <a:ext uri="{FF2B5EF4-FFF2-40B4-BE49-F238E27FC236}">
                <a16:creationId xmlns:a16="http://schemas.microsoft.com/office/drawing/2014/main" id="{C716D8E2-CF27-4FBE-87A1-AC3D10F9141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7" name="Picture 6">
            <a:extLst>
              <a:ext uri="{FF2B5EF4-FFF2-40B4-BE49-F238E27FC236}">
                <a16:creationId xmlns:a16="http://schemas.microsoft.com/office/drawing/2014/main" id="{E87D3B05-F7DE-A9B0-D2D5-9FC00E4FD3F8}"/>
              </a:ext>
            </a:extLst>
          </p:cNvPr>
          <p:cNvPicPr>
            <a:picLocks noChangeAspect="1"/>
          </p:cNvPicPr>
          <p:nvPr/>
        </p:nvPicPr>
        <p:blipFill>
          <a:blip r:embed="rId5"/>
          <a:stretch>
            <a:fillRect/>
          </a:stretch>
        </p:blipFill>
        <p:spPr>
          <a:xfrm>
            <a:off x="4024032" y="3123938"/>
            <a:ext cx="7772400" cy="2687314"/>
          </a:xfrm>
          <a:prstGeom prst="rect">
            <a:avLst/>
          </a:prstGeom>
        </p:spPr>
      </p:pic>
    </p:spTree>
    <p:extLst>
      <p:ext uri="{BB962C8B-B14F-4D97-AF65-F5344CB8AC3E}">
        <p14:creationId xmlns:p14="http://schemas.microsoft.com/office/powerpoint/2010/main" val="2321222047"/>
      </p:ext>
    </p:extLst>
  </p:cSld>
  <p:clrMapOvr>
    <a:masterClrMapping/>
  </p:clrMapOvr>
  <p:transition spd="slow">
    <p:wipe dir="r"/>
  </p:transition>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6EAFD-F06C-62AE-C2AD-2283CE3F2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144B8-7858-AD59-D24F-43793640B102}"/>
              </a:ext>
            </a:extLst>
          </p:cNvPr>
          <p:cNvSpPr>
            <a:spLocks noGrp="1"/>
          </p:cNvSpPr>
          <p:nvPr>
            <p:ph type="title"/>
          </p:nvPr>
        </p:nvSpPr>
        <p:spPr/>
        <p:txBody>
          <a:bodyPr>
            <a:normAutofit/>
          </a:bodyPr>
          <a:lstStyle/>
          <a:p>
            <a:pPr algn="ctr"/>
            <a:r>
              <a:rPr lang="en-GB"/>
              <a:t>Controlling Loop Behaviour</a:t>
            </a:r>
            <a:endParaRPr lang="en-IL"/>
          </a:p>
        </p:txBody>
      </p:sp>
      <p:sp>
        <p:nvSpPr>
          <p:cNvPr id="3" name="Content Placeholder 2">
            <a:extLst>
              <a:ext uri="{FF2B5EF4-FFF2-40B4-BE49-F238E27FC236}">
                <a16:creationId xmlns:a16="http://schemas.microsoft.com/office/drawing/2014/main" id="{4892910E-5BC0-1B69-9CD5-59B7ED6481FF}"/>
              </a:ext>
            </a:extLst>
          </p:cNvPr>
          <p:cNvSpPr>
            <a:spLocks noGrp="1"/>
          </p:cNvSpPr>
          <p:nvPr>
            <p:ph idx="1"/>
          </p:nvPr>
        </p:nvSpPr>
        <p:spPr>
          <a:xfrm>
            <a:off x="3898232" y="1046747"/>
            <a:ext cx="4584032" cy="4632157"/>
          </a:xfrm>
        </p:spPr>
        <p:txBody>
          <a:bodyPr vert="horz" lIns="91440" tIns="45720" rIns="91440" bIns="45720" numCol="1" rtlCol="0" anchor="t">
            <a:normAutofit fontScale="92500"/>
          </a:bodyPr>
          <a:lstStyle/>
          <a:p>
            <a:r>
              <a:rPr lang="en-US" sz="2100" err="1">
                <a:solidFill>
                  <a:schemeClr val="bg2">
                    <a:lumMod val="50000"/>
                  </a:schemeClr>
                </a:solidFill>
                <a:ea typeface="Roboto"/>
                <a:cs typeface="Roboto"/>
              </a:rPr>
              <a:t>LoopIndex</a:t>
            </a:r>
            <a:r>
              <a:rPr lang="en-US" sz="2100">
                <a:solidFill>
                  <a:schemeClr val="bg2">
                    <a:lumMod val="50000"/>
                  </a:schemeClr>
                </a:solidFill>
                <a:ea typeface="Roboto"/>
                <a:cs typeface="Roboto"/>
              </a:rPr>
              <a:t> Actor</a:t>
            </a:r>
            <a:endParaRPr lang="en-US" sz="1700">
              <a:solidFill>
                <a:srgbClr val="2E2E2E"/>
              </a:solidFill>
              <a:ea typeface="Roboto"/>
              <a:cs typeface="Roboto"/>
            </a:endParaRPr>
          </a:p>
          <a:p>
            <a:pPr lvl="1"/>
            <a:r>
              <a:rPr lang="en-US" sz="1600"/>
              <a:t>Returns the current iteration index.</a:t>
            </a:r>
          </a:p>
          <a:p>
            <a:pPr lvl="1"/>
            <a:r>
              <a:rPr lang="en-US" sz="1600">
                <a:solidFill>
                  <a:srgbClr val="2E2E2E"/>
                </a:solidFill>
                <a:ea typeface="Roboto"/>
                <a:cs typeface="Roboto"/>
              </a:rPr>
              <a:t>The index starts at 0.</a:t>
            </a:r>
          </a:p>
          <a:p>
            <a:pPr lvl="1"/>
            <a:r>
              <a:rPr lang="en-US" sz="1700">
                <a:solidFill>
                  <a:srgbClr val="2E2E2E"/>
                </a:solidFill>
                <a:ea typeface="Roboto"/>
                <a:cs typeface="Roboto"/>
              </a:rPr>
              <a:t>Useful for logic based on the position within the loop.</a:t>
            </a:r>
          </a:p>
          <a:p>
            <a:r>
              <a:rPr lang="en-US" sz="2100" err="1">
                <a:solidFill>
                  <a:schemeClr val="bg2">
                    <a:lumMod val="50000"/>
                  </a:schemeClr>
                </a:solidFill>
                <a:ea typeface="Roboto"/>
                <a:cs typeface="Roboto"/>
              </a:rPr>
              <a:t>LoopStop</a:t>
            </a:r>
            <a:r>
              <a:rPr lang="en-US" sz="2100">
                <a:solidFill>
                  <a:schemeClr val="bg2">
                    <a:lumMod val="50000"/>
                  </a:schemeClr>
                </a:solidFill>
                <a:ea typeface="Roboto"/>
                <a:cs typeface="Roboto"/>
              </a:rPr>
              <a:t> Actor</a:t>
            </a:r>
          </a:p>
          <a:p>
            <a:pPr lvl="1"/>
            <a:r>
              <a:rPr lang="en-US" sz="1600"/>
              <a:t>Stops the current loop immediately.</a:t>
            </a:r>
          </a:p>
          <a:p>
            <a:pPr lvl="1"/>
            <a:r>
              <a:rPr lang="en-US" sz="1600"/>
              <a:t>Continues flow execution after the loop section/iterate close.</a:t>
            </a:r>
          </a:p>
          <a:p>
            <a:pPr lvl="1"/>
            <a:r>
              <a:rPr lang="en-US" sz="1600"/>
              <a:t>Useful for early exits based on a condition.</a:t>
            </a:r>
          </a:p>
          <a:p>
            <a:r>
              <a:rPr lang="en-US" sz="2100" err="1">
                <a:solidFill>
                  <a:schemeClr val="bg2">
                    <a:lumMod val="50000"/>
                  </a:schemeClr>
                </a:solidFill>
                <a:ea typeface="Roboto"/>
                <a:cs typeface="Roboto"/>
              </a:rPr>
              <a:t>LoopSkip</a:t>
            </a:r>
            <a:r>
              <a:rPr lang="en-US" sz="2100">
                <a:solidFill>
                  <a:schemeClr val="bg2">
                    <a:lumMod val="50000"/>
                  </a:schemeClr>
                </a:solidFill>
                <a:ea typeface="Roboto"/>
                <a:cs typeface="Roboto"/>
              </a:rPr>
              <a:t> Actor</a:t>
            </a:r>
          </a:p>
          <a:p>
            <a:pPr lvl="1"/>
            <a:r>
              <a:rPr lang="en-US" sz="1600"/>
              <a:t>Skips the current iteration</a:t>
            </a:r>
          </a:p>
          <a:p>
            <a:pPr lvl="1"/>
            <a:r>
              <a:rPr lang="en-US" sz="1600"/>
              <a:t>Moves directly to the next iteration in the loop</a:t>
            </a:r>
          </a:p>
          <a:p>
            <a:pPr lvl="1"/>
            <a:r>
              <a:rPr lang="en-US" sz="1600"/>
              <a:t>Helpful in ignoring certain steps of the loop conditionally</a:t>
            </a: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a:p>
            <a:pPr marL="0" indent="0">
              <a:buNone/>
            </a:pPr>
            <a:endParaRPr lang="en-US">
              <a:solidFill>
                <a:srgbClr val="2E2E2E"/>
              </a:solidFill>
              <a:latin typeface="Roboto"/>
              <a:ea typeface="Roboto"/>
              <a:cs typeface="Roboto"/>
            </a:endParaRPr>
          </a:p>
        </p:txBody>
      </p:sp>
      <p:pic>
        <p:nvPicPr>
          <p:cNvPr id="11" name="Picture Placeholder 10" descr="A person standing on a mountain top&#10;&#10;Description automatically generated">
            <a:extLst>
              <a:ext uri="{FF2B5EF4-FFF2-40B4-BE49-F238E27FC236}">
                <a16:creationId xmlns:a16="http://schemas.microsoft.com/office/drawing/2014/main" id="{E9E1B599-BDCB-7914-6E0D-B92AAE4FE1A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4112" r="34112"/>
          <a:stretch/>
        </p:blipFill>
        <p:spPr/>
      </p:pic>
      <p:sp>
        <p:nvSpPr>
          <p:cNvPr id="9" name="AutoShape 4">
            <a:extLst>
              <a:ext uri="{FF2B5EF4-FFF2-40B4-BE49-F238E27FC236}">
                <a16:creationId xmlns:a16="http://schemas.microsoft.com/office/drawing/2014/main" id="{F994A0B8-2980-93A7-0272-6E7076FFE11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5" name="Picture 4">
            <a:extLst>
              <a:ext uri="{FF2B5EF4-FFF2-40B4-BE49-F238E27FC236}">
                <a16:creationId xmlns:a16="http://schemas.microsoft.com/office/drawing/2014/main" id="{E12BCB4D-082F-079A-466F-D82D1EE66C4C}"/>
              </a:ext>
            </a:extLst>
          </p:cNvPr>
          <p:cNvPicPr>
            <a:picLocks noChangeAspect="1"/>
          </p:cNvPicPr>
          <p:nvPr/>
        </p:nvPicPr>
        <p:blipFill>
          <a:blip r:embed="rId4"/>
          <a:stretch>
            <a:fillRect/>
          </a:stretch>
        </p:blipFill>
        <p:spPr>
          <a:xfrm>
            <a:off x="8925796" y="915594"/>
            <a:ext cx="2628900" cy="5029200"/>
          </a:xfrm>
          <a:prstGeom prst="rect">
            <a:avLst/>
          </a:prstGeom>
        </p:spPr>
      </p:pic>
    </p:spTree>
    <p:extLst>
      <p:ext uri="{BB962C8B-B14F-4D97-AF65-F5344CB8AC3E}">
        <p14:creationId xmlns:p14="http://schemas.microsoft.com/office/powerpoint/2010/main" val="2453979379"/>
      </p:ext>
    </p:extLst>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98367-3152-7B02-BBE2-C8A4DB322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A5DA9-FABA-E931-3950-9C2E4EF16071}"/>
              </a:ext>
            </a:extLst>
          </p:cNvPr>
          <p:cNvSpPr>
            <a:spLocks noGrp="1"/>
          </p:cNvSpPr>
          <p:nvPr>
            <p:ph type="title"/>
          </p:nvPr>
        </p:nvSpPr>
        <p:spPr>
          <a:xfrm>
            <a:off x="4177553" y="403270"/>
            <a:ext cx="6695824" cy="571501"/>
          </a:xfrm>
        </p:spPr>
        <p:txBody>
          <a:bodyPr>
            <a:normAutofit/>
          </a:bodyPr>
          <a:lstStyle/>
          <a:p>
            <a:pPr algn="ctr"/>
            <a:r>
              <a:rPr lang="en-GB"/>
              <a:t>String Operations</a:t>
            </a:r>
            <a:endParaRPr lang="en-IL"/>
          </a:p>
        </p:txBody>
      </p:sp>
      <p:sp>
        <p:nvSpPr>
          <p:cNvPr id="3" name="Content Placeholder 2">
            <a:extLst>
              <a:ext uri="{FF2B5EF4-FFF2-40B4-BE49-F238E27FC236}">
                <a16:creationId xmlns:a16="http://schemas.microsoft.com/office/drawing/2014/main" id="{F52C6506-48B6-B788-FEF6-21C81A8269E4}"/>
              </a:ext>
            </a:extLst>
          </p:cNvPr>
          <p:cNvSpPr>
            <a:spLocks noGrp="1"/>
          </p:cNvSpPr>
          <p:nvPr>
            <p:ph idx="1"/>
          </p:nvPr>
        </p:nvSpPr>
        <p:spPr>
          <a:xfrm>
            <a:off x="4062046" y="1893265"/>
            <a:ext cx="6811331" cy="2414967"/>
          </a:xfrm>
        </p:spPr>
        <p:txBody>
          <a:bodyPr vert="horz" lIns="91440" tIns="45720" rIns="91440" bIns="45720" numCol="1" rtlCol="0" anchor="t">
            <a:normAutofit/>
          </a:bodyPr>
          <a:lstStyle/>
          <a:p>
            <a:pPr marL="0" indent="0">
              <a:buNone/>
            </a:pPr>
            <a:r>
              <a:rPr lang="en-US">
                <a:solidFill>
                  <a:schemeClr val="tx1">
                    <a:lumMod val="50000"/>
                  </a:schemeClr>
                </a:solidFill>
                <a:ea typeface="Roboto"/>
                <a:cs typeface="Roboto"/>
              </a:rPr>
              <a:t>Broadway provides a wide set of string manipulations utilities.</a:t>
            </a:r>
          </a:p>
          <a:p>
            <a:pPr marL="0" indent="0">
              <a:buNone/>
            </a:pPr>
            <a:r>
              <a:rPr lang="en-US">
                <a:solidFill>
                  <a:schemeClr val="tx1">
                    <a:lumMod val="50000"/>
                  </a:schemeClr>
                </a:solidFill>
                <a:ea typeface="Roboto"/>
                <a:cs typeface="Roboto"/>
              </a:rPr>
              <a:t>Key functions include:</a:t>
            </a:r>
          </a:p>
          <a:p>
            <a:pPr lvl="1"/>
            <a:r>
              <a:rPr lang="en-US">
                <a:solidFill>
                  <a:schemeClr val="tx1">
                    <a:lumMod val="50000"/>
                  </a:schemeClr>
                </a:solidFill>
                <a:ea typeface="Roboto"/>
                <a:cs typeface="Roboto"/>
              </a:rPr>
              <a:t>Transformation (Case changes, Trimming, Padding)</a:t>
            </a:r>
          </a:p>
          <a:p>
            <a:pPr lvl="1"/>
            <a:r>
              <a:rPr lang="en-US">
                <a:solidFill>
                  <a:schemeClr val="tx1">
                    <a:lumMod val="50000"/>
                  </a:schemeClr>
                </a:solidFill>
                <a:ea typeface="Roboto"/>
                <a:cs typeface="Roboto"/>
              </a:rPr>
              <a:t>Aggregation &amp; Formatting</a:t>
            </a:r>
          </a:p>
          <a:p>
            <a:pPr lvl="1"/>
            <a:r>
              <a:rPr lang="en-US">
                <a:solidFill>
                  <a:schemeClr val="tx1">
                    <a:lumMod val="50000"/>
                  </a:schemeClr>
                </a:solidFill>
                <a:ea typeface="Roboto"/>
                <a:cs typeface="Roboto"/>
              </a:rPr>
              <a:t>Pattern Matching &amp; </a:t>
            </a:r>
            <a:r>
              <a:rPr lang="en-US" err="1">
                <a:solidFill>
                  <a:schemeClr val="tx1">
                    <a:lumMod val="50000"/>
                  </a:schemeClr>
                </a:solidFill>
                <a:ea typeface="Roboto"/>
                <a:cs typeface="Roboto"/>
              </a:rPr>
              <a:t>Substituion</a:t>
            </a:r>
            <a:endParaRPr lang="en-US">
              <a:solidFill>
                <a:schemeClr val="tx1">
                  <a:lumMod val="50000"/>
                </a:schemeClr>
              </a:solidFill>
              <a:ea typeface="Roboto"/>
              <a:cs typeface="Roboto"/>
            </a:endParaRPr>
          </a:p>
          <a:p>
            <a:pPr lvl="1"/>
            <a:r>
              <a:rPr lang="en-US">
                <a:solidFill>
                  <a:schemeClr val="tx1">
                    <a:lumMod val="50000"/>
                  </a:schemeClr>
                </a:solidFill>
                <a:ea typeface="Roboto"/>
                <a:cs typeface="Roboto"/>
              </a:rPr>
              <a:t>Conversion &amp; Randomization</a:t>
            </a:r>
          </a:p>
          <a:p>
            <a:pPr marL="0" indent="0">
              <a:buNone/>
            </a:pPr>
            <a:endParaRPr lang="en-US" sz="2400">
              <a:solidFill>
                <a:srgbClr val="2E2E2E"/>
              </a:solidFill>
              <a:latin typeface="Roboto"/>
              <a:ea typeface="Roboto"/>
              <a:cs typeface="Roboto"/>
            </a:endParaRPr>
          </a:p>
          <a:p>
            <a:pPr marL="0" indent="0">
              <a:buNone/>
            </a:pPr>
            <a:endParaRPr lang="en-US" sz="2400">
              <a:solidFill>
                <a:srgbClr val="2E2E2E"/>
              </a:solidFill>
              <a:latin typeface="Roboto"/>
              <a:ea typeface="Roboto"/>
              <a:cs typeface="Roboto"/>
            </a:endParaRPr>
          </a:p>
          <a:p>
            <a:pPr marL="0" indent="0">
              <a:buNone/>
            </a:pPr>
            <a:endParaRPr lang="en-US" sz="2400">
              <a:solidFill>
                <a:srgbClr val="2E2E2E"/>
              </a:solidFill>
              <a:latin typeface="Roboto"/>
              <a:ea typeface="Roboto"/>
              <a:cs typeface="Roboto"/>
            </a:endParaRPr>
          </a:p>
          <a:p>
            <a:pPr marL="0" indent="0">
              <a:buNone/>
            </a:pPr>
            <a:endParaRPr lang="en-US" sz="2400">
              <a:solidFill>
                <a:srgbClr val="2E2E2E"/>
              </a:solidFill>
              <a:latin typeface="Roboto"/>
              <a:ea typeface="Roboto"/>
              <a:cs typeface="Roboto"/>
            </a:endParaRPr>
          </a:p>
          <a:p>
            <a:pPr marL="0" indent="0">
              <a:buNone/>
            </a:pPr>
            <a:endParaRPr lang="en-US" sz="2400">
              <a:solidFill>
                <a:srgbClr val="2E2E2E"/>
              </a:solidFill>
              <a:latin typeface="Roboto"/>
              <a:ea typeface="Roboto"/>
              <a:cs typeface="Roboto"/>
            </a:endParaRPr>
          </a:p>
        </p:txBody>
      </p:sp>
      <p:sp>
        <p:nvSpPr>
          <p:cNvPr id="9" name="AutoShape 4">
            <a:extLst>
              <a:ext uri="{FF2B5EF4-FFF2-40B4-BE49-F238E27FC236}">
                <a16:creationId xmlns:a16="http://schemas.microsoft.com/office/drawing/2014/main" id="{41DD1C8E-665D-81AB-112D-44DB4C6C823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11" name="Picture Placeholder 10" descr="A person standing on a mountain top&#10;&#10;Description automatically generated">
            <a:extLst>
              <a:ext uri="{FF2B5EF4-FFF2-40B4-BE49-F238E27FC236}">
                <a16:creationId xmlns:a16="http://schemas.microsoft.com/office/drawing/2014/main" id="{FF1329A3-0511-5588-9743-AB6A36193217}"/>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4112" r="34112"/>
          <a:stretch/>
        </p:blipFill>
        <p:spPr/>
      </p:pic>
    </p:spTree>
    <p:extLst>
      <p:ext uri="{BB962C8B-B14F-4D97-AF65-F5344CB8AC3E}">
        <p14:creationId xmlns:p14="http://schemas.microsoft.com/office/powerpoint/2010/main" val="3506885676"/>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6834D-8963-E792-42FB-137BE9035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95D50-4363-0B4F-66DE-7FD636B2C06E}"/>
              </a:ext>
            </a:extLst>
          </p:cNvPr>
          <p:cNvSpPr>
            <a:spLocks noGrp="1"/>
          </p:cNvSpPr>
          <p:nvPr>
            <p:ph type="title"/>
          </p:nvPr>
        </p:nvSpPr>
        <p:spPr/>
        <p:txBody>
          <a:bodyPr>
            <a:normAutofit/>
          </a:bodyPr>
          <a:lstStyle/>
          <a:p>
            <a:r>
              <a:rPr lang="en-US" b="1"/>
              <a:t>Concatenation and Length</a:t>
            </a:r>
            <a:endParaRPr lang="en-US"/>
          </a:p>
        </p:txBody>
      </p:sp>
      <p:sp>
        <p:nvSpPr>
          <p:cNvPr id="3" name="Content Placeholder 2">
            <a:extLst>
              <a:ext uri="{FF2B5EF4-FFF2-40B4-BE49-F238E27FC236}">
                <a16:creationId xmlns:a16="http://schemas.microsoft.com/office/drawing/2014/main" id="{AD204711-D86D-F43C-C83C-5C78D0B59613}"/>
              </a:ext>
            </a:extLst>
          </p:cNvPr>
          <p:cNvSpPr>
            <a:spLocks noGrp="1"/>
          </p:cNvSpPr>
          <p:nvPr>
            <p:ph sz="quarter" idx="11"/>
          </p:nvPr>
        </p:nvSpPr>
        <p:spPr>
          <a:xfrm>
            <a:off x="838200" y="1490663"/>
            <a:ext cx="5153025" cy="1410799"/>
          </a:xfrm>
        </p:spPr>
        <p:txBody>
          <a:bodyPr>
            <a:normAutofit/>
          </a:bodyPr>
          <a:lstStyle/>
          <a:p>
            <a:r>
              <a:rPr lang="en-US" dirty="0" err="1">
                <a:solidFill>
                  <a:srgbClr val="1082F2"/>
                </a:solidFill>
              </a:rPr>
              <a:t>Concat</a:t>
            </a:r>
            <a:endParaRPr lang="en-US" dirty="0">
              <a:solidFill>
                <a:srgbClr val="1082F2"/>
              </a:solidFill>
            </a:endParaRPr>
          </a:p>
          <a:p>
            <a:pPr lvl="1"/>
            <a:r>
              <a:rPr lang="en-US" dirty="0"/>
              <a:t>Joins an array of strings using a specified delimiter.</a:t>
            </a:r>
          </a:p>
          <a:p>
            <a:pPr lvl="1"/>
            <a:r>
              <a:rPr lang="en-US" dirty="0"/>
              <a:t>Example: [‘A’,’B’,’C’] with delimiter , -&gt; A,B,C.</a:t>
            </a:r>
          </a:p>
        </p:txBody>
      </p:sp>
      <p:sp>
        <p:nvSpPr>
          <p:cNvPr id="4" name="Content Placeholder 3">
            <a:extLst>
              <a:ext uri="{FF2B5EF4-FFF2-40B4-BE49-F238E27FC236}">
                <a16:creationId xmlns:a16="http://schemas.microsoft.com/office/drawing/2014/main" id="{DD767B2F-E429-7505-B0B7-574F4EDBEE89}"/>
              </a:ext>
            </a:extLst>
          </p:cNvPr>
          <p:cNvSpPr>
            <a:spLocks noGrp="1"/>
          </p:cNvSpPr>
          <p:nvPr>
            <p:ph sz="quarter" idx="12"/>
          </p:nvPr>
        </p:nvSpPr>
        <p:spPr>
          <a:xfrm>
            <a:off x="6277304" y="1490663"/>
            <a:ext cx="5153025" cy="1410799"/>
          </a:xfrm>
        </p:spPr>
        <p:txBody>
          <a:bodyPr>
            <a:normAutofit/>
          </a:bodyPr>
          <a:lstStyle/>
          <a:p>
            <a:r>
              <a:rPr lang="en-US">
                <a:solidFill>
                  <a:srgbClr val="1082F2"/>
                </a:solidFill>
              </a:rPr>
              <a:t>Length</a:t>
            </a:r>
          </a:p>
          <a:p>
            <a:pPr lvl="1"/>
            <a:r>
              <a:rPr lang="en-US"/>
              <a:t>Returns the character count of the input string.</a:t>
            </a:r>
          </a:p>
          <a:p>
            <a:pPr lvl="1"/>
            <a:r>
              <a:rPr lang="en-US"/>
              <a:t>Example: “Hello” -&gt; 5.</a:t>
            </a:r>
            <a:endParaRPr lang="en-US" b="1"/>
          </a:p>
        </p:txBody>
      </p:sp>
      <p:pic>
        <p:nvPicPr>
          <p:cNvPr id="7" name="Picture 6">
            <a:extLst>
              <a:ext uri="{FF2B5EF4-FFF2-40B4-BE49-F238E27FC236}">
                <a16:creationId xmlns:a16="http://schemas.microsoft.com/office/drawing/2014/main" id="{C27B6C4F-854A-4574-A323-E21E7375D74E}"/>
              </a:ext>
            </a:extLst>
          </p:cNvPr>
          <p:cNvPicPr>
            <a:picLocks noChangeAspect="1"/>
          </p:cNvPicPr>
          <p:nvPr/>
        </p:nvPicPr>
        <p:blipFill>
          <a:blip r:embed="rId2"/>
          <a:stretch>
            <a:fillRect/>
          </a:stretch>
        </p:blipFill>
        <p:spPr>
          <a:xfrm>
            <a:off x="1107830" y="3111549"/>
            <a:ext cx="4135193" cy="3232361"/>
          </a:xfrm>
          <a:prstGeom prst="rect">
            <a:avLst/>
          </a:prstGeom>
        </p:spPr>
      </p:pic>
      <p:pic>
        <p:nvPicPr>
          <p:cNvPr id="8" name="Picture 7">
            <a:extLst>
              <a:ext uri="{FF2B5EF4-FFF2-40B4-BE49-F238E27FC236}">
                <a16:creationId xmlns:a16="http://schemas.microsoft.com/office/drawing/2014/main" id="{79252700-E65F-5E48-9284-46B342DF1C48}"/>
              </a:ext>
            </a:extLst>
          </p:cNvPr>
          <p:cNvPicPr>
            <a:picLocks noChangeAspect="1"/>
          </p:cNvPicPr>
          <p:nvPr/>
        </p:nvPicPr>
        <p:blipFill>
          <a:blip r:embed="rId3"/>
          <a:stretch>
            <a:fillRect/>
          </a:stretch>
        </p:blipFill>
        <p:spPr>
          <a:xfrm>
            <a:off x="6948977" y="3105441"/>
            <a:ext cx="4019186" cy="3232361"/>
          </a:xfrm>
          <a:prstGeom prst="rect">
            <a:avLst/>
          </a:prstGeom>
        </p:spPr>
      </p:pic>
    </p:spTree>
    <p:extLst>
      <p:ext uri="{BB962C8B-B14F-4D97-AF65-F5344CB8AC3E}">
        <p14:creationId xmlns:p14="http://schemas.microsoft.com/office/powerpoint/2010/main" val="1104564993"/>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266FA-713E-8A5C-6BB7-588B2E942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91AAA-31CD-691E-3A4E-C237BFE2F654}"/>
              </a:ext>
            </a:extLst>
          </p:cNvPr>
          <p:cNvSpPr>
            <a:spLocks noGrp="1"/>
          </p:cNvSpPr>
          <p:nvPr>
            <p:ph type="title"/>
          </p:nvPr>
        </p:nvSpPr>
        <p:spPr/>
        <p:txBody>
          <a:bodyPr>
            <a:normAutofit/>
          </a:bodyPr>
          <a:lstStyle/>
          <a:p>
            <a:r>
              <a:rPr lang="en-US" b="1"/>
              <a:t>Case Conversion &amp; Trimming</a:t>
            </a:r>
            <a:endParaRPr lang="en-US"/>
          </a:p>
        </p:txBody>
      </p:sp>
      <p:sp>
        <p:nvSpPr>
          <p:cNvPr id="3" name="Content Placeholder 2">
            <a:extLst>
              <a:ext uri="{FF2B5EF4-FFF2-40B4-BE49-F238E27FC236}">
                <a16:creationId xmlns:a16="http://schemas.microsoft.com/office/drawing/2014/main" id="{F78225A9-DD3B-95A8-571B-3C40A7BD4529}"/>
              </a:ext>
            </a:extLst>
          </p:cNvPr>
          <p:cNvSpPr>
            <a:spLocks noGrp="1"/>
          </p:cNvSpPr>
          <p:nvPr>
            <p:ph sz="quarter" idx="11"/>
          </p:nvPr>
        </p:nvSpPr>
        <p:spPr>
          <a:xfrm>
            <a:off x="838199" y="1735016"/>
            <a:ext cx="5153025" cy="4241922"/>
          </a:xfrm>
        </p:spPr>
        <p:txBody>
          <a:bodyPr>
            <a:normAutofit/>
          </a:bodyPr>
          <a:lstStyle/>
          <a:p>
            <a:r>
              <a:rPr lang="en-US" err="1">
                <a:solidFill>
                  <a:srgbClr val="1082F2"/>
                </a:solidFill>
              </a:rPr>
              <a:t>LowerCase</a:t>
            </a:r>
            <a:endParaRPr lang="en-US">
              <a:solidFill>
                <a:srgbClr val="1082F2"/>
              </a:solidFill>
            </a:endParaRPr>
          </a:p>
          <a:p>
            <a:pPr lvl="1"/>
            <a:r>
              <a:rPr lang="en-US"/>
              <a:t>Converts all characters to lowercase.</a:t>
            </a:r>
          </a:p>
          <a:p>
            <a:r>
              <a:rPr lang="en-US" err="1">
                <a:solidFill>
                  <a:srgbClr val="1082F2"/>
                </a:solidFill>
              </a:rPr>
              <a:t>UpperCase</a:t>
            </a:r>
            <a:endParaRPr lang="en-US">
              <a:solidFill>
                <a:srgbClr val="1082F2"/>
              </a:solidFill>
            </a:endParaRPr>
          </a:p>
          <a:p>
            <a:pPr lvl="1"/>
            <a:r>
              <a:rPr lang="en-US"/>
              <a:t>Converts all characters to uppercase.</a:t>
            </a:r>
          </a:p>
          <a:p>
            <a:r>
              <a:rPr lang="en-US">
                <a:solidFill>
                  <a:srgbClr val="1082F2"/>
                </a:solidFill>
              </a:rPr>
              <a:t>Trim</a:t>
            </a:r>
          </a:p>
          <a:p>
            <a:pPr lvl="1"/>
            <a:r>
              <a:rPr lang="en-US"/>
              <a:t>Removed whitespace from both ends of the string.</a:t>
            </a:r>
          </a:p>
          <a:p>
            <a:pPr lvl="1"/>
            <a:endParaRPr lang="en-US"/>
          </a:p>
        </p:txBody>
      </p:sp>
      <p:pic>
        <p:nvPicPr>
          <p:cNvPr id="11" name="Picture 10">
            <a:extLst>
              <a:ext uri="{FF2B5EF4-FFF2-40B4-BE49-F238E27FC236}">
                <a16:creationId xmlns:a16="http://schemas.microsoft.com/office/drawing/2014/main" id="{A5A2456B-9CFD-BB3D-B7D2-9D4E8A3F1A11}"/>
              </a:ext>
            </a:extLst>
          </p:cNvPr>
          <p:cNvPicPr>
            <a:picLocks noChangeAspect="1"/>
          </p:cNvPicPr>
          <p:nvPr/>
        </p:nvPicPr>
        <p:blipFill>
          <a:blip r:embed="rId2"/>
          <a:stretch>
            <a:fillRect/>
          </a:stretch>
        </p:blipFill>
        <p:spPr>
          <a:xfrm>
            <a:off x="6096000" y="1832219"/>
            <a:ext cx="4889500" cy="2578100"/>
          </a:xfrm>
          <a:prstGeom prst="rect">
            <a:avLst/>
          </a:prstGeom>
        </p:spPr>
      </p:pic>
    </p:spTree>
    <p:extLst>
      <p:ext uri="{BB962C8B-B14F-4D97-AF65-F5344CB8AC3E}">
        <p14:creationId xmlns:p14="http://schemas.microsoft.com/office/powerpoint/2010/main" val="1175686487"/>
      </p:ext>
    </p:extLst>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B7B53-6DD9-5FDA-C667-39D9752922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70688-397D-90A5-3C38-B1C1E35A60CB}"/>
              </a:ext>
            </a:extLst>
          </p:cNvPr>
          <p:cNvSpPr>
            <a:spLocks noGrp="1"/>
          </p:cNvSpPr>
          <p:nvPr>
            <p:ph type="title"/>
          </p:nvPr>
        </p:nvSpPr>
        <p:spPr/>
        <p:txBody>
          <a:bodyPr>
            <a:normAutofit/>
          </a:bodyPr>
          <a:lstStyle/>
          <a:p>
            <a:r>
              <a:rPr lang="en-US" b="1"/>
              <a:t>Substring Operations</a:t>
            </a:r>
            <a:endParaRPr lang="en-US"/>
          </a:p>
        </p:txBody>
      </p:sp>
      <p:sp>
        <p:nvSpPr>
          <p:cNvPr id="3" name="Content Placeholder 2">
            <a:extLst>
              <a:ext uri="{FF2B5EF4-FFF2-40B4-BE49-F238E27FC236}">
                <a16:creationId xmlns:a16="http://schemas.microsoft.com/office/drawing/2014/main" id="{2B7721A2-2C54-D6C6-37AE-F590032B4099}"/>
              </a:ext>
            </a:extLst>
          </p:cNvPr>
          <p:cNvSpPr>
            <a:spLocks noGrp="1"/>
          </p:cNvSpPr>
          <p:nvPr>
            <p:ph sz="quarter" idx="11"/>
          </p:nvPr>
        </p:nvSpPr>
        <p:spPr>
          <a:xfrm>
            <a:off x="838200" y="1490663"/>
            <a:ext cx="5153025" cy="1410799"/>
          </a:xfrm>
        </p:spPr>
        <p:txBody>
          <a:bodyPr>
            <a:normAutofit/>
          </a:bodyPr>
          <a:lstStyle/>
          <a:p>
            <a:r>
              <a:rPr lang="en-US" sz="1600">
                <a:solidFill>
                  <a:srgbClr val="1082F2"/>
                </a:solidFill>
              </a:rPr>
              <a:t>Substring</a:t>
            </a:r>
          </a:p>
          <a:p>
            <a:pPr lvl="1"/>
            <a:r>
              <a:rPr lang="en-US" sz="1400"/>
              <a:t>Retrieves a segment of the input string based on a given start index and an optional end index.</a:t>
            </a:r>
          </a:p>
          <a:p>
            <a:pPr lvl="1"/>
            <a:r>
              <a:rPr lang="en-US" sz="1400"/>
              <a:t>If the end index is 0 or beyond the length of the string, it is automatically disregarded</a:t>
            </a:r>
          </a:p>
        </p:txBody>
      </p:sp>
      <p:sp>
        <p:nvSpPr>
          <p:cNvPr id="4" name="Content Placeholder 3">
            <a:extLst>
              <a:ext uri="{FF2B5EF4-FFF2-40B4-BE49-F238E27FC236}">
                <a16:creationId xmlns:a16="http://schemas.microsoft.com/office/drawing/2014/main" id="{7D024467-2A1C-12EE-EAB0-B421101EBE3B}"/>
              </a:ext>
            </a:extLst>
          </p:cNvPr>
          <p:cNvSpPr>
            <a:spLocks noGrp="1"/>
          </p:cNvSpPr>
          <p:nvPr>
            <p:ph sz="quarter" idx="12"/>
          </p:nvPr>
        </p:nvSpPr>
        <p:spPr>
          <a:xfrm>
            <a:off x="6382057" y="1486633"/>
            <a:ext cx="5153025" cy="2381982"/>
          </a:xfrm>
        </p:spPr>
        <p:txBody>
          <a:bodyPr>
            <a:normAutofit fontScale="77500" lnSpcReduction="20000"/>
          </a:bodyPr>
          <a:lstStyle/>
          <a:p>
            <a:r>
              <a:rPr lang="en-US" err="1">
                <a:solidFill>
                  <a:srgbClr val="1082F2"/>
                </a:solidFill>
              </a:rPr>
              <a:t>StringPos</a:t>
            </a:r>
            <a:endParaRPr lang="en-US">
              <a:solidFill>
                <a:srgbClr val="1082F2"/>
              </a:solidFill>
            </a:endParaRPr>
          </a:p>
          <a:p>
            <a:pPr lvl="1"/>
            <a:r>
              <a:rPr lang="en-US"/>
              <a:t>Returns the 0-based index of a substring within the input string. The search is </a:t>
            </a:r>
            <a:r>
              <a:rPr lang="en-US" b="1"/>
              <a:t>case-sensitive</a:t>
            </a:r>
            <a:r>
              <a:rPr lang="en-US"/>
              <a:t>.</a:t>
            </a:r>
          </a:p>
          <a:p>
            <a:pPr lvl="1"/>
            <a:r>
              <a:rPr lang="en-US"/>
              <a:t>If the substring is found, the index is returned and the found flag is set to true; otherwise, -1 is returned and found is false.</a:t>
            </a:r>
          </a:p>
          <a:p>
            <a:pPr lvl="1"/>
            <a:r>
              <a:rPr lang="en-US"/>
              <a:t>Supports a </a:t>
            </a:r>
            <a:r>
              <a:rPr lang="en-US" err="1"/>
              <a:t>fromPosition</a:t>
            </a:r>
            <a:r>
              <a:rPr lang="en-US"/>
              <a:t> parameter to define the starting point of the search; negative values initiate a reverse search from the end of the string.</a:t>
            </a:r>
          </a:p>
          <a:p>
            <a:pPr lvl="1"/>
            <a:r>
              <a:rPr lang="en-US"/>
              <a:t>The substring can be interpreted as a regular expression by enabling the regex input flag.</a:t>
            </a:r>
          </a:p>
        </p:txBody>
      </p:sp>
      <p:pic>
        <p:nvPicPr>
          <p:cNvPr id="5" name="Picture 4">
            <a:extLst>
              <a:ext uri="{FF2B5EF4-FFF2-40B4-BE49-F238E27FC236}">
                <a16:creationId xmlns:a16="http://schemas.microsoft.com/office/drawing/2014/main" id="{875A615B-6B3E-BE85-ED0D-75AE8096C9A4}"/>
              </a:ext>
            </a:extLst>
          </p:cNvPr>
          <p:cNvPicPr>
            <a:picLocks noChangeAspect="1"/>
          </p:cNvPicPr>
          <p:nvPr/>
        </p:nvPicPr>
        <p:blipFill>
          <a:blip r:embed="rId2"/>
          <a:stretch>
            <a:fillRect/>
          </a:stretch>
        </p:blipFill>
        <p:spPr>
          <a:xfrm>
            <a:off x="1117328" y="3841944"/>
            <a:ext cx="4864100" cy="2514600"/>
          </a:xfrm>
          <a:prstGeom prst="rect">
            <a:avLst/>
          </a:prstGeom>
        </p:spPr>
      </p:pic>
      <p:pic>
        <p:nvPicPr>
          <p:cNvPr id="7" name="Picture 6" descr="A screenshot of a chat&#10;&#10;AI-generated content may be incorrect.">
            <a:extLst>
              <a:ext uri="{FF2B5EF4-FFF2-40B4-BE49-F238E27FC236}">
                <a16:creationId xmlns:a16="http://schemas.microsoft.com/office/drawing/2014/main" id="{01BD82D6-8B63-DEC4-32F5-7D41C53F5952}"/>
              </a:ext>
            </a:extLst>
          </p:cNvPr>
          <p:cNvPicPr>
            <a:picLocks noChangeAspect="1"/>
          </p:cNvPicPr>
          <p:nvPr/>
        </p:nvPicPr>
        <p:blipFill>
          <a:blip r:embed="rId3"/>
          <a:stretch>
            <a:fillRect/>
          </a:stretch>
        </p:blipFill>
        <p:spPr>
          <a:xfrm>
            <a:off x="7016383" y="3800231"/>
            <a:ext cx="4352925" cy="3048000"/>
          </a:xfrm>
          <a:prstGeom prst="rect">
            <a:avLst/>
          </a:prstGeom>
        </p:spPr>
      </p:pic>
    </p:spTree>
    <p:extLst>
      <p:ext uri="{BB962C8B-B14F-4D97-AF65-F5344CB8AC3E}">
        <p14:creationId xmlns:p14="http://schemas.microsoft.com/office/powerpoint/2010/main" val="588452930"/>
      </p:ext>
    </p:extLst>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A3C85-7A70-58D7-8F13-FBAB80487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840FC-0D56-6800-4D07-8A4BD37AB7E0}"/>
              </a:ext>
            </a:extLst>
          </p:cNvPr>
          <p:cNvSpPr>
            <a:spLocks noGrp="1"/>
          </p:cNvSpPr>
          <p:nvPr>
            <p:ph type="title"/>
          </p:nvPr>
        </p:nvSpPr>
        <p:spPr/>
        <p:txBody>
          <a:bodyPr>
            <a:normAutofit/>
          </a:bodyPr>
          <a:lstStyle/>
          <a:p>
            <a:r>
              <a:rPr lang="en-US"/>
              <a:t>Padding and Replacement</a:t>
            </a:r>
          </a:p>
        </p:txBody>
      </p:sp>
      <p:sp>
        <p:nvSpPr>
          <p:cNvPr id="3" name="Content Placeholder 2">
            <a:extLst>
              <a:ext uri="{FF2B5EF4-FFF2-40B4-BE49-F238E27FC236}">
                <a16:creationId xmlns:a16="http://schemas.microsoft.com/office/drawing/2014/main" id="{8051FD06-E0EB-E012-2D4D-D4951360A413}"/>
              </a:ext>
            </a:extLst>
          </p:cNvPr>
          <p:cNvSpPr>
            <a:spLocks noGrp="1"/>
          </p:cNvSpPr>
          <p:nvPr>
            <p:ph sz="quarter" idx="11"/>
          </p:nvPr>
        </p:nvSpPr>
        <p:spPr>
          <a:xfrm>
            <a:off x="838200" y="1490663"/>
            <a:ext cx="5153025" cy="2043845"/>
          </a:xfrm>
        </p:spPr>
        <p:txBody>
          <a:bodyPr vert="horz" lIns="91440" tIns="45720" rIns="91440" bIns="45720" rtlCol="0">
            <a:normAutofit fontScale="77500" lnSpcReduction="20000"/>
          </a:bodyPr>
          <a:lstStyle/>
          <a:p>
            <a:r>
              <a:rPr lang="en-US" dirty="0">
                <a:solidFill>
                  <a:srgbClr val="1082F2"/>
                </a:solidFill>
              </a:rPr>
              <a:t>String Padding</a:t>
            </a:r>
          </a:p>
          <a:p>
            <a:pPr lvl="1"/>
            <a:r>
              <a:rPr lang="en-US" dirty="0"/>
              <a:t>Extends the input string to a specified length using a provided padding character or string</a:t>
            </a:r>
          </a:p>
          <a:p>
            <a:pPr lvl="1"/>
            <a:r>
              <a:rPr lang="en-US" b="1" dirty="0"/>
              <a:t>Input</a:t>
            </a:r>
            <a:r>
              <a:rPr lang="en-US" dirty="0"/>
              <a:t>: The original string to be padded.</a:t>
            </a:r>
          </a:p>
          <a:p>
            <a:pPr lvl="1"/>
            <a:r>
              <a:rPr lang="en-US" b="1" dirty="0"/>
              <a:t>Length</a:t>
            </a:r>
            <a:r>
              <a:rPr lang="en-US" dirty="0"/>
              <a:t>: The desired total length of the final string</a:t>
            </a:r>
          </a:p>
          <a:p>
            <a:pPr lvl="1"/>
            <a:r>
              <a:rPr lang="en-US" b="1" dirty="0"/>
              <a:t>Padding</a:t>
            </a:r>
            <a:r>
              <a:rPr lang="en-US" dirty="0"/>
              <a:t>: The character or string used to fill in the extra space</a:t>
            </a:r>
          </a:p>
          <a:p>
            <a:pPr lvl="1"/>
            <a:r>
              <a:rPr lang="en-US" b="1" dirty="0" err="1"/>
              <a:t>rightPadding</a:t>
            </a:r>
            <a:r>
              <a:rPr lang="en-US" dirty="0"/>
              <a:t>: If set to true, padding is applied to the right; otherwise, it is added to the left.</a:t>
            </a:r>
          </a:p>
          <a:p>
            <a:pPr lvl="1"/>
            <a:endParaRPr lang="en-US" dirty="0"/>
          </a:p>
          <a:p>
            <a:pPr lvl="1"/>
            <a:endParaRPr lang="en-US" dirty="0"/>
          </a:p>
        </p:txBody>
      </p:sp>
      <p:sp>
        <p:nvSpPr>
          <p:cNvPr id="4" name="Content Placeholder 3">
            <a:extLst>
              <a:ext uri="{FF2B5EF4-FFF2-40B4-BE49-F238E27FC236}">
                <a16:creationId xmlns:a16="http://schemas.microsoft.com/office/drawing/2014/main" id="{F2C2C5CE-8EDB-C7C0-6C6C-0C3A102029AF}"/>
              </a:ext>
            </a:extLst>
          </p:cNvPr>
          <p:cNvSpPr>
            <a:spLocks noGrp="1"/>
          </p:cNvSpPr>
          <p:nvPr>
            <p:ph sz="quarter" idx="12"/>
          </p:nvPr>
        </p:nvSpPr>
        <p:spPr>
          <a:xfrm>
            <a:off x="6382057" y="1486633"/>
            <a:ext cx="5153025" cy="2043845"/>
          </a:xfrm>
        </p:spPr>
        <p:txBody>
          <a:bodyPr>
            <a:normAutofit fontScale="70000" lnSpcReduction="20000"/>
          </a:bodyPr>
          <a:lstStyle/>
          <a:p>
            <a:r>
              <a:rPr lang="en-US">
                <a:solidFill>
                  <a:srgbClr val="1082F2"/>
                </a:solidFill>
              </a:rPr>
              <a:t>Replace</a:t>
            </a:r>
          </a:p>
          <a:p>
            <a:pPr lvl="1"/>
            <a:r>
              <a:rPr lang="en-US"/>
              <a:t>Substitutes every instance of a specified substring within the input string with a replacement value (the search is </a:t>
            </a:r>
            <a:r>
              <a:rPr lang="en-US" b="1"/>
              <a:t>case-sensitive)</a:t>
            </a:r>
            <a:r>
              <a:rPr lang="en-US"/>
              <a:t>.</a:t>
            </a:r>
          </a:p>
          <a:p>
            <a:pPr lvl="1"/>
            <a:r>
              <a:rPr lang="en-US" b="1"/>
              <a:t>String</a:t>
            </a:r>
            <a:r>
              <a:rPr lang="en-US"/>
              <a:t>: The original string to modify.</a:t>
            </a:r>
          </a:p>
          <a:p>
            <a:pPr lvl="1"/>
            <a:r>
              <a:rPr lang="en-US" b="1"/>
              <a:t>Search </a:t>
            </a:r>
            <a:r>
              <a:rPr lang="en-US"/>
              <a:t>: The substring or pattern to look for.</a:t>
            </a:r>
          </a:p>
          <a:p>
            <a:pPr lvl="1"/>
            <a:r>
              <a:rPr lang="en-US" b="1"/>
              <a:t>Replace</a:t>
            </a:r>
            <a:r>
              <a:rPr lang="en-US"/>
              <a:t>: The value that will replace each occurrence of the pattern</a:t>
            </a:r>
          </a:p>
          <a:p>
            <a:pPr lvl="1"/>
            <a:r>
              <a:rPr lang="en-US" b="1"/>
              <a:t>Regex</a:t>
            </a:r>
            <a:r>
              <a:rPr lang="en-US"/>
              <a:t>: Indicates whether the search pattern should be treated as a regular expression</a:t>
            </a:r>
          </a:p>
          <a:p>
            <a:pPr lvl="1"/>
            <a:endParaRPr lang="en-US"/>
          </a:p>
          <a:p>
            <a:pPr lvl="1"/>
            <a:endParaRPr lang="en-US"/>
          </a:p>
          <a:p>
            <a:pPr lvl="1"/>
            <a:endParaRPr lang="en-US"/>
          </a:p>
        </p:txBody>
      </p:sp>
      <p:pic>
        <p:nvPicPr>
          <p:cNvPr id="7" name="Picture 6">
            <a:extLst>
              <a:ext uri="{FF2B5EF4-FFF2-40B4-BE49-F238E27FC236}">
                <a16:creationId xmlns:a16="http://schemas.microsoft.com/office/drawing/2014/main" id="{18D789D1-A4A2-0FA9-D7AE-F476A2B8ED5B}"/>
              </a:ext>
            </a:extLst>
          </p:cNvPr>
          <p:cNvPicPr>
            <a:picLocks noChangeAspect="1"/>
          </p:cNvPicPr>
          <p:nvPr/>
        </p:nvPicPr>
        <p:blipFill>
          <a:blip r:embed="rId2"/>
          <a:stretch>
            <a:fillRect/>
          </a:stretch>
        </p:blipFill>
        <p:spPr>
          <a:xfrm>
            <a:off x="1177925" y="3726658"/>
            <a:ext cx="4813300" cy="2476500"/>
          </a:xfrm>
          <a:prstGeom prst="rect">
            <a:avLst/>
          </a:prstGeom>
        </p:spPr>
      </p:pic>
      <p:pic>
        <p:nvPicPr>
          <p:cNvPr id="8" name="Picture 7">
            <a:extLst>
              <a:ext uri="{FF2B5EF4-FFF2-40B4-BE49-F238E27FC236}">
                <a16:creationId xmlns:a16="http://schemas.microsoft.com/office/drawing/2014/main" id="{56EC7402-4F0C-DD26-E3F3-672BC87CD89A}"/>
              </a:ext>
            </a:extLst>
          </p:cNvPr>
          <p:cNvPicPr>
            <a:picLocks noChangeAspect="1"/>
          </p:cNvPicPr>
          <p:nvPr/>
        </p:nvPicPr>
        <p:blipFill>
          <a:blip r:embed="rId3"/>
          <a:stretch>
            <a:fillRect/>
          </a:stretch>
        </p:blipFill>
        <p:spPr>
          <a:xfrm>
            <a:off x="7074633" y="3530478"/>
            <a:ext cx="4279167" cy="2976324"/>
          </a:xfrm>
          <a:prstGeom prst="rect">
            <a:avLst/>
          </a:prstGeom>
        </p:spPr>
      </p:pic>
    </p:spTree>
    <p:extLst>
      <p:ext uri="{BB962C8B-B14F-4D97-AF65-F5344CB8AC3E}">
        <p14:creationId xmlns:p14="http://schemas.microsoft.com/office/powerpoint/2010/main" val="1294032122"/>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3B4FD-3D22-0C55-5269-DAEF722A41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ED7FB-159C-A14A-7E3E-8060D6FED93F}"/>
              </a:ext>
            </a:extLst>
          </p:cNvPr>
          <p:cNvSpPr>
            <a:spLocks noGrp="1"/>
          </p:cNvSpPr>
          <p:nvPr>
            <p:ph type="title"/>
          </p:nvPr>
        </p:nvSpPr>
        <p:spPr/>
        <p:txBody>
          <a:bodyPr>
            <a:normAutofit/>
          </a:bodyPr>
          <a:lstStyle/>
          <a:p>
            <a:r>
              <a:rPr lang="en-US"/>
              <a:t>Split and </a:t>
            </a:r>
            <a:r>
              <a:rPr lang="en-US" err="1"/>
              <a:t>StringBuild</a:t>
            </a:r>
            <a:endParaRPr lang="en-US"/>
          </a:p>
        </p:txBody>
      </p:sp>
      <p:sp>
        <p:nvSpPr>
          <p:cNvPr id="3" name="Content Placeholder 2">
            <a:extLst>
              <a:ext uri="{FF2B5EF4-FFF2-40B4-BE49-F238E27FC236}">
                <a16:creationId xmlns:a16="http://schemas.microsoft.com/office/drawing/2014/main" id="{4669A9EC-F241-DA5E-FD34-52DAFCF2C5BF}"/>
              </a:ext>
            </a:extLst>
          </p:cNvPr>
          <p:cNvSpPr>
            <a:spLocks noGrp="1"/>
          </p:cNvSpPr>
          <p:nvPr>
            <p:ph sz="quarter" idx="11"/>
          </p:nvPr>
        </p:nvSpPr>
        <p:spPr>
          <a:xfrm>
            <a:off x="838200" y="1490663"/>
            <a:ext cx="5153025" cy="2043845"/>
          </a:xfrm>
        </p:spPr>
        <p:txBody>
          <a:bodyPr vert="horz" lIns="91440" tIns="45720" rIns="91440" bIns="45720" rtlCol="0">
            <a:normAutofit fontScale="70000" lnSpcReduction="20000"/>
          </a:bodyPr>
          <a:lstStyle/>
          <a:p>
            <a:r>
              <a:rPr lang="en-US" sz="2300" dirty="0">
                <a:solidFill>
                  <a:srgbClr val="1082F2"/>
                </a:solidFill>
              </a:rPr>
              <a:t>Split</a:t>
            </a:r>
          </a:p>
          <a:p>
            <a:pPr lvl="1"/>
            <a:r>
              <a:rPr lang="en-US" dirty="0"/>
              <a:t>Breaks the input string into an array of substrings using the specified delimiter.</a:t>
            </a:r>
          </a:p>
          <a:p>
            <a:pPr lvl="1"/>
            <a:r>
              <a:rPr lang="en-US" b="1" dirty="0"/>
              <a:t>String</a:t>
            </a:r>
            <a:r>
              <a:rPr lang="en-US" dirty="0"/>
              <a:t>: The string to be split.</a:t>
            </a:r>
          </a:p>
          <a:p>
            <a:pPr lvl="1"/>
            <a:r>
              <a:rPr lang="en-US" b="1" dirty="0"/>
              <a:t>Delimiter</a:t>
            </a:r>
            <a:r>
              <a:rPr lang="en-US" dirty="0"/>
              <a:t>: The character or pattern used to divide the string</a:t>
            </a:r>
          </a:p>
          <a:p>
            <a:pPr lvl="1"/>
            <a:r>
              <a:rPr lang="en-US" b="1" dirty="0"/>
              <a:t>Regex flag</a:t>
            </a:r>
            <a:r>
              <a:rPr lang="en-US" dirty="0"/>
              <a:t>: Specifies whether the delimiter should be interpreted as a regular expression.</a:t>
            </a:r>
          </a:p>
          <a:p>
            <a:pPr lvl="1"/>
            <a:r>
              <a:rPr lang="en-US" b="1" dirty="0"/>
              <a:t>Limit</a:t>
            </a:r>
            <a:r>
              <a:rPr lang="en-US" dirty="0"/>
              <a:t>: The maximum number of elements in the resulting array.  The final element will include any remaining content if the limit is reached. Use 0 for no limit</a:t>
            </a:r>
          </a:p>
          <a:p>
            <a:pPr lvl="1"/>
            <a:endParaRPr lang="en-US" dirty="0"/>
          </a:p>
        </p:txBody>
      </p:sp>
      <p:sp>
        <p:nvSpPr>
          <p:cNvPr id="4" name="Content Placeholder 3">
            <a:extLst>
              <a:ext uri="{FF2B5EF4-FFF2-40B4-BE49-F238E27FC236}">
                <a16:creationId xmlns:a16="http://schemas.microsoft.com/office/drawing/2014/main" id="{DAEAC1A0-66F0-ACF3-DE2F-A5E63FD799C2}"/>
              </a:ext>
            </a:extLst>
          </p:cNvPr>
          <p:cNvSpPr>
            <a:spLocks noGrp="1"/>
          </p:cNvSpPr>
          <p:nvPr>
            <p:ph sz="quarter" idx="12"/>
          </p:nvPr>
        </p:nvSpPr>
        <p:spPr>
          <a:xfrm>
            <a:off x="6399641" y="1490663"/>
            <a:ext cx="5153025" cy="1449998"/>
          </a:xfrm>
        </p:spPr>
        <p:txBody>
          <a:bodyPr>
            <a:normAutofit fontScale="85000" lnSpcReduction="20000"/>
          </a:bodyPr>
          <a:lstStyle/>
          <a:p>
            <a:r>
              <a:rPr lang="en-US" sz="1900" dirty="0" err="1">
                <a:solidFill>
                  <a:srgbClr val="1082F2"/>
                </a:solidFill>
              </a:rPr>
              <a:t>StringBuild</a:t>
            </a:r>
            <a:endParaRPr lang="en-US" sz="1900" dirty="0">
              <a:solidFill>
                <a:srgbClr val="1082F2"/>
              </a:solidFill>
            </a:endParaRPr>
          </a:p>
          <a:p>
            <a:pPr lvl="1"/>
            <a:r>
              <a:rPr lang="en-US" sz="1500" dirty="0"/>
              <a:t>Aggregates strings across multiple loop iterations, joining them with a specified delimiter.</a:t>
            </a:r>
          </a:p>
          <a:p>
            <a:pPr lvl="1"/>
            <a:r>
              <a:rPr lang="en-US" sz="1500" b="1" dirty="0"/>
              <a:t>Input</a:t>
            </a:r>
            <a:r>
              <a:rPr lang="en-US" sz="1500" dirty="0"/>
              <a:t>: The string(s) to append to the cumulative result during each execution.</a:t>
            </a:r>
          </a:p>
          <a:p>
            <a:pPr lvl="1"/>
            <a:r>
              <a:rPr lang="en-US" sz="1500" b="1" dirty="0"/>
              <a:t>Delimiter</a:t>
            </a:r>
            <a:r>
              <a:rPr lang="en-US" sz="1500" dirty="0"/>
              <a:t>: The separator inserted between each string segment.</a:t>
            </a:r>
          </a:p>
          <a:p>
            <a:pPr marL="457200" lvl="1" indent="0">
              <a:buNone/>
            </a:pPr>
            <a:endParaRPr lang="en-US" dirty="0"/>
          </a:p>
        </p:txBody>
      </p:sp>
      <p:pic>
        <p:nvPicPr>
          <p:cNvPr id="5" name="Picture 4">
            <a:extLst>
              <a:ext uri="{FF2B5EF4-FFF2-40B4-BE49-F238E27FC236}">
                <a16:creationId xmlns:a16="http://schemas.microsoft.com/office/drawing/2014/main" id="{5883328F-32B8-D0FB-07F2-560283C03ED7}"/>
              </a:ext>
            </a:extLst>
          </p:cNvPr>
          <p:cNvPicPr>
            <a:picLocks noChangeAspect="1"/>
          </p:cNvPicPr>
          <p:nvPr/>
        </p:nvPicPr>
        <p:blipFill>
          <a:blip r:embed="rId2"/>
          <a:stretch>
            <a:fillRect/>
          </a:stretch>
        </p:blipFill>
        <p:spPr>
          <a:xfrm>
            <a:off x="2429607" y="3784122"/>
            <a:ext cx="7772400" cy="2314311"/>
          </a:xfrm>
          <a:prstGeom prst="rect">
            <a:avLst/>
          </a:prstGeom>
        </p:spPr>
      </p:pic>
      <p:sp>
        <p:nvSpPr>
          <p:cNvPr id="7" name="TextBox 6">
            <a:extLst>
              <a:ext uri="{FF2B5EF4-FFF2-40B4-BE49-F238E27FC236}">
                <a16:creationId xmlns:a16="http://schemas.microsoft.com/office/drawing/2014/main" id="{395E0CF6-EDF8-39A6-1F94-6DF61F15AF1E}"/>
              </a:ext>
            </a:extLst>
          </p:cNvPr>
          <p:cNvSpPr txBox="1"/>
          <p:nvPr/>
        </p:nvSpPr>
        <p:spPr>
          <a:xfrm>
            <a:off x="3958111" y="6189428"/>
            <a:ext cx="1375507" cy="286768"/>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0070C0"/>
                </a:solidFill>
                <a:ea typeface="Calibri"/>
                <a:cs typeface="Calibri"/>
              </a:rPr>
              <a:t>Limit=2</a:t>
            </a:r>
          </a:p>
        </p:txBody>
      </p:sp>
      <p:cxnSp>
        <p:nvCxnSpPr>
          <p:cNvPr id="8" name="Straight Arrow Connector 7">
            <a:extLst>
              <a:ext uri="{FF2B5EF4-FFF2-40B4-BE49-F238E27FC236}">
                <a16:creationId xmlns:a16="http://schemas.microsoft.com/office/drawing/2014/main" id="{6C173D2F-0243-7295-DFAC-2A42E8C13A74}"/>
              </a:ext>
            </a:extLst>
          </p:cNvPr>
          <p:cNvCxnSpPr/>
          <p:nvPr/>
        </p:nvCxnSpPr>
        <p:spPr>
          <a:xfrm flipH="1">
            <a:off x="4442123" y="5544194"/>
            <a:ext cx="310043" cy="642849"/>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4452310"/>
      </p:ext>
    </p:extLst>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C5E80-C192-CD7E-4363-217556B31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A4B31-535A-3379-42F3-90B7EC0F999D}"/>
              </a:ext>
            </a:extLst>
          </p:cNvPr>
          <p:cNvSpPr>
            <a:spLocks noGrp="1"/>
          </p:cNvSpPr>
          <p:nvPr>
            <p:ph type="title"/>
          </p:nvPr>
        </p:nvSpPr>
        <p:spPr/>
        <p:txBody>
          <a:bodyPr>
            <a:normAutofit/>
          </a:bodyPr>
          <a:lstStyle/>
          <a:p>
            <a:r>
              <a:rPr lang="en-US" err="1"/>
              <a:t>StringFormat</a:t>
            </a:r>
            <a:r>
              <a:rPr lang="en-US"/>
              <a:t> and </a:t>
            </a:r>
            <a:r>
              <a:rPr lang="en-US" err="1"/>
              <a:t>ToString</a:t>
            </a:r>
            <a:endParaRPr lang="en-US"/>
          </a:p>
        </p:txBody>
      </p:sp>
      <p:sp>
        <p:nvSpPr>
          <p:cNvPr id="3" name="Content Placeholder 2">
            <a:extLst>
              <a:ext uri="{FF2B5EF4-FFF2-40B4-BE49-F238E27FC236}">
                <a16:creationId xmlns:a16="http://schemas.microsoft.com/office/drawing/2014/main" id="{A351C171-E0D8-3CC4-D218-F92F5B3B131E}"/>
              </a:ext>
            </a:extLst>
          </p:cNvPr>
          <p:cNvSpPr>
            <a:spLocks noGrp="1"/>
          </p:cNvSpPr>
          <p:nvPr>
            <p:ph sz="quarter" idx="11"/>
          </p:nvPr>
        </p:nvSpPr>
        <p:spPr>
          <a:xfrm>
            <a:off x="838200" y="1490663"/>
            <a:ext cx="5153025" cy="1583215"/>
          </a:xfrm>
        </p:spPr>
        <p:txBody>
          <a:bodyPr vert="horz" lIns="91440" tIns="45720" rIns="91440" bIns="45720" rtlCol="0">
            <a:normAutofit fontScale="77500" lnSpcReduction="20000"/>
          </a:bodyPr>
          <a:lstStyle/>
          <a:p>
            <a:r>
              <a:rPr lang="en-US" err="1">
                <a:solidFill>
                  <a:srgbClr val="1082F2"/>
                </a:solidFill>
              </a:rPr>
              <a:t>StringFormat</a:t>
            </a:r>
            <a:endParaRPr lang="en-US">
              <a:solidFill>
                <a:srgbClr val="1082F2"/>
              </a:solidFill>
            </a:endParaRPr>
          </a:p>
          <a:p>
            <a:pPr lvl="1"/>
            <a:r>
              <a:rPr lang="en-US"/>
              <a:t>Enables dynamic string formatting using the ${} placeholder syntax.</a:t>
            </a:r>
          </a:p>
          <a:p>
            <a:pPr lvl="1"/>
            <a:r>
              <a:rPr lang="en-US" b="1"/>
              <a:t>Indexed placeholders</a:t>
            </a:r>
            <a:r>
              <a:rPr lang="en-US"/>
              <a:t>: Use ${0}, ${1}, etc., to reference values by position</a:t>
            </a:r>
          </a:p>
          <a:p>
            <a:pPr lvl="1"/>
            <a:r>
              <a:rPr lang="en-US" b="1"/>
              <a:t>Named placeholders</a:t>
            </a:r>
            <a:r>
              <a:rPr lang="en-US"/>
              <a:t>: Use ${name} to reference values by argument name</a:t>
            </a:r>
          </a:p>
          <a:p>
            <a:pPr lvl="1"/>
            <a:endParaRPr lang="en-US"/>
          </a:p>
        </p:txBody>
      </p:sp>
      <p:sp>
        <p:nvSpPr>
          <p:cNvPr id="4" name="Content Placeholder 3">
            <a:extLst>
              <a:ext uri="{FF2B5EF4-FFF2-40B4-BE49-F238E27FC236}">
                <a16:creationId xmlns:a16="http://schemas.microsoft.com/office/drawing/2014/main" id="{91B5E25F-7FD3-3E70-4E24-7B63C2E02629}"/>
              </a:ext>
            </a:extLst>
          </p:cNvPr>
          <p:cNvSpPr>
            <a:spLocks noGrp="1"/>
          </p:cNvSpPr>
          <p:nvPr>
            <p:ph sz="quarter" idx="12"/>
          </p:nvPr>
        </p:nvSpPr>
        <p:spPr>
          <a:xfrm>
            <a:off x="6399641" y="1490663"/>
            <a:ext cx="5153025" cy="988768"/>
          </a:xfrm>
        </p:spPr>
        <p:txBody>
          <a:bodyPr>
            <a:normAutofit fontScale="92500"/>
          </a:bodyPr>
          <a:lstStyle/>
          <a:p>
            <a:r>
              <a:rPr lang="en-US" sz="1700" err="1">
                <a:solidFill>
                  <a:srgbClr val="1082F2"/>
                </a:solidFill>
              </a:rPr>
              <a:t>ToString</a:t>
            </a:r>
            <a:endParaRPr lang="en-US" sz="1700">
              <a:solidFill>
                <a:srgbClr val="1082F2"/>
              </a:solidFill>
            </a:endParaRPr>
          </a:p>
          <a:p>
            <a:pPr lvl="1"/>
            <a:r>
              <a:rPr lang="en-US" sz="1500"/>
              <a:t>Transforms any input value into its string representation according to Broadway’s conversion rules.</a:t>
            </a:r>
          </a:p>
          <a:p>
            <a:pPr marL="457200" lvl="1" indent="0">
              <a:buNone/>
            </a:pPr>
            <a:endParaRPr lang="en-US"/>
          </a:p>
        </p:txBody>
      </p:sp>
      <p:pic>
        <p:nvPicPr>
          <p:cNvPr id="6" name="Picture 5">
            <a:extLst>
              <a:ext uri="{FF2B5EF4-FFF2-40B4-BE49-F238E27FC236}">
                <a16:creationId xmlns:a16="http://schemas.microsoft.com/office/drawing/2014/main" id="{988FB166-F25C-37B0-A01C-D9D7C4EF47E7}"/>
              </a:ext>
            </a:extLst>
          </p:cNvPr>
          <p:cNvPicPr>
            <a:picLocks noChangeAspect="1"/>
          </p:cNvPicPr>
          <p:nvPr/>
        </p:nvPicPr>
        <p:blipFill>
          <a:blip r:embed="rId2"/>
          <a:stretch>
            <a:fillRect/>
          </a:stretch>
        </p:blipFill>
        <p:spPr>
          <a:xfrm>
            <a:off x="838200" y="3292770"/>
            <a:ext cx="5334364" cy="2162175"/>
          </a:xfrm>
          <a:prstGeom prst="rect">
            <a:avLst/>
          </a:prstGeom>
        </p:spPr>
      </p:pic>
      <p:pic>
        <p:nvPicPr>
          <p:cNvPr id="7" name="Picture 6">
            <a:extLst>
              <a:ext uri="{FF2B5EF4-FFF2-40B4-BE49-F238E27FC236}">
                <a16:creationId xmlns:a16="http://schemas.microsoft.com/office/drawing/2014/main" id="{6264DF6D-F44A-F71B-C885-A4CBD63DA821}"/>
              </a:ext>
            </a:extLst>
          </p:cNvPr>
          <p:cNvPicPr>
            <a:picLocks noChangeAspect="1"/>
          </p:cNvPicPr>
          <p:nvPr/>
        </p:nvPicPr>
        <p:blipFill>
          <a:blip r:embed="rId3"/>
          <a:stretch>
            <a:fillRect/>
          </a:stretch>
        </p:blipFill>
        <p:spPr>
          <a:xfrm>
            <a:off x="7032197" y="3292770"/>
            <a:ext cx="4321603" cy="2256712"/>
          </a:xfrm>
          <a:prstGeom prst="rect">
            <a:avLst/>
          </a:prstGeom>
        </p:spPr>
      </p:pic>
    </p:spTree>
    <p:extLst>
      <p:ext uri="{BB962C8B-B14F-4D97-AF65-F5344CB8AC3E}">
        <p14:creationId xmlns:p14="http://schemas.microsoft.com/office/powerpoint/2010/main" val="1862311911"/>
      </p:ext>
    </p:extLst>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D0F9D-8C6A-F80C-353D-113649071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58EBA4-5B95-7054-A6DB-79FAC2A03D07}"/>
              </a:ext>
            </a:extLst>
          </p:cNvPr>
          <p:cNvSpPr>
            <a:spLocks noGrp="1"/>
          </p:cNvSpPr>
          <p:nvPr>
            <p:ph type="title"/>
          </p:nvPr>
        </p:nvSpPr>
        <p:spPr/>
        <p:txBody>
          <a:bodyPr>
            <a:normAutofit/>
          </a:bodyPr>
          <a:lstStyle/>
          <a:p>
            <a:r>
              <a:rPr lang="en-US" err="1"/>
              <a:t>RegEx</a:t>
            </a:r>
            <a:r>
              <a:rPr lang="en-US"/>
              <a:t> and </a:t>
            </a:r>
            <a:r>
              <a:rPr lang="en-US" err="1"/>
              <a:t>NewLine</a:t>
            </a:r>
            <a:endParaRPr lang="en-US"/>
          </a:p>
        </p:txBody>
      </p:sp>
      <p:sp>
        <p:nvSpPr>
          <p:cNvPr id="3" name="Content Placeholder 2">
            <a:extLst>
              <a:ext uri="{FF2B5EF4-FFF2-40B4-BE49-F238E27FC236}">
                <a16:creationId xmlns:a16="http://schemas.microsoft.com/office/drawing/2014/main" id="{D4B4FE25-4BA9-A908-D1EC-BC59C77EEC9E}"/>
              </a:ext>
            </a:extLst>
          </p:cNvPr>
          <p:cNvSpPr>
            <a:spLocks noGrp="1"/>
          </p:cNvSpPr>
          <p:nvPr>
            <p:ph sz="quarter" idx="11"/>
          </p:nvPr>
        </p:nvSpPr>
        <p:spPr>
          <a:xfrm>
            <a:off x="838200" y="1490664"/>
            <a:ext cx="5153025" cy="1179124"/>
          </a:xfrm>
        </p:spPr>
        <p:txBody>
          <a:bodyPr vert="horz" lIns="91440" tIns="45720" rIns="91440" bIns="45720" rtlCol="0">
            <a:normAutofit fontScale="85000" lnSpcReduction="10000"/>
          </a:bodyPr>
          <a:lstStyle/>
          <a:p>
            <a:r>
              <a:rPr lang="en-US" err="1">
                <a:solidFill>
                  <a:srgbClr val="1082F2"/>
                </a:solidFill>
              </a:rPr>
              <a:t>RegEx</a:t>
            </a:r>
            <a:endParaRPr lang="en-US">
              <a:solidFill>
                <a:srgbClr val="1082F2"/>
              </a:solidFill>
            </a:endParaRPr>
          </a:p>
          <a:p>
            <a:pPr lvl="1"/>
            <a:r>
              <a:rPr lang="en-US"/>
              <a:t>Searches for substrings within the input using regular expression patterns..</a:t>
            </a:r>
          </a:p>
          <a:p>
            <a:pPr lvl="1"/>
            <a:r>
              <a:rPr lang="en-US"/>
              <a:t>Supports capturing groups for more precise matching.</a:t>
            </a:r>
          </a:p>
          <a:p>
            <a:pPr marL="457200" lvl="1" indent="0">
              <a:buNone/>
            </a:pPr>
            <a:endParaRPr lang="en-US"/>
          </a:p>
        </p:txBody>
      </p:sp>
      <p:sp>
        <p:nvSpPr>
          <p:cNvPr id="4" name="Content Placeholder 3">
            <a:extLst>
              <a:ext uri="{FF2B5EF4-FFF2-40B4-BE49-F238E27FC236}">
                <a16:creationId xmlns:a16="http://schemas.microsoft.com/office/drawing/2014/main" id="{1A993C09-DE4A-5607-9656-C4F763C817B2}"/>
              </a:ext>
            </a:extLst>
          </p:cNvPr>
          <p:cNvSpPr>
            <a:spLocks noGrp="1"/>
          </p:cNvSpPr>
          <p:nvPr>
            <p:ph sz="quarter" idx="12"/>
          </p:nvPr>
        </p:nvSpPr>
        <p:spPr>
          <a:xfrm>
            <a:off x="6399641" y="1490662"/>
            <a:ext cx="5153025" cy="2087807"/>
          </a:xfrm>
        </p:spPr>
        <p:txBody>
          <a:bodyPr>
            <a:normAutofit fontScale="92500" lnSpcReduction="20000"/>
          </a:bodyPr>
          <a:lstStyle/>
          <a:p>
            <a:pPr>
              <a:lnSpc>
                <a:spcPct val="110000"/>
              </a:lnSpc>
            </a:pPr>
            <a:r>
              <a:rPr lang="en-US" sz="1800" dirty="0" err="1">
                <a:solidFill>
                  <a:srgbClr val="1082F2"/>
                </a:solidFill>
              </a:rPr>
              <a:t>NewLine</a:t>
            </a:r>
            <a:endParaRPr lang="en-US" sz="1800" dirty="0">
              <a:solidFill>
                <a:srgbClr val="1082F2"/>
              </a:solidFill>
            </a:endParaRPr>
          </a:p>
          <a:p>
            <a:pPr lvl="1"/>
            <a:r>
              <a:rPr lang="en-US" sz="1600" dirty="0"/>
              <a:t>Returns the appropriate newline character(s) based on the selected mode:</a:t>
            </a:r>
          </a:p>
          <a:p>
            <a:pPr lvl="2"/>
            <a:r>
              <a:rPr lang="en-US" sz="1300" dirty="0"/>
              <a:t>LF -&gt; n (Unix\Linux)</a:t>
            </a:r>
          </a:p>
          <a:p>
            <a:pPr lvl="2"/>
            <a:r>
              <a:rPr lang="en-US" sz="1300" dirty="0"/>
              <a:t>CR LF -&gt; \r\n (Windows)</a:t>
            </a:r>
          </a:p>
          <a:p>
            <a:pPr lvl="2"/>
            <a:r>
              <a:rPr lang="en-US" sz="1300" dirty="0"/>
              <a:t>CR -&gt; \r</a:t>
            </a:r>
          </a:p>
          <a:p>
            <a:pPr lvl="2"/>
            <a:r>
              <a:rPr lang="en-US" sz="1300" dirty="0"/>
              <a:t>LF CR -&gt; \n\r</a:t>
            </a:r>
          </a:p>
          <a:p>
            <a:pPr lvl="2"/>
            <a:r>
              <a:rPr lang="en-US" sz="1300" dirty="0"/>
              <a:t>System Default - &gt; Automatically uses the newline style of the operating system Broadway is running on</a:t>
            </a:r>
          </a:p>
          <a:p>
            <a:pPr lvl="2"/>
            <a:endParaRPr lang="en-US" sz="1300" dirty="0"/>
          </a:p>
          <a:p>
            <a:pPr marL="457200" lvl="1" indent="0">
              <a:buNone/>
            </a:pPr>
            <a:endParaRPr lang="en-US" dirty="0"/>
          </a:p>
        </p:txBody>
      </p:sp>
      <p:pic>
        <p:nvPicPr>
          <p:cNvPr id="5" name="Picture 4">
            <a:extLst>
              <a:ext uri="{FF2B5EF4-FFF2-40B4-BE49-F238E27FC236}">
                <a16:creationId xmlns:a16="http://schemas.microsoft.com/office/drawing/2014/main" id="{E5CF1184-A1D2-1E93-1F68-BF3EA5A36B76}"/>
              </a:ext>
            </a:extLst>
          </p:cNvPr>
          <p:cNvPicPr>
            <a:picLocks noChangeAspect="1"/>
          </p:cNvPicPr>
          <p:nvPr/>
        </p:nvPicPr>
        <p:blipFill>
          <a:blip r:embed="rId2"/>
          <a:stretch>
            <a:fillRect/>
          </a:stretch>
        </p:blipFill>
        <p:spPr>
          <a:xfrm>
            <a:off x="838200" y="4394272"/>
            <a:ext cx="5770684" cy="1179124"/>
          </a:xfrm>
          <a:prstGeom prst="rect">
            <a:avLst/>
          </a:prstGeom>
        </p:spPr>
      </p:pic>
      <p:pic>
        <p:nvPicPr>
          <p:cNvPr id="8" name="Picture 7">
            <a:extLst>
              <a:ext uri="{FF2B5EF4-FFF2-40B4-BE49-F238E27FC236}">
                <a16:creationId xmlns:a16="http://schemas.microsoft.com/office/drawing/2014/main" id="{89C427B6-AE16-8C58-2DA1-0E02EB7975F0}"/>
              </a:ext>
            </a:extLst>
          </p:cNvPr>
          <p:cNvPicPr>
            <a:picLocks noChangeAspect="1"/>
          </p:cNvPicPr>
          <p:nvPr/>
        </p:nvPicPr>
        <p:blipFill>
          <a:blip r:embed="rId3"/>
          <a:stretch>
            <a:fillRect/>
          </a:stretch>
        </p:blipFill>
        <p:spPr>
          <a:xfrm>
            <a:off x="8291702" y="3501986"/>
            <a:ext cx="1946452" cy="2969845"/>
          </a:xfrm>
          <a:prstGeom prst="rect">
            <a:avLst/>
          </a:prstGeom>
        </p:spPr>
      </p:pic>
    </p:spTree>
    <p:extLst>
      <p:ext uri="{BB962C8B-B14F-4D97-AF65-F5344CB8AC3E}">
        <p14:creationId xmlns:p14="http://schemas.microsoft.com/office/powerpoint/2010/main" val="3461396646"/>
      </p:ext>
    </p:extLst>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522A2-7B37-0E13-CF1C-95BFEDED3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4603B-2FBF-4712-241B-9EE4448045B1}"/>
              </a:ext>
            </a:extLst>
          </p:cNvPr>
          <p:cNvSpPr>
            <a:spLocks noGrp="1"/>
          </p:cNvSpPr>
          <p:nvPr>
            <p:ph type="title"/>
          </p:nvPr>
        </p:nvSpPr>
        <p:spPr>
          <a:xfrm>
            <a:off x="4177553" y="403270"/>
            <a:ext cx="6695824" cy="571501"/>
          </a:xfrm>
        </p:spPr>
        <p:txBody>
          <a:bodyPr>
            <a:normAutofit/>
          </a:bodyPr>
          <a:lstStyle/>
          <a:p>
            <a:pPr algn="ctr"/>
            <a:r>
              <a:rPr lang="en-GB"/>
              <a:t>Date Utilities</a:t>
            </a:r>
            <a:endParaRPr lang="en-IL"/>
          </a:p>
        </p:txBody>
      </p:sp>
      <p:sp>
        <p:nvSpPr>
          <p:cNvPr id="3" name="Content Placeholder 2">
            <a:extLst>
              <a:ext uri="{FF2B5EF4-FFF2-40B4-BE49-F238E27FC236}">
                <a16:creationId xmlns:a16="http://schemas.microsoft.com/office/drawing/2014/main" id="{2BF711FD-3D07-FC94-A493-7A63DF1BBD32}"/>
              </a:ext>
            </a:extLst>
          </p:cNvPr>
          <p:cNvSpPr>
            <a:spLocks noGrp="1"/>
          </p:cNvSpPr>
          <p:nvPr>
            <p:ph idx="1"/>
          </p:nvPr>
        </p:nvSpPr>
        <p:spPr>
          <a:xfrm>
            <a:off x="4062046" y="1893265"/>
            <a:ext cx="6811331" cy="3127143"/>
          </a:xfrm>
        </p:spPr>
        <p:txBody>
          <a:bodyPr vert="horz" lIns="91440" tIns="45720" rIns="91440" bIns="45720" numCol="1" rtlCol="0" anchor="t">
            <a:normAutofit/>
          </a:bodyPr>
          <a:lstStyle/>
          <a:p>
            <a:pPr marL="0" indent="0">
              <a:buNone/>
            </a:pPr>
            <a:r>
              <a:rPr lang="en-US">
                <a:solidFill>
                  <a:schemeClr val="tx1">
                    <a:lumMod val="50000"/>
                  </a:schemeClr>
                </a:solidFill>
                <a:ea typeface="Roboto"/>
                <a:cs typeface="Roboto"/>
              </a:rPr>
              <a:t>Broadway </a:t>
            </a:r>
            <a:r>
              <a:rPr lang="en-US"/>
              <a:t>flexible handling of date and time in your flows</a:t>
            </a:r>
            <a:r>
              <a:rPr lang="en-US">
                <a:solidFill>
                  <a:schemeClr val="tx1">
                    <a:lumMod val="50000"/>
                  </a:schemeClr>
                </a:solidFill>
                <a:ea typeface="Roboto"/>
                <a:cs typeface="Roboto"/>
              </a:rPr>
              <a:t>.</a:t>
            </a:r>
          </a:p>
          <a:p>
            <a:pPr lvl="1"/>
            <a:r>
              <a:rPr lang="en-US"/>
              <a:t>Perform date arithmetic (add/subtract)</a:t>
            </a:r>
          </a:p>
          <a:p>
            <a:pPr lvl="1"/>
            <a:r>
              <a:rPr lang="en-US"/>
              <a:t>Break down or build date objects</a:t>
            </a:r>
            <a:endParaRPr lang="en-US">
              <a:solidFill>
                <a:schemeClr val="tx1">
                  <a:lumMod val="50000"/>
                </a:schemeClr>
              </a:solidFill>
              <a:ea typeface="Roboto"/>
              <a:cs typeface="Roboto"/>
            </a:endParaRPr>
          </a:p>
          <a:p>
            <a:pPr lvl="1"/>
            <a:r>
              <a:rPr lang="en-US"/>
              <a:t>Calculate durations between dates</a:t>
            </a:r>
            <a:endParaRPr lang="en-US">
              <a:solidFill>
                <a:schemeClr val="tx1">
                  <a:lumMod val="50000"/>
                </a:schemeClr>
              </a:solidFill>
              <a:ea typeface="Roboto"/>
              <a:cs typeface="Roboto"/>
            </a:endParaRPr>
          </a:p>
          <a:p>
            <a:pPr lvl="1"/>
            <a:r>
              <a:rPr lang="en-US"/>
              <a:t>Access the current timestamp with ease</a:t>
            </a:r>
          </a:p>
          <a:p>
            <a:pPr lvl="1"/>
            <a:endParaRPr lang="en-US">
              <a:solidFill>
                <a:schemeClr val="tx1">
                  <a:lumMod val="50000"/>
                </a:schemeClr>
              </a:solidFill>
              <a:ea typeface="Roboto"/>
              <a:cs typeface="Roboto"/>
            </a:endParaRPr>
          </a:p>
          <a:p>
            <a:pPr marL="0" indent="-29700">
              <a:buNone/>
            </a:pPr>
            <a:r>
              <a:rPr lang="en-US"/>
              <a:t>Use these utilities to manipulate, format, and analyze time-based data efficiently across your implementation </a:t>
            </a:r>
            <a:endParaRPr lang="en-US">
              <a:solidFill>
                <a:schemeClr val="tx1">
                  <a:lumMod val="50000"/>
                </a:schemeClr>
              </a:solidFill>
              <a:ea typeface="Roboto"/>
              <a:cs typeface="Roboto"/>
            </a:endParaRPr>
          </a:p>
          <a:p>
            <a:pPr marL="0" indent="0">
              <a:buNone/>
            </a:pPr>
            <a:endParaRPr lang="en-US" sz="2400">
              <a:solidFill>
                <a:srgbClr val="2E2E2E"/>
              </a:solidFill>
              <a:latin typeface="Roboto"/>
              <a:ea typeface="Roboto"/>
              <a:cs typeface="Roboto"/>
            </a:endParaRPr>
          </a:p>
          <a:p>
            <a:pPr marL="0" indent="0">
              <a:buNone/>
            </a:pPr>
            <a:endParaRPr lang="en-US" sz="2400">
              <a:solidFill>
                <a:srgbClr val="2E2E2E"/>
              </a:solidFill>
              <a:latin typeface="Roboto"/>
              <a:ea typeface="Roboto"/>
              <a:cs typeface="Roboto"/>
            </a:endParaRPr>
          </a:p>
          <a:p>
            <a:pPr marL="0" indent="0">
              <a:buNone/>
            </a:pPr>
            <a:endParaRPr lang="en-US" sz="2400">
              <a:solidFill>
                <a:srgbClr val="2E2E2E"/>
              </a:solidFill>
              <a:latin typeface="Roboto"/>
              <a:ea typeface="Roboto"/>
              <a:cs typeface="Roboto"/>
            </a:endParaRPr>
          </a:p>
          <a:p>
            <a:pPr marL="0" indent="0">
              <a:buNone/>
            </a:pPr>
            <a:endParaRPr lang="en-US" sz="2400">
              <a:solidFill>
                <a:srgbClr val="2E2E2E"/>
              </a:solidFill>
              <a:latin typeface="Roboto"/>
              <a:ea typeface="Roboto"/>
              <a:cs typeface="Roboto"/>
            </a:endParaRPr>
          </a:p>
          <a:p>
            <a:pPr marL="0" indent="0">
              <a:buNone/>
            </a:pPr>
            <a:endParaRPr lang="en-US" sz="2400">
              <a:solidFill>
                <a:srgbClr val="2E2E2E"/>
              </a:solidFill>
              <a:latin typeface="Roboto"/>
              <a:ea typeface="Roboto"/>
              <a:cs typeface="Roboto"/>
            </a:endParaRPr>
          </a:p>
        </p:txBody>
      </p:sp>
      <p:sp>
        <p:nvSpPr>
          <p:cNvPr id="9" name="AutoShape 4">
            <a:extLst>
              <a:ext uri="{FF2B5EF4-FFF2-40B4-BE49-F238E27FC236}">
                <a16:creationId xmlns:a16="http://schemas.microsoft.com/office/drawing/2014/main" id="{7E8A0EF4-B485-BEAF-01F0-D4F0320846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11" name="Picture Placeholder 10" descr="A person standing on a mountain top&#10;&#10;Description automatically generated">
            <a:extLst>
              <a:ext uri="{FF2B5EF4-FFF2-40B4-BE49-F238E27FC236}">
                <a16:creationId xmlns:a16="http://schemas.microsoft.com/office/drawing/2014/main" id="{F42E92FB-15BA-8CA6-5707-8CD924FADA84}"/>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4112" r="34112"/>
          <a:stretch/>
        </p:blipFill>
        <p:spPr/>
      </p:pic>
    </p:spTree>
    <p:extLst>
      <p:ext uri="{BB962C8B-B14F-4D97-AF65-F5344CB8AC3E}">
        <p14:creationId xmlns:p14="http://schemas.microsoft.com/office/powerpoint/2010/main" val="2024102245"/>
      </p:ext>
    </p:extLst>
  </p:cSld>
  <p:clrMapOvr>
    <a:masterClrMapping/>
  </p:clrMapOvr>
  <p:transition spd="slow">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B062C-063B-A906-5D04-2A0FF9D14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3A60F-10BB-5231-952B-D0D94CF80AB2}"/>
              </a:ext>
            </a:extLst>
          </p:cNvPr>
          <p:cNvSpPr>
            <a:spLocks noGrp="1"/>
          </p:cNvSpPr>
          <p:nvPr>
            <p:ph type="title"/>
          </p:nvPr>
        </p:nvSpPr>
        <p:spPr/>
        <p:txBody>
          <a:bodyPr>
            <a:normAutofit/>
          </a:bodyPr>
          <a:lstStyle/>
          <a:p>
            <a:r>
              <a:rPr lang="en-US" b="1"/>
              <a:t>Date Construction &amp; Decomposition</a:t>
            </a:r>
            <a:endParaRPr lang="en-US"/>
          </a:p>
        </p:txBody>
      </p:sp>
      <p:sp>
        <p:nvSpPr>
          <p:cNvPr id="3" name="Content Placeholder 2">
            <a:extLst>
              <a:ext uri="{FF2B5EF4-FFF2-40B4-BE49-F238E27FC236}">
                <a16:creationId xmlns:a16="http://schemas.microsoft.com/office/drawing/2014/main" id="{8E1C8F32-1EB9-C8A7-1461-C5B8700CD550}"/>
              </a:ext>
            </a:extLst>
          </p:cNvPr>
          <p:cNvSpPr>
            <a:spLocks noGrp="1"/>
          </p:cNvSpPr>
          <p:nvPr>
            <p:ph idx="1"/>
          </p:nvPr>
        </p:nvSpPr>
        <p:spPr/>
        <p:txBody>
          <a:bodyPr>
            <a:normAutofit/>
          </a:bodyPr>
          <a:lstStyle/>
          <a:p>
            <a:r>
              <a:rPr lang="en-US" sz="1700" err="1">
                <a:solidFill>
                  <a:srgbClr val="1082F2"/>
                </a:solidFill>
              </a:rPr>
              <a:t>DateBuild</a:t>
            </a:r>
            <a:endParaRPr lang="en-US" sz="1700">
              <a:solidFill>
                <a:srgbClr val="1082F2"/>
              </a:solidFill>
            </a:endParaRPr>
          </a:p>
          <a:p>
            <a:pPr marL="457200" lvl="1" indent="0">
              <a:buNone/>
            </a:pPr>
            <a:r>
              <a:rPr lang="en-US" sz="1500"/>
              <a:t>Assemble a date from components.</a:t>
            </a:r>
          </a:p>
          <a:p>
            <a:pPr lvl="1"/>
            <a:r>
              <a:rPr lang="en-US" sz="1500" b="1"/>
              <a:t>Inputs:</a:t>
            </a:r>
          </a:p>
          <a:p>
            <a:pPr lvl="2"/>
            <a:r>
              <a:rPr lang="en-US" sz="1500" i="0"/>
              <a:t>Year, Month, Day</a:t>
            </a:r>
          </a:p>
          <a:p>
            <a:pPr lvl="2"/>
            <a:r>
              <a:rPr lang="en-US" sz="1500" i="0"/>
              <a:t>Hour, Minute, Second, Millisecond</a:t>
            </a:r>
          </a:p>
          <a:p>
            <a:pPr lvl="2"/>
            <a:r>
              <a:rPr lang="en-US" sz="1500" i="0"/>
              <a:t>Time zone (default: UTC or ‘Local’)</a:t>
            </a:r>
          </a:p>
          <a:p>
            <a:pPr lvl="1"/>
            <a:r>
              <a:rPr lang="en-US" sz="1500" b="1"/>
              <a:t>Output: </a:t>
            </a:r>
            <a:r>
              <a:rPr lang="en-US" sz="1500"/>
              <a:t>A complete Date object representing the specified time</a:t>
            </a:r>
          </a:p>
          <a:p>
            <a:pPr>
              <a:lnSpc>
                <a:spcPct val="110000"/>
              </a:lnSpc>
            </a:pPr>
            <a:r>
              <a:rPr lang="en-US" sz="1700">
                <a:solidFill>
                  <a:srgbClr val="1082F2"/>
                </a:solidFill>
              </a:rPr>
              <a:t>Date Break</a:t>
            </a:r>
          </a:p>
          <a:p>
            <a:pPr marL="457200" lvl="1" indent="0">
              <a:lnSpc>
                <a:spcPct val="110000"/>
              </a:lnSpc>
              <a:buFont typeface="Arial" panose="020B0604020202020204" pitchFamily="34" charset="0"/>
              <a:buNone/>
            </a:pPr>
            <a:r>
              <a:rPr lang="en-US" sz="1500"/>
              <a:t>Decompose a date into its individual components.</a:t>
            </a:r>
          </a:p>
          <a:p>
            <a:pPr lvl="1">
              <a:lnSpc>
                <a:spcPct val="110000"/>
              </a:lnSpc>
            </a:pPr>
            <a:r>
              <a:rPr lang="en-US" sz="1500" b="1"/>
              <a:t>Input: </a:t>
            </a:r>
            <a:r>
              <a:rPr lang="en-US" sz="1500"/>
              <a:t>Date and Time zone (default: UTC or ‘Local’)</a:t>
            </a:r>
          </a:p>
          <a:p>
            <a:pPr lvl="1">
              <a:lnSpc>
                <a:spcPct val="110000"/>
              </a:lnSpc>
            </a:pPr>
            <a:r>
              <a:rPr lang="en-US" sz="1500" b="1"/>
              <a:t>Outputs: </a:t>
            </a:r>
          </a:p>
          <a:p>
            <a:pPr lvl="2">
              <a:lnSpc>
                <a:spcPct val="110000"/>
              </a:lnSpc>
            </a:pPr>
            <a:r>
              <a:rPr lang="en-US" sz="1500" i="0"/>
              <a:t>Year, Month, Day</a:t>
            </a:r>
          </a:p>
          <a:p>
            <a:pPr lvl="2">
              <a:lnSpc>
                <a:spcPct val="110000"/>
              </a:lnSpc>
            </a:pPr>
            <a:r>
              <a:rPr lang="en-US" sz="1500" i="0"/>
              <a:t>Hour, Minute, Second, Millisecond.</a:t>
            </a:r>
          </a:p>
          <a:p>
            <a:pPr lvl="1"/>
            <a:endParaRPr lang="en-US" sz="1200" b="1"/>
          </a:p>
        </p:txBody>
      </p:sp>
      <p:pic>
        <p:nvPicPr>
          <p:cNvPr id="8" name="Picture 7">
            <a:extLst>
              <a:ext uri="{FF2B5EF4-FFF2-40B4-BE49-F238E27FC236}">
                <a16:creationId xmlns:a16="http://schemas.microsoft.com/office/drawing/2014/main" id="{B4ACBBCB-B1D8-850D-C35D-C75043E8BBFB}"/>
              </a:ext>
            </a:extLst>
          </p:cNvPr>
          <p:cNvPicPr>
            <a:picLocks noChangeAspect="1"/>
          </p:cNvPicPr>
          <p:nvPr/>
        </p:nvPicPr>
        <p:blipFill>
          <a:blip r:embed="rId2"/>
          <a:stretch>
            <a:fillRect/>
          </a:stretch>
        </p:blipFill>
        <p:spPr>
          <a:xfrm>
            <a:off x="6427237" y="2009409"/>
            <a:ext cx="4926563" cy="3376246"/>
          </a:xfrm>
          <a:prstGeom prst="rect">
            <a:avLst/>
          </a:prstGeom>
        </p:spPr>
      </p:pic>
    </p:spTree>
    <p:extLst>
      <p:ext uri="{BB962C8B-B14F-4D97-AF65-F5344CB8AC3E}">
        <p14:creationId xmlns:p14="http://schemas.microsoft.com/office/powerpoint/2010/main" val="3741413584"/>
      </p:ext>
    </p:extLst>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8E5C2-8347-AEA1-E1B6-08AC050B6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3A5132-D046-D9DF-DB87-E87381D426B3}"/>
              </a:ext>
            </a:extLst>
          </p:cNvPr>
          <p:cNvSpPr>
            <a:spLocks noGrp="1"/>
          </p:cNvSpPr>
          <p:nvPr>
            <p:ph type="title"/>
          </p:nvPr>
        </p:nvSpPr>
        <p:spPr/>
        <p:txBody>
          <a:bodyPr>
            <a:normAutofit/>
          </a:bodyPr>
          <a:lstStyle/>
          <a:p>
            <a:r>
              <a:rPr lang="en-US" b="1"/>
              <a:t>Current Date, Date Arithmetic &amp; Duration</a:t>
            </a:r>
            <a:endParaRPr lang="en-US"/>
          </a:p>
        </p:txBody>
      </p:sp>
      <p:sp>
        <p:nvSpPr>
          <p:cNvPr id="3" name="Content Placeholder 2">
            <a:extLst>
              <a:ext uri="{FF2B5EF4-FFF2-40B4-BE49-F238E27FC236}">
                <a16:creationId xmlns:a16="http://schemas.microsoft.com/office/drawing/2014/main" id="{EBA6D58C-33BC-89F6-1F4E-6A45AF962515}"/>
              </a:ext>
            </a:extLst>
          </p:cNvPr>
          <p:cNvSpPr>
            <a:spLocks noGrp="1"/>
          </p:cNvSpPr>
          <p:nvPr>
            <p:ph idx="1"/>
          </p:nvPr>
        </p:nvSpPr>
        <p:spPr>
          <a:xfrm>
            <a:off x="838201" y="1497027"/>
            <a:ext cx="4349262" cy="4679936"/>
          </a:xfrm>
        </p:spPr>
        <p:txBody>
          <a:bodyPr>
            <a:normAutofit fontScale="92500" lnSpcReduction="10000"/>
          </a:bodyPr>
          <a:lstStyle/>
          <a:p>
            <a:r>
              <a:rPr lang="en-US" sz="1700">
                <a:solidFill>
                  <a:srgbClr val="1082F2"/>
                </a:solidFill>
              </a:rPr>
              <a:t>Now</a:t>
            </a:r>
          </a:p>
          <a:p>
            <a:pPr marL="486900" lvl="1" indent="0">
              <a:buNone/>
            </a:pPr>
            <a:r>
              <a:rPr lang="en-US" sz="1600"/>
              <a:t>Retrieve the current date and time.</a:t>
            </a:r>
          </a:p>
          <a:p>
            <a:pPr lvl="1"/>
            <a:r>
              <a:rPr lang="en-US" sz="1400"/>
              <a:t>Output:</a:t>
            </a:r>
          </a:p>
          <a:p>
            <a:pPr lvl="2"/>
            <a:r>
              <a:rPr lang="en-US" sz="1200" i="0"/>
              <a:t>A date object representing the current moment</a:t>
            </a:r>
          </a:p>
          <a:p>
            <a:pPr lvl="2"/>
            <a:r>
              <a:rPr lang="en-US" sz="1200" i="0"/>
              <a:t>Timestamp in milliseconds since 1970-01-01 00:00:00 UT</a:t>
            </a:r>
            <a:endParaRPr lang="en-US" sz="1700" i="0">
              <a:solidFill>
                <a:srgbClr val="1082F2"/>
              </a:solidFill>
            </a:endParaRPr>
          </a:p>
          <a:p>
            <a:r>
              <a:rPr lang="en-US" sz="1700" err="1">
                <a:solidFill>
                  <a:srgbClr val="1082F2"/>
                </a:solidFill>
              </a:rPr>
              <a:t>DateAdd</a:t>
            </a:r>
            <a:endParaRPr lang="en-US" sz="1700">
              <a:solidFill>
                <a:srgbClr val="1082F2"/>
              </a:solidFill>
            </a:endParaRPr>
          </a:p>
          <a:p>
            <a:pPr marL="457200" lvl="1" indent="0">
              <a:buNone/>
            </a:pPr>
            <a:r>
              <a:rPr lang="en-US" sz="1600"/>
              <a:t>Perform arithmetic operations on a base date:</a:t>
            </a:r>
          </a:p>
          <a:p>
            <a:pPr lvl="1"/>
            <a:r>
              <a:rPr lang="en-US" sz="1400"/>
              <a:t>Add/Subtract </a:t>
            </a:r>
            <a:r>
              <a:rPr lang="en-US" sz="1400" b="1"/>
              <a:t>Years, Months, Days, Hours, Minutes, Seconds, Milliseconds</a:t>
            </a:r>
            <a:endParaRPr lang="en-US" sz="1400"/>
          </a:p>
          <a:p>
            <a:pPr lvl="1"/>
            <a:r>
              <a:rPr lang="en-US" sz="1400"/>
              <a:t>Output: Adjusted date</a:t>
            </a:r>
          </a:p>
          <a:p>
            <a:pPr marL="457200" lvl="1" indent="0">
              <a:buNone/>
            </a:pPr>
            <a:endParaRPr lang="en-US" sz="1500"/>
          </a:p>
          <a:p>
            <a:pPr>
              <a:lnSpc>
                <a:spcPct val="110000"/>
              </a:lnSpc>
            </a:pPr>
            <a:r>
              <a:rPr lang="en-US" sz="1700">
                <a:solidFill>
                  <a:srgbClr val="1082F2"/>
                </a:solidFill>
              </a:rPr>
              <a:t>Date Duration</a:t>
            </a:r>
          </a:p>
          <a:p>
            <a:pPr marL="457200" lvl="1" indent="0">
              <a:lnSpc>
                <a:spcPct val="110000"/>
              </a:lnSpc>
              <a:buNone/>
            </a:pPr>
            <a:r>
              <a:rPr lang="en-US" sz="1600"/>
              <a:t>Calculate the duration between two dates:</a:t>
            </a:r>
          </a:p>
          <a:p>
            <a:pPr lvl="1"/>
            <a:r>
              <a:rPr lang="en-US" sz="1400"/>
              <a:t>Inputs: From Date, To Date</a:t>
            </a:r>
          </a:p>
          <a:p>
            <a:pPr lvl="1"/>
            <a:r>
              <a:rPr lang="en-US" sz="1400"/>
              <a:t>Output:</a:t>
            </a:r>
          </a:p>
          <a:p>
            <a:pPr lvl="2"/>
            <a:r>
              <a:rPr lang="en-US" sz="1200" i="0"/>
              <a:t>Milliseconds (can be negative if reversed)</a:t>
            </a:r>
          </a:p>
          <a:p>
            <a:pPr lvl="2"/>
            <a:r>
              <a:rPr lang="en-US" sz="1200" i="0"/>
              <a:t>Real number of Days (includes fraction)</a:t>
            </a:r>
          </a:p>
        </p:txBody>
      </p:sp>
      <p:pic>
        <p:nvPicPr>
          <p:cNvPr id="6" name="Picture 5">
            <a:extLst>
              <a:ext uri="{FF2B5EF4-FFF2-40B4-BE49-F238E27FC236}">
                <a16:creationId xmlns:a16="http://schemas.microsoft.com/office/drawing/2014/main" id="{FECFEA6D-B6B2-BD3C-1903-956CBA2FFAEA}"/>
              </a:ext>
            </a:extLst>
          </p:cNvPr>
          <p:cNvPicPr>
            <a:picLocks noChangeAspect="1"/>
          </p:cNvPicPr>
          <p:nvPr/>
        </p:nvPicPr>
        <p:blipFill>
          <a:blip r:embed="rId2"/>
          <a:stretch>
            <a:fillRect/>
          </a:stretch>
        </p:blipFill>
        <p:spPr>
          <a:xfrm>
            <a:off x="5315515" y="1254390"/>
            <a:ext cx="6132069" cy="5068891"/>
          </a:xfrm>
          <a:prstGeom prst="rect">
            <a:avLst/>
          </a:prstGeom>
        </p:spPr>
      </p:pic>
    </p:spTree>
    <p:extLst>
      <p:ext uri="{BB962C8B-B14F-4D97-AF65-F5344CB8AC3E}">
        <p14:creationId xmlns:p14="http://schemas.microsoft.com/office/powerpoint/2010/main" val="1849196095"/>
      </p:ext>
    </p:extLst>
  </p:cSld>
  <p:clrMapOvr>
    <a:masterClrMapping/>
  </p:clrMapOvr>
  <p:transition spd="slow">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496C1-72DC-3D6D-4FC8-31B248E9A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8BD41-5AC5-96A6-4AA6-CDA9362975F7}"/>
              </a:ext>
            </a:extLst>
          </p:cNvPr>
          <p:cNvSpPr>
            <a:spLocks noGrp="1"/>
          </p:cNvSpPr>
          <p:nvPr>
            <p:ph type="title"/>
          </p:nvPr>
        </p:nvSpPr>
        <p:spPr/>
        <p:txBody>
          <a:bodyPr>
            <a:normAutofit/>
          </a:bodyPr>
          <a:lstStyle/>
          <a:p>
            <a:r>
              <a:rPr lang="en-US" b="1"/>
              <a:t>Date Formatting &amp; Parsing</a:t>
            </a:r>
            <a:endParaRPr lang="en-US"/>
          </a:p>
        </p:txBody>
      </p:sp>
      <p:sp>
        <p:nvSpPr>
          <p:cNvPr id="3" name="Content Placeholder 2">
            <a:extLst>
              <a:ext uri="{FF2B5EF4-FFF2-40B4-BE49-F238E27FC236}">
                <a16:creationId xmlns:a16="http://schemas.microsoft.com/office/drawing/2014/main" id="{7CC32AF8-3115-CD6B-47C9-B57A47FD148A}"/>
              </a:ext>
            </a:extLst>
          </p:cNvPr>
          <p:cNvSpPr>
            <a:spLocks noGrp="1"/>
          </p:cNvSpPr>
          <p:nvPr>
            <p:ph idx="1"/>
          </p:nvPr>
        </p:nvSpPr>
        <p:spPr/>
        <p:txBody>
          <a:bodyPr>
            <a:normAutofit fontScale="92500" lnSpcReduction="10000"/>
          </a:bodyPr>
          <a:lstStyle/>
          <a:p>
            <a:r>
              <a:rPr lang="en-US" sz="1700" err="1">
                <a:solidFill>
                  <a:srgbClr val="1082F2"/>
                </a:solidFill>
              </a:rPr>
              <a:t>DateFromat</a:t>
            </a:r>
            <a:endParaRPr lang="en-US" sz="1700">
              <a:solidFill>
                <a:srgbClr val="1082F2"/>
              </a:solidFill>
            </a:endParaRPr>
          </a:p>
          <a:p>
            <a:pPr marL="486900" lvl="1" indent="0">
              <a:buNone/>
            </a:pPr>
            <a:r>
              <a:rPr lang="en-US" sz="1600"/>
              <a:t>Transform a date into a string using a specified format</a:t>
            </a:r>
          </a:p>
          <a:p>
            <a:pPr lvl="1"/>
            <a:r>
              <a:rPr lang="en-US" sz="1400" b="1"/>
              <a:t>Inputs</a:t>
            </a:r>
          </a:p>
          <a:p>
            <a:pPr lvl="2"/>
            <a:r>
              <a:rPr lang="en-US" sz="1200" i="0"/>
              <a:t>Date, Format Pattern, </a:t>
            </a:r>
            <a:r>
              <a:rPr lang="en-US" sz="1200" i="0" err="1"/>
              <a:t>Timezone</a:t>
            </a:r>
            <a:r>
              <a:rPr lang="en-US" sz="1200" i="0"/>
              <a:t> (default: UTC), Locale (e.g., </a:t>
            </a:r>
            <a:r>
              <a:rPr lang="en-US" sz="1200" i="0" err="1"/>
              <a:t>en</a:t>
            </a:r>
            <a:r>
              <a:rPr lang="en-US" sz="1200" i="0"/>
              <a:t>, </a:t>
            </a:r>
            <a:r>
              <a:rPr lang="en-US" sz="1200" i="0" err="1"/>
              <a:t>fr</a:t>
            </a:r>
            <a:r>
              <a:rPr lang="en-US" sz="1200"/>
              <a:t>)</a:t>
            </a:r>
          </a:p>
          <a:p>
            <a:pPr lvl="1"/>
            <a:r>
              <a:rPr lang="en-US" sz="1400" b="1" i="0"/>
              <a:t>Examples</a:t>
            </a:r>
            <a:r>
              <a:rPr lang="en-US" sz="1400" i="0"/>
              <a:t>:</a:t>
            </a:r>
          </a:p>
          <a:p>
            <a:pPr lvl="2"/>
            <a:r>
              <a:rPr lang="en-US" sz="1200" i="0" err="1"/>
              <a:t>yyyy</a:t>
            </a:r>
            <a:r>
              <a:rPr lang="en-US" sz="1200" i="0"/>
              <a:t> = Year, MM = Month, dd = Day</a:t>
            </a:r>
          </a:p>
          <a:p>
            <a:pPr lvl="2"/>
            <a:r>
              <a:rPr lang="en-US" sz="1200" i="0" err="1"/>
              <a:t>HH:mm:ss</a:t>
            </a:r>
            <a:r>
              <a:rPr lang="en-US" sz="1200" i="0"/>
              <a:t> = Time, Z = </a:t>
            </a:r>
            <a:r>
              <a:rPr lang="en-US" sz="1200" i="0" err="1"/>
              <a:t>Timezone</a:t>
            </a:r>
            <a:r>
              <a:rPr lang="en-US" sz="1200" i="0"/>
              <a:t> Offset</a:t>
            </a:r>
          </a:p>
          <a:p>
            <a:pPr lvl="1"/>
            <a:r>
              <a:rPr lang="en-US" sz="1400" i="0"/>
              <a:t>Output:</a:t>
            </a:r>
          </a:p>
          <a:p>
            <a:pPr lvl="2"/>
            <a:r>
              <a:rPr lang="en-US" sz="1200" i="0"/>
              <a:t>A formatted date string.</a:t>
            </a:r>
          </a:p>
          <a:p>
            <a:r>
              <a:rPr lang="en-US" sz="1700" err="1">
                <a:solidFill>
                  <a:srgbClr val="1082F2"/>
                </a:solidFill>
              </a:rPr>
              <a:t>DateParse</a:t>
            </a:r>
            <a:endParaRPr lang="en-US" sz="1700">
              <a:solidFill>
                <a:srgbClr val="1082F2"/>
              </a:solidFill>
            </a:endParaRPr>
          </a:p>
          <a:p>
            <a:pPr marL="457200" lvl="1" indent="0">
              <a:buNone/>
            </a:pPr>
            <a:r>
              <a:rPr lang="en-US" sz="1600"/>
              <a:t>Convert a formatted date string back into a date object</a:t>
            </a:r>
          </a:p>
          <a:p>
            <a:pPr lvl="1"/>
            <a:r>
              <a:rPr lang="en-US" sz="1400" b="1"/>
              <a:t>Inputs</a:t>
            </a:r>
          </a:p>
          <a:p>
            <a:pPr lvl="2"/>
            <a:r>
              <a:rPr lang="en-US" sz="1200" i="0"/>
              <a:t>Date, Format Pattern, </a:t>
            </a:r>
            <a:r>
              <a:rPr lang="en-US" sz="1200" i="0" err="1"/>
              <a:t>Timezone</a:t>
            </a:r>
            <a:r>
              <a:rPr lang="en-US" sz="1200" i="0"/>
              <a:t> (default: UTC), Locale (e.g., </a:t>
            </a:r>
            <a:r>
              <a:rPr lang="en-US" sz="1200" i="0" err="1"/>
              <a:t>en</a:t>
            </a:r>
            <a:r>
              <a:rPr lang="en-US" sz="1200" i="0"/>
              <a:t>, </a:t>
            </a:r>
            <a:r>
              <a:rPr lang="en-US" sz="1200" i="0" err="1"/>
              <a:t>fr</a:t>
            </a:r>
            <a:r>
              <a:rPr lang="en-US" sz="1200"/>
              <a:t>)</a:t>
            </a:r>
          </a:p>
          <a:p>
            <a:pPr lvl="1"/>
            <a:r>
              <a:rPr lang="en-US" sz="1400" b="1" i="0"/>
              <a:t>Examples</a:t>
            </a:r>
            <a:r>
              <a:rPr lang="en-US" sz="1400" i="0"/>
              <a:t>:</a:t>
            </a:r>
          </a:p>
          <a:p>
            <a:pPr lvl="2"/>
            <a:r>
              <a:rPr lang="en-US" sz="1200" i="0" err="1"/>
              <a:t>yyyy</a:t>
            </a:r>
            <a:r>
              <a:rPr lang="en-US" sz="1200" i="0"/>
              <a:t> = Year, MM = Month, dd = Day</a:t>
            </a:r>
          </a:p>
          <a:p>
            <a:pPr lvl="2"/>
            <a:r>
              <a:rPr lang="en-US" sz="1200" i="0" err="1"/>
              <a:t>HH:mm:ss</a:t>
            </a:r>
            <a:r>
              <a:rPr lang="en-US" sz="1200" i="0"/>
              <a:t> = Time, Z = </a:t>
            </a:r>
            <a:r>
              <a:rPr lang="en-US" sz="1200" i="0" err="1"/>
              <a:t>Timezone</a:t>
            </a:r>
            <a:r>
              <a:rPr lang="en-US" sz="1200" i="0"/>
              <a:t> Offset</a:t>
            </a:r>
          </a:p>
          <a:p>
            <a:pPr lvl="1"/>
            <a:r>
              <a:rPr lang="en-US" sz="1400" b="1" i="0"/>
              <a:t>Output:</a:t>
            </a:r>
          </a:p>
          <a:p>
            <a:pPr lvl="2"/>
            <a:r>
              <a:rPr lang="en-US" sz="1200" i="0"/>
              <a:t>A Date object representing the parsed time.</a:t>
            </a:r>
          </a:p>
          <a:p>
            <a:pPr marL="457200" lvl="1" indent="0">
              <a:buNone/>
            </a:pPr>
            <a:endParaRPr lang="en-US" sz="1500"/>
          </a:p>
        </p:txBody>
      </p:sp>
      <p:pic>
        <p:nvPicPr>
          <p:cNvPr id="4" name="Picture 3">
            <a:extLst>
              <a:ext uri="{FF2B5EF4-FFF2-40B4-BE49-F238E27FC236}">
                <a16:creationId xmlns:a16="http://schemas.microsoft.com/office/drawing/2014/main" id="{FEA0F4A0-F592-1F33-3CC1-BA77AAD2D202}"/>
              </a:ext>
            </a:extLst>
          </p:cNvPr>
          <p:cNvPicPr>
            <a:picLocks noChangeAspect="1"/>
          </p:cNvPicPr>
          <p:nvPr/>
        </p:nvPicPr>
        <p:blipFill>
          <a:blip r:embed="rId2"/>
          <a:stretch>
            <a:fillRect/>
          </a:stretch>
        </p:blipFill>
        <p:spPr>
          <a:xfrm>
            <a:off x="6289431" y="1081454"/>
            <a:ext cx="5638558" cy="5539112"/>
          </a:xfrm>
          <a:prstGeom prst="rect">
            <a:avLst/>
          </a:prstGeom>
        </p:spPr>
      </p:pic>
    </p:spTree>
    <p:extLst>
      <p:ext uri="{BB962C8B-B14F-4D97-AF65-F5344CB8AC3E}">
        <p14:creationId xmlns:p14="http://schemas.microsoft.com/office/powerpoint/2010/main" val="4057947696"/>
      </p:ext>
    </p:extLst>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B999F-92FB-8EB5-19C0-E69CCCE65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9A0846-DE55-F6C4-AE6B-E77948C0D696}"/>
              </a:ext>
            </a:extLst>
          </p:cNvPr>
          <p:cNvSpPr>
            <a:spLocks noGrp="1"/>
          </p:cNvSpPr>
          <p:nvPr>
            <p:ph type="title"/>
          </p:nvPr>
        </p:nvSpPr>
        <p:spPr>
          <a:xfrm>
            <a:off x="5037992" y="3750911"/>
            <a:ext cx="6673362" cy="566112"/>
          </a:xfrm>
        </p:spPr>
        <p:txBody>
          <a:bodyPr>
            <a:normAutofit/>
          </a:bodyPr>
          <a:lstStyle/>
          <a:p>
            <a:pPr algn="ctr"/>
            <a:r>
              <a:rPr lang="en-US" sz="2400" dirty="0">
                <a:solidFill>
                  <a:srgbClr val="1082F2"/>
                </a:solidFill>
              </a:rPr>
              <a:t>Collections – Maps &amp; Arrays</a:t>
            </a:r>
          </a:p>
        </p:txBody>
      </p:sp>
    </p:spTree>
    <p:extLst>
      <p:ext uri="{BB962C8B-B14F-4D97-AF65-F5344CB8AC3E}">
        <p14:creationId xmlns:p14="http://schemas.microsoft.com/office/powerpoint/2010/main" val="2512695324"/>
      </p:ext>
    </p:extLst>
  </p:cSld>
  <p:clrMapOvr>
    <a:masterClrMapping/>
  </p:clrMapOvr>
  <p:transition spd="slow">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B4984-9682-CD1A-C635-52B3BC103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1A54D-E76C-77FC-11ED-AEC652044966}"/>
              </a:ext>
            </a:extLst>
          </p:cNvPr>
          <p:cNvSpPr>
            <a:spLocks noGrp="1"/>
          </p:cNvSpPr>
          <p:nvPr>
            <p:ph type="title"/>
          </p:nvPr>
        </p:nvSpPr>
        <p:spPr/>
        <p:txBody>
          <a:bodyPr>
            <a:normAutofit/>
          </a:bodyPr>
          <a:lstStyle/>
          <a:p>
            <a:r>
              <a:rPr lang="en-US" b="1" dirty="0"/>
              <a:t>Maps</a:t>
            </a:r>
            <a:endParaRPr lang="en-US" dirty="0"/>
          </a:p>
        </p:txBody>
      </p:sp>
      <p:sp>
        <p:nvSpPr>
          <p:cNvPr id="3" name="Content Placeholder 2">
            <a:extLst>
              <a:ext uri="{FF2B5EF4-FFF2-40B4-BE49-F238E27FC236}">
                <a16:creationId xmlns:a16="http://schemas.microsoft.com/office/drawing/2014/main" id="{CC0D6999-441B-4596-DC80-26B6027D979B}"/>
              </a:ext>
            </a:extLst>
          </p:cNvPr>
          <p:cNvSpPr>
            <a:spLocks noGrp="1"/>
          </p:cNvSpPr>
          <p:nvPr>
            <p:ph idx="1"/>
          </p:nvPr>
        </p:nvSpPr>
        <p:spPr>
          <a:xfrm>
            <a:off x="658368" y="1150516"/>
            <a:ext cx="11218648" cy="4811372"/>
          </a:xfrm>
        </p:spPr>
        <p:txBody>
          <a:bodyPr>
            <a:normAutofit/>
          </a:bodyPr>
          <a:lstStyle/>
          <a:p>
            <a:pPr marL="0" indent="0">
              <a:buNone/>
            </a:pPr>
            <a:r>
              <a:rPr lang="en-US" sz="1800" dirty="0">
                <a:solidFill>
                  <a:srgbClr val="1082F2"/>
                </a:solidFill>
              </a:rPr>
              <a:t>What is a Map?</a:t>
            </a:r>
          </a:p>
          <a:p>
            <a:pPr marL="0" indent="0">
              <a:buNone/>
            </a:pPr>
            <a:r>
              <a:rPr lang="en-US" sz="1800" dirty="0"/>
              <a:t>Map is a data structure that stores key-value pairs. It allows you to associate a specific key with a value and retrieve the value later using that key.</a:t>
            </a:r>
            <a:br>
              <a:rPr lang="en-US" sz="1800" dirty="0"/>
            </a:br>
            <a:endParaRPr lang="en-US" sz="1800" dirty="0"/>
          </a:p>
          <a:p>
            <a:pPr marL="0" indent="0">
              <a:buNone/>
            </a:pPr>
            <a:r>
              <a:rPr lang="en-US" sz="1800" dirty="0">
                <a:solidFill>
                  <a:srgbClr val="1082F2"/>
                </a:solidFill>
              </a:rPr>
              <a:t>Map Types supported by the Map Actors</a:t>
            </a:r>
            <a:br>
              <a:rPr lang="en-US" sz="1800" dirty="0">
                <a:solidFill>
                  <a:srgbClr val="1082F2"/>
                </a:solidFill>
              </a:rPr>
            </a:br>
            <a:endParaRPr lang="en-US" sz="1800" dirty="0">
              <a:solidFill>
                <a:srgbClr val="1082F2"/>
              </a:solidFill>
            </a:endParaRPr>
          </a:p>
          <a:p>
            <a:pPr>
              <a:lnSpc>
                <a:spcPct val="110000"/>
              </a:lnSpc>
            </a:pPr>
            <a:r>
              <a:rPr lang="en-US" sz="1800" b="1" dirty="0" err="1"/>
              <a:t>LinkedHashMap</a:t>
            </a:r>
            <a:r>
              <a:rPr lang="en-US" sz="1800" dirty="0"/>
              <a:t> uses the hash value of the keys to index the map. The fields are sorted by the order of insertion.</a:t>
            </a:r>
          </a:p>
          <a:p>
            <a:pPr>
              <a:lnSpc>
                <a:spcPct val="110000"/>
              </a:lnSpc>
            </a:pPr>
            <a:r>
              <a:rPr lang="en-US" sz="1800" b="1" dirty="0"/>
              <a:t>HashMap</a:t>
            </a:r>
            <a:r>
              <a:rPr lang="en-US" sz="1800" dirty="0"/>
              <a:t> uses the hash value of the keys to index the map. The fields are sorted by the key's hash value.</a:t>
            </a:r>
          </a:p>
          <a:p>
            <a:pPr>
              <a:lnSpc>
                <a:spcPct val="110000"/>
              </a:lnSpc>
            </a:pPr>
            <a:r>
              <a:rPr lang="en-US" sz="1800" b="1" dirty="0" err="1"/>
              <a:t>TreeMap</a:t>
            </a:r>
            <a:r>
              <a:rPr lang="en-US" sz="1800" dirty="0"/>
              <a:t> uses a tree structure to index the map. The fields are sorted by the key's natural order.</a:t>
            </a:r>
          </a:p>
          <a:p>
            <a:pPr>
              <a:lnSpc>
                <a:spcPct val="110000"/>
              </a:lnSpc>
            </a:pPr>
            <a:r>
              <a:rPr lang="en-US" sz="1800" b="1" dirty="0" err="1"/>
              <a:t>TreeMapIgnoreCase</a:t>
            </a:r>
            <a:r>
              <a:rPr lang="en-US" sz="1800" dirty="0"/>
              <a:t> uses a tree structure to index the map. Strings that are equal under the same case are treated as the same key. Fields are sorted by the key's natural order, ignoring its case.</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1584976219"/>
      </p:ext>
    </p:extLst>
  </p:cSld>
  <p:clrMapOvr>
    <a:masterClrMapping/>
  </p:clrMapOvr>
  <p:transition spd="slow">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9E762-4FF6-ECB6-8BFF-54CAD59F3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0C077-5C3B-064F-D355-12227C1E4967}"/>
              </a:ext>
            </a:extLst>
          </p:cNvPr>
          <p:cNvSpPr>
            <a:spLocks noGrp="1"/>
          </p:cNvSpPr>
          <p:nvPr>
            <p:ph type="title"/>
          </p:nvPr>
        </p:nvSpPr>
        <p:spPr/>
        <p:txBody>
          <a:bodyPr>
            <a:normAutofit/>
          </a:bodyPr>
          <a:lstStyle/>
          <a:p>
            <a:r>
              <a:rPr lang="en-US" b="1" dirty="0"/>
              <a:t>Maps</a:t>
            </a:r>
            <a:endParaRPr lang="en-US" dirty="0"/>
          </a:p>
        </p:txBody>
      </p:sp>
      <p:sp>
        <p:nvSpPr>
          <p:cNvPr id="3" name="Content Placeholder 2">
            <a:extLst>
              <a:ext uri="{FF2B5EF4-FFF2-40B4-BE49-F238E27FC236}">
                <a16:creationId xmlns:a16="http://schemas.microsoft.com/office/drawing/2014/main" id="{91552EAC-8BBA-9D90-022C-BAD6E77F53C7}"/>
              </a:ext>
            </a:extLst>
          </p:cNvPr>
          <p:cNvSpPr>
            <a:spLocks noGrp="1"/>
          </p:cNvSpPr>
          <p:nvPr>
            <p:ph idx="1"/>
          </p:nvPr>
        </p:nvSpPr>
        <p:spPr>
          <a:xfrm>
            <a:off x="658368" y="1150516"/>
            <a:ext cx="11218648" cy="2109075"/>
          </a:xfrm>
        </p:spPr>
        <p:txBody>
          <a:bodyPr>
            <a:normAutofit/>
          </a:bodyPr>
          <a:lstStyle/>
          <a:p>
            <a:pPr marL="0" indent="0">
              <a:buNone/>
            </a:pPr>
            <a:r>
              <a:rPr lang="en-US" sz="1800" dirty="0" err="1">
                <a:solidFill>
                  <a:srgbClr val="1082F2"/>
                </a:solidFill>
              </a:rPr>
              <a:t>MapCreate</a:t>
            </a:r>
            <a:r>
              <a:rPr lang="en-US" sz="1800" dirty="0">
                <a:solidFill>
                  <a:srgbClr val="1082F2"/>
                </a:solidFill>
              </a:rPr>
              <a:t> Actor</a:t>
            </a:r>
            <a:br>
              <a:rPr lang="en-US" sz="1800" dirty="0">
                <a:solidFill>
                  <a:srgbClr val="1082F2"/>
                </a:solidFill>
              </a:rPr>
            </a:br>
            <a:br>
              <a:rPr lang="en-US" sz="1800" dirty="0"/>
            </a:br>
            <a:r>
              <a:rPr lang="en-US" sz="1800" dirty="0"/>
              <a:t>Return a map containing all input arguments. The keys are the names of the input arguments.</a:t>
            </a:r>
          </a:p>
          <a:p>
            <a:pPr marL="0" indent="0">
              <a:buNone/>
            </a:pPr>
            <a:endParaRPr lang="en-US" sz="1800" dirty="0"/>
          </a:p>
          <a:p>
            <a:pPr marL="0" indent="0">
              <a:buNone/>
            </a:pPr>
            <a:endParaRPr lang="en-US" sz="1800" dirty="0"/>
          </a:p>
        </p:txBody>
      </p:sp>
      <p:pic>
        <p:nvPicPr>
          <p:cNvPr id="9" name="Picture 8">
            <a:extLst>
              <a:ext uri="{FF2B5EF4-FFF2-40B4-BE49-F238E27FC236}">
                <a16:creationId xmlns:a16="http://schemas.microsoft.com/office/drawing/2014/main" id="{E1CD37EA-FD0B-80F7-12BF-154D8B21ECEE}"/>
              </a:ext>
            </a:extLst>
          </p:cNvPr>
          <p:cNvPicPr>
            <a:picLocks noChangeAspect="1"/>
          </p:cNvPicPr>
          <p:nvPr/>
        </p:nvPicPr>
        <p:blipFill>
          <a:blip r:embed="rId2"/>
          <a:stretch>
            <a:fillRect/>
          </a:stretch>
        </p:blipFill>
        <p:spPr>
          <a:xfrm>
            <a:off x="1161288" y="2637062"/>
            <a:ext cx="5859749" cy="3070422"/>
          </a:xfrm>
          <a:prstGeom prst="rect">
            <a:avLst/>
          </a:prstGeom>
        </p:spPr>
      </p:pic>
      <p:pic>
        <p:nvPicPr>
          <p:cNvPr id="13" name="Picture 12">
            <a:extLst>
              <a:ext uri="{FF2B5EF4-FFF2-40B4-BE49-F238E27FC236}">
                <a16:creationId xmlns:a16="http://schemas.microsoft.com/office/drawing/2014/main" id="{F20DECB9-32D5-F64C-61CD-9313DC6A5A5A}"/>
              </a:ext>
            </a:extLst>
          </p:cNvPr>
          <p:cNvPicPr>
            <a:picLocks noChangeAspect="1"/>
          </p:cNvPicPr>
          <p:nvPr/>
        </p:nvPicPr>
        <p:blipFill>
          <a:blip r:embed="rId3"/>
          <a:stretch>
            <a:fillRect/>
          </a:stretch>
        </p:blipFill>
        <p:spPr>
          <a:xfrm>
            <a:off x="7643789" y="2965404"/>
            <a:ext cx="3067478" cy="1876687"/>
          </a:xfrm>
          <a:prstGeom prst="rect">
            <a:avLst/>
          </a:prstGeom>
        </p:spPr>
      </p:pic>
      <p:cxnSp>
        <p:nvCxnSpPr>
          <p:cNvPr id="14" name="Straight Arrow Connector 13">
            <a:extLst>
              <a:ext uri="{FF2B5EF4-FFF2-40B4-BE49-F238E27FC236}">
                <a16:creationId xmlns:a16="http://schemas.microsoft.com/office/drawing/2014/main" id="{3104FD4B-CA0A-2777-1AAA-635AA23C0653}"/>
              </a:ext>
            </a:extLst>
          </p:cNvPr>
          <p:cNvCxnSpPr>
            <a:cxnSpLocks/>
          </p:cNvCxnSpPr>
          <p:nvPr/>
        </p:nvCxnSpPr>
        <p:spPr>
          <a:xfrm>
            <a:off x="4553712" y="3289657"/>
            <a:ext cx="299008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4108623"/>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DE9AC-FCF6-2DCF-1EF4-A179FDC08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01E9B-EDFF-14D1-E62F-2AA369A52C9C}"/>
              </a:ext>
            </a:extLst>
          </p:cNvPr>
          <p:cNvSpPr>
            <a:spLocks noGrp="1"/>
          </p:cNvSpPr>
          <p:nvPr>
            <p:ph type="title"/>
          </p:nvPr>
        </p:nvSpPr>
        <p:spPr/>
        <p:txBody>
          <a:bodyPr>
            <a:normAutofit/>
          </a:bodyPr>
          <a:lstStyle/>
          <a:p>
            <a:r>
              <a:rPr lang="en-US" b="1" dirty="0"/>
              <a:t>Maps</a:t>
            </a:r>
            <a:endParaRPr lang="en-US" dirty="0"/>
          </a:p>
        </p:txBody>
      </p:sp>
      <p:sp>
        <p:nvSpPr>
          <p:cNvPr id="3" name="Content Placeholder 2">
            <a:extLst>
              <a:ext uri="{FF2B5EF4-FFF2-40B4-BE49-F238E27FC236}">
                <a16:creationId xmlns:a16="http://schemas.microsoft.com/office/drawing/2014/main" id="{E17F3A10-0150-A909-1C8D-8737A3B4578E}"/>
              </a:ext>
            </a:extLst>
          </p:cNvPr>
          <p:cNvSpPr>
            <a:spLocks noGrp="1"/>
          </p:cNvSpPr>
          <p:nvPr>
            <p:ph idx="1"/>
          </p:nvPr>
        </p:nvSpPr>
        <p:spPr>
          <a:xfrm>
            <a:off x="658368" y="1150516"/>
            <a:ext cx="11218648" cy="5094835"/>
          </a:xfrm>
        </p:spPr>
        <p:txBody>
          <a:bodyPr>
            <a:normAutofit/>
          </a:bodyPr>
          <a:lstStyle/>
          <a:p>
            <a:pPr marL="0" indent="0">
              <a:buNone/>
            </a:pPr>
            <a:r>
              <a:rPr lang="en-US" sz="1800" dirty="0" err="1">
                <a:solidFill>
                  <a:srgbClr val="1082F2"/>
                </a:solidFill>
              </a:rPr>
              <a:t>MapMerge</a:t>
            </a:r>
            <a:r>
              <a:rPr lang="en-US" sz="1800" dirty="0">
                <a:solidFill>
                  <a:srgbClr val="1082F2"/>
                </a:solidFill>
              </a:rPr>
              <a:t> Actor</a:t>
            </a:r>
          </a:p>
          <a:p>
            <a:pPr marL="0" indent="0">
              <a:buNone/>
            </a:pPr>
            <a:r>
              <a:rPr lang="en-US" sz="1700" dirty="0"/>
              <a:t>Merge a list of maps into a single map</a:t>
            </a:r>
          </a:p>
          <a:p>
            <a:r>
              <a:rPr lang="en-US" sz="1700" dirty="0"/>
              <a:t>duplicate keys : determines how duplicate keys are treated.</a:t>
            </a:r>
          </a:p>
          <a:p>
            <a:pPr lvl="1"/>
            <a:r>
              <a:rPr lang="en-US" sz="1600" dirty="0"/>
              <a:t>last - the last value supplied to the key is kept.</a:t>
            </a:r>
          </a:p>
          <a:p>
            <a:pPr lvl="1"/>
            <a:r>
              <a:rPr lang="en-US" sz="1600" dirty="0"/>
              <a:t>first - the first value </a:t>
            </a:r>
            <a:r>
              <a:rPr lang="en-US" sz="1600" dirty="0" err="1"/>
              <a:t>value</a:t>
            </a:r>
            <a:r>
              <a:rPr lang="en-US" sz="1600" dirty="0"/>
              <a:t> supplied for each is kept.</a:t>
            </a:r>
          </a:p>
          <a:p>
            <a:pPr lvl="1"/>
            <a:r>
              <a:rPr lang="en-US" sz="1600" dirty="0"/>
              <a:t>all - All values for each key are kept. In this case each key will point at a list of values, even if only one value is supplied.</a:t>
            </a:r>
          </a:p>
          <a:p>
            <a:pPr lvl="1"/>
            <a:r>
              <a:rPr lang="en-US" sz="1600" dirty="0" err="1"/>
              <a:t>allUnique</a:t>
            </a:r>
            <a:r>
              <a:rPr lang="en-US" sz="1600" dirty="0"/>
              <a:t> - All unique values for each key are kept. In this case each key will point at a set of values, even if only one value is supplied.</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p:txBody>
      </p:sp>
      <p:pic>
        <p:nvPicPr>
          <p:cNvPr id="5" name="Picture 4">
            <a:extLst>
              <a:ext uri="{FF2B5EF4-FFF2-40B4-BE49-F238E27FC236}">
                <a16:creationId xmlns:a16="http://schemas.microsoft.com/office/drawing/2014/main" id="{34A79A03-2FBE-C323-3FDF-6665D00F9EF1}"/>
              </a:ext>
            </a:extLst>
          </p:cNvPr>
          <p:cNvPicPr>
            <a:picLocks noChangeAspect="1"/>
          </p:cNvPicPr>
          <p:nvPr/>
        </p:nvPicPr>
        <p:blipFill>
          <a:blip r:embed="rId2"/>
          <a:stretch>
            <a:fillRect/>
          </a:stretch>
        </p:blipFill>
        <p:spPr>
          <a:xfrm>
            <a:off x="658368" y="3935282"/>
            <a:ext cx="5688789" cy="2392366"/>
          </a:xfrm>
          <a:prstGeom prst="rect">
            <a:avLst/>
          </a:prstGeom>
        </p:spPr>
      </p:pic>
      <p:pic>
        <p:nvPicPr>
          <p:cNvPr id="7" name="Picture 6">
            <a:extLst>
              <a:ext uri="{FF2B5EF4-FFF2-40B4-BE49-F238E27FC236}">
                <a16:creationId xmlns:a16="http://schemas.microsoft.com/office/drawing/2014/main" id="{07D42D11-3B47-9DC8-4111-173AFCBFAF97}"/>
              </a:ext>
            </a:extLst>
          </p:cNvPr>
          <p:cNvPicPr>
            <a:picLocks noChangeAspect="1"/>
          </p:cNvPicPr>
          <p:nvPr/>
        </p:nvPicPr>
        <p:blipFill>
          <a:blip r:embed="rId3"/>
          <a:stretch>
            <a:fillRect/>
          </a:stretch>
        </p:blipFill>
        <p:spPr>
          <a:xfrm>
            <a:off x="6882368" y="4946649"/>
            <a:ext cx="2325801" cy="1435864"/>
          </a:xfrm>
          <a:prstGeom prst="rect">
            <a:avLst/>
          </a:prstGeom>
        </p:spPr>
      </p:pic>
      <p:cxnSp>
        <p:nvCxnSpPr>
          <p:cNvPr id="8" name="Straight Arrow Connector 7">
            <a:extLst>
              <a:ext uri="{FF2B5EF4-FFF2-40B4-BE49-F238E27FC236}">
                <a16:creationId xmlns:a16="http://schemas.microsoft.com/office/drawing/2014/main" id="{90812F7D-9A44-B26B-20EF-1BC24DBBDA27}"/>
              </a:ext>
            </a:extLst>
          </p:cNvPr>
          <p:cNvCxnSpPr>
            <a:cxnSpLocks/>
          </p:cNvCxnSpPr>
          <p:nvPr/>
        </p:nvCxnSpPr>
        <p:spPr>
          <a:xfrm>
            <a:off x="6416040" y="5984829"/>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6D0B6DA-255F-A581-30E6-CBD142067155}"/>
              </a:ext>
            </a:extLst>
          </p:cNvPr>
          <p:cNvPicPr>
            <a:picLocks noChangeAspect="1"/>
          </p:cNvPicPr>
          <p:nvPr/>
        </p:nvPicPr>
        <p:blipFill>
          <a:blip r:embed="rId4"/>
          <a:stretch>
            <a:fillRect/>
          </a:stretch>
        </p:blipFill>
        <p:spPr>
          <a:xfrm>
            <a:off x="9427609" y="4168293"/>
            <a:ext cx="1761579" cy="2159355"/>
          </a:xfrm>
          <a:prstGeom prst="rect">
            <a:avLst/>
          </a:prstGeom>
        </p:spPr>
      </p:pic>
      <p:sp>
        <p:nvSpPr>
          <p:cNvPr id="12" name="TextBox 11">
            <a:extLst>
              <a:ext uri="{FF2B5EF4-FFF2-40B4-BE49-F238E27FC236}">
                <a16:creationId xmlns:a16="http://schemas.microsoft.com/office/drawing/2014/main" id="{EA8D43A2-1A63-526F-F01F-AB7E32ECE934}"/>
              </a:ext>
            </a:extLst>
          </p:cNvPr>
          <p:cNvSpPr txBox="1"/>
          <p:nvPr/>
        </p:nvSpPr>
        <p:spPr>
          <a:xfrm>
            <a:off x="7157850" y="4598061"/>
            <a:ext cx="1761579" cy="307777"/>
          </a:xfrm>
          <a:prstGeom prst="rect">
            <a:avLst/>
          </a:prstGeom>
          <a:noFill/>
        </p:spPr>
        <p:txBody>
          <a:bodyPr wrap="square" rtlCol="0">
            <a:spAutoFit/>
          </a:bodyPr>
          <a:lstStyle/>
          <a:p>
            <a:r>
              <a:rPr lang="en-US" sz="1400" dirty="0"/>
              <a:t>duplicate keys = First</a:t>
            </a:r>
          </a:p>
        </p:txBody>
      </p:sp>
      <p:sp>
        <p:nvSpPr>
          <p:cNvPr id="15" name="TextBox 14">
            <a:extLst>
              <a:ext uri="{FF2B5EF4-FFF2-40B4-BE49-F238E27FC236}">
                <a16:creationId xmlns:a16="http://schemas.microsoft.com/office/drawing/2014/main" id="{FFF1DFB4-AE05-F912-A9F8-8CD17F81C77B}"/>
              </a:ext>
            </a:extLst>
          </p:cNvPr>
          <p:cNvSpPr txBox="1"/>
          <p:nvPr/>
        </p:nvSpPr>
        <p:spPr>
          <a:xfrm>
            <a:off x="9500760" y="3781393"/>
            <a:ext cx="1761579" cy="307777"/>
          </a:xfrm>
          <a:prstGeom prst="rect">
            <a:avLst/>
          </a:prstGeom>
          <a:noFill/>
        </p:spPr>
        <p:txBody>
          <a:bodyPr wrap="square" rtlCol="0">
            <a:spAutoFit/>
          </a:bodyPr>
          <a:lstStyle/>
          <a:p>
            <a:r>
              <a:rPr lang="en-US" sz="1400" dirty="0"/>
              <a:t>duplicate keys = All</a:t>
            </a:r>
          </a:p>
        </p:txBody>
      </p:sp>
    </p:spTree>
    <p:extLst>
      <p:ext uri="{BB962C8B-B14F-4D97-AF65-F5344CB8AC3E}">
        <p14:creationId xmlns:p14="http://schemas.microsoft.com/office/powerpoint/2010/main" val="3855135812"/>
      </p:ext>
    </p:extLst>
  </p:cSld>
  <p:clrMapOvr>
    <a:masterClrMapping/>
  </p:clrMapOvr>
  <p:transition spd="slow">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6A8E3-9746-6031-66EB-19764EC7B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44236F-3C0E-3543-80C4-612D197EF6A2}"/>
              </a:ext>
            </a:extLst>
          </p:cNvPr>
          <p:cNvSpPr>
            <a:spLocks noGrp="1"/>
          </p:cNvSpPr>
          <p:nvPr>
            <p:ph type="title"/>
          </p:nvPr>
        </p:nvSpPr>
        <p:spPr/>
        <p:txBody>
          <a:bodyPr>
            <a:normAutofit/>
          </a:bodyPr>
          <a:lstStyle/>
          <a:p>
            <a:r>
              <a:rPr lang="en-US" b="1" dirty="0"/>
              <a:t>Maps</a:t>
            </a:r>
            <a:endParaRPr lang="en-US" dirty="0"/>
          </a:p>
        </p:txBody>
      </p:sp>
      <p:sp>
        <p:nvSpPr>
          <p:cNvPr id="3" name="Content Placeholder 2">
            <a:extLst>
              <a:ext uri="{FF2B5EF4-FFF2-40B4-BE49-F238E27FC236}">
                <a16:creationId xmlns:a16="http://schemas.microsoft.com/office/drawing/2014/main" id="{A5D7635F-82B3-0C59-C8A3-6240508319D1}"/>
              </a:ext>
            </a:extLst>
          </p:cNvPr>
          <p:cNvSpPr>
            <a:spLocks noGrp="1"/>
          </p:cNvSpPr>
          <p:nvPr>
            <p:ph idx="1"/>
          </p:nvPr>
        </p:nvSpPr>
        <p:spPr>
          <a:xfrm>
            <a:off x="658368" y="1150516"/>
            <a:ext cx="11218648" cy="5094835"/>
          </a:xfrm>
        </p:spPr>
        <p:txBody>
          <a:bodyPr>
            <a:normAutofit/>
          </a:bodyPr>
          <a:lstStyle/>
          <a:p>
            <a:pPr marL="0" indent="0">
              <a:buNone/>
            </a:pPr>
            <a:r>
              <a:rPr lang="en-US" sz="1800" dirty="0" err="1">
                <a:solidFill>
                  <a:srgbClr val="1082F2"/>
                </a:solidFill>
              </a:rPr>
              <a:t>MapDiff</a:t>
            </a:r>
            <a:r>
              <a:rPr lang="en-US" sz="1800" dirty="0">
                <a:solidFill>
                  <a:srgbClr val="1082F2"/>
                </a:solidFill>
              </a:rPr>
              <a:t> Actor</a:t>
            </a:r>
          </a:p>
          <a:p>
            <a:pPr marL="0" indent="0">
              <a:buNone/>
            </a:pPr>
            <a:r>
              <a:rPr lang="en-US" sz="1600" dirty="0">
                <a:solidFill>
                  <a:srgbClr val="000000"/>
                </a:solidFill>
                <a:latin typeface="Helvetica" panose="020B0604020202020204" pitchFamily="34" charset="0"/>
              </a:rPr>
              <a:t>Given 2 maps - </a:t>
            </a:r>
            <a:r>
              <a:rPr lang="en-US" sz="1600" b="0" i="0" dirty="0">
                <a:solidFill>
                  <a:srgbClr val="000000"/>
                </a:solidFill>
                <a:effectLst/>
                <a:latin typeface="Helvetica" panose="020B0604020202020204" pitchFamily="34" charset="0"/>
              </a:rPr>
              <a:t>a &amp; b, the actor returns a new map with items in b that are not the same as a (b-a)</a:t>
            </a:r>
            <a:endParaRPr lang="en-US" sz="1800" dirty="0"/>
          </a:p>
          <a:p>
            <a:pPr marL="0" indent="0">
              <a:buNone/>
            </a:pPr>
            <a:endParaRPr lang="en-US" sz="1800" dirty="0"/>
          </a:p>
          <a:p>
            <a:pPr marL="0" indent="0">
              <a:buNone/>
            </a:pPr>
            <a:endParaRPr lang="en-US" sz="1800" dirty="0"/>
          </a:p>
          <a:p>
            <a:pPr marL="0" indent="0">
              <a:buNone/>
            </a:pPr>
            <a:endParaRPr lang="en-US" sz="1800" dirty="0"/>
          </a:p>
        </p:txBody>
      </p:sp>
      <p:pic>
        <p:nvPicPr>
          <p:cNvPr id="7" name="Picture 6">
            <a:extLst>
              <a:ext uri="{FF2B5EF4-FFF2-40B4-BE49-F238E27FC236}">
                <a16:creationId xmlns:a16="http://schemas.microsoft.com/office/drawing/2014/main" id="{E827392F-3076-C54D-711C-49476A32285A}"/>
              </a:ext>
            </a:extLst>
          </p:cNvPr>
          <p:cNvPicPr>
            <a:picLocks noChangeAspect="1"/>
          </p:cNvPicPr>
          <p:nvPr/>
        </p:nvPicPr>
        <p:blipFill>
          <a:blip r:embed="rId2"/>
          <a:stretch>
            <a:fillRect/>
          </a:stretch>
        </p:blipFill>
        <p:spPr>
          <a:xfrm>
            <a:off x="658368" y="2330065"/>
            <a:ext cx="5800350" cy="3377419"/>
          </a:xfrm>
          <a:prstGeom prst="rect">
            <a:avLst/>
          </a:prstGeom>
        </p:spPr>
      </p:pic>
      <p:pic>
        <p:nvPicPr>
          <p:cNvPr id="9" name="Picture 8">
            <a:extLst>
              <a:ext uri="{FF2B5EF4-FFF2-40B4-BE49-F238E27FC236}">
                <a16:creationId xmlns:a16="http://schemas.microsoft.com/office/drawing/2014/main" id="{3719ADA4-94AF-5964-2B17-918B29CF92E2}"/>
              </a:ext>
            </a:extLst>
          </p:cNvPr>
          <p:cNvPicPr>
            <a:picLocks noChangeAspect="1"/>
          </p:cNvPicPr>
          <p:nvPr/>
        </p:nvPicPr>
        <p:blipFill>
          <a:blip r:embed="rId3"/>
          <a:stretch>
            <a:fillRect/>
          </a:stretch>
        </p:blipFill>
        <p:spPr>
          <a:xfrm>
            <a:off x="6639303" y="2549521"/>
            <a:ext cx="2449833" cy="1144939"/>
          </a:xfrm>
          <a:prstGeom prst="rect">
            <a:avLst/>
          </a:prstGeom>
        </p:spPr>
      </p:pic>
      <p:pic>
        <p:nvPicPr>
          <p:cNvPr id="11" name="Picture 10">
            <a:extLst>
              <a:ext uri="{FF2B5EF4-FFF2-40B4-BE49-F238E27FC236}">
                <a16:creationId xmlns:a16="http://schemas.microsoft.com/office/drawing/2014/main" id="{673F9CBA-4012-0E96-1D98-1DA4D9DC25B3}"/>
              </a:ext>
            </a:extLst>
          </p:cNvPr>
          <p:cNvPicPr>
            <a:picLocks noChangeAspect="1"/>
          </p:cNvPicPr>
          <p:nvPr/>
        </p:nvPicPr>
        <p:blipFill>
          <a:blip r:embed="rId4"/>
          <a:stretch>
            <a:fillRect/>
          </a:stretch>
        </p:blipFill>
        <p:spPr>
          <a:xfrm>
            <a:off x="6639304" y="4171694"/>
            <a:ext cx="2539526" cy="1144939"/>
          </a:xfrm>
          <a:prstGeom prst="rect">
            <a:avLst/>
          </a:prstGeom>
        </p:spPr>
      </p:pic>
      <p:pic>
        <p:nvPicPr>
          <p:cNvPr id="13" name="Picture 12">
            <a:extLst>
              <a:ext uri="{FF2B5EF4-FFF2-40B4-BE49-F238E27FC236}">
                <a16:creationId xmlns:a16="http://schemas.microsoft.com/office/drawing/2014/main" id="{E6DCCF40-6156-ED83-8E8F-E4A14DE6ECE7}"/>
              </a:ext>
            </a:extLst>
          </p:cNvPr>
          <p:cNvPicPr>
            <a:picLocks noChangeAspect="1"/>
          </p:cNvPicPr>
          <p:nvPr/>
        </p:nvPicPr>
        <p:blipFill>
          <a:blip r:embed="rId5"/>
          <a:stretch>
            <a:fillRect/>
          </a:stretch>
        </p:blipFill>
        <p:spPr>
          <a:xfrm>
            <a:off x="9302459" y="3341536"/>
            <a:ext cx="2664849" cy="821298"/>
          </a:xfrm>
          <a:prstGeom prst="rect">
            <a:avLst/>
          </a:prstGeom>
        </p:spPr>
      </p:pic>
      <p:sp>
        <p:nvSpPr>
          <p:cNvPr id="14" name="TextBox 13">
            <a:extLst>
              <a:ext uri="{FF2B5EF4-FFF2-40B4-BE49-F238E27FC236}">
                <a16:creationId xmlns:a16="http://schemas.microsoft.com/office/drawing/2014/main" id="{8AD7256E-BAFC-A301-199F-B30EF05A356A}"/>
              </a:ext>
            </a:extLst>
          </p:cNvPr>
          <p:cNvSpPr txBox="1"/>
          <p:nvPr/>
        </p:nvSpPr>
        <p:spPr>
          <a:xfrm>
            <a:off x="6608293" y="2296608"/>
            <a:ext cx="1761579" cy="307777"/>
          </a:xfrm>
          <a:prstGeom prst="rect">
            <a:avLst/>
          </a:prstGeom>
          <a:noFill/>
        </p:spPr>
        <p:txBody>
          <a:bodyPr wrap="square" rtlCol="0">
            <a:spAutoFit/>
          </a:bodyPr>
          <a:lstStyle/>
          <a:p>
            <a:r>
              <a:rPr lang="en-US" sz="1400" dirty="0"/>
              <a:t>Map a</a:t>
            </a:r>
          </a:p>
        </p:txBody>
      </p:sp>
      <p:sp>
        <p:nvSpPr>
          <p:cNvPr id="15" name="TextBox 14">
            <a:extLst>
              <a:ext uri="{FF2B5EF4-FFF2-40B4-BE49-F238E27FC236}">
                <a16:creationId xmlns:a16="http://schemas.microsoft.com/office/drawing/2014/main" id="{FE32DBE7-AC1E-1178-1231-0A744834D4B1}"/>
              </a:ext>
            </a:extLst>
          </p:cNvPr>
          <p:cNvSpPr txBox="1"/>
          <p:nvPr/>
        </p:nvSpPr>
        <p:spPr>
          <a:xfrm>
            <a:off x="6617436" y="3951272"/>
            <a:ext cx="1761579" cy="307777"/>
          </a:xfrm>
          <a:prstGeom prst="rect">
            <a:avLst/>
          </a:prstGeom>
          <a:noFill/>
        </p:spPr>
        <p:txBody>
          <a:bodyPr wrap="square" rtlCol="0">
            <a:spAutoFit/>
          </a:bodyPr>
          <a:lstStyle/>
          <a:p>
            <a:r>
              <a:rPr lang="en-US" sz="1400" dirty="0"/>
              <a:t>Map b</a:t>
            </a:r>
          </a:p>
        </p:txBody>
      </p:sp>
      <p:sp>
        <p:nvSpPr>
          <p:cNvPr id="16" name="TextBox 15">
            <a:extLst>
              <a:ext uri="{FF2B5EF4-FFF2-40B4-BE49-F238E27FC236}">
                <a16:creationId xmlns:a16="http://schemas.microsoft.com/office/drawing/2014/main" id="{3D978B97-375C-DFE1-BD87-0535B050C374}"/>
              </a:ext>
            </a:extLst>
          </p:cNvPr>
          <p:cNvSpPr txBox="1"/>
          <p:nvPr/>
        </p:nvSpPr>
        <p:spPr>
          <a:xfrm>
            <a:off x="9210121" y="3107375"/>
            <a:ext cx="1761579" cy="307777"/>
          </a:xfrm>
          <a:prstGeom prst="rect">
            <a:avLst/>
          </a:prstGeom>
          <a:noFill/>
        </p:spPr>
        <p:txBody>
          <a:bodyPr wrap="square" rtlCol="0">
            <a:spAutoFit/>
          </a:bodyPr>
          <a:lstStyle/>
          <a:p>
            <a:r>
              <a:rPr lang="en-US" sz="1400" dirty="0"/>
              <a:t>Diff result ( b – a )</a:t>
            </a:r>
          </a:p>
        </p:txBody>
      </p:sp>
    </p:spTree>
    <p:extLst>
      <p:ext uri="{BB962C8B-B14F-4D97-AF65-F5344CB8AC3E}">
        <p14:creationId xmlns:p14="http://schemas.microsoft.com/office/powerpoint/2010/main" val="3965614516"/>
      </p:ext>
    </p:extLst>
  </p:cSld>
  <p:clrMapOvr>
    <a:masterClrMapping/>
  </p:clrMapOvr>
  <p:transition spd="slow">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70E7B-E764-B983-CCE1-905EF4973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B6C524-54EE-0CEC-1260-9CF4D623E527}"/>
              </a:ext>
            </a:extLst>
          </p:cNvPr>
          <p:cNvSpPr>
            <a:spLocks noGrp="1"/>
          </p:cNvSpPr>
          <p:nvPr>
            <p:ph type="title"/>
          </p:nvPr>
        </p:nvSpPr>
        <p:spPr/>
        <p:txBody>
          <a:bodyPr>
            <a:normAutofit/>
          </a:bodyPr>
          <a:lstStyle/>
          <a:p>
            <a:r>
              <a:rPr lang="en-US" b="1" dirty="0"/>
              <a:t>Arrays</a:t>
            </a:r>
            <a:endParaRPr lang="en-US" dirty="0"/>
          </a:p>
        </p:txBody>
      </p:sp>
      <p:sp>
        <p:nvSpPr>
          <p:cNvPr id="3" name="Content Placeholder 2">
            <a:extLst>
              <a:ext uri="{FF2B5EF4-FFF2-40B4-BE49-F238E27FC236}">
                <a16:creationId xmlns:a16="http://schemas.microsoft.com/office/drawing/2014/main" id="{20B6FB2C-10BF-64C8-32D5-47EE8EABE43D}"/>
              </a:ext>
            </a:extLst>
          </p:cNvPr>
          <p:cNvSpPr>
            <a:spLocks noGrp="1"/>
          </p:cNvSpPr>
          <p:nvPr>
            <p:ph idx="1"/>
          </p:nvPr>
        </p:nvSpPr>
        <p:spPr>
          <a:xfrm>
            <a:off x="658368" y="1150516"/>
            <a:ext cx="11218648" cy="5094835"/>
          </a:xfrm>
        </p:spPr>
        <p:txBody>
          <a:bodyPr>
            <a:normAutofit/>
          </a:bodyPr>
          <a:lstStyle/>
          <a:p>
            <a:pPr marL="0" indent="0">
              <a:buNone/>
            </a:pPr>
            <a:r>
              <a:rPr lang="en-US" sz="1800" dirty="0" err="1">
                <a:solidFill>
                  <a:srgbClr val="1082F2"/>
                </a:solidFill>
              </a:rPr>
              <a:t>ArrayBuild</a:t>
            </a:r>
            <a:r>
              <a:rPr lang="en-US" sz="1800" dirty="0">
                <a:solidFill>
                  <a:srgbClr val="1082F2"/>
                </a:solidFill>
              </a:rPr>
              <a:t> Actor</a:t>
            </a:r>
          </a:p>
          <a:p>
            <a:pPr algn="l">
              <a:buNone/>
            </a:pPr>
            <a:r>
              <a:rPr lang="en-US" sz="1400" b="0" i="0" dirty="0">
                <a:solidFill>
                  <a:srgbClr val="000000"/>
                </a:solidFill>
                <a:effectLst/>
                <a:latin typeface="Helvetica" panose="020B0604020202020204" pitchFamily="34" charset="0"/>
              </a:rPr>
              <a:t>Joins all inputs into an array. </a:t>
            </a:r>
          </a:p>
          <a:p>
            <a:pPr algn="l">
              <a:buNone/>
            </a:pPr>
            <a:r>
              <a:rPr lang="en-US" sz="1400" b="0" i="0" dirty="0">
                <a:solidFill>
                  <a:srgbClr val="000000"/>
                </a:solidFill>
                <a:effectLst/>
                <a:latin typeface="Helvetica" panose="020B0604020202020204" pitchFamily="34" charset="0"/>
              </a:rPr>
              <a:t>The array is aggregated in memory across multiple iterations.</a:t>
            </a:r>
          </a:p>
          <a:p>
            <a:pPr>
              <a:buNone/>
            </a:pPr>
            <a:br>
              <a:rPr lang="en-US" sz="1400" dirty="0"/>
            </a:br>
            <a:endParaRPr lang="en-US" sz="1800" dirty="0"/>
          </a:p>
        </p:txBody>
      </p:sp>
      <p:sp>
        <p:nvSpPr>
          <p:cNvPr id="14" name="TextBox 13">
            <a:extLst>
              <a:ext uri="{FF2B5EF4-FFF2-40B4-BE49-F238E27FC236}">
                <a16:creationId xmlns:a16="http://schemas.microsoft.com/office/drawing/2014/main" id="{E36B4F17-033D-FA81-68EF-F7DCDB5C5289}"/>
              </a:ext>
            </a:extLst>
          </p:cNvPr>
          <p:cNvSpPr txBox="1"/>
          <p:nvPr/>
        </p:nvSpPr>
        <p:spPr>
          <a:xfrm>
            <a:off x="5785333" y="2296608"/>
            <a:ext cx="1761579" cy="307777"/>
          </a:xfrm>
          <a:prstGeom prst="rect">
            <a:avLst/>
          </a:prstGeom>
          <a:noFill/>
        </p:spPr>
        <p:txBody>
          <a:bodyPr wrap="square" rtlCol="0">
            <a:spAutoFit/>
          </a:bodyPr>
          <a:lstStyle/>
          <a:p>
            <a:r>
              <a:rPr lang="en-US" sz="1400" dirty="0"/>
              <a:t>Result</a:t>
            </a:r>
          </a:p>
        </p:txBody>
      </p:sp>
      <p:pic>
        <p:nvPicPr>
          <p:cNvPr id="5" name="Picture 4">
            <a:extLst>
              <a:ext uri="{FF2B5EF4-FFF2-40B4-BE49-F238E27FC236}">
                <a16:creationId xmlns:a16="http://schemas.microsoft.com/office/drawing/2014/main" id="{D0A07529-8F13-C47A-98F7-D1E380467A62}"/>
              </a:ext>
            </a:extLst>
          </p:cNvPr>
          <p:cNvPicPr>
            <a:picLocks noChangeAspect="1"/>
          </p:cNvPicPr>
          <p:nvPr/>
        </p:nvPicPr>
        <p:blipFill>
          <a:blip r:embed="rId2"/>
          <a:stretch>
            <a:fillRect/>
          </a:stretch>
        </p:blipFill>
        <p:spPr>
          <a:xfrm>
            <a:off x="658368" y="2296608"/>
            <a:ext cx="4391638" cy="2810267"/>
          </a:xfrm>
          <a:prstGeom prst="rect">
            <a:avLst/>
          </a:prstGeom>
        </p:spPr>
      </p:pic>
      <p:pic>
        <p:nvPicPr>
          <p:cNvPr id="8" name="Picture 7">
            <a:extLst>
              <a:ext uri="{FF2B5EF4-FFF2-40B4-BE49-F238E27FC236}">
                <a16:creationId xmlns:a16="http://schemas.microsoft.com/office/drawing/2014/main" id="{1C14D765-7095-6153-3B90-F1E8137C2822}"/>
              </a:ext>
            </a:extLst>
          </p:cNvPr>
          <p:cNvPicPr>
            <a:picLocks noChangeAspect="1"/>
          </p:cNvPicPr>
          <p:nvPr/>
        </p:nvPicPr>
        <p:blipFill>
          <a:blip r:embed="rId3"/>
          <a:stretch>
            <a:fillRect/>
          </a:stretch>
        </p:blipFill>
        <p:spPr>
          <a:xfrm>
            <a:off x="5765459" y="2604385"/>
            <a:ext cx="1911645" cy="1364496"/>
          </a:xfrm>
          <a:prstGeom prst="rect">
            <a:avLst/>
          </a:prstGeom>
        </p:spPr>
      </p:pic>
      <p:cxnSp>
        <p:nvCxnSpPr>
          <p:cNvPr id="10" name="Straight Arrow Connector 9">
            <a:extLst>
              <a:ext uri="{FF2B5EF4-FFF2-40B4-BE49-F238E27FC236}">
                <a16:creationId xmlns:a16="http://schemas.microsoft.com/office/drawing/2014/main" id="{E4C11FF7-0DB0-7CA6-AF88-38E5EC1BE977}"/>
              </a:ext>
            </a:extLst>
          </p:cNvPr>
          <p:cNvCxnSpPr>
            <a:cxnSpLocks/>
          </p:cNvCxnSpPr>
          <p:nvPr/>
        </p:nvCxnSpPr>
        <p:spPr>
          <a:xfrm>
            <a:off x="5181600" y="3086181"/>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456308"/>
      </p:ext>
    </p:extLst>
  </p:cSld>
  <p:clrMapOvr>
    <a:masterClrMapping/>
  </p:clrMapOvr>
  <p:transition spd="slow">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64377-B37E-87AB-A670-240B7D8DC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D2278-5EF3-30BC-97E7-B82366F5AD28}"/>
              </a:ext>
            </a:extLst>
          </p:cNvPr>
          <p:cNvSpPr>
            <a:spLocks noGrp="1"/>
          </p:cNvSpPr>
          <p:nvPr>
            <p:ph type="title"/>
          </p:nvPr>
        </p:nvSpPr>
        <p:spPr/>
        <p:txBody>
          <a:bodyPr>
            <a:normAutofit/>
          </a:bodyPr>
          <a:lstStyle/>
          <a:p>
            <a:r>
              <a:rPr lang="en-US" b="1" dirty="0"/>
              <a:t>Arrays</a:t>
            </a:r>
            <a:endParaRPr lang="en-US" dirty="0"/>
          </a:p>
        </p:txBody>
      </p:sp>
      <p:sp>
        <p:nvSpPr>
          <p:cNvPr id="3" name="Content Placeholder 2">
            <a:extLst>
              <a:ext uri="{FF2B5EF4-FFF2-40B4-BE49-F238E27FC236}">
                <a16:creationId xmlns:a16="http://schemas.microsoft.com/office/drawing/2014/main" id="{6707CA21-7743-7E89-EC01-21F9F98EA1B2}"/>
              </a:ext>
            </a:extLst>
          </p:cNvPr>
          <p:cNvSpPr>
            <a:spLocks noGrp="1"/>
          </p:cNvSpPr>
          <p:nvPr>
            <p:ph idx="1"/>
          </p:nvPr>
        </p:nvSpPr>
        <p:spPr>
          <a:xfrm>
            <a:off x="658368" y="1150516"/>
            <a:ext cx="11218648" cy="5094835"/>
          </a:xfrm>
        </p:spPr>
        <p:txBody>
          <a:bodyPr>
            <a:normAutofit/>
          </a:bodyPr>
          <a:lstStyle/>
          <a:p>
            <a:pPr marL="0" indent="0">
              <a:buNone/>
            </a:pPr>
            <a:r>
              <a:rPr lang="en-US" sz="1800" dirty="0" err="1">
                <a:solidFill>
                  <a:srgbClr val="1082F2"/>
                </a:solidFill>
              </a:rPr>
              <a:t>ConstStrings</a:t>
            </a:r>
            <a:r>
              <a:rPr lang="en-US" sz="1800" dirty="0">
                <a:solidFill>
                  <a:srgbClr val="1082F2"/>
                </a:solidFill>
              </a:rPr>
              <a:t> Actor</a:t>
            </a:r>
          </a:p>
          <a:p>
            <a:pPr algn="l">
              <a:buNone/>
            </a:pPr>
            <a:r>
              <a:rPr lang="en-US" sz="1400" b="0" i="0" dirty="0">
                <a:solidFill>
                  <a:srgbClr val="000000"/>
                </a:solidFill>
                <a:effectLst/>
                <a:latin typeface="Helvetica" panose="020B0604020202020204" pitchFamily="34" charset="0"/>
              </a:rPr>
              <a:t>Create an Array of Strings</a:t>
            </a:r>
          </a:p>
          <a:p>
            <a:pPr>
              <a:buNone/>
            </a:pPr>
            <a:br>
              <a:rPr lang="en-US" sz="1400" dirty="0"/>
            </a:br>
            <a:endParaRPr lang="en-US" sz="1800" dirty="0"/>
          </a:p>
        </p:txBody>
      </p:sp>
      <p:sp>
        <p:nvSpPr>
          <p:cNvPr id="14" name="TextBox 13">
            <a:extLst>
              <a:ext uri="{FF2B5EF4-FFF2-40B4-BE49-F238E27FC236}">
                <a16:creationId xmlns:a16="http://schemas.microsoft.com/office/drawing/2014/main" id="{24236B34-A081-023B-49B2-45240FAF01D3}"/>
              </a:ext>
            </a:extLst>
          </p:cNvPr>
          <p:cNvSpPr txBox="1"/>
          <p:nvPr/>
        </p:nvSpPr>
        <p:spPr>
          <a:xfrm>
            <a:off x="5785333" y="2296608"/>
            <a:ext cx="1761579" cy="307777"/>
          </a:xfrm>
          <a:prstGeom prst="rect">
            <a:avLst/>
          </a:prstGeom>
          <a:noFill/>
        </p:spPr>
        <p:txBody>
          <a:bodyPr wrap="square" rtlCol="0">
            <a:spAutoFit/>
          </a:bodyPr>
          <a:lstStyle/>
          <a:p>
            <a:r>
              <a:rPr lang="en-US" sz="1400" dirty="0"/>
              <a:t>Result</a:t>
            </a:r>
          </a:p>
        </p:txBody>
      </p:sp>
      <p:cxnSp>
        <p:nvCxnSpPr>
          <p:cNvPr id="10" name="Straight Arrow Connector 9">
            <a:extLst>
              <a:ext uri="{FF2B5EF4-FFF2-40B4-BE49-F238E27FC236}">
                <a16:creationId xmlns:a16="http://schemas.microsoft.com/office/drawing/2014/main" id="{363B4A69-3794-0142-1323-88F8A909553B}"/>
              </a:ext>
            </a:extLst>
          </p:cNvPr>
          <p:cNvCxnSpPr>
            <a:cxnSpLocks/>
          </p:cNvCxnSpPr>
          <p:nvPr/>
        </p:nvCxnSpPr>
        <p:spPr>
          <a:xfrm>
            <a:off x="5254752" y="3086181"/>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B609C2C-5C78-082F-C465-5C1C4E61450E}"/>
              </a:ext>
            </a:extLst>
          </p:cNvPr>
          <p:cNvPicPr>
            <a:picLocks noChangeAspect="1"/>
          </p:cNvPicPr>
          <p:nvPr/>
        </p:nvPicPr>
        <p:blipFill>
          <a:blip r:embed="rId2"/>
          <a:stretch>
            <a:fillRect/>
          </a:stretch>
        </p:blipFill>
        <p:spPr>
          <a:xfrm>
            <a:off x="560920" y="1801112"/>
            <a:ext cx="4610743" cy="3658111"/>
          </a:xfrm>
          <a:prstGeom prst="rect">
            <a:avLst/>
          </a:prstGeom>
        </p:spPr>
      </p:pic>
      <p:pic>
        <p:nvPicPr>
          <p:cNvPr id="12" name="Picture 11">
            <a:extLst>
              <a:ext uri="{FF2B5EF4-FFF2-40B4-BE49-F238E27FC236}">
                <a16:creationId xmlns:a16="http://schemas.microsoft.com/office/drawing/2014/main" id="{62BF3289-05D5-9FDD-46E8-64BD5BCB45D9}"/>
              </a:ext>
            </a:extLst>
          </p:cNvPr>
          <p:cNvPicPr>
            <a:picLocks noChangeAspect="1"/>
          </p:cNvPicPr>
          <p:nvPr/>
        </p:nvPicPr>
        <p:blipFill>
          <a:blip r:embed="rId3"/>
          <a:stretch>
            <a:fillRect/>
          </a:stretch>
        </p:blipFill>
        <p:spPr>
          <a:xfrm>
            <a:off x="5785333" y="2641247"/>
            <a:ext cx="2213721" cy="1664161"/>
          </a:xfrm>
          <a:prstGeom prst="rect">
            <a:avLst/>
          </a:prstGeom>
        </p:spPr>
      </p:pic>
    </p:spTree>
    <p:extLst>
      <p:ext uri="{BB962C8B-B14F-4D97-AF65-F5344CB8AC3E}">
        <p14:creationId xmlns:p14="http://schemas.microsoft.com/office/powerpoint/2010/main" val="2369449882"/>
      </p:ext>
    </p:extLst>
  </p:cSld>
  <p:clrMapOvr>
    <a:masterClrMapping/>
  </p:clrMapOvr>
  <p:transition spd="slow">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F9AF1-4CC2-FB6F-365A-9D0BD38F0C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B91D65-F409-0363-1045-DFF368EC5B34}"/>
              </a:ext>
            </a:extLst>
          </p:cNvPr>
          <p:cNvSpPr>
            <a:spLocks noGrp="1"/>
          </p:cNvSpPr>
          <p:nvPr>
            <p:ph type="title"/>
          </p:nvPr>
        </p:nvSpPr>
        <p:spPr/>
        <p:txBody>
          <a:bodyPr>
            <a:normAutofit/>
          </a:bodyPr>
          <a:lstStyle/>
          <a:p>
            <a:r>
              <a:rPr lang="en-US" b="1" dirty="0"/>
              <a:t>Arrays</a:t>
            </a:r>
            <a:endParaRPr lang="en-US" dirty="0"/>
          </a:p>
        </p:txBody>
      </p:sp>
      <p:sp>
        <p:nvSpPr>
          <p:cNvPr id="3" name="Content Placeholder 2">
            <a:extLst>
              <a:ext uri="{FF2B5EF4-FFF2-40B4-BE49-F238E27FC236}">
                <a16:creationId xmlns:a16="http://schemas.microsoft.com/office/drawing/2014/main" id="{FBD86643-32D3-6D3C-C696-B88EC48F5E98}"/>
              </a:ext>
            </a:extLst>
          </p:cNvPr>
          <p:cNvSpPr>
            <a:spLocks noGrp="1"/>
          </p:cNvSpPr>
          <p:nvPr>
            <p:ph idx="1"/>
          </p:nvPr>
        </p:nvSpPr>
        <p:spPr>
          <a:xfrm>
            <a:off x="658368" y="1150516"/>
            <a:ext cx="11218648" cy="5094835"/>
          </a:xfrm>
        </p:spPr>
        <p:txBody>
          <a:bodyPr>
            <a:normAutofit/>
          </a:bodyPr>
          <a:lstStyle/>
          <a:p>
            <a:pPr marL="0" indent="0">
              <a:buNone/>
            </a:pPr>
            <a:r>
              <a:rPr lang="en-US" sz="1800" dirty="0" err="1">
                <a:solidFill>
                  <a:srgbClr val="1082F2"/>
                </a:solidFill>
              </a:rPr>
              <a:t>ArrayConcat</a:t>
            </a:r>
            <a:r>
              <a:rPr lang="en-US" sz="1800" dirty="0">
                <a:solidFill>
                  <a:srgbClr val="1082F2"/>
                </a:solidFill>
              </a:rPr>
              <a:t> Actor</a:t>
            </a:r>
          </a:p>
          <a:p>
            <a:pPr algn="l">
              <a:buNone/>
            </a:pPr>
            <a:r>
              <a:rPr lang="en-US" sz="1600" b="0" i="0" dirty="0">
                <a:solidFill>
                  <a:srgbClr val="000000"/>
                </a:solidFill>
                <a:effectLst/>
              </a:rPr>
              <a:t>Flatten all input arrays into a single array. </a:t>
            </a:r>
          </a:p>
          <a:p>
            <a:pPr>
              <a:buNone/>
            </a:pPr>
            <a:r>
              <a:rPr lang="en-US" sz="1600" dirty="0"/>
              <a:t>The </a:t>
            </a:r>
            <a:r>
              <a:rPr lang="en-US" sz="1600" b="1" dirty="0" err="1"/>
              <a:t>ArrayConcat</a:t>
            </a:r>
            <a:r>
              <a:rPr lang="en-US" sz="1600" b="1" dirty="0"/>
              <a:t> Actor</a:t>
            </a:r>
            <a:r>
              <a:rPr lang="en-US" sz="1600" dirty="0"/>
              <a:t> is useful for combining multiple arrays or streams into one, without the need to copy the data into memory, making it efficient for handling large datasets or real-time streams.</a:t>
            </a:r>
            <a:br>
              <a:rPr lang="en-US" sz="1600" dirty="0"/>
            </a:br>
            <a:endParaRPr lang="en-US" sz="1600" dirty="0"/>
          </a:p>
        </p:txBody>
      </p:sp>
      <p:sp>
        <p:nvSpPr>
          <p:cNvPr id="14" name="TextBox 13">
            <a:extLst>
              <a:ext uri="{FF2B5EF4-FFF2-40B4-BE49-F238E27FC236}">
                <a16:creationId xmlns:a16="http://schemas.microsoft.com/office/drawing/2014/main" id="{BB431D0C-57BD-C3EE-8703-275C695BC41C}"/>
              </a:ext>
            </a:extLst>
          </p:cNvPr>
          <p:cNvSpPr txBox="1"/>
          <p:nvPr/>
        </p:nvSpPr>
        <p:spPr>
          <a:xfrm>
            <a:off x="6899366" y="3142102"/>
            <a:ext cx="1761579" cy="307777"/>
          </a:xfrm>
          <a:prstGeom prst="rect">
            <a:avLst/>
          </a:prstGeom>
          <a:noFill/>
        </p:spPr>
        <p:txBody>
          <a:bodyPr wrap="square" rtlCol="0">
            <a:spAutoFit/>
          </a:bodyPr>
          <a:lstStyle/>
          <a:p>
            <a:r>
              <a:rPr lang="en-US" sz="1400" dirty="0"/>
              <a:t>Result</a:t>
            </a:r>
          </a:p>
        </p:txBody>
      </p:sp>
      <p:cxnSp>
        <p:nvCxnSpPr>
          <p:cNvPr id="10" name="Straight Arrow Connector 9">
            <a:extLst>
              <a:ext uri="{FF2B5EF4-FFF2-40B4-BE49-F238E27FC236}">
                <a16:creationId xmlns:a16="http://schemas.microsoft.com/office/drawing/2014/main" id="{773B01F6-8CA1-C4D1-3B61-46AB1E31EA1B}"/>
              </a:ext>
            </a:extLst>
          </p:cNvPr>
          <p:cNvCxnSpPr>
            <a:cxnSpLocks/>
          </p:cNvCxnSpPr>
          <p:nvPr/>
        </p:nvCxnSpPr>
        <p:spPr>
          <a:xfrm>
            <a:off x="6489338" y="4348915"/>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A7162B86-39BE-120F-26F6-2E006A03605A}"/>
              </a:ext>
            </a:extLst>
          </p:cNvPr>
          <p:cNvPicPr>
            <a:picLocks noChangeAspect="1"/>
          </p:cNvPicPr>
          <p:nvPr/>
        </p:nvPicPr>
        <p:blipFill>
          <a:blip r:embed="rId2"/>
          <a:stretch>
            <a:fillRect/>
          </a:stretch>
        </p:blipFill>
        <p:spPr>
          <a:xfrm>
            <a:off x="1022458" y="3053335"/>
            <a:ext cx="5466880" cy="2563565"/>
          </a:xfrm>
          <a:prstGeom prst="rect">
            <a:avLst/>
          </a:prstGeom>
        </p:spPr>
      </p:pic>
      <p:pic>
        <p:nvPicPr>
          <p:cNvPr id="7" name="Picture 6">
            <a:extLst>
              <a:ext uri="{FF2B5EF4-FFF2-40B4-BE49-F238E27FC236}">
                <a16:creationId xmlns:a16="http://schemas.microsoft.com/office/drawing/2014/main" id="{1F862D36-FBDB-DE97-38A3-A318C644FA03}"/>
              </a:ext>
            </a:extLst>
          </p:cNvPr>
          <p:cNvPicPr>
            <a:picLocks noChangeAspect="1"/>
          </p:cNvPicPr>
          <p:nvPr/>
        </p:nvPicPr>
        <p:blipFill>
          <a:blip r:embed="rId3"/>
          <a:stretch>
            <a:fillRect/>
          </a:stretch>
        </p:blipFill>
        <p:spPr>
          <a:xfrm>
            <a:off x="3088229" y="2641247"/>
            <a:ext cx="1529193" cy="861791"/>
          </a:xfrm>
          <a:prstGeom prst="rect">
            <a:avLst/>
          </a:prstGeom>
        </p:spPr>
      </p:pic>
      <p:pic>
        <p:nvPicPr>
          <p:cNvPr id="11" name="Picture 10">
            <a:extLst>
              <a:ext uri="{FF2B5EF4-FFF2-40B4-BE49-F238E27FC236}">
                <a16:creationId xmlns:a16="http://schemas.microsoft.com/office/drawing/2014/main" id="{7843FB75-67C7-314C-FD90-DBA04185F3EF}"/>
              </a:ext>
            </a:extLst>
          </p:cNvPr>
          <p:cNvPicPr>
            <a:picLocks noChangeAspect="1"/>
          </p:cNvPicPr>
          <p:nvPr/>
        </p:nvPicPr>
        <p:blipFill>
          <a:blip r:embed="rId4"/>
          <a:stretch>
            <a:fillRect/>
          </a:stretch>
        </p:blipFill>
        <p:spPr>
          <a:xfrm>
            <a:off x="3088229" y="5278954"/>
            <a:ext cx="1538458" cy="861792"/>
          </a:xfrm>
          <a:prstGeom prst="rect">
            <a:avLst/>
          </a:prstGeom>
        </p:spPr>
      </p:pic>
      <p:pic>
        <p:nvPicPr>
          <p:cNvPr id="15" name="Picture 14">
            <a:extLst>
              <a:ext uri="{FF2B5EF4-FFF2-40B4-BE49-F238E27FC236}">
                <a16:creationId xmlns:a16="http://schemas.microsoft.com/office/drawing/2014/main" id="{77248243-1C67-E3CC-69CC-F4417F16D12F}"/>
              </a:ext>
            </a:extLst>
          </p:cNvPr>
          <p:cNvPicPr>
            <a:picLocks noChangeAspect="1"/>
          </p:cNvPicPr>
          <p:nvPr/>
        </p:nvPicPr>
        <p:blipFill>
          <a:blip r:embed="rId5"/>
          <a:stretch>
            <a:fillRect/>
          </a:stretch>
        </p:blipFill>
        <p:spPr>
          <a:xfrm>
            <a:off x="6899366" y="3383296"/>
            <a:ext cx="2143424" cy="2057687"/>
          </a:xfrm>
          <a:prstGeom prst="rect">
            <a:avLst/>
          </a:prstGeom>
        </p:spPr>
      </p:pic>
    </p:spTree>
    <p:extLst>
      <p:ext uri="{BB962C8B-B14F-4D97-AF65-F5344CB8AC3E}">
        <p14:creationId xmlns:p14="http://schemas.microsoft.com/office/powerpoint/2010/main" val="1434237637"/>
      </p:ext>
    </p:extLst>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4DFBF-FC3C-520A-98A7-9FBA9E6E3A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605F4-732F-85B7-FD96-BFE89B09DA66}"/>
              </a:ext>
            </a:extLst>
          </p:cNvPr>
          <p:cNvSpPr>
            <a:spLocks noGrp="1"/>
          </p:cNvSpPr>
          <p:nvPr>
            <p:ph type="title"/>
          </p:nvPr>
        </p:nvSpPr>
        <p:spPr/>
        <p:txBody>
          <a:bodyPr>
            <a:normAutofit/>
          </a:bodyPr>
          <a:lstStyle/>
          <a:p>
            <a:r>
              <a:rPr lang="en-US" b="1" dirty="0"/>
              <a:t>Arrays</a:t>
            </a:r>
            <a:endParaRPr lang="en-US" dirty="0"/>
          </a:p>
        </p:txBody>
      </p:sp>
      <p:sp>
        <p:nvSpPr>
          <p:cNvPr id="3" name="Content Placeholder 2">
            <a:extLst>
              <a:ext uri="{FF2B5EF4-FFF2-40B4-BE49-F238E27FC236}">
                <a16:creationId xmlns:a16="http://schemas.microsoft.com/office/drawing/2014/main" id="{D25BEA87-739C-99A2-4932-D74C6D0C889F}"/>
              </a:ext>
            </a:extLst>
          </p:cNvPr>
          <p:cNvSpPr>
            <a:spLocks noGrp="1"/>
          </p:cNvSpPr>
          <p:nvPr>
            <p:ph idx="1"/>
          </p:nvPr>
        </p:nvSpPr>
        <p:spPr>
          <a:xfrm>
            <a:off x="658368" y="1150516"/>
            <a:ext cx="11218648" cy="5094835"/>
          </a:xfrm>
        </p:spPr>
        <p:txBody>
          <a:bodyPr>
            <a:normAutofit/>
          </a:bodyPr>
          <a:lstStyle/>
          <a:p>
            <a:pPr marL="0" indent="0">
              <a:buNone/>
            </a:pPr>
            <a:r>
              <a:rPr lang="en-US" sz="1800" dirty="0" err="1">
                <a:solidFill>
                  <a:srgbClr val="1082F2"/>
                </a:solidFill>
              </a:rPr>
              <a:t>ArrayGrouper</a:t>
            </a:r>
            <a:r>
              <a:rPr lang="en-US" sz="1800" dirty="0">
                <a:solidFill>
                  <a:srgbClr val="1082F2"/>
                </a:solidFill>
              </a:rPr>
              <a:t> Actor</a:t>
            </a:r>
          </a:p>
          <a:p>
            <a:pPr algn="l">
              <a:buNone/>
            </a:pPr>
            <a:r>
              <a:rPr lang="en-US" sz="1600" b="0" i="0" dirty="0">
                <a:solidFill>
                  <a:srgbClr val="000000"/>
                </a:solidFill>
                <a:effectLst/>
              </a:rPr>
              <a:t>Gets an array and splits it into an array of arrays based on the size parameter.</a:t>
            </a:r>
          </a:p>
          <a:p>
            <a:pPr marL="0" indent="0" algn="l">
              <a:buNone/>
            </a:pPr>
            <a:r>
              <a:rPr lang="en-US" sz="1600" b="0" i="0" dirty="0">
                <a:solidFill>
                  <a:srgbClr val="000000"/>
                </a:solidFill>
                <a:effectLst/>
              </a:rPr>
              <a:t>This done by traversing the original array without copying its content into memory</a:t>
            </a:r>
          </a:p>
          <a:p>
            <a:pPr algn="l">
              <a:buNone/>
            </a:pPr>
            <a:endParaRPr lang="en-US" sz="1600" dirty="0"/>
          </a:p>
        </p:txBody>
      </p:sp>
      <p:sp>
        <p:nvSpPr>
          <p:cNvPr id="14" name="TextBox 13">
            <a:extLst>
              <a:ext uri="{FF2B5EF4-FFF2-40B4-BE49-F238E27FC236}">
                <a16:creationId xmlns:a16="http://schemas.microsoft.com/office/drawing/2014/main" id="{6BCEDEE1-4388-497A-B927-2944F17D066A}"/>
              </a:ext>
            </a:extLst>
          </p:cNvPr>
          <p:cNvSpPr txBox="1"/>
          <p:nvPr/>
        </p:nvSpPr>
        <p:spPr>
          <a:xfrm>
            <a:off x="9209182" y="3160390"/>
            <a:ext cx="1761579" cy="307777"/>
          </a:xfrm>
          <a:prstGeom prst="rect">
            <a:avLst/>
          </a:prstGeom>
          <a:noFill/>
        </p:spPr>
        <p:txBody>
          <a:bodyPr wrap="square" rtlCol="0">
            <a:spAutoFit/>
          </a:bodyPr>
          <a:lstStyle/>
          <a:p>
            <a:r>
              <a:rPr lang="en-US" sz="1400" dirty="0"/>
              <a:t>Output</a:t>
            </a:r>
          </a:p>
        </p:txBody>
      </p:sp>
      <p:cxnSp>
        <p:nvCxnSpPr>
          <p:cNvPr id="10" name="Straight Arrow Connector 9">
            <a:extLst>
              <a:ext uri="{FF2B5EF4-FFF2-40B4-BE49-F238E27FC236}">
                <a16:creationId xmlns:a16="http://schemas.microsoft.com/office/drawing/2014/main" id="{051D6BE5-2E59-A6AF-5D96-818B69D095D3}"/>
              </a:ext>
            </a:extLst>
          </p:cNvPr>
          <p:cNvCxnSpPr>
            <a:cxnSpLocks/>
          </p:cNvCxnSpPr>
          <p:nvPr/>
        </p:nvCxnSpPr>
        <p:spPr>
          <a:xfrm>
            <a:off x="8702093" y="4333999"/>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246CC898-C274-9896-91D4-FC9C99A65995}"/>
              </a:ext>
            </a:extLst>
          </p:cNvPr>
          <p:cNvPicPr>
            <a:picLocks noChangeAspect="1"/>
          </p:cNvPicPr>
          <p:nvPr/>
        </p:nvPicPr>
        <p:blipFill>
          <a:blip r:embed="rId2"/>
          <a:stretch>
            <a:fillRect/>
          </a:stretch>
        </p:blipFill>
        <p:spPr>
          <a:xfrm>
            <a:off x="796789" y="3552568"/>
            <a:ext cx="5332821" cy="2615691"/>
          </a:xfrm>
          <a:prstGeom prst="rect">
            <a:avLst/>
          </a:prstGeom>
        </p:spPr>
      </p:pic>
      <p:pic>
        <p:nvPicPr>
          <p:cNvPr id="9" name="Picture 8">
            <a:extLst>
              <a:ext uri="{FF2B5EF4-FFF2-40B4-BE49-F238E27FC236}">
                <a16:creationId xmlns:a16="http://schemas.microsoft.com/office/drawing/2014/main" id="{11A5FA21-7FF3-F234-8AC7-D13A08E3F6A0}"/>
              </a:ext>
            </a:extLst>
          </p:cNvPr>
          <p:cNvPicPr>
            <a:picLocks noChangeAspect="1"/>
          </p:cNvPicPr>
          <p:nvPr/>
        </p:nvPicPr>
        <p:blipFill>
          <a:blip r:embed="rId3"/>
          <a:stretch>
            <a:fillRect/>
          </a:stretch>
        </p:blipFill>
        <p:spPr>
          <a:xfrm>
            <a:off x="6725630" y="3513270"/>
            <a:ext cx="1761579" cy="1589900"/>
          </a:xfrm>
          <a:prstGeom prst="rect">
            <a:avLst/>
          </a:prstGeom>
        </p:spPr>
      </p:pic>
      <p:pic>
        <p:nvPicPr>
          <p:cNvPr id="13" name="Picture 12">
            <a:extLst>
              <a:ext uri="{FF2B5EF4-FFF2-40B4-BE49-F238E27FC236}">
                <a16:creationId xmlns:a16="http://schemas.microsoft.com/office/drawing/2014/main" id="{8777E32B-F207-6DF5-BD59-13044B3DEABD}"/>
              </a:ext>
            </a:extLst>
          </p:cNvPr>
          <p:cNvPicPr>
            <a:picLocks noChangeAspect="1"/>
          </p:cNvPicPr>
          <p:nvPr/>
        </p:nvPicPr>
        <p:blipFill>
          <a:blip r:embed="rId4"/>
          <a:stretch>
            <a:fillRect/>
          </a:stretch>
        </p:blipFill>
        <p:spPr>
          <a:xfrm>
            <a:off x="9209182" y="3468167"/>
            <a:ext cx="2343477" cy="2800741"/>
          </a:xfrm>
          <a:prstGeom prst="rect">
            <a:avLst/>
          </a:prstGeom>
        </p:spPr>
      </p:pic>
      <p:sp>
        <p:nvSpPr>
          <p:cNvPr id="16" name="TextBox 15">
            <a:extLst>
              <a:ext uri="{FF2B5EF4-FFF2-40B4-BE49-F238E27FC236}">
                <a16:creationId xmlns:a16="http://schemas.microsoft.com/office/drawing/2014/main" id="{92DB7FB1-FDD7-78D5-F8B9-CDC4C93D0331}"/>
              </a:ext>
            </a:extLst>
          </p:cNvPr>
          <p:cNvSpPr txBox="1"/>
          <p:nvPr/>
        </p:nvSpPr>
        <p:spPr>
          <a:xfrm>
            <a:off x="7057294" y="3166486"/>
            <a:ext cx="1761579" cy="307777"/>
          </a:xfrm>
          <a:prstGeom prst="rect">
            <a:avLst/>
          </a:prstGeom>
          <a:noFill/>
        </p:spPr>
        <p:txBody>
          <a:bodyPr wrap="square" rtlCol="0">
            <a:spAutoFit/>
          </a:bodyPr>
          <a:lstStyle/>
          <a:p>
            <a:r>
              <a:rPr lang="en-US" sz="1400" dirty="0"/>
              <a:t>Input</a:t>
            </a:r>
          </a:p>
        </p:txBody>
      </p:sp>
    </p:spTree>
    <p:extLst>
      <p:ext uri="{BB962C8B-B14F-4D97-AF65-F5344CB8AC3E}">
        <p14:creationId xmlns:p14="http://schemas.microsoft.com/office/powerpoint/2010/main" val="3749992229"/>
      </p:ext>
    </p:extLst>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284C0-AD43-AA35-3784-6B4CF8C6D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3F37C-7A79-E422-1F46-9EA464F1EC59}"/>
              </a:ext>
            </a:extLst>
          </p:cNvPr>
          <p:cNvSpPr>
            <a:spLocks noGrp="1"/>
          </p:cNvSpPr>
          <p:nvPr>
            <p:ph type="title"/>
          </p:nvPr>
        </p:nvSpPr>
        <p:spPr/>
        <p:txBody>
          <a:bodyPr>
            <a:normAutofit/>
          </a:bodyPr>
          <a:lstStyle/>
          <a:p>
            <a:r>
              <a:rPr lang="en-US" b="1" dirty="0"/>
              <a:t>Arrays</a:t>
            </a:r>
            <a:endParaRPr lang="en-US" dirty="0"/>
          </a:p>
        </p:txBody>
      </p:sp>
      <p:sp>
        <p:nvSpPr>
          <p:cNvPr id="3" name="Content Placeholder 2">
            <a:extLst>
              <a:ext uri="{FF2B5EF4-FFF2-40B4-BE49-F238E27FC236}">
                <a16:creationId xmlns:a16="http://schemas.microsoft.com/office/drawing/2014/main" id="{7E696969-E086-B7CF-22A7-93B5C222F07D}"/>
              </a:ext>
            </a:extLst>
          </p:cNvPr>
          <p:cNvSpPr>
            <a:spLocks noGrp="1"/>
          </p:cNvSpPr>
          <p:nvPr>
            <p:ph idx="1"/>
          </p:nvPr>
        </p:nvSpPr>
        <p:spPr>
          <a:xfrm>
            <a:off x="658368" y="1150516"/>
            <a:ext cx="11218648" cy="5094835"/>
          </a:xfrm>
        </p:spPr>
        <p:txBody>
          <a:bodyPr>
            <a:normAutofit/>
          </a:bodyPr>
          <a:lstStyle/>
          <a:p>
            <a:pPr marL="0" indent="0">
              <a:buNone/>
            </a:pPr>
            <a:r>
              <a:rPr lang="en-US" sz="1800" dirty="0" err="1">
                <a:solidFill>
                  <a:srgbClr val="1082F2"/>
                </a:solidFill>
              </a:rPr>
              <a:t>ArrayToMap</a:t>
            </a:r>
            <a:r>
              <a:rPr lang="en-US" sz="1800" dirty="0">
                <a:solidFill>
                  <a:srgbClr val="1082F2"/>
                </a:solidFill>
              </a:rPr>
              <a:t> Actor</a:t>
            </a:r>
          </a:p>
          <a:p>
            <a:pPr algn="l">
              <a:buNone/>
            </a:pPr>
            <a:r>
              <a:rPr lang="en-US" sz="1400" b="0" i="0" dirty="0">
                <a:solidFill>
                  <a:srgbClr val="000000"/>
                </a:solidFill>
                <a:effectLst/>
                <a:latin typeface="Helvetica" panose="020B0604020202020204" pitchFamily="34" charset="0"/>
              </a:rPr>
              <a:t>Create a map from values arrays and key list</a:t>
            </a:r>
            <a:endParaRPr lang="en-US" sz="1600" dirty="0"/>
          </a:p>
        </p:txBody>
      </p:sp>
      <p:sp>
        <p:nvSpPr>
          <p:cNvPr id="14" name="TextBox 13">
            <a:extLst>
              <a:ext uri="{FF2B5EF4-FFF2-40B4-BE49-F238E27FC236}">
                <a16:creationId xmlns:a16="http://schemas.microsoft.com/office/drawing/2014/main" id="{2834CCD8-E49A-BB33-D9C4-6ED72FC25AF2}"/>
              </a:ext>
            </a:extLst>
          </p:cNvPr>
          <p:cNvSpPr txBox="1"/>
          <p:nvPr/>
        </p:nvSpPr>
        <p:spPr>
          <a:xfrm>
            <a:off x="9017158" y="2684902"/>
            <a:ext cx="1761579" cy="307777"/>
          </a:xfrm>
          <a:prstGeom prst="rect">
            <a:avLst/>
          </a:prstGeom>
          <a:noFill/>
        </p:spPr>
        <p:txBody>
          <a:bodyPr wrap="square" rtlCol="0">
            <a:spAutoFit/>
          </a:bodyPr>
          <a:lstStyle/>
          <a:p>
            <a:r>
              <a:rPr lang="en-US" sz="1400" dirty="0"/>
              <a:t>Output</a:t>
            </a:r>
          </a:p>
        </p:txBody>
      </p:sp>
      <p:cxnSp>
        <p:nvCxnSpPr>
          <p:cNvPr id="10" name="Straight Arrow Connector 9">
            <a:extLst>
              <a:ext uri="{FF2B5EF4-FFF2-40B4-BE49-F238E27FC236}">
                <a16:creationId xmlns:a16="http://schemas.microsoft.com/office/drawing/2014/main" id="{8582FA3C-8BB4-DF06-3D1D-8890F15CD87F}"/>
              </a:ext>
            </a:extLst>
          </p:cNvPr>
          <p:cNvCxnSpPr>
            <a:cxnSpLocks/>
          </p:cNvCxnSpPr>
          <p:nvPr/>
        </p:nvCxnSpPr>
        <p:spPr>
          <a:xfrm>
            <a:off x="8665517" y="3730495"/>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23F8A92-5CBE-DA41-A675-F64E3394EB0F}"/>
              </a:ext>
            </a:extLst>
          </p:cNvPr>
          <p:cNvSpPr txBox="1"/>
          <p:nvPr/>
        </p:nvSpPr>
        <p:spPr>
          <a:xfrm>
            <a:off x="6536086" y="2690998"/>
            <a:ext cx="1761579" cy="307777"/>
          </a:xfrm>
          <a:prstGeom prst="rect">
            <a:avLst/>
          </a:prstGeom>
          <a:noFill/>
        </p:spPr>
        <p:txBody>
          <a:bodyPr wrap="square" rtlCol="0">
            <a:spAutoFit/>
          </a:bodyPr>
          <a:lstStyle/>
          <a:p>
            <a:r>
              <a:rPr lang="en-US" sz="1400" dirty="0"/>
              <a:t>Input</a:t>
            </a:r>
          </a:p>
        </p:txBody>
      </p:sp>
      <p:pic>
        <p:nvPicPr>
          <p:cNvPr id="5" name="Picture 4">
            <a:extLst>
              <a:ext uri="{FF2B5EF4-FFF2-40B4-BE49-F238E27FC236}">
                <a16:creationId xmlns:a16="http://schemas.microsoft.com/office/drawing/2014/main" id="{30A2B8AB-C48D-AEDA-7311-EEC46683FED4}"/>
              </a:ext>
            </a:extLst>
          </p:cNvPr>
          <p:cNvPicPr>
            <a:picLocks noChangeAspect="1"/>
          </p:cNvPicPr>
          <p:nvPr/>
        </p:nvPicPr>
        <p:blipFill>
          <a:blip r:embed="rId2"/>
          <a:stretch>
            <a:fillRect/>
          </a:stretch>
        </p:blipFill>
        <p:spPr>
          <a:xfrm>
            <a:off x="518034" y="2667770"/>
            <a:ext cx="5654586" cy="3052191"/>
          </a:xfrm>
          <a:prstGeom prst="rect">
            <a:avLst/>
          </a:prstGeom>
        </p:spPr>
      </p:pic>
      <p:pic>
        <p:nvPicPr>
          <p:cNvPr id="8" name="Picture 7">
            <a:extLst>
              <a:ext uri="{FF2B5EF4-FFF2-40B4-BE49-F238E27FC236}">
                <a16:creationId xmlns:a16="http://schemas.microsoft.com/office/drawing/2014/main" id="{6AF9842B-E07A-09FF-1F1D-F7DA2F369D61}"/>
              </a:ext>
            </a:extLst>
          </p:cNvPr>
          <p:cNvPicPr>
            <a:picLocks noChangeAspect="1"/>
          </p:cNvPicPr>
          <p:nvPr/>
        </p:nvPicPr>
        <p:blipFill>
          <a:blip r:embed="rId3"/>
          <a:stretch>
            <a:fillRect/>
          </a:stretch>
        </p:blipFill>
        <p:spPr>
          <a:xfrm>
            <a:off x="6561908" y="2992679"/>
            <a:ext cx="1991003" cy="1286054"/>
          </a:xfrm>
          <a:prstGeom prst="rect">
            <a:avLst/>
          </a:prstGeom>
        </p:spPr>
      </p:pic>
      <p:pic>
        <p:nvPicPr>
          <p:cNvPr id="12" name="Picture 11">
            <a:extLst>
              <a:ext uri="{FF2B5EF4-FFF2-40B4-BE49-F238E27FC236}">
                <a16:creationId xmlns:a16="http://schemas.microsoft.com/office/drawing/2014/main" id="{50EE14DA-41AD-5AEC-845C-A72DAD4C56C9}"/>
              </a:ext>
            </a:extLst>
          </p:cNvPr>
          <p:cNvPicPr>
            <a:picLocks noChangeAspect="1"/>
          </p:cNvPicPr>
          <p:nvPr/>
        </p:nvPicPr>
        <p:blipFill>
          <a:blip r:embed="rId4"/>
          <a:stretch>
            <a:fillRect/>
          </a:stretch>
        </p:blipFill>
        <p:spPr>
          <a:xfrm>
            <a:off x="9145455" y="3021258"/>
            <a:ext cx="2743583" cy="1228896"/>
          </a:xfrm>
          <a:prstGeom prst="rect">
            <a:avLst/>
          </a:prstGeom>
        </p:spPr>
      </p:pic>
    </p:spTree>
    <p:extLst>
      <p:ext uri="{BB962C8B-B14F-4D97-AF65-F5344CB8AC3E}">
        <p14:creationId xmlns:p14="http://schemas.microsoft.com/office/powerpoint/2010/main" val="226435498"/>
      </p:ext>
    </p:extLst>
  </p:cSld>
  <p:clrMapOvr>
    <a:masterClrMapping/>
  </p:clrMapOvr>
  <p:transition spd="slow">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415DC-9277-735D-FD9C-7030FCFAE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B152D7-2EBA-3EEB-D6C8-05C0BE93CD8E}"/>
              </a:ext>
            </a:extLst>
          </p:cNvPr>
          <p:cNvSpPr>
            <a:spLocks noGrp="1"/>
          </p:cNvSpPr>
          <p:nvPr>
            <p:ph type="title"/>
          </p:nvPr>
        </p:nvSpPr>
        <p:spPr/>
        <p:txBody>
          <a:bodyPr>
            <a:normAutofit/>
          </a:bodyPr>
          <a:lstStyle/>
          <a:p>
            <a:r>
              <a:rPr lang="en-US" b="1" dirty="0"/>
              <a:t>Collection Data Manipulation</a:t>
            </a:r>
            <a:endParaRPr lang="en-US" dirty="0"/>
          </a:p>
        </p:txBody>
      </p:sp>
      <p:sp>
        <p:nvSpPr>
          <p:cNvPr id="3" name="Content Placeholder 2">
            <a:extLst>
              <a:ext uri="{FF2B5EF4-FFF2-40B4-BE49-F238E27FC236}">
                <a16:creationId xmlns:a16="http://schemas.microsoft.com/office/drawing/2014/main" id="{0D168DDF-88D2-296D-1110-5835CC653F08}"/>
              </a:ext>
            </a:extLst>
          </p:cNvPr>
          <p:cNvSpPr>
            <a:spLocks noGrp="1"/>
          </p:cNvSpPr>
          <p:nvPr>
            <p:ph idx="1"/>
          </p:nvPr>
        </p:nvSpPr>
        <p:spPr>
          <a:xfrm>
            <a:off x="658368" y="1150517"/>
            <a:ext cx="11218648" cy="1727436"/>
          </a:xfrm>
        </p:spPr>
        <p:txBody>
          <a:bodyPr>
            <a:normAutofit fontScale="92500" lnSpcReduction="20000"/>
          </a:bodyPr>
          <a:lstStyle/>
          <a:p>
            <a:pPr marL="0" indent="0">
              <a:buNone/>
            </a:pPr>
            <a:r>
              <a:rPr lang="en-US" sz="1900" dirty="0">
                <a:solidFill>
                  <a:srgbClr val="1082F2"/>
                </a:solidFill>
              </a:rPr>
              <a:t>Mapper</a:t>
            </a:r>
          </a:p>
          <a:p>
            <a:r>
              <a:rPr lang="en-US" sz="1400" b="0" i="0" dirty="0">
                <a:solidFill>
                  <a:srgbClr val="000000"/>
                </a:solidFill>
                <a:effectLst/>
                <a:latin typeface="Helvetica" panose="020B0604020202020204" pitchFamily="34" charset="0"/>
              </a:rPr>
              <a:t>Transform values in a collection using JavaScript and/or </a:t>
            </a:r>
            <a:r>
              <a:rPr lang="en-US" sz="1400" dirty="0">
                <a:solidFill>
                  <a:srgbClr val="000000"/>
                </a:solidFill>
                <a:latin typeface="Helvetica" panose="020B0604020202020204" pitchFamily="34" charset="0"/>
              </a:rPr>
              <a:t>B</a:t>
            </a:r>
            <a:r>
              <a:rPr lang="en-US" sz="1400" b="0" i="0" dirty="0">
                <a:solidFill>
                  <a:srgbClr val="000000"/>
                </a:solidFill>
                <a:effectLst/>
                <a:latin typeface="Helvetica" panose="020B0604020202020204" pitchFamily="34" charset="0"/>
              </a:rPr>
              <a:t>roadway flow logic.</a:t>
            </a:r>
          </a:p>
          <a:p>
            <a:pPr algn="l"/>
            <a:r>
              <a:rPr lang="en-US" sz="1400" b="0" i="0" dirty="0">
                <a:solidFill>
                  <a:srgbClr val="000000"/>
                </a:solidFill>
                <a:effectLst/>
                <a:latin typeface="Helvetica" panose="020B0604020202020204" pitchFamily="34" charset="0"/>
              </a:rPr>
              <a:t>The Actor maps the data on the fly and does not load the entire data set to memory.</a:t>
            </a:r>
          </a:p>
          <a:p>
            <a:pPr algn="l"/>
            <a:r>
              <a:rPr lang="en-US" sz="1400" b="1" i="0" dirty="0" err="1">
                <a:solidFill>
                  <a:srgbClr val="000000"/>
                </a:solidFill>
                <a:effectLst/>
                <a:latin typeface="Helvetica" panose="020B0604020202020204" pitchFamily="34" charset="0"/>
              </a:rPr>
              <a:t>threadCount</a:t>
            </a:r>
            <a:r>
              <a:rPr lang="en-US" sz="1400" b="0" i="0" dirty="0">
                <a:solidFill>
                  <a:srgbClr val="000000"/>
                </a:solidFill>
                <a:effectLst/>
                <a:latin typeface="Helvetica" panose="020B0604020202020204" pitchFamily="34" charset="0"/>
              </a:rPr>
              <a:t> parameter: the number of threads to execute the logic. If multiple threads are used, the order of the collection is not maintained.</a:t>
            </a:r>
            <a:br>
              <a:rPr lang="en-US" sz="1400" b="0" i="0" dirty="0">
                <a:solidFill>
                  <a:srgbClr val="000000"/>
                </a:solidFill>
                <a:effectLst/>
                <a:latin typeface="Helvetica" panose="020B0604020202020204" pitchFamily="34" charset="0"/>
              </a:rPr>
            </a:br>
            <a:endParaRPr lang="en-US" sz="1400" b="0" i="0" dirty="0">
              <a:solidFill>
                <a:srgbClr val="000000"/>
              </a:solidFill>
              <a:effectLst/>
              <a:latin typeface="Helvetica" panose="020B0604020202020204" pitchFamily="34" charset="0"/>
            </a:endParaRPr>
          </a:p>
          <a:p>
            <a:pPr marL="0" indent="0">
              <a:buNone/>
            </a:pPr>
            <a:r>
              <a:rPr lang="en-US" sz="1600" dirty="0"/>
              <a:t>Example 1: Using JavaScript, return single value</a:t>
            </a:r>
            <a:endParaRPr lang="en-US" sz="1500" dirty="0"/>
          </a:p>
        </p:txBody>
      </p:sp>
      <p:pic>
        <p:nvPicPr>
          <p:cNvPr id="6" name="Picture 5">
            <a:extLst>
              <a:ext uri="{FF2B5EF4-FFF2-40B4-BE49-F238E27FC236}">
                <a16:creationId xmlns:a16="http://schemas.microsoft.com/office/drawing/2014/main" id="{85E923AB-0F99-C167-7B2A-3EA36FDA6468}"/>
              </a:ext>
            </a:extLst>
          </p:cNvPr>
          <p:cNvPicPr>
            <a:picLocks noChangeAspect="1"/>
          </p:cNvPicPr>
          <p:nvPr/>
        </p:nvPicPr>
        <p:blipFill>
          <a:blip r:embed="rId2"/>
          <a:stretch>
            <a:fillRect/>
          </a:stretch>
        </p:blipFill>
        <p:spPr>
          <a:xfrm>
            <a:off x="744752" y="3056857"/>
            <a:ext cx="2488417" cy="3550887"/>
          </a:xfrm>
          <a:prstGeom prst="rect">
            <a:avLst/>
          </a:prstGeom>
        </p:spPr>
      </p:pic>
      <p:cxnSp>
        <p:nvCxnSpPr>
          <p:cNvPr id="18" name="Straight Arrow Connector 17">
            <a:extLst>
              <a:ext uri="{FF2B5EF4-FFF2-40B4-BE49-F238E27FC236}">
                <a16:creationId xmlns:a16="http://schemas.microsoft.com/office/drawing/2014/main" id="{11DD5DB9-D98D-8392-F0FC-7B2B8EB4C4E7}"/>
              </a:ext>
            </a:extLst>
          </p:cNvPr>
          <p:cNvCxnSpPr>
            <a:cxnSpLocks/>
          </p:cNvCxnSpPr>
          <p:nvPr/>
        </p:nvCxnSpPr>
        <p:spPr>
          <a:xfrm>
            <a:off x="3310128" y="3555573"/>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0CA539EA-0904-42E2-D227-4BFB633AEEA7}"/>
              </a:ext>
            </a:extLst>
          </p:cNvPr>
          <p:cNvPicPr>
            <a:picLocks noChangeAspect="1"/>
          </p:cNvPicPr>
          <p:nvPr/>
        </p:nvPicPr>
        <p:blipFill>
          <a:blip r:embed="rId3"/>
          <a:stretch>
            <a:fillRect/>
          </a:stretch>
        </p:blipFill>
        <p:spPr>
          <a:xfrm>
            <a:off x="8961474" y="2988476"/>
            <a:ext cx="2915542" cy="2745958"/>
          </a:xfrm>
          <a:prstGeom prst="rect">
            <a:avLst/>
          </a:prstGeom>
        </p:spPr>
      </p:pic>
      <p:pic>
        <p:nvPicPr>
          <p:cNvPr id="26" name="Picture 25">
            <a:extLst>
              <a:ext uri="{FF2B5EF4-FFF2-40B4-BE49-F238E27FC236}">
                <a16:creationId xmlns:a16="http://schemas.microsoft.com/office/drawing/2014/main" id="{2A50C05E-C451-BAA4-3CD3-CF0D9DC42CF6}"/>
              </a:ext>
            </a:extLst>
          </p:cNvPr>
          <p:cNvPicPr>
            <a:picLocks noChangeAspect="1"/>
          </p:cNvPicPr>
          <p:nvPr/>
        </p:nvPicPr>
        <p:blipFill>
          <a:blip r:embed="rId4"/>
          <a:stretch>
            <a:fillRect/>
          </a:stretch>
        </p:blipFill>
        <p:spPr>
          <a:xfrm>
            <a:off x="3725771" y="2951900"/>
            <a:ext cx="4740457" cy="2370229"/>
          </a:xfrm>
          <a:prstGeom prst="rect">
            <a:avLst/>
          </a:prstGeom>
        </p:spPr>
      </p:pic>
      <p:cxnSp>
        <p:nvCxnSpPr>
          <p:cNvPr id="29" name="Straight Arrow Connector 28">
            <a:extLst>
              <a:ext uri="{FF2B5EF4-FFF2-40B4-BE49-F238E27FC236}">
                <a16:creationId xmlns:a16="http://schemas.microsoft.com/office/drawing/2014/main" id="{3AFF4643-F195-0E24-1327-52A975BA9D7D}"/>
              </a:ext>
            </a:extLst>
          </p:cNvPr>
          <p:cNvCxnSpPr>
            <a:cxnSpLocks/>
          </p:cNvCxnSpPr>
          <p:nvPr/>
        </p:nvCxnSpPr>
        <p:spPr>
          <a:xfrm>
            <a:off x="8564880" y="3515949"/>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9015155"/>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55CD0-9EE1-A047-605B-6CFE40D156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921F0-62FF-9B7F-38EB-33FC32DCF272}"/>
              </a:ext>
            </a:extLst>
          </p:cNvPr>
          <p:cNvSpPr>
            <a:spLocks noGrp="1"/>
          </p:cNvSpPr>
          <p:nvPr>
            <p:ph type="title"/>
          </p:nvPr>
        </p:nvSpPr>
        <p:spPr/>
        <p:txBody>
          <a:bodyPr>
            <a:normAutofit/>
          </a:bodyPr>
          <a:lstStyle/>
          <a:p>
            <a:r>
              <a:rPr lang="en-US" b="1" dirty="0"/>
              <a:t>Collection Data Manipulation</a:t>
            </a:r>
            <a:endParaRPr lang="en-US" dirty="0"/>
          </a:p>
        </p:txBody>
      </p:sp>
      <p:sp>
        <p:nvSpPr>
          <p:cNvPr id="3" name="Content Placeholder 2">
            <a:extLst>
              <a:ext uri="{FF2B5EF4-FFF2-40B4-BE49-F238E27FC236}">
                <a16:creationId xmlns:a16="http://schemas.microsoft.com/office/drawing/2014/main" id="{78F6DC73-5F34-63F4-0328-9AB0D6EB5159}"/>
              </a:ext>
            </a:extLst>
          </p:cNvPr>
          <p:cNvSpPr>
            <a:spLocks noGrp="1"/>
          </p:cNvSpPr>
          <p:nvPr>
            <p:ph idx="1"/>
          </p:nvPr>
        </p:nvSpPr>
        <p:spPr>
          <a:xfrm>
            <a:off x="658368" y="1102391"/>
            <a:ext cx="9893808" cy="1191309"/>
          </a:xfrm>
        </p:spPr>
        <p:txBody>
          <a:bodyPr>
            <a:normAutofit/>
          </a:bodyPr>
          <a:lstStyle/>
          <a:p>
            <a:pPr marL="0" indent="0">
              <a:buNone/>
            </a:pPr>
            <a:r>
              <a:rPr lang="en-US" sz="1800" dirty="0">
                <a:solidFill>
                  <a:srgbClr val="1082F2"/>
                </a:solidFill>
              </a:rPr>
              <a:t>Mapper</a:t>
            </a:r>
          </a:p>
          <a:p>
            <a:pPr marL="0" indent="0">
              <a:buNone/>
            </a:pPr>
            <a:r>
              <a:rPr lang="en-US" sz="1600" dirty="0"/>
              <a:t>Example 2: Using JavaScript, return multiple values, using “value” as the last line in the script.</a:t>
            </a:r>
            <a:endParaRPr lang="en-US" sz="1500" dirty="0"/>
          </a:p>
        </p:txBody>
      </p:sp>
      <p:pic>
        <p:nvPicPr>
          <p:cNvPr id="6" name="Picture 5">
            <a:extLst>
              <a:ext uri="{FF2B5EF4-FFF2-40B4-BE49-F238E27FC236}">
                <a16:creationId xmlns:a16="http://schemas.microsoft.com/office/drawing/2014/main" id="{FC945C68-BEC0-0DC6-8656-C30811C2DC6F}"/>
              </a:ext>
            </a:extLst>
          </p:cNvPr>
          <p:cNvPicPr>
            <a:picLocks noChangeAspect="1"/>
          </p:cNvPicPr>
          <p:nvPr/>
        </p:nvPicPr>
        <p:blipFill>
          <a:blip r:embed="rId2"/>
          <a:stretch>
            <a:fillRect/>
          </a:stretch>
        </p:blipFill>
        <p:spPr>
          <a:xfrm>
            <a:off x="744752" y="2719972"/>
            <a:ext cx="2488417" cy="3550887"/>
          </a:xfrm>
          <a:prstGeom prst="rect">
            <a:avLst/>
          </a:prstGeom>
        </p:spPr>
      </p:pic>
      <p:cxnSp>
        <p:nvCxnSpPr>
          <p:cNvPr id="18" name="Straight Arrow Connector 17">
            <a:extLst>
              <a:ext uri="{FF2B5EF4-FFF2-40B4-BE49-F238E27FC236}">
                <a16:creationId xmlns:a16="http://schemas.microsoft.com/office/drawing/2014/main" id="{7A7D09EE-2F1C-B781-66AF-881D7C71B423}"/>
              </a:ext>
            </a:extLst>
          </p:cNvPr>
          <p:cNvCxnSpPr>
            <a:cxnSpLocks/>
          </p:cNvCxnSpPr>
          <p:nvPr/>
        </p:nvCxnSpPr>
        <p:spPr>
          <a:xfrm>
            <a:off x="3310128" y="3218688"/>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710A091-1B87-9BF6-E634-D5EB1619E8B0}"/>
              </a:ext>
            </a:extLst>
          </p:cNvPr>
          <p:cNvCxnSpPr>
            <a:cxnSpLocks/>
          </p:cNvCxnSpPr>
          <p:nvPr/>
        </p:nvCxnSpPr>
        <p:spPr>
          <a:xfrm>
            <a:off x="8692896" y="3179064"/>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ED3A51A-8932-E852-EAF0-2ACA5C9CD92A}"/>
              </a:ext>
            </a:extLst>
          </p:cNvPr>
          <p:cNvPicPr>
            <a:picLocks noChangeAspect="1"/>
          </p:cNvPicPr>
          <p:nvPr/>
        </p:nvPicPr>
        <p:blipFill>
          <a:blip r:embed="rId3"/>
          <a:stretch>
            <a:fillRect/>
          </a:stretch>
        </p:blipFill>
        <p:spPr>
          <a:xfrm>
            <a:off x="3664180" y="2729116"/>
            <a:ext cx="4957437" cy="1760585"/>
          </a:xfrm>
          <a:prstGeom prst="rect">
            <a:avLst/>
          </a:prstGeom>
        </p:spPr>
      </p:pic>
      <p:pic>
        <p:nvPicPr>
          <p:cNvPr id="8" name="Picture 7">
            <a:extLst>
              <a:ext uri="{FF2B5EF4-FFF2-40B4-BE49-F238E27FC236}">
                <a16:creationId xmlns:a16="http://schemas.microsoft.com/office/drawing/2014/main" id="{FAD623B8-E70C-C6AA-0563-996889C1434F}"/>
              </a:ext>
            </a:extLst>
          </p:cNvPr>
          <p:cNvPicPr>
            <a:picLocks noChangeAspect="1"/>
          </p:cNvPicPr>
          <p:nvPr/>
        </p:nvPicPr>
        <p:blipFill>
          <a:blip r:embed="rId4"/>
          <a:stretch>
            <a:fillRect/>
          </a:stretch>
        </p:blipFill>
        <p:spPr>
          <a:xfrm>
            <a:off x="9052628" y="2688336"/>
            <a:ext cx="2788396" cy="2668804"/>
          </a:xfrm>
          <a:prstGeom prst="rect">
            <a:avLst/>
          </a:prstGeom>
        </p:spPr>
      </p:pic>
      <p:cxnSp>
        <p:nvCxnSpPr>
          <p:cNvPr id="9" name="Straight Arrow Connector 8">
            <a:extLst>
              <a:ext uri="{FF2B5EF4-FFF2-40B4-BE49-F238E27FC236}">
                <a16:creationId xmlns:a16="http://schemas.microsoft.com/office/drawing/2014/main" id="{FC718801-FC54-BFF6-3C52-375AA2DAF32A}"/>
              </a:ext>
            </a:extLst>
          </p:cNvPr>
          <p:cNvCxnSpPr>
            <a:cxnSpLocks/>
          </p:cNvCxnSpPr>
          <p:nvPr/>
        </p:nvCxnSpPr>
        <p:spPr>
          <a:xfrm>
            <a:off x="5955792" y="4285488"/>
            <a:ext cx="338328" cy="0"/>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105445"/>
      </p:ext>
    </p:extLst>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043A-E453-674F-7433-DE1595423DAF}"/>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9DACFD4F-ECDD-22F7-F6AA-0EB778932789}"/>
              </a:ext>
            </a:extLst>
          </p:cNvPr>
          <p:cNvPicPr>
            <a:picLocks noChangeAspect="1"/>
          </p:cNvPicPr>
          <p:nvPr/>
        </p:nvPicPr>
        <p:blipFill>
          <a:blip r:embed="rId2"/>
          <a:stretch>
            <a:fillRect/>
          </a:stretch>
        </p:blipFill>
        <p:spPr>
          <a:xfrm>
            <a:off x="3806366" y="4309708"/>
            <a:ext cx="4298851" cy="2162123"/>
          </a:xfrm>
          <a:prstGeom prst="rect">
            <a:avLst/>
          </a:prstGeom>
        </p:spPr>
      </p:pic>
      <p:sp>
        <p:nvSpPr>
          <p:cNvPr id="2" name="Title 1">
            <a:extLst>
              <a:ext uri="{FF2B5EF4-FFF2-40B4-BE49-F238E27FC236}">
                <a16:creationId xmlns:a16="http://schemas.microsoft.com/office/drawing/2014/main" id="{1F84770E-BE2E-77AA-0BF9-8622027BE6C8}"/>
              </a:ext>
            </a:extLst>
          </p:cNvPr>
          <p:cNvSpPr>
            <a:spLocks noGrp="1"/>
          </p:cNvSpPr>
          <p:nvPr>
            <p:ph type="title"/>
          </p:nvPr>
        </p:nvSpPr>
        <p:spPr/>
        <p:txBody>
          <a:bodyPr>
            <a:normAutofit/>
          </a:bodyPr>
          <a:lstStyle/>
          <a:p>
            <a:r>
              <a:rPr lang="en-US" b="1" dirty="0"/>
              <a:t>Collection Data Manipulation</a:t>
            </a:r>
            <a:endParaRPr lang="en-US" dirty="0"/>
          </a:p>
        </p:txBody>
      </p:sp>
      <p:sp>
        <p:nvSpPr>
          <p:cNvPr id="3" name="Content Placeholder 2">
            <a:extLst>
              <a:ext uri="{FF2B5EF4-FFF2-40B4-BE49-F238E27FC236}">
                <a16:creationId xmlns:a16="http://schemas.microsoft.com/office/drawing/2014/main" id="{4D308B43-EA41-4969-93B2-DA5F8F5F18BC}"/>
              </a:ext>
            </a:extLst>
          </p:cNvPr>
          <p:cNvSpPr>
            <a:spLocks noGrp="1"/>
          </p:cNvSpPr>
          <p:nvPr>
            <p:ph idx="1"/>
          </p:nvPr>
        </p:nvSpPr>
        <p:spPr>
          <a:xfrm>
            <a:off x="658368" y="1102391"/>
            <a:ext cx="9893808" cy="1191309"/>
          </a:xfrm>
        </p:spPr>
        <p:txBody>
          <a:bodyPr>
            <a:normAutofit/>
          </a:bodyPr>
          <a:lstStyle/>
          <a:p>
            <a:pPr marL="0" indent="0">
              <a:buNone/>
            </a:pPr>
            <a:r>
              <a:rPr lang="en-US" sz="1800" dirty="0">
                <a:solidFill>
                  <a:srgbClr val="1082F2"/>
                </a:solidFill>
              </a:rPr>
              <a:t>Mapper</a:t>
            </a:r>
          </a:p>
          <a:p>
            <a:pPr marL="0" indent="0">
              <a:buNone/>
            </a:pPr>
            <a:r>
              <a:rPr lang="en-US" sz="1600" dirty="0"/>
              <a:t>Example 3: Using </a:t>
            </a:r>
            <a:r>
              <a:rPr lang="en-US" sz="1600" dirty="0" err="1"/>
              <a:t>InnerFlow</a:t>
            </a:r>
            <a:r>
              <a:rPr lang="en-US" sz="1600" dirty="0"/>
              <a:t>. The external name for both the input and output of the Inner Flow must be “value”.</a:t>
            </a:r>
            <a:endParaRPr lang="en-US" sz="1500" dirty="0"/>
          </a:p>
        </p:txBody>
      </p:sp>
      <p:pic>
        <p:nvPicPr>
          <p:cNvPr id="6" name="Picture 5">
            <a:extLst>
              <a:ext uri="{FF2B5EF4-FFF2-40B4-BE49-F238E27FC236}">
                <a16:creationId xmlns:a16="http://schemas.microsoft.com/office/drawing/2014/main" id="{D938C05A-8C8C-7098-BC83-F79B2831B442}"/>
              </a:ext>
            </a:extLst>
          </p:cNvPr>
          <p:cNvPicPr>
            <a:picLocks noChangeAspect="1"/>
          </p:cNvPicPr>
          <p:nvPr/>
        </p:nvPicPr>
        <p:blipFill>
          <a:blip r:embed="rId3"/>
          <a:stretch>
            <a:fillRect/>
          </a:stretch>
        </p:blipFill>
        <p:spPr>
          <a:xfrm>
            <a:off x="744752" y="1969200"/>
            <a:ext cx="2488417" cy="3550887"/>
          </a:xfrm>
          <a:prstGeom prst="rect">
            <a:avLst/>
          </a:prstGeom>
        </p:spPr>
      </p:pic>
      <p:cxnSp>
        <p:nvCxnSpPr>
          <p:cNvPr id="18" name="Straight Arrow Connector 17">
            <a:extLst>
              <a:ext uri="{FF2B5EF4-FFF2-40B4-BE49-F238E27FC236}">
                <a16:creationId xmlns:a16="http://schemas.microsoft.com/office/drawing/2014/main" id="{044FC4F5-6546-1737-79DC-0B339D166A14}"/>
              </a:ext>
            </a:extLst>
          </p:cNvPr>
          <p:cNvCxnSpPr>
            <a:cxnSpLocks/>
          </p:cNvCxnSpPr>
          <p:nvPr/>
        </p:nvCxnSpPr>
        <p:spPr>
          <a:xfrm>
            <a:off x="3608512" y="2467916"/>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FDD670C-7DB3-3F52-9605-CD918751DF0F}"/>
              </a:ext>
            </a:extLst>
          </p:cNvPr>
          <p:cNvCxnSpPr>
            <a:cxnSpLocks/>
          </p:cNvCxnSpPr>
          <p:nvPr/>
        </p:nvCxnSpPr>
        <p:spPr>
          <a:xfrm>
            <a:off x="8461890" y="2437917"/>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00ADB37-895F-95E5-9DE6-C847336BA467}"/>
              </a:ext>
            </a:extLst>
          </p:cNvPr>
          <p:cNvCxnSpPr>
            <a:cxnSpLocks/>
          </p:cNvCxnSpPr>
          <p:nvPr/>
        </p:nvCxnSpPr>
        <p:spPr>
          <a:xfrm>
            <a:off x="6956820" y="6383795"/>
            <a:ext cx="338328" cy="0"/>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E6562D57-F921-DC7B-6921-9AEB186D4F01}"/>
              </a:ext>
            </a:extLst>
          </p:cNvPr>
          <p:cNvPicPr>
            <a:picLocks noChangeAspect="1"/>
          </p:cNvPicPr>
          <p:nvPr/>
        </p:nvPicPr>
        <p:blipFill>
          <a:blip r:embed="rId4"/>
          <a:stretch>
            <a:fillRect/>
          </a:stretch>
        </p:blipFill>
        <p:spPr>
          <a:xfrm>
            <a:off x="4441572" y="1869661"/>
            <a:ext cx="3335640" cy="2237835"/>
          </a:xfrm>
          <a:prstGeom prst="rect">
            <a:avLst/>
          </a:prstGeom>
        </p:spPr>
      </p:pic>
      <p:pic>
        <p:nvPicPr>
          <p:cNvPr id="13" name="Picture 12">
            <a:extLst>
              <a:ext uri="{FF2B5EF4-FFF2-40B4-BE49-F238E27FC236}">
                <a16:creationId xmlns:a16="http://schemas.microsoft.com/office/drawing/2014/main" id="{A43CF3C7-F5F1-2332-9348-9BA2D97CD72B}"/>
              </a:ext>
            </a:extLst>
          </p:cNvPr>
          <p:cNvPicPr>
            <a:picLocks noChangeAspect="1"/>
          </p:cNvPicPr>
          <p:nvPr/>
        </p:nvPicPr>
        <p:blipFill>
          <a:blip r:embed="rId5"/>
          <a:stretch>
            <a:fillRect/>
          </a:stretch>
        </p:blipFill>
        <p:spPr>
          <a:xfrm>
            <a:off x="9225866" y="2071874"/>
            <a:ext cx="2307766" cy="2237834"/>
          </a:xfrm>
          <a:prstGeom prst="rect">
            <a:avLst/>
          </a:prstGeom>
        </p:spPr>
      </p:pic>
      <p:pic>
        <p:nvPicPr>
          <p:cNvPr id="15" name="Picture 14">
            <a:extLst>
              <a:ext uri="{FF2B5EF4-FFF2-40B4-BE49-F238E27FC236}">
                <a16:creationId xmlns:a16="http://schemas.microsoft.com/office/drawing/2014/main" id="{1271E85D-8594-F674-ACB3-586333D3673E}"/>
              </a:ext>
            </a:extLst>
          </p:cNvPr>
          <p:cNvPicPr>
            <a:picLocks noChangeAspect="1"/>
          </p:cNvPicPr>
          <p:nvPr/>
        </p:nvPicPr>
        <p:blipFill>
          <a:blip r:embed="rId6"/>
          <a:stretch>
            <a:fillRect/>
          </a:stretch>
        </p:blipFill>
        <p:spPr>
          <a:xfrm>
            <a:off x="5102746" y="4972959"/>
            <a:ext cx="2106576" cy="900807"/>
          </a:xfrm>
          <a:prstGeom prst="rect">
            <a:avLst/>
          </a:prstGeom>
        </p:spPr>
      </p:pic>
      <p:sp>
        <p:nvSpPr>
          <p:cNvPr id="16" name="Right Brace 15">
            <a:extLst>
              <a:ext uri="{FF2B5EF4-FFF2-40B4-BE49-F238E27FC236}">
                <a16:creationId xmlns:a16="http://schemas.microsoft.com/office/drawing/2014/main" id="{80DB2F9D-9B1B-95B3-8800-D2A7F86E7695}"/>
              </a:ext>
            </a:extLst>
          </p:cNvPr>
          <p:cNvSpPr/>
          <p:nvPr/>
        </p:nvSpPr>
        <p:spPr>
          <a:xfrm>
            <a:off x="8479856" y="4429708"/>
            <a:ext cx="213040" cy="1954083"/>
          </a:xfrm>
          <a:prstGeom prst="rightBrace">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0B1F975F-AD38-E67A-8A44-C84A4BC6C82E}"/>
              </a:ext>
            </a:extLst>
          </p:cNvPr>
          <p:cNvSpPr txBox="1"/>
          <p:nvPr/>
        </p:nvSpPr>
        <p:spPr>
          <a:xfrm>
            <a:off x="8859574" y="5172140"/>
            <a:ext cx="2883248" cy="738664"/>
          </a:xfrm>
          <a:prstGeom prst="rect">
            <a:avLst/>
          </a:prstGeom>
          <a:noFill/>
        </p:spPr>
        <p:txBody>
          <a:bodyPr wrap="square" rtlCol="0">
            <a:spAutoFit/>
          </a:bodyPr>
          <a:lstStyle/>
          <a:p>
            <a:r>
              <a:rPr lang="en-US" sz="1400" u="sng" dirty="0" err="1"/>
              <a:t>bwMapperInnerFlow</a:t>
            </a:r>
            <a:r>
              <a:rPr lang="en-US" sz="1400" dirty="0"/>
              <a:t>:</a:t>
            </a:r>
            <a:br>
              <a:rPr lang="en-US" sz="1400" dirty="0"/>
            </a:br>
            <a:r>
              <a:rPr lang="en-US" sz="1400" dirty="0"/>
              <a:t>Inner flow return map of values.</a:t>
            </a:r>
            <a:br>
              <a:rPr lang="en-US" sz="1400" dirty="0"/>
            </a:br>
            <a:r>
              <a:rPr lang="en-US" sz="1400" dirty="0"/>
              <a:t>External parameter named “value”</a:t>
            </a:r>
          </a:p>
        </p:txBody>
      </p:sp>
    </p:spTree>
    <p:extLst>
      <p:ext uri="{BB962C8B-B14F-4D97-AF65-F5344CB8AC3E}">
        <p14:creationId xmlns:p14="http://schemas.microsoft.com/office/powerpoint/2010/main" val="1978864951"/>
      </p:ext>
    </p:extLst>
  </p:cSld>
  <p:clrMapOvr>
    <a:masterClrMapping/>
  </p:clrMapOvr>
  <p:transition spd="slow">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B225D-AB15-FB9F-2B27-DCAE3D2BA42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1405F2D-230E-ECF8-B99B-6C01096775DA}"/>
              </a:ext>
            </a:extLst>
          </p:cNvPr>
          <p:cNvPicPr>
            <a:picLocks noChangeAspect="1"/>
          </p:cNvPicPr>
          <p:nvPr/>
        </p:nvPicPr>
        <p:blipFill>
          <a:blip r:embed="rId2"/>
          <a:stretch>
            <a:fillRect/>
          </a:stretch>
        </p:blipFill>
        <p:spPr>
          <a:xfrm>
            <a:off x="9171753" y="2950139"/>
            <a:ext cx="2624790" cy="3691284"/>
          </a:xfrm>
          <a:prstGeom prst="rect">
            <a:avLst/>
          </a:prstGeom>
        </p:spPr>
      </p:pic>
      <p:sp>
        <p:nvSpPr>
          <p:cNvPr id="2" name="Title 1">
            <a:extLst>
              <a:ext uri="{FF2B5EF4-FFF2-40B4-BE49-F238E27FC236}">
                <a16:creationId xmlns:a16="http://schemas.microsoft.com/office/drawing/2014/main" id="{2C8D71DC-F822-12E5-01C2-442A1077FBC6}"/>
              </a:ext>
            </a:extLst>
          </p:cNvPr>
          <p:cNvSpPr>
            <a:spLocks noGrp="1"/>
          </p:cNvSpPr>
          <p:nvPr>
            <p:ph type="title"/>
          </p:nvPr>
        </p:nvSpPr>
        <p:spPr/>
        <p:txBody>
          <a:bodyPr>
            <a:normAutofit/>
          </a:bodyPr>
          <a:lstStyle/>
          <a:p>
            <a:r>
              <a:rPr lang="en-US" b="1" dirty="0"/>
              <a:t>Collection Data Manipulation</a:t>
            </a:r>
            <a:endParaRPr lang="en-US" dirty="0"/>
          </a:p>
        </p:txBody>
      </p:sp>
      <p:sp>
        <p:nvSpPr>
          <p:cNvPr id="3" name="Content Placeholder 2">
            <a:extLst>
              <a:ext uri="{FF2B5EF4-FFF2-40B4-BE49-F238E27FC236}">
                <a16:creationId xmlns:a16="http://schemas.microsoft.com/office/drawing/2014/main" id="{109EB9E7-CB90-A1FC-4AA1-8F72CC548893}"/>
              </a:ext>
            </a:extLst>
          </p:cNvPr>
          <p:cNvSpPr>
            <a:spLocks noGrp="1"/>
          </p:cNvSpPr>
          <p:nvPr>
            <p:ph idx="1"/>
          </p:nvPr>
        </p:nvSpPr>
        <p:spPr>
          <a:xfrm>
            <a:off x="658368" y="1150517"/>
            <a:ext cx="10680192" cy="1724367"/>
          </a:xfrm>
        </p:spPr>
        <p:txBody>
          <a:bodyPr>
            <a:normAutofit fontScale="85000" lnSpcReduction="20000"/>
          </a:bodyPr>
          <a:lstStyle/>
          <a:p>
            <a:pPr marL="0" indent="0">
              <a:buNone/>
            </a:pPr>
            <a:r>
              <a:rPr lang="en-US" sz="1900" dirty="0">
                <a:solidFill>
                  <a:srgbClr val="1082F2"/>
                </a:solidFill>
              </a:rPr>
              <a:t>Filter</a:t>
            </a:r>
          </a:p>
          <a:p>
            <a:r>
              <a:rPr lang="en-US" sz="1400" b="0" i="0" dirty="0">
                <a:solidFill>
                  <a:srgbClr val="000000"/>
                </a:solidFill>
                <a:effectLst/>
                <a:latin typeface="Helvetica" panose="020B0604020202020204" pitchFamily="34" charset="0"/>
              </a:rPr>
              <a:t>Filter a collection of values based on JavaScript or Flow and return the filtered list..</a:t>
            </a:r>
          </a:p>
          <a:p>
            <a:pPr algn="l"/>
            <a:r>
              <a:rPr lang="en-US" sz="1400" b="0" i="0" dirty="0">
                <a:solidFill>
                  <a:srgbClr val="000000"/>
                </a:solidFill>
                <a:effectLst/>
                <a:latin typeface="Helvetica" panose="020B0604020202020204" pitchFamily="34" charset="0"/>
              </a:rPr>
              <a:t>The Actor maps the data on the fly and does not load the entire data set to memory.</a:t>
            </a:r>
          </a:p>
          <a:p>
            <a:pPr algn="l"/>
            <a:r>
              <a:rPr lang="en-US" sz="1400" b="1" i="0" dirty="0" err="1">
                <a:solidFill>
                  <a:srgbClr val="000000"/>
                </a:solidFill>
                <a:effectLst/>
                <a:latin typeface="Helvetica" panose="020B0604020202020204" pitchFamily="34" charset="0"/>
              </a:rPr>
              <a:t>threadCount</a:t>
            </a:r>
            <a:r>
              <a:rPr lang="en-US" sz="1400" b="0" i="0" dirty="0">
                <a:solidFill>
                  <a:srgbClr val="000000"/>
                </a:solidFill>
                <a:effectLst/>
                <a:latin typeface="Helvetica" panose="020B0604020202020204" pitchFamily="34" charset="0"/>
              </a:rPr>
              <a:t> parameter: the number of threads to execute the logic. If multiple threads are used, the order of the collection is not maintained.</a:t>
            </a:r>
            <a:br>
              <a:rPr lang="en-US" sz="1400" b="0" i="0" dirty="0">
                <a:solidFill>
                  <a:srgbClr val="000000"/>
                </a:solidFill>
                <a:effectLst/>
                <a:latin typeface="Helvetica" panose="020B0604020202020204" pitchFamily="34" charset="0"/>
              </a:rPr>
            </a:br>
            <a:br>
              <a:rPr lang="en-US" sz="1400" b="0" i="0" dirty="0">
                <a:solidFill>
                  <a:srgbClr val="000000"/>
                </a:solidFill>
                <a:effectLst/>
                <a:latin typeface="Helvetica" panose="020B0604020202020204" pitchFamily="34" charset="0"/>
              </a:rPr>
            </a:br>
            <a:endParaRPr lang="en-US" sz="1400" b="0" i="0" dirty="0">
              <a:solidFill>
                <a:srgbClr val="000000"/>
              </a:solidFill>
              <a:effectLst/>
              <a:latin typeface="Helvetica" panose="020B0604020202020204" pitchFamily="34" charset="0"/>
            </a:endParaRPr>
          </a:p>
          <a:p>
            <a:pPr marL="0" indent="0">
              <a:buNone/>
            </a:pPr>
            <a:r>
              <a:rPr lang="en-US" sz="1600" dirty="0"/>
              <a:t>Example 1: Using JavaScript</a:t>
            </a:r>
            <a:endParaRPr lang="en-US" sz="1500" dirty="0"/>
          </a:p>
        </p:txBody>
      </p:sp>
      <p:pic>
        <p:nvPicPr>
          <p:cNvPr id="6" name="Picture 5">
            <a:extLst>
              <a:ext uri="{FF2B5EF4-FFF2-40B4-BE49-F238E27FC236}">
                <a16:creationId xmlns:a16="http://schemas.microsoft.com/office/drawing/2014/main" id="{E3BB3411-3D41-4133-3529-BBE72BBCF703}"/>
              </a:ext>
            </a:extLst>
          </p:cNvPr>
          <p:cNvPicPr>
            <a:picLocks noChangeAspect="1"/>
          </p:cNvPicPr>
          <p:nvPr/>
        </p:nvPicPr>
        <p:blipFill>
          <a:blip r:embed="rId3"/>
          <a:stretch>
            <a:fillRect/>
          </a:stretch>
        </p:blipFill>
        <p:spPr>
          <a:xfrm>
            <a:off x="764243" y="2950139"/>
            <a:ext cx="2488417" cy="3550887"/>
          </a:xfrm>
          <a:prstGeom prst="rect">
            <a:avLst/>
          </a:prstGeom>
        </p:spPr>
      </p:pic>
      <p:cxnSp>
        <p:nvCxnSpPr>
          <p:cNvPr id="18" name="Straight Arrow Connector 17">
            <a:extLst>
              <a:ext uri="{FF2B5EF4-FFF2-40B4-BE49-F238E27FC236}">
                <a16:creationId xmlns:a16="http://schemas.microsoft.com/office/drawing/2014/main" id="{F1794D42-1291-A505-5708-86C3B3ABCDD1}"/>
              </a:ext>
            </a:extLst>
          </p:cNvPr>
          <p:cNvCxnSpPr>
            <a:cxnSpLocks/>
          </p:cNvCxnSpPr>
          <p:nvPr/>
        </p:nvCxnSpPr>
        <p:spPr>
          <a:xfrm>
            <a:off x="3310128" y="3478567"/>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B55AC3A-635E-4FB0-28B5-E7059EB70CE9}"/>
              </a:ext>
            </a:extLst>
          </p:cNvPr>
          <p:cNvCxnSpPr>
            <a:cxnSpLocks/>
          </p:cNvCxnSpPr>
          <p:nvPr/>
        </p:nvCxnSpPr>
        <p:spPr>
          <a:xfrm>
            <a:off x="8564880" y="3438943"/>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03CCA29-1578-EA14-5371-EC32BDACDD4E}"/>
              </a:ext>
            </a:extLst>
          </p:cNvPr>
          <p:cNvPicPr>
            <a:picLocks noChangeAspect="1"/>
          </p:cNvPicPr>
          <p:nvPr/>
        </p:nvPicPr>
        <p:blipFill>
          <a:blip r:embed="rId4"/>
          <a:stretch>
            <a:fillRect/>
          </a:stretch>
        </p:blipFill>
        <p:spPr>
          <a:xfrm>
            <a:off x="3759021" y="2874889"/>
            <a:ext cx="4700031" cy="2178368"/>
          </a:xfrm>
          <a:prstGeom prst="rect">
            <a:avLst/>
          </a:prstGeom>
        </p:spPr>
      </p:pic>
    </p:spTree>
    <p:extLst>
      <p:ext uri="{BB962C8B-B14F-4D97-AF65-F5344CB8AC3E}">
        <p14:creationId xmlns:p14="http://schemas.microsoft.com/office/powerpoint/2010/main" val="642319666"/>
      </p:ext>
    </p:extLst>
  </p:cSld>
  <p:clrMapOvr>
    <a:masterClrMapping/>
  </p:clrMapOvr>
  <p:transition spd="slow">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96290-A2FA-4142-0B14-0AFE1E97ACDC}"/>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C1F0AA53-5C30-E374-48A9-7568ECFE6FC1}"/>
              </a:ext>
            </a:extLst>
          </p:cNvPr>
          <p:cNvPicPr>
            <a:picLocks noChangeAspect="1"/>
          </p:cNvPicPr>
          <p:nvPr/>
        </p:nvPicPr>
        <p:blipFill>
          <a:blip r:embed="rId2"/>
          <a:stretch>
            <a:fillRect/>
          </a:stretch>
        </p:blipFill>
        <p:spPr>
          <a:xfrm>
            <a:off x="9333144" y="1911540"/>
            <a:ext cx="2447881" cy="3666206"/>
          </a:xfrm>
          <a:prstGeom prst="rect">
            <a:avLst/>
          </a:prstGeom>
        </p:spPr>
      </p:pic>
      <p:pic>
        <p:nvPicPr>
          <p:cNvPr id="24" name="Picture 23">
            <a:extLst>
              <a:ext uri="{FF2B5EF4-FFF2-40B4-BE49-F238E27FC236}">
                <a16:creationId xmlns:a16="http://schemas.microsoft.com/office/drawing/2014/main" id="{FB8448ED-6779-4063-BBD2-7955F99BFA3B}"/>
              </a:ext>
            </a:extLst>
          </p:cNvPr>
          <p:cNvPicPr>
            <a:picLocks noChangeAspect="1"/>
          </p:cNvPicPr>
          <p:nvPr/>
        </p:nvPicPr>
        <p:blipFill>
          <a:blip r:embed="rId3"/>
          <a:stretch>
            <a:fillRect/>
          </a:stretch>
        </p:blipFill>
        <p:spPr>
          <a:xfrm>
            <a:off x="4558091" y="4436051"/>
            <a:ext cx="3450131" cy="2125080"/>
          </a:xfrm>
          <a:prstGeom prst="rect">
            <a:avLst/>
          </a:prstGeom>
        </p:spPr>
      </p:pic>
      <p:sp>
        <p:nvSpPr>
          <p:cNvPr id="2" name="Title 1">
            <a:extLst>
              <a:ext uri="{FF2B5EF4-FFF2-40B4-BE49-F238E27FC236}">
                <a16:creationId xmlns:a16="http://schemas.microsoft.com/office/drawing/2014/main" id="{BB4A663C-4C4A-C0AD-574A-BF31E19E839B}"/>
              </a:ext>
            </a:extLst>
          </p:cNvPr>
          <p:cNvSpPr>
            <a:spLocks noGrp="1"/>
          </p:cNvSpPr>
          <p:nvPr>
            <p:ph type="title"/>
          </p:nvPr>
        </p:nvSpPr>
        <p:spPr/>
        <p:txBody>
          <a:bodyPr>
            <a:normAutofit/>
          </a:bodyPr>
          <a:lstStyle/>
          <a:p>
            <a:r>
              <a:rPr lang="en-US" b="1" dirty="0"/>
              <a:t>Collection Data Manipulation</a:t>
            </a:r>
            <a:endParaRPr lang="en-US" dirty="0"/>
          </a:p>
        </p:txBody>
      </p:sp>
      <p:sp>
        <p:nvSpPr>
          <p:cNvPr id="3" name="Content Placeholder 2">
            <a:extLst>
              <a:ext uri="{FF2B5EF4-FFF2-40B4-BE49-F238E27FC236}">
                <a16:creationId xmlns:a16="http://schemas.microsoft.com/office/drawing/2014/main" id="{F8BC4FB4-61BF-5A2A-6CB9-A9907AB41FB8}"/>
              </a:ext>
            </a:extLst>
          </p:cNvPr>
          <p:cNvSpPr>
            <a:spLocks noGrp="1"/>
          </p:cNvSpPr>
          <p:nvPr>
            <p:ph idx="1"/>
          </p:nvPr>
        </p:nvSpPr>
        <p:spPr>
          <a:xfrm>
            <a:off x="658368" y="1102391"/>
            <a:ext cx="9893808" cy="1191309"/>
          </a:xfrm>
        </p:spPr>
        <p:txBody>
          <a:bodyPr>
            <a:normAutofit/>
          </a:bodyPr>
          <a:lstStyle/>
          <a:p>
            <a:pPr marL="0" indent="0">
              <a:buNone/>
            </a:pPr>
            <a:r>
              <a:rPr lang="en-US" sz="1800" dirty="0">
                <a:solidFill>
                  <a:srgbClr val="1082F2"/>
                </a:solidFill>
              </a:rPr>
              <a:t>Filter</a:t>
            </a:r>
          </a:p>
          <a:p>
            <a:pPr marL="0" indent="0">
              <a:buNone/>
            </a:pPr>
            <a:r>
              <a:rPr lang="en-US" sz="1600" dirty="0"/>
              <a:t>Example 2: Using </a:t>
            </a:r>
            <a:r>
              <a:rPr lang="en-US" sz="1600" dirty="0" err="1"/>
              <a:t>InnerFlow</a:t>
            </a:r>
            <a:r>
              <a:rPr lang="en-US" sz="1600" dirty="0"/>
              <a:t>. The external name for both the input and output of the Inner Flow must be “</a:t>
            </a:r>
            <a:r>
              <a:rPr lang="en-US" sz="1600" b="1" dirty="0"/>
              <a:t>value</a:t>
            </a:r>
            <a:r>
              <a:rPr lang="en-US" sz="1600" dirty="0"/>
              <a:t>”.</a:t>
            </a:r>
            <a:endParaRPr lang="en-US" sz="1500" dirty="0"/>
          </a:p>
        </p:txBody>
      </p:sp>
      <p:pic>
        <p:nvPicPr>
          <p:cNvPr id="6" name="Picture 5">
            <a:extLst>
              <a:ext uri="{FF2B5EF4-FFF2-40B4-BE49-F238E27FC236}">
                <a16:creationId xmlns:a16="http://schemas.microsoft.com/office/drawing/2014/main" id="{B29EBF35-D7F2-7F54-9030-04880AFF4105}"/>
              </a:ext>
            </a:extLst>
          </p:cNvPr>
          <p:cNvPicPr>
            <a:picLocks noChangeAspect="1"/>
          </p:cNvPicPr>
          <p:nvPr/>
        </p:nvPicPr>
        <p:blipFill>
          <a:blip r:embed="rId4"/>
          <a:stretch>
            <a:fillRect/>
          </a:stretch>
        </p:blipFill>
        <p:spPr>
          <a:xfrm>
            <a:off x="744752" y="1969200"/>
            <a:ext cx="2488417" cy="3550887"/>
          </a:xfrm>
          <a:prstGeom prst="rect">
            <a:avLst/>
          </a:prstGeom>
        </p:spPr>
      </p:pic>
      <p:cxnSp>
        <p:nvCxnSpPr>
          <p:cNvPr id="18" name="Straight Arrow Connector 17">
            <a:extLst>
              <a:ext uri="{FF2B5EF4-FFF2-40B4-BE49-F238E27FC236}">
                <a16:creationId xmlns:a16="http://schemas.microsoft.com/office/drawing/2014/main" id="{ADD5EDC4-EC37-B307-E08F-C76C39FBAB5E}"/>
              </a:ext>
            </a:extLst>
          </p:cNvPr>
          <p:cNvCxnSpPr>
            <a:cxnSpLocks/>
          </p:cNvCxnSpPr>
          <p:nvPr/>
        </p:nvCxnSpPr>
        <p:spPr>
          <a:xfrm>
            <a:off x="3598886" y="2467916"/>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1EA44F0-FF58-0CD8-2663-FBABA91CB0D3}"/>
              </a:ext>
            </a:extLst>
          </p:cNvPr>
          <p:cNvCxnSpPr>
            <a:cxnSpLocks/>
          </p:cNvCxnSpPr>
          <p:nvPr/>
        </p:nvCxnSpPr>
        <p:spPr>
          <a:xfrm>
            <a:off x="8577396" y="2428292"/>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C8A0302-CC72-CC1B-E714-615EE7E52DFB}"/>
              </a:ext>
            </a:extLst>
          </p:cNvPr>
          <p:cNvCxnSpPr>
            <a:cxnSpLocks/>
          </p:cNvCxnSpPr>
          <p:nvPr/>
        </p:nvCxnSpPr>
        <p:spPr>
          <a:xfrm>
            <a:off x="6956820" y="6383795"/>
            <a:ext cx="338328" cy="0"/>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ight Brace 15">
            <a:extLst>
              <a:ext uri="{FF2B5EF4-FFF2-40B4-BE49-F238E27FC236}">
                <a16:creationId xmlns:a16="http://schemas.microsoft.com/office/drawing/2014/main" id="{F695EFB9-F89A-BC9D-7167-D6E794B41F59}"/>
              </a:ext>
            </a:extLst>
          </p:cNvPr>
          <p:cNvSpPr/>
          <p:nvPr/>
        </p:nvSpPr>
        <p:spPr>
          <a:xfrm>
            <a:off x="8191097" y="4477833"/>
            <a:ext cx="213040" cy="1954083"/>
          </a:xfrm>
          <a:prstGeom prst="rightBrace">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557176BA-52EB-E84B-CC39-FD907E814E4D}"/>
              </a:ext>
            </a:extLst>
          </p:cNvPr>
          <p:cNvSpPr txBox="1"/>
          <p:nvPr/>
        </p:nvSpPr>
        <p:spPr>
          <a:xfrm>
            <a:off x="8647818" y="5345390"/>
            <a:ext cx="2883248" cy="954107"/>
          </a:xfrm>
          <a:prstGeom prst="rect">
            <a:avLst/>
          </a:prstGeom>
          <a:noFill/>
        </p:spPr>
        <p:txBody>
          <a:bodyPr wrap="square" rtlCol="0">
            <a:spAutoFit/>
          </a:bodyPr>
          <a:lstStyle/>
          <a:p>
            <a:r>
              <a:rPr lang="en-US" sz="1400" u="sng" dirty="0" err="1"/>
              <a:t>bwFilterInnerFlow</a:t>
            </a:r>
            <a:r>
              <a:rPr lang="en-US" sz="1400" dirty="0"/>
              <a:t>:</a:t>
            </a:r>
            <a:br>
              <a:rPr lang="en-US" sz="1400" dirty="0"/>
            </a:br>
            <a:r>
              <a:rPr lang="en-US" sz="1400" dirty="0"/>
              <a:t>Inner flow return map of values if condition met.</a:t>
            </a:r>
            <a:br>
              <a:rPr lang="en-US" sz="1400" dirty="0"/>
            </a:br>
            <a:r>
              <a:rPr lang="en-US" sz="1400" dirty="0"/>
              <a:t>External parameter named “value”</a:t>
            </a:r>
          </a:p>
        </p:txBody>
      </p:sp>
      <p:pic>
        <p:nvPicPr>
          <p:cNvPr id="20" name="Picture 19">
            <a:extLst>
              <a:ext uri="{FF2B5EF4-FFF2-40B4-BE49-F238E27FC236}">
                <a16:creationId xmlns:a16="http://schemas.microsoft.com/office/drawing/2014/main" id="{70C84AEC-E6C3-1DE7-DFC3-245C19F1B358}"/>
              </a:ext>
            </a:extLst>
          </p:cNvPr>
          <p:cNvPicPr>
            <a:picLocks noChangeAspect="1"/>
          </p:cNvPicPr>
          <p:nvPr/>
        </p:nvPicPr>
        <p:blipFill>
          <a:blip r:embed="rId5"/>
          <a:stretch>
            <a:fillRect/>
          </a:stretch>
        </p:blipFill>
        <p:spPr>
          <a:xfrm>
            <a:off x="4400389" y="1823375"/>
            <a:ext cx="3732960" cy="2446638"/>
          </a:xfrm>
          <a:prstGeom prst="rect">
            <a:avLst/>
          </a:prstGeom>
        </p:spPr>
      </p:pic>
      <p:pic>
        <p:nvPicPr>
          <p:cNvPr id="26" name="Picture 25">
            <a:extLst>
              <a:ext uri="{FF2B5EF4-FFF2-40B4-BE49-F238E27FC236}">
                <a16:creationId xmlns:a16="http://schemas.microsoft.com/office/drawing/2014/main" id="{590DFC3C-47AB-8728-4698-9C1D68FC89C6}"/>
              </a:ext>
            </a:extLst>
          </p:cNvPr>
          <p:cNvPicPr>
            <a:picLocks noChangeAspect="1"/>
          </p:cNvPicPr>
          <p:nvPr/>
        </p:nvPicPr>
        <p:blipFill>
          <a:blip r:embed="rId6"/>
          <a:stretch>
            <a:fillRect/>
          </a:stretch>
        </p:blipFill>
        <p:spPr>
          <a:xfrm>
            <a:off x="5456160" y="5331715"/>
            <a:ext cx="1279679" cy="847788"/>
          </a:xfrm>
          <a:prstGeom prst="rect">
            <a:avLst/>
          </a:prstGeom>
        </p:spPr>
      </p:pic>
    </p:spTree>
    <p:extLst>
      <p:ext uri="{BB962C8B-B14F-4D97-AF65-F5344CB8AC3E}">
        <p14:creationId xmlns:p14="http://schemas.microsoft.com/office/powerpoint/2010/main" val="2972072180"/>
      </p:ext>
    </p:extLst>
  </p:cSld>
  <p:clrMapOvr>
    <a:masterClrMapping/>
  </p:clrMapOvr>
  <p:transition spd="slow">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2D5D7-2047-303A-835B-F284F1808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69163E-669C-D776-F93F-2FD34F68430B}"/>
              </a:ext>
            </a:extLst>
          </p:cNvPr>
          <p:cNvSpPr>
            <a:spLocks noGrp="1"/>
          </p:cNvSpPr>
          <p:nvPr>
            <p:ph type="title"/>
          </p:nvPr>
        </p:nvSpPr>
        <p:spPr/>
        <p:txBody>
          <a:bodyPr>
            <a:normAutofit/>
          </a:bodyPr>
          <a:lstStyle/>
          <a:p>
            <a:r>
              <a:rPr lang="en-US" b="1" dirty="0"/>
              <a:t>Collection Data Manipulation</a:t>
            </a:r>
            <a:endParaRPr lang="en-US" dirty="0"/>
          </a:p>
        </p:txBody>
      </p:sp>
      <p:sp>
        <p:nvSpPr>
          <p:cNvPr id="3" name="Content Placeholder 2">
            <a:extLst>
              <a:ext uri="{FF2B5EF4-FFF2-40B4-BE49-F238E27FC236}">
                <a16:creationId xmlns:a16="http://schemas.microsoft.com/office/drawing/2014/main" id="{1E086F21-66D4-0989-FABB-726F6DF6486C}"/>
              </a:ext>
            </a:extLst>
          </p:cNvPr>
          <p:cNvSpPr>
            <a:spLocks noGrp="1"/>
          </p:cNvSpPr>
          <p:nvPr>
            <p:ph idx="1"/>
          </p:nvPr>
        </p:nvSpPr>
        <p:spPr>
          <a:xfrm>
            <a:off x="658368" y="1102391"/>
            <a:ext cx="9893808" cy="1191309"/>
          </a:xfrm>
        </p:spPr>
        <p:txBody>
          <a:bodyPr>
            <a:normAutofit/>
          </a:bodyPr>
          <a:lstStyle/>
          <a:p>
            <a:pPr marL="0" indent="0">
              <a:buNone/>
            </a:pPr>
            <a:r>
              <a:rPr lang="en-US" sz="1800" dirty="0">
                <a:solidFill>
                  <a:srgbClr val="1082F2"/>
                </a:solidFill>
              </a:rPr>
              <a:t>Peek</a:t>
            </a:r>
          </a:p>
          <a:p>
            <a:pPr marL="0" indent="0">
              <a:buNone/>
            </a:pPr>
            <a:r>
              <a:rPr lang="en-US" sz="1600" dirty="0"/>
              <a:t>Same functionality as Mapper,</a:t>
            </a:r>
            <a:r>
              <a:rPr lang="en-US" sz="1400" b="0" i="0" dirty="0">
                <a:solidFill>
                  <a:srgbClr val="000000"/>
                </a:solidFill>
                <a:effectLst/>
                <a:latin typeface="Helvetica" panose="020B0604020202020204" pitchFamily="34" charset="0"/>
              </a:rPr>
              <a:t> without the need to return the “value” from the </a:t>
            </a:r>
            <a:r>
              <a:rPr lang="en-US" sz="1400" b="0" i="0" dirty="0" err="1">
                <a:solidFill>
                  <a:srgbClr val="000000"/>
                </a:solidFill>
                <a:effectLst/>
                <a:latin typeface="Helvetica" panose="020B0604020202020204" pitchFamily="34" charset="0"/>
              </a:rPr>
              <a:t>js</a:t>
            </a:r>
            <a:r>
              <a:rPr lang="en-US" sz="1400" b="0" i="0" dirty="0">
                <a:solidFill>
                  <a:srgbClr val="000000"/>
                </a:solidFill>
                <a:effectLst/>
                <a:latin typeface="Helvetica" panose="020B0604020202020204" pitchFamily="34" charset="0"/>
              </a:rPr>
              <a:t>/</a:t>
            </a:r>
            <a:r>
              <a:rPr lang="en-US" sz="1400" b="0" i="0" dirty="0" err="1">
                <a:solidFill>
                  <a:srgbClr val="000000"/>
                </a:solidFill>
                <a:effectLst/>
                <a:latin typeface="Helvetica" panose="020B0604020202020204" pitchFamily="34" charset="0"/>
              </a:rPr>
              <a:t>innerFlow</a:t>
            </a:r>
            <a:r>
              <a:rPr lang="en-US" sz="1400" b="0" i="0" dirty="0">
                <a:solidFill>
                  <a:srgbClr val="000000"/>
                </a:solidFill>
                <a:effectLst/>
                <a:latin typeface="Helvetica" panose="020B0604020202020204" pitchFamily="34" charset="0"/>
              </a:rPr>
              <a:t>. </a:t>
            </a:r>
            <a:br>
              <a:rPr lang="en-US" sz="1400" b="0" i="0" dirty="0">
                <a:solidFill>
                  <a:srgbClr val="000000"/>
                </a:solidFill>
                <a:effectLst/>
                <a:latin typeface="Helvetica" panose="020B0604020202020204" pitchFamily="34" charset="0"/>
              </a:rPr>
            </a:br>
            <a:r>
              <a:rPr lang="en-US" sz="1400" b="0" i="0" dirty="0">
                <a:solidFill>
                  <a:srgbClr val="000000"/>
                </a:solidFill>
                <a:effectLst/>
                <a:latin typeface="Helvetica" panose="020B0604020202020204" pitchFamily="34" charset="0"/>
              </a:rPr>
              <a:t>Useful if you want to act on the value or make changes on complex objects without the need to return the value for the next stage.</a:t>
            </a:r>
            <a:endParaRPr lang="en-US" sz="1500" dirty="0"/>
          </a:p>
        </p:txBody>
      </p:sp>
      <p:pic>
        <p:nvPicPr>
          <p:cNvPr id="6" name="Picture 5">
            <a:extLst>
              <a:ext uri="{FF2B5EF4-FFF2-40B4-BE49-F238E27FC236}">
                <a16:creationId xmlns:a16="http://schemas.microsoft.com/office/drawing/2014/main" id="{84E10DA0-6E63-E12C-3BFF-6204D28F553F}"/>
              </a:ext>
            </a:extLst>
          </p:cNvPr>
          <p:cNvPicPr>
            <a:picLocks noChangeAspect="1"/>
          </p:cNvPicPr>
          <p:nvPr/>
        </p:nvPicPr>
        <p:blipFill>
          <a:blip r:embed="rId2"/>
          <a:stretch>
            <a:fillRect/>
          </a:stretch>
        </p:blipFill>
        <p:spPr>
          <a:xfrm>
            <a:off x="744752" y="2719972"/>
            <a:ext cx="2488417" cy="3550887"/>
          </a:xfrm>
          <a:prstGeom prst="rect">
            <a:avLst/>
          </a:prstGeom>
        </p:spPr>
      </p:pic>
      <p:cxnSp>
        <p:nvCxnSpPr>
          <p:cNvPr id="18" name="Straight Arrow Connector 17">
            <a:extLst>
              <a:ext uri="{FF2B5EF4-FFF2-40B4-BE49-F238E27FC236}">
                <a16:creationId xmlns:a16="http://schemas.microsoft.com/office/drawing/2014/main" id="{35B7CB2F-7B56-6480-FCD5-B7A6DCA13FE4}"/>
              </a:ext>
            </a:extLst>
          </p:cNvPr>
          <p:cNvCxnSpPr>
            <a:cxnSpLocks/>
          </p:cNvCxnSpPr>
          <p:nvPr/>
        </p:nvCxnSpPr>
        <p:spPr>
          <a:xfrm>
            <a:off x="3310128" y="3218688"/>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DF7058C-8EF7-A213-D336-B7B55CA68FE3}"/>
              </a:ext>
            </a:extLst>
          </p:cNvPr>
          <p:cNvCxnSpPr>
            <a:cxnSpLocks/>
          </p:cNvCxnSpPr>
          <p:nvPr/>
        </p:nvCxnSpPr>
        <p:spPr>
          <a:xfrm>
            <a:off x="8692896" y="3179064"/>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CBD94D0B-73E1-0D80-7295-30B4C902A64C}"/>
              </a:ext>
            </a:extLst>
          </p:cNvPr>
          <p:cNvPicPr>
            <a:picLocks noChangeAspect="1"/>
          </p:cNvPicPr>
          <p:nvPr/>
        </p:nvPicPr>
        <p:blipFill>
          <a:blip r:embed="rId3"/>
          <a:stretch>
            <a:fillRect/>
          </a:stretch>
        </p:blipFill>
        <p:spPr>
          <a:xfrm>
            <a:off x="9112348" y="2719972"/>
            <a:ext cx="2879656" cy="3982254"/>
          </a:xfrm>
          <a:prstGeom prst="rect">
            <a:avLst/>
          </a:prstGeom>
        </p:spPr>
      </p:pic>
      <p:pic>
        <p:nvPicPr>
          <p:cNvPr id="5" name="Picture 4">
            <a:extLst>
              <a:ext uri="{FF2B5EF4-FFF2-40B4-BE49-F238E27FC236}">
                <a16:creationId xmlns:a16="http://schemas.microsoft.com/office/drawing/2014/main" id="{359505A6-78BA-8447-7459-870A08515594}"/>
              </a:ext>
            </a:extLst>
          </p:cNvPr>
          <p:cNvPicPr>
            <a:picLocks noChangeAspect="1"/>
          </p:cNvPicPr>
          <p:nvPr/>
        </p:nvPicPr>
        <p:blipFill>
          <a:blip r:embed="rId4"/>
          <a:stretch>
            <a:fillRect/>
          </a:stretch>
        </p:blipFill>
        <p:spPr>
          <a:xfrm>
            <a:off x="3775461" y="2671947"/>
            <a:ext cx="4792811" cy="1717469"/>
          </a:xfrm>
          <a:prstGeom prst="rect">
            <a:avLst/>
          </a:prstGeom>
        </p:spPr>
      </p:pic>
    </p:spTree>
    <p:extLst>
      <p:ext uri="{BB962C8B-B14F-4D97-AF65-F5344CB8AC3E}">
        <p14:creationId xmlns:p14="http://schemas.microsoft.com/office/powerpoint/2010/main" val="4143015410"/>
      </p:ext>
    </p:extLst>
  </p:cSld>
  <p:clrMapOvr>
    <a:masterClrMapping/>
  </p:clrMapOvr>
  <p:transition spd="slow">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9E533-8591-5052-80A9-7A8A56F6C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706607-BBA2-731D-C87F-2348CFF7678A}"/>
              </a:ext>
            </a:extLst>
          </p:cNvPr>
          <p:cNvSpPr>
            <a:spLocks noGrp="1"/>
          </p:cNvSpPr>
          <p:nvPr>
            <p:ph type="title"/>
          </p:nvPr>
        </p:nvSpPr>
        <p:spPr/>
        <p:txBody>
          <a:bodyPr>
            <a:normAutofit/>
          </a:bodyPr>
          <a:lstStyle/>
          <a:p>
            <a:r>
              <a:rPr lang="en-US" b="1" dirty="0"/>
              <a:t>Collection Data Manipulation</a:t>
            </a:r>
            <a:endParaRPr lang="en-US" dirty="0"/>
          </a:p>
        </p:txBody>
      </p:sp>
      <p:sp>
        <p:nvSpPr>
          <p:cNvPr id="3" name="Content Placeholder 2">
            <a:extLst>
              <a:ext uri="{FF2B5EF4-FFF2-40B4-BE49-F238E27FC236}">
                <a16:creationId xmlns:a16="http://schemas.microsoft.com/office/drawing/2014/main" id="{183379CF-6769-37E1-B7B2-28FFF6762FF1}"/>
              </a:ext>
            </a:extLst>
          </p:cNvPr>
          <p:cNvSpPr>
            <a:spLocks noGrp="1"/>
          </p:cNvSpPr>
          <p:nvPr>
            <p:ph idx="1"/>
          </p:nvPr>
        </p:nvSpPr>
        <p:spPr>
          <a:xfrm>
            <a:off x="658367" y="1102390"/>
            <a:ext cx="11055578" cy="1716337"/>
          </a:xfrm>
        </p:spPr>
        <p:txBody>
          <a:bodyPr>
            <a:normAutofit lnSpcReduction="10000"/>
          </a:bodyPr>
          <a:lstStyle/>
          <a:p>
            <a:pPr marL="0" indent="0">
              <a:buNone/>
            </a:pPr>
            <a:r>
              <a:rPr lang="en-US" sz="1800" dirty="0">
                <a:solidFill>
                  <a:srgbClr val="1082F2"/>
                </a:solidFill>
              </a:rPr>
              <a:t>Sort</a:t>
            </a:r>
          </a:p>
          <a:p>
            <a:r>
              <a:rPr lang="en-US" sz="1400" b="0" i="0" dirty="0">
                <a:solidFill>
                  <a:srgbClr val="000000"/>
                </a:solidFill>
                <a:effectLst/>
                <a:latin typeface="Helvetica" panose="020B0604020202020204" pitchFamily="34" charset="0"/>
              </a:rPr>
              <a:t>Sort an input collection. Unless a specific sort has been requested, the actor will try to sort according to the type.</a:t>
            </a:r>
          </a:p>
          <a:p>
            <a:r>
              <a:rPr lang="en-US" sz="1400" b="0" i="0" dirty="0">
                <a:solidFill>
                  <a:srgbClr val="000000"/>
                </a:solidFill>
                <a:effectLst/>
                <a:latin typeface="Helvetica" panose="020B0604020202020204" pitchFamily="34" charset="0"/>
              </a:rPr>
              <a:t>JavaScript parameter:  compares o1 to o2. The return value should be an integer:</a:t>
            </a:r>
          </a:p>
          <a:p>
            <a:pPr lvl="1"/>
            <a:r>
              <a:rPr lang="en-US" sz="1200" b="0" i="0" dirty="0">
                <a:solidFill>
                  <a:srgbClr val="000000"/>
                </a:solidFill>
                <a:effectLst/>
                <a:latin typeface="Helvetica" panose="020B0604020202020204" pitchFamily="34" charset="0"/>
              </a:rPr>
              <a:t>If the return value (last line) of the snippet is a positive integer, it means o1 is bigger.</a:t>
            </a:r>
          </a:p>
          <a:p>
            <a:pPr lvl="1"/>
            <a:r>
              <a:rPr lang="en-US" sz="1200" b="0" i="0" dirty="0">
                <a:solidFill>
                  <a:srgbClr val="000000"/>
                </a:solidFill>
                <a:effectLst/>
                <a:latin typeface="Helvetica" panose="020B0604020202020204" pitchFamily="34" charset="0"/>
              </a:rPr>
              <a:t>A negative integer value means o2 is bigger.</a:t>
            </a:r>
          </a:p>
          <a:p>
            <a:pPr lvl="1"/>
            <a:r>
              <a:rPr lang="en-US" sz="1200" b="0" i="0" dirty="0">
                <a:solidFill>
                  <a:srgbClr val="000000"/>
                </a:solidFill>
                <a:effectLst/>
                <a:latin typeface="Helvetica" panose="020B0604020202020204" pitchFamily="34" charset="0"/>
              </a:rPr>
              <a:t>0 means o1 is equal to o2.</a:t>
            </a:r>
          </a:p>
        </p:txBody>
      </p:sp>
      <p:pic>
        <p:nvPicPr>
          <p:cNvPr id="6" name="Picture 5">
            <a:extLst>
              <a:ext uri="{FF2B5EF4-FFF2-40B4-BE49-F238E27FC236}">
                <a16:creationId xmlns:a16="http://schemas.microsoft.com/office/drawing/2014/main" id="{07492E60-F41C-4072-59C8-F35C5A1CCCD9}"/>
              </a:ext>
            </a:extLst>
          </p:cNvPr>
          <p:cNvPicPr>
            <a:picLocks noChangeAspect="1"/>
          </p:cNvPicPr>
          <p:nvPr/>
        </p:nvPicPr>
        <p:blipFill>
          <a:blip r:embed="rId2"/>
          <a:stretch>
            <a:fillRect/>
          </a:stretch>
        </p:blipFill>
        <p:spPr>
          <a:xfrm>
            <a:off x="744752" y="2979854"/>
            <a:ext cx="2488417" cy="3550887"/>
          </a:xfrm>
          <a:prstGeom prst="rect">
            <a:avLst/>
          </a:prstGeom>
        </p:spPr>
      </p:pic>
      <p:cxnSp>
        <p:nvCxnSpPr>
          <p:cNvPr id="18" name="Straight Arrow Connector 17">
            <a:extLst>
              <a:ext uri="{FF2B5EF4-FFF2-40B4-BE49-F238E27FC236}">
                <a16:creationId xmlns:a16="http://schemas.microsoft.com/office/drawing/2014/main" id="{7997EC4A-5C05-F313-07C4-CA9AAEA9593E}"/>
              </a:ext>
            </a:extLst>
          </p:cNvPr>
          <p:cNvCxnSpPr>
            <a:cxnSpLocks/>
          </p:cNvCxnSpPr>
          <p:nvPr/>
        </p:nvCxnSpPr>
        <p:spPr>
          <a:xfrm>
            <a:off x="3310128" y="3478570"/>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AEF6558-9913-9619-739D-FD7F31424CFA}"/>
              </a:ext>
            </a:extLst>
          </p:cNvPr>
          <p:cNvCxnSpPr>
            <a:cxnSpLocks/>
          </p:cNvCxnSpPr>
          <p:nvPr/>
        </p:nvCxnSpPr>
        <p:spPr>
          <a:xfrm>
            <a:off x="8692896" y="3438946"/>
            <a:ext cx="338328"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A0933594-834B-F9BF-6A0D-C877ABFECF59}"/>
              </a:ext>
            </a:extLst>
          </p:cNvPr>
          <p:cNvPicPr>
            <a:picLocks noChangeAspect="1"/>
          </p:cNvPicPr>
          <p:nvPr/>
        </p:nvPicPr>
        <p:blipFill>
          <a:blip r:embed="rId3"/>
          <a:stretch>
            <a:fillRect/>
          </a:stretch>
        </p:blipFill>
        <p:spPr>
          <a:xfrm>
            <a:off x="3793722" y="2818748"/>
            <a:ext cx="4758072" cy="3550888"/>
          </a:xfrm>
          <a:prstGeom prst="rect">
            <a:avLst/>
          </a:prstGeom>
        </p:spPr>
      </p:pic>
      <p:pic>
        <p:nvPicPr>
          <p:cNvPr id="9" name="Picture 8">
            <a:extLst>
              <a:ext uri="{FF2B5EF4-FFF2-40B4-BE49-F238E27FC236}">
                <a16:creationId xmlns:a16="http://schemas.microsoft.com/office/drawing/2014/main" id="{67F732F9-D6BA-341F-DF96-6CCB413F5F97}"/>
              </a:ext>
            </a:extLst>
          </p:cNvPr>
          <p:cNvPicPr>
            <a:picLocks noChangeAspect="1"/>
          </p:cNvPicPr>
          <p:nvPr/>
        </p:nvPicPr>
        <p:blipFill>
          <a:blip r:embed="rId4"/>
          <a:stretch>
            <a:fillRect/>
          </a:stretch>
        </p:blipFill>
        <p:spPr>
          <a:xfrm>
            <a:off x="9205463" y="2889149"/>
            <a:ext cx="2693426" cy="3770796"/>
          </a:xfrm>
          <a:prstGeom prst="rect">
            <a:avLst/>
          </a:prstGeom>
        </p:spPr>
      </p:pic>
    </p:spTree>
    <p:extLst>
      <p:ext uri="{BB962C8B-B14F-4D97-AF65-F5344CB8AC3E}">
        <p14:creationId xmlns:p14="http://schemas.microsoft.com/office/powerpoint/2010/main" val="3807700593"/>
      </p:ext>
    </p:extLst>
  </p:cSld>
  <p:clrMapOvr>
    <a:masterClrMapping/>
  </p:clrMapOvr>
  <p:transition spd="slow">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26E49-8549-3DD7-EF2A-419FA58B9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CD4A9-19A0-C68F-7A38-245F4848CE76}"/>
              </a:ext>
            </a:extLst>
          </p:cNvPr>
          <p:cNvSpPr>
            <a:spLocks noGrp="1"/>
          </p:cNvSpPr>
          <p:nvPr>
            <p:ph type="title"/>
          </p:nvPr>
        </p:nvSpPr>
        <p:spPr>
          <a:xfrm>
            <a:off x="5037992" y="3750911"/>
            <a:ext cx="6673362" cy="566112"/>
          </a:xfrm>
        </p:spPr>
        <p:txBody>
          <a:bodyPr>
            <a:normAutofit/>
          </a:bodyPr>
          <a:lstStyle/>
          <a:p>
            <a:pPr algn="ctr"/>
            <a:r>
              <a:rPr lang="en-US" sz="2400" dirty="0">
                <a:solidFill>
                  <a:srgbClr val="1082F2"/>
                </a:solidFill>
              </a:rPr>
              <a:t>Parser &amp; Stringify</a:t>
            </a:r>
          </a:p>
        </p:txBody>
      </p:sp>
    </p:spTree>
    <p:extLst>
      <p:ext uri="{BB962C8B-B14F-4D97-AF65-F5344CB8AC3E}">
        <p14:creationId xmlns:p14="http://schemas.microsoft.com/office/powerpoint/2010/main" val="2725158454"/>
      </p:ext>
    </p:extLst>
  </p:cSld>
  <p:clrMapOvr>
    <a:masterClrMapping/>
  </p:clrMapOvr>
  <p:transition spd="slow">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F01DC-E541-5AA6-A61A-CB0099792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3FBDC-F621-AC01-F0C7-D1FC0EF4AF9C}"/>
              </a:ext>
            </a:extLst>
          </p:cNvPr>
          <p:cNvSpPr>
            <a:spLocks noGrp="1"/>
          </p:cNvSpPr>
          <p:nvPr>
            <p:ph type="title"/>
          </p:nvPr>
        </p:nvSpPr>
        <p:spPr/>
        <p:txBody>
          <a:bodyPr>
            <a:normAutofit/>
          </a:bodyPr>
          <a:lstStyle/>
          <a:p>
            <a:r>
              <a:rPr lang="en-US" b="1" dirty="0"/>
              <a:t>Json Parsing &amp; Stringifying</a:t>
            </a:r>
            <a:endParaRPr lang="en-US" dirty="0"/>
          </a:p>
        </p:txBody>
      </p:sp>
      <p:sp>
        <p:nvSpPr>
          <p:cNvPr id="3" name="Content Placeholder 2">
            <a:extLst>
              <a:ext uri="{FF2B5EF4-FFF2-40B4-BE49-F238E27FC236}">
                <a16:creationId xmlns:a16="http://schemas.microsoft.com/office/drawing/2014/main" id="{77930D0D-9597-FB2B-4188-104D7820A713}"/>
              </a:ext>
            </a:extLst>
          </p:cNvPr>
          <p:cNvSpPr>
            <a:spLocks noGrp="1"/>
          </p:cNvSpPr>
          <p:nvPr>
            <p:ph idx="1"/>
          </p:nvPr>
        </p:nvSpPr>
        <p:spPr>
          <a:xfrm>
            <a:off x="389614" y="1497028"/>
            <a:ext cx="11354463" cy="2359356"/>
          </a:xfrm>
        </p:spPr>
        <p:txBody>
          <a:bodyPr>
            <a:noAutofit/>
          </a:bodyPr>
          <a:lstStyle/>
          <a:p>
            <a:pPr marL="0" indent="0">
              <a:buNone/>
            </a:pPr>
            <a:r>
              <a:rPr lang="en-US" sz="1800" dirty="0" err="1">
                <a:solidFill>
                  <a:srgbClr val="1082F2"/>
                </a:solidFill>
              </a:rPr>
              <a:t>JsonParser</a:t>
            </a:r>
            <a:endParaRPr lang="en-US" sz="1800" dirty="0">
              <a:solidFill>
                <a:srgbClr val="1082F2"/>
              </a:solidFill>
            </a:endParaRPr>
          </a:p>
          <a:p>
            <a:pPr marL="0" indent="0">
              <a:buNone/>
            </a:pPr>
            <a:r>
              <a:rPr lang="en-US" sz="1400" dirty="0"/>
              <a:t>Analyzing an input stream and outputting the JSON objects found in the stream.</a:t>
            </a:r>
          </a:p>
          <a:p>
            <a:r>
              <a:rPr lang="en-US" sz="1400" b="1" dirty="0"/>
              <a:t>Inputs:</a:t>
            </a:r>
          </a:p>
          <a:p>
            <a:pPr lvl="1">
              <a:spcBef>
                <a:spcPts val="0"/>
              </a:spcBef>
            </a:pPr>
            <a:r>
              <a:rPr lang="en-US" sz="1400" i="0" dirty="0"/>
              <a:t>[stream], an input stream represented by an </a:t>
            </a:r>
            <a:r>
              <a:rPr lang="en-US" sz="1400" i="0" dirty="0" err="1"/>
              <a:t>iterable</a:t>
            </a:r>
            <a:r>
              <a:rPr lang="en-US" sz="1400" i="0" dirty="0"/>
              <a:t> collection of blobs or strings. The parser will keep running until the end of the stream is detected</a:t>
            </a:r>
          </a:p>
          <a:p>
            <a:pPr lvl="1">
              <a:spcBef>
                <a:spcPts val="0"/>
              </a:spcBef>
            </a:pPr>
            <a:r>
              <a:rPr lang="en-US" sz="1400" i="0" dirty="0"/>
              <a:t>Single: if only a single object is expected in the input stream. In this case, the result will be a single object as opposed to an array.</a:t>
            </a:r>
          </a:p>
          <a:p>
            <a:r>
              <a:rPr lang="en-US" sz="1400" b="1" dirty="0"/>
              <a:t>Output</a:t>
            </a:r>
            <a:r>
              <a:rPr lang="en-US" sz="1400" b="1" i="0" dirty="0"/>
              <a:t>:</a:t>
            </a:r>
          </a:p>
          <a:p>
            <a:pPr lvl="1"/>
            <a:r>
              <a:rPr lang="en-US" sz="1400" i="0" dirty="0"/>
              <a:t>object: a collection of parsed objects or a single object in case single is set to true</a:t>
            </a:r>
          </a:p>
        </p:txBody>
      </p:sp>
      <p:pic>
        <p:nvPicPr>
          <p:cNvPr id="8" name="Picture 7">
            <a:extLst>
              <a:ext uri="{FF2B5EF4-FFF2-40B4-BE49-F238E27FC236}">
                <a16:creationId xmlns:a16="http://schemas.microsoft.com/office/drawing/2014/main" id="{DFCC9FB2-C667-9CBA-16BE-0F64EE421EC2}"/>
              </a:ext>
            </a:extLst>
          </p:cNvPr>
          <p:cNvPicPr>
            <a:picLocks noChangeAspect="1"/>
          </p:cNvPicPr>
          <p:nvPr/>
        </p:nvPicPr>
        <p:blipFill>
          <a:blip r:embed="rId2"/>
          <a:stretch>
            <a:fillRect/>
          </a:stretch>
        </p:blipFill>
        <p:spPr>
          <a:xfrm>
            <a:off x="5954537" y="4264341"/>
            <a:ext cx="4299431" cy="1792423"/>
          </a:xfrm>
          <a:prstGeom prst="rect">
            <a:avLst/>
          </a:prstGeom>
        </p:spPr>
      </p:pic>
      <p:pic>
        <p:nvPicPr>
          <p:cNvPr id="6" name="Picture 5">
            <a:extLst>
              <a:ext uri="{FF2B5EF4-FFF2-40B4-BE49-F238E27FC236}">
                <a16:creationId xmlns:a16="http://schemas.microsoft.com/office/drawing/2014/main" id="{9E2CEEFF-549A-6B94-35CD-00D2117CDE5D}"/>
              </a:ext>
            </a:extLst>
          </p:cNvPr>
          <p:cNvPicPr>
            <a:picLocks noChangeAspect="1"/>
          </p:cNvPicPr>
          <p:nvPr/>
        </p:nvPicPr>
        <p:blipFill>
          <a:blip r:embed="rId3"/>
          <a:stretch>
            <a:fillRect/>
          </a:stretch>
        </p:blipFill>
        <p:spPr>
          <a:xfrm>
            <a:off x="587406" y="4377508"/>
            <a:ext cx="4588893" cy="549375"/>
          </a:xfrm>
          <a:prstGeom prst="rect">
            <a:avLst/>
          </a:prstGeom>
        </p:spPr>
      </p:pic>
      <p:cxnSp>
        <p:nvCxnSpPr>
          <p:cNvPr id="7" name="Straight Arrow Connector 6">
            <a:extLst>
              <a:ext uri="{FF2B5EF4-FFF2-40B4-BE49-F238E27FC236}">
                <a16:creationId xmlns:a16="http://schemas.microsoft.com/office/drawing/2014/main" id="{BD580A62-4FDD-51ED-057D-95CA33C0ADE5}"/>
              </a:ext>
            </a:extLst>
          </p:cNvPr>
          <p:cNvCxnSpPr>
            <a:cxnSpLocks/>
          </p:cNvCxnSpPr>
          <p:nvPr/>
        </p:nvCxnSpPr>
        <p:spPr>
          <a:xfrm>
            <a:off x="5318230" y="4586312"/>
            <a:ext cx="557784"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628788"/>
      </p:ext>
    </p:extLst>
  </p:cSld>
  <p:clrMapOvr>
    <a:masterClrMapping/>
  </p:clrMapOvr>
  <p:transition spd="slow">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76CFE-41C5-BA10-9DE1-FCFDA28165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8C2618-F966-CA1D-59FD-57B6538E786C}"/>
              </a:ext>
            </a:extLst>
          </p:cNvPr>
          <p:cNvSpPr>
            <a:spLocks noGrp="1"/>
          </p:cNvSpPr>
          <p:nvPr>
            <p:ph type="title"/>
          </p:nvPr>
        </p:nvSpPr>
        <p:spPr/>
        <p:txBody>
          <a:bodyPr>
            <a:normAutofit/>
          </a:bodyPr>
          <a:lstStyle/>
          <a:p>
            <a:r>
              <a:rPr lang="en-US" b="1" dirty="0"/>
              <a:t>Json Parsing &amp; Stringifying</a:t>
            </a:r>
            <a:endParaRPr lang="en-US" dirty="0"/>
          </a:p>
        </p:txBody>
      </p:sp>
      <p:sp>
        <p:nvSpPr>
          <p:cNvPr id="3" name="Content Placeholder 2">
            <a:extLst>
              <a:ext uri="{FF2B5EF4-FFF2-40B4-BE49-F238E27FC236}">
                <a16:creationId xmlns:a16="http://schemas.microsoft.com/office/drawing/2014/main" id="{5E1D1A1E-112C-B6A5-CB91-81160A360DFC}"/>
              </a:ext>
            </a:extLst>
          </p:cNvPr>
          <p:cNvSpPr>
            <a:spLocks noGrp="1"/>
          </p:cNvSpPr>
          <p:nvPr>
            <p:ph idx="1"/>
          </p:nvPr>
        </p:nvSpPr>
        <p:spPr>
          <a:xfrm>
            <a:off x="389614" y="1497027"/>
            <a:ext cx="11354463" cy="4355133"/>
          </a:xfrm>
        </p:spPr>
        <p:txBody>
          <a:bodyPr>
            <a:noAutofit/>
          </a:bodyPr>
          <a:lstStyle/>
          <a:p>
            <a:pPr marL="0" indent="0">
              <a:buNone/>
            </a:pPr>
            <a:r>
              <a:rPr lang="en-US" sz="1800" dirty="0" err="1">
                <a:solidFill>
                  <a:srgbClr val="1082F2"/>
                </a:solidFill>
              </a:rPr>
              <a:t>JsonStringify</a:t>
            </a:r>
            <a:endParaRPr lang="en-US" sz="1800" dirty="0">
              <a:solidFill>
                <a:srgbClr val="1082F2"/>
              </a:solidFill>
            </a:endParaRPr>
          </a:p>
          <a:p>
            <a:pPr marL="486900" lvl="1" indent="0">
              <a:buNone/>
            </a:pPr>
            <a:r>
              <a:rPr lang="en-US" sz="1400" dirty="0"/>
              <a:t>Transform Json object into a string format</a:t>
            </a:r>
          </a:p>
          <a:p>
            <a:pPr lvl="1"/>
            <a:r>
              <a:rPr lang="en-US" sz="1400" b="1" dirty="0"/>
              <a:t>Inputs</a:t>
            </a:r>
          </a:p>
          <a:p>
            <a:pPr lvl="2"/>
            <a:r>
              <a:rPr lang="en-US" sz="1400" i="0" dirty="0"/>
              <a:t>object: Json object</a:t>
            </a:r>
          </a:p>
          <a:p>
            <a:pPr lvl="2"/>
            <a:r>
              <a:rPr lang="en-US" sz="1400" i="0" dirty="0"/>
              <a:t>nice: Boolean, If true, will add new lines and indentations to make the JSON output more readable</a:t>
            </a:r>
            <a:endParaRPr lang="en-US" sz="1400" dirty="0"/>
          </a:p>
          <a:p>
            <a:pPr lvl="1"/>
            <a:r>
              <a:rPr lang="en-US" sz="1400" b="1" dirty="0"/>
              <a:t>Output</a:t>
            </a:r>
            <a:r>
              <a:rPr lang="en-US" sz="1400" b="1" i="0" dirty="0"/>
              <a:t>: </a:t>
            </a:r>
            <a:r>
              <a:rPr lang="en-US" sz="1400" i="0" dirty="0"/>
              <a:t>string: The stringified JSON</a:t>
            </a:r>
          </a:p>
          <a:p>
            <a:pPr marL="914400" lvl="2" indent="0">
              <a:buNone/>
            </a:pPr>
            <a:endParaRPr lang="en-US" sz="1400" i="0" dirty="0"/>
          </a:p>
          <a:p>
            <a:pPr marL="0" indent="0">
              <a:buNone/>
            </a:pPr>
            <a:r>
              <a:rPr lang="en-US" sz="1800" dirty="0" err="1">
                <a:solidFill>
                  <a:srgbClr val="1082F2"/>
                </a:solidFill>
              </a:rPr>
              <a:t>YamlStringify</a:t>
            </a:r>
            <a:endParaRPr lang="en-US" sz="1800" dirty="0">
              <a:solidFill>
                <a:srgbClr val="1082F2"/>
              </a:solidFill>
            </a:endParaRPr>
          </a:p>
          <a:p>
            <a:pPr marL="486900" lvl="1" indent="0">
              <a:buNone/>
            </a:pPr>
            <a:r>
              <a:rPr lang="en-US" sz="1400" dirty="0"/>
              <a:t>Transform </a:t>
            </a:r>
            <a:r>
              <a:rPr lang="en-US" sz="1400" dirty="0" err="1"/>
              <a:t>Yaml</a:t>
            </a:r>
            <a:r>
              <a:rPr lang="en-US" sz="1400" dirty="0"/>
              <a:t> object into a string format</a:t>
            </a:r>
          </a:p>
          <a:p>
            <a:pPr lvl="1"/>
            <a:r>
              <a:rPr lang="en-US" sz="1400" b="1" dirty="0"/>
              <a:t>Inputs</a:t>
            </a:r>
          </a:p>
          <a:p>
            <a:pPr lvl="2"/>
            <a:r>
              <a:rPr lang="en-US" sz="1400" i="0" dirty="0"/>
              <a:t>object: </a:t>
            </a:r>
            <a:r>
              <a:rPr lang="en-US" sz="1400" i="0" dirty="0" err="1"/>
              <a:t>Yaml</a:t>
            </a:r>
            <a:r>
              <a:rPr lang="en-US" sz="1400" i="0" dirty="0"/>
              <a:t> object</a:t>
            </a:r>
          </a:p>
          <a:p>
            <a:pPr lvl="2"/>
            <a:r>
              <a:rPr lang="en-US" sz="1400" i="0" dirty="0"/>
              <a:t>nice: Boolean, If true, will add new lines and indentations to make the </a:t>
            </a:r>
            <a:r>
              <a:rPr lang="en-US" sz="1400" i="0" dirty="0" err="1"/>
              <a:t>Yaml</a:t>
            </a:r>
            <a:r>
              <a:rPr lang="en-US" sz="1400" i="0" dirty="0"/>
              <a:t> output more readable</a:t>
            </a:r>
            <a:endParaRPr lang="en-US" sz="1400" dirty="0"/>
          </a:p>
          <a:p>
            <a:pPr lvl="1"/>
            <a:r>
              <a:rPr lang="en-US" sz="1400" b="1" dirty="0"/>
              <a:t>Output</a:t>
            </a:r>
            <a:r>
              <a:rPr lang="en-US" sz="1400" b="1" i="0" dirty="0"/>
              <a:t>: </a:t>
            </a:r>
            <a:r>
              <a:rPr lang="en-US" sz="1400" i="0" dirty="0"/>
              <a:t>string: The stringified YAML</a:t>
            </a:r>
          </a:p>
        </p:txBody>
      </p:sp>
      <p:pic>
        <p:nvPicPr>
          <p:cNvPr id="14" name="Picture 13">
            <a:extLst>
              <a:ext uri="{FF2B5EF4-FFF2-40B4-BE49-F238E27FC236}">
                <a16:creationId xmlns:a16="http://schemas.microsoft.com/office/drawing/2014/main" id="{E4A6BC41-A4D4-3DC1-1923-5D618C7CCF60}"/>
              </a:ext>
            </a:extLst>
          </p:cNvPr>
          <p:cNvPicPr>
            <a:picLocks noChangeAspect="1"/>
          </p:cNvPicPr>
          <p:nvPr/>
        </p:nvPicPr>
        <p:blipFill>
          <a:blip r:embed="rId2"/>
          <a:stretch>
            <a:fillRect/>
          </a:stretch>
        </p:blipFill>
        <p:spPr>
          <a:xfrm>
            <a:off x="9048944" y="1666449"/>
            <a:ext cx="2409722" cy="2265139"/>
          </a:xfrm>
          <a:prstGeom prst="rect">
            <a:avLst/>
          </a:prstGeom>
        </p:spPr>
      </p:pic>
      <p:pic>
        <p:nvPicPr>
          <p:cNvPr id="19" name="Picture 18">
            <a:extLst>
              <a:ext uri="{FF2B5EF4-FFF2-40B4-BE49-F238E27FC236}">
                <a16:creationId xmlns:a16="http://schemas.microsoft.com/office/drawing/2014/main" id="{9C7BD88A-D9FF-A887-247C-E2DBB1934BB7}"/>
              </a:ext>
            </a:extLst>
          </p:cNvPr>
          <p:cNvPicPr>
            <a:picLocks noChangeAspect="1"/>
          </p:cNvPicPr>
          <p:nvPr/>
        </p:nvPicPr>
        <p:blipFill>
          <a:blip r:embed="rId3"/>
          <a:stretch>
            <a:fillRect/>
          </a:stretch>
        </p:blipFill>
        <p:spPr>
          <a:xfrm>
            <a:off x="7853462" y="4379976"/>
            <a:ext cx="2304863" cy="2171989"/>
          </a:xfrm>
          <a:prstGeom prst="rect">
            <a:avLst/>
          </a:prstGeom>
        </p:spPr>
      </p:pic>
    </p:spTree>
    <p:extLst>
      <p:ext uri="{BB962C8B-B14F-4D97-AF65-F5344CB8AC3E}">
        <p14:creationId xmlns:p14="http://schemas.microsoft.com/office/powerpoint/2010/main" val="1693107769"/>
      </p:ext>
    </p:extLst>
  </p:cSld>
  <p:clrMapOvr>
    <a:masterClrMapping/>
  </p:clrMapOvr>
  <p:transition spd="slow">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AD833-0170-A076-23E0-4F7988915D4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352EE0E-5AE5-5DB6-75E9-5158303273CF}"/>
              </a:ext>
            </a:extLst>
          </p:cNvPr>
          <p:cNvPicPr>
            <a:picLocks noChangeAspect="1"/>
          </p:cNvPicPr>
          <p:nvPr/>
        </p:nvPicPr>
        <p:blipFill>
          <a:blip r:embed="rId2"/>
          <a:stretch>
            <a:fillRect/>
          </a:stretch>
        </p:blipFill>
        <p:spPr>
          <a:xfrm>
            <a:off x="8730534" y="3156663"/>
            <a:ext cx="3112130" cy="1852656"/>
          </a:xfrm>
          <a:prstGeom prst="rect">
            <a:avLst/>
          </a:prstGeom>
        </p:spPr>
      </p:pic>
      <p:sp>
        <p:nvSpPr>
          <p:cNvPr id="2" name="Title 1">
            <a:extLst>
              <a:ext uri="{FF2B5EF4-FFF2-40B4-BE49-F238E27FC236}">
                <a16:creationId xmlns:a16="http://schemas.microsoft.com/office/drawing/2014/main" id="{C90CA239-B134-AC4F-EEED-F0CAB99C0136}"/>
              </a:ext>
            </a:extLst>
          </p:cNvPr>
          <p:cNvSpPr>
            <a:spLocks noGrp="1"/>
          </p:cNvSpPr>
          <p:nvPr>
            <p:ph type="title"/>
          </p:nvPr>
        </p:nvSpPr>
        <p:spPr/>
        <p:txBody>
          <a:bodyPr>
            <a:normAutofit/>
          </a:bodyPr>
          <a:lstStyle/>
          <a:p>
            <a:r>
              <a:rPr lang="en-US" b="1" dirty="0" err="1"/>
              <a:t>Yaml</a:t>
            </a:r>
            <a:r>
              <a:rPr lang="en-US" b="1" dirty="0"/>
              <a:t> Parsing &amp; Stringifying</a:t>
            </a:r>
            <a:endParaRPr lang="en-US" dirty="0"/>
          </a:p>
        </p:txBody>
      </p:sp>
      <p:sp>
        <p:nvSpPr>
          <p:cNvPr id="3" name="Content Placeholder 2">
            <a:extLst>
              <a:ext uri="{FF2B5EF4-FFF2-40B4-BE49-F238E27FC236}">
                <a16:creationId xmlns:a16="http://schemas.microsoft.com/office/drawing/2014/main" id="{F0BF84FB-2448-2385-A92D-181A348F571C}"/>
              </a:ext>
            </a:extLst>
          </p:cNvPr>
          <p:cNvSpPr>
            <a:spLocks noGrp="1"/>
          </p:cNvSpPr>
          <p:nvPr>
            <p:ph idx="1"/>
          </p:nvPr>
        </p:nvSpPr>
        <p:spPr>
          <a:xfrm>
            <a:off x="838200" y="1497026"/>
            <a:ext cx="10850217" cy="5126411"/>
          </a:xfrm>
        </p:spPr>
        <p:txBody>
          <a:bodyPr>
            <a:normAutofit fontScale="92500" lnSpcReduction="20000"/>
          </a:bodyPr>
          <a:lstStyle/>
          <a:p>
            <a:pPr marL="0" indent="0">
              <a:buNone/>
            </a:pPr>
            <a:r>
              <a:rPr lang="en-US" sz="1900" dirty="0" err="1">
                <a:solidFill>
                  <a:srgbClr val="1082F2"/>
                </a:solidFill>
              </a:rPr>
              <a:t>YamlParser</a:t>
            </a:r>
            <a:endParaRPr lang="en-US" sz="1900" dirty="0">
              <a:solidFill>
                <a:srgbClr val="1082F2"/>
              </a:solidFill>
            </a:endParaRPr>
          </a:p>
          <a:p>
            <a:pPr>
              <a:spcBef>
                <a:spcPts val="600"/>
              </a:spcBef>
            </a:pPr>
            <a:r>
              <a:rPr lang="en-US" sz="1500" dirty="0"/>
              <a:t>Transform a string of </a:t>
            </a:r>
            <a:r>
              <a:rPr lang="en-US" sz="1500" dirty="0" err="1"/>
              <a:t>Yaml</a:t>
            </a:r>
            <a:r>
              <a:rPr lang="en-US" sz="1500" dirty="0"/>
              <a:t> format into </a:t>
            </a:r>
            <a:r>
              <a:rPr lang="en-US" sz="1500" dirty="0" err="1"/>
              <a:t>unfoldable</a:t>
            </a:r>
            <a:r>
              <a:rPr lang="en-US" sz="1500" dirty="0"/>
              <a:t> </a:t>
            </a:r>
            <a:r>
              <a:rPr lang="en-US" sz="1500" dirty="0" err="1"/>
              <a:t>Yaml</a:t>
            </a:r>
            <a:r>
              <a:rPr lang="en-US" sz="1500" dirty="0"/>
              <a:t> object. </a:t>
            </a:r>
          </a:p>
          <a:p>
            <a:pPr>
              <a:spcBef>
                <a:spcPts val="600"/>
              </a:spcBef>
            </a:pPr>
            <a:r>
              <a:rPr lang="en-US" sz="1500" dirty="0"/>
              <a:t>Same input and output as </a:t>
            </a:r>
            <a:r>
              <a:rPr lang="en-US" sz="1500" dirty="0" err="1"/>
              <a:t>JsonParser</a:t>
            </a:r>
            <a:endParaRPr lang="en-US" sz="1500" dirty="0"/>
          </a:p>
          <a:p>
            <a:pPr>
              <a:spcBef>
                <a:spcPts val="600"/>
              </a:spcBef>
            </a:pPr>
            <a:endParaRPr lang="en-US" sz="1400" dirty="0"/>
          </a:p>
          <a:p>
            <a:pPr marL="0" indent="0">
              <a:buNone/>
            </a:pPr>
            <a:r>
              <a:rPr lang="en-US" sz="1900" dirty="0" err="1">
                <a:solidFill>
                  <a:srgbClr val="1082F2"/>
                </a:solidFill>
              </a:rPr>
              <a:t>XmlParser</a:t>
            </a:r>
            <a:endParaRPr lang="en-US" sz="1900" dirty="0">
              <a:solidFill>
                <a:srgbClr val="1082F2"/>
              </a:solidFill>
            </a:endParaRPr>
          </a:p>
          <a:p>
            <a:pPr marL="0" indent="0">
              <a:buNone/>
            </a:pPr>
            <a:r>
              <a:rPr lang="en-US" sz="1500" dirty="0"/>
              <a:t>Analyzing an input stream and outputting the objects found in the stream.</a:t>
            </a:r>
          </a:p>
          <a:p>
            <a:r>
              <a:rPr lang="en-US" sz="1600" dirty="0"/>
              <a:t>Inputs</a:t>
            </a:r>
            <a:r>
              <a:rPr lang="en-US" sz="1600" b="1" dirty="0"/>
              <a:t>:</a:t>
            </a:r>
          </a:p>
          <a:p>
            <a:pPr lvl="1"/>
            <a:r>
              <a:rPr lang="en-US" sz="1400" dirty="0"/>
              <a:t>[</a:t>
            </a:r>
            <a:r>
              <a:rPr lang="en-US" sz="1400" b="1" dirty="0"/>
              <a:t>stream</a:t>
            </a:r>
            <a:r>
              <a:rPr lang="en-US" sz="1400" dirty="0"/>
              <a:t>]: An input stream represented by an </a:t>
            </a:r>
            <a:r>
              <a:rPr lang="en-US" sz="1400" dirty="0" err="1"/>
              <a:t>iterable</a:t>
            </a:r>
            <a:r>
              <a:rPr lang="en-US" sz="1400" dirty="0"/>
              <a:t> collection of blobs or strings.</a:t>
            </a:r>
            <a:br>
              <a:rPr lang="en-US" sz="1400" dirty="0"/>
            </a:br>
            <a:r>
              <a:rPr lang="en-US" sz="1400" dirty="0"/>
              <a:t>The parser will keep running until the end of the stream is detected</a:t>
            </a:r>
          </a:p>
          <a:p>
            <a:pPr lvl="1"/>
            <a:r>
              <a:rPr lang="en-US" sz="1400" b="1" dirty="0"/>
              <a:t>single</a:t>
            </a:r>
            <a:r>
              <a:rPr lang="en-US" sz="1400" dirty="0"/>
              <a:t> (</a:t>
            </a:r>
            <a:r>
              <a:rPr lang="en-US" sz="1400" dirty="0" err="1"/>
              <a:t>boolean</a:t>
            </a:r>
            <a:r>
              <a:rPr lang="en-US" sz="1400" dirty="0"/>
              <a:t>): Expect only a single XML object in the input stream.</a:t>
            </a:r>
            <a:br>
              <a:rPr lang="en-US" sz="1400" dirty="0"/>
            </a:br>
            <a:r>
              <a:rPr lang="en-US" sz="1400" dirty="0"/>
              <a:t>In this case, the result will be a single object as opposed to an array. </a:t>
            </a:r>
          </a:p>
          <a:p>
            <a:pPr lvl="1"/>
            <a:r>
              <a:rPr lang="en-US" sz="1400" b="1" dirty="0" err="1"/>
              <a:t>skipRoot</a:t>
            </a:r>
            <a:r>
              <a:rPr lang="en-US" sz="1400" dirty="0"/>
              <a:t> (</a:t>
            </a:r>
            <a:r>
              <a:rPr lang="en-US" sz="1400" dirty="0" err="1"/>
              <a:t>boolean</a:t>
            </a:r>
            <a:r>
              <a:rPr lang="en-US" sz="1400" dirty="0"/>
              <a:t>): In case true the actor will skip root element and will return stream of nested elements.</a:t>
            </a:r>
          </a:p>
          <a:p>
            <a:pPr lvl="1"/>
            <a:r>
              <a:rPr lang="en-US" sz="1400" b="1" dirty="0" err="1"/>
              <a:t>valueField</a:t>
            </a:r>
            <a:r>
              <a:rPr lang="en-US" sz="1400" dirty="0"/>
              <a:t>: The key given to the XML element value field, used for mapping in output object.</a:t>
            </a:r>
            <a:br>
              <a:rPr lang="en-US" sz="1400" dirty="0"/>
            </a:br>
            <a:r>
              <a:rPr lang="en-US" sz="1400" dirty="0"/>
              <a:t>If empty, the </a:t>
            </a:r>
            <a:r>
              <a:rPr lang="en-US" sz="1400" dirty="0" err="1"/>
              <a:t>valueField</a:t>
            </a:r>
            <a:r>
              <a:rPr lang="en-US" sz="1400" dirty="0"/>
              <a:t> will not be created and the tag value/text will be created directly within the parent.</a:t>
            </a:r>
            <a:br>
              <a:rPr lang="en-US" sz="1400" dirty="0"/>
            </a:br>
            <a:r>
              <a:rPr lang="en-US" sz="1400" dirty="0"/>
              <a:t>Some XML structures cannot be successfully parsed without this level (when the XML has both attributes + a value in the same element)</a:t>
            </a:r>
          </a:p>
          <a:p>
            <a:pPr lvl="1"/>
            <a:r>
              <a:rPr lang="en-US" sz="1400" b="1" dirty="0" err="1"/>
              <a:t>attributesField</a:t>
            </a:r>
            <a:r>
              <a:rPr lang="en-US" sz="1400" dirty="0"/>
              <a:t>: The key give to the XML element attributes field, used for mapping in output object.</a:t>
            </a:r>
            <a:br>
              <a:rPr lang="en-US" sz="1400" dirty="0"/>
            </a:br>
            <a:r>
              <a:rPr lang="en-US" sz="1400" dirty="0"/>
              <a:t>If empty, the </a:t>
            </a:r>
            <a:r>
              <a:rPr lang="en-US" sz="1400" dirty="0" err="1"/>
              <a:t>attributesField</a:t>
            </a:r>
            <a:r>
              <a:rPr lang="en-US" sz="1400" dirty="0"/>
              <a:t> will not be created and the attributes will be created directly within the parent.</a:t>
            </a:r>
          </a:p>
          <a:p>
            <a:pPr lvl="1"/>
            <a:r>
              <a:rPr lang="en-US" sz="1400" b="1" dirty="0"/>
              <a:t>namespaces</a:t>
            </a:r>
            <a:r>
              <a:rPr lang="en-US" sz="1400" dirty="0"/>
              <a:t> (</a:t>
            </a:r>
            <a:r>
              <a:rPr lang="en-US" sz="1400" dirty="0" err="1"/>
              <a:t>boolean</a:t>
            </a:r>
            <a:r>
              <a:rPr lang="en-US" sz="1400" dirty="0"/>
              <a:t>): Determines if namespace information is added to the object</a:t>
            </a:r>
          </a:p>
          <a:p>
            <a:r>
              <a:rPr lang="en-US" sz="1600" i="0" dirty="0"/>
              <a:t>Output</a:t>
            </a:r>
            <a:r>
              <a:rPr lang="en-US" sz="1600" b="1" i="0" dirty="0"/>
              <a:t>: </a:t>
            </a:r>
          </a:p>
          <a:p>
            <a:pPr lvl="1"/>
            <a:r>
              <a:rPr lang="en-US" sz="1400" b="1" dirty="0"/>
              <a:t>object</a:t>
            </a:r>
            <a:r>
              <a:rPr lang="en-US" sz="1400" dirty="0"/>
              <a:t>: Return a collection of parsed objects or a single object in case single is set to true</a:t>
            </a:r>
          </a:p>
          <a:p>
            <a:pPr lvl="1"/>
            <a:r>
              <a:rPr lang="en-US" sz="1400" b="1" dirty="0"/>
              <a:t>info</a:t>
            </a:r>
            <a:r>
              <a:rPr lang="en-US" sz="1400" dirty="0"/>
              <a:t>: An object containing additional information. XML document header and/or skipped root element information </a:t>
            </a:r>
            <a:br>
              <a:rPr lang="en-US" sz="1400" dirty="0"/>
            </a:br>
            <a:r>
              <a:rPr lang="en-US" sz="1400" dirty="0"/>
              <a:t>where applicable</a:t>
            </a:r>
          </a:p>
          <a:p>
            <a:pPr>
              <a:spcBef>
                <a:spcPts val="600"/>
              </a:spcBef>
            </a:pPr>
            <a:endParaRPr lang="en-US" sz="1400" dirty="0"/>
          </a:p>
          <a:p>
            <a:endParaRPr lang="en-US" sz="1500" dirty="0"/>
          </a:p>
        </p:txBody>
      </p:sp>
      <p:pic>
        <p:nvPicPr>
          <p:cNvPr id="5" name="Picture 4">
            <a:extLst>
              <a:ext uri="{FF2B5EF4-FFF2-40B4-BE49-F238E27FC236}">
                <a16:creationId xmlns:a16="http://schemas.microsoft.com/office/drawing/2014/main" id="{EB76C87B-FFC4-95E1-1CCF-9ECBA90D6FB3}"/>
              </a:ext>
            </a:extLst>
          </p:cNvPr>
          <p:cNvPicPr>
            <a:picLocks noChangeAspect="1"/>
          </p:cNvPicPr>
          <p:nvPr/>
        </p:nvPicPr>
        <p:blipFill>
          <a:blip r:embed="rId3"/>
          <a:stretch>
            <a:fillRect/>
          </a:stretch>
        </p:blipFill>
        <p:spPr>
          <a:xfrm>
            <a:off x="8092162" y="1381421"/>
            <a:ext cx="3770525" cy="1624173"/>
          </a:xfrm>
          <a:prstGeom prst="rect">
            <a:avLst/>
          </a:prstGeom>
        </p:spPr>
      </p:pic>
      <p:pic>
        <p:nvPicPr>
          <p:cNvPr id="6" name="Picture 5">
            <a:extLst>
              <a:ext uri="{FF2B5EF4-FFF2-40B4-BE49-F238E27FC236}">
                <a16:creationId xmlns:a16="http://schemas.microsoft.com/office/drawing/2014/main" id="{93271CE2-063A-879C-D2CE-1C4E6E6CFF25}"/>
              </a:ext>
            </a:extLst>
          </p:cNvPr>
          <p:cNvPicPr>
            <a:picLocks noChangeAspect="1"/>
          </p:cNvPicPr>
          <p:nvPr/>
        </p:nvPicPr>
        <p:blipFill>
          <a:blip r:embed="rId4"/>
          <a:stretch>
            <a:fillRect/>
          </a:stretch>
        </p:blipFill>
        <p:spPr>
          <a:xfrm>
            <a:off x="6376950" y="1816142"/>
            <a:ext cx="2477992" cy="931363"/>
          </a:xfrm>
          <a:prstGeom prst="rect">
            <a:avLst/>
          </a:prstGeom>
        </p:spPr>
      </p:pic>
      <p:pic>
        <p:nvPicPr>
          <p:cNvPr id="8" name="Picture 7">
            <a:extLst>
              <a:ext uri="{FF2B5EF4-FFF2-40B4-BE49-F238E27FC236}">
                <a16:creationId xmlns:a16="http://schemas.microsoft.com/office/drawing/2014/main" id="{0A42AC19-6539-A1BF-98DB-C532D5AFF934}"/>
              </a:ext>
            </a:extLst>
          </p:cNvPr>
          <p:cNvPicPr>
            <a:picLocks noChangeAspect="1"/>
          </p:cNvPicPr>
          <p:nvPr/>
        </p:nvPicPr>
        <p:blipFill>
          <a:blip r:embed="rId5"/>
          <a:stretch>
            <a:fillRect/>
          </a:stretch>
        </p:blipFill>
        <p:spPr>
          <a:xfrm>
            <a:off x="9581322" y="5935699"/>
            <a:ext cx="2225772" cy="687738"/>
          </a:xfrm>
          <a:prstGeom prst="rect">
            <a:avLst/>
          </a:prstGeom>
        </p:spPr>
      </p:pic>
    </p:spTree>
    <p:extLst>
      <p:ext uri="{BB962C8B-B14F-4D97-AF65-F5344CB8AC3E}">
        <p14:creationId xmlns:p14="http://schemas.microsoft.com/office/powerpoint/2010/main" val="3562611017"/>
      </p:ext>
    </p:extLst>
  </p:cSld>
  <p:clrMapOvr>
    <a:masterClrMapping/>
  </p:clrMapOvr>
  <p:transition spd="slow">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DCD22-16B6-0406-8794-5403CB87C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1802B-3B86-0086-DB25-CF41101E881B}"/>
              </a:ext>
            </a:extLst>
          </p:cNvPr>
          <p:cNvSpPr>
            <a:spLocks noGrp="1"/>
          </p:cNvSpPr>
          <p:nvPr>
            <p:ph type="title"/>
          </p:nvPr>
        </p:nvSpPr>
        <p:spPr/>
        <p:txBody>
          <a:bodyPr>
            <a:normAutofit/>
          </a:bodyPr>
          <a:lstStyle/>
          <a:p>
            <a:r>
              <a:rPr lang="en-US" b="1" dirty="0"/>
              <a:t>XML Parsing &amp; Stringifying</a:t>
            </a:r>
            <a:endParaRPr lang="en-US" dirty="0"/>
          </a:p>
        </p:txBody>
      </p:sp>
      <p:sp>
        <p:nvSpPr>
          <p:cNvPr id="3" name="Content Placeholder 2">
            <a:extLst>
              <a:ext uri="{FF2B5EF4-FFF2-40B4-BE49-F238E27FC236}">
                <a16:creationId xmlns:a16="http://schemas.microsoft.com/office/drawing/2014/main" id="{B8EB6787-1A6D-7ED0-1231-8BBEBEC3C7DF}"/>
              </a:ext>
            </a:extLst>
          </p:cNvPr>
          <p:cNvSpPr>
            <a:spLocks noGrp="1"/>
          </p:cNvSpPr>
          <p:nvPr>
            <p:ph idx="1"/>
          </p:nvPr>
        </p:nvSpPr>
        <p:spPr>
          <a:xfrm>
            <a:off x="838200" y="1497027"/>
            <a:ext cx="10794558" cy="4679936"/>
          </a:xfrm>
        </p:spPr>
        <p:txBody>
          <a:bodyPr>
            <a:normAutofit/>
          </a:bodyPr>
          <a:lstStyle/>
          <a:p>
            <a:pPr marL="0" indent="0">
              <a:buNone/>
            </a:pPr>
            <a:r>
              <a:rPr lang="en-US" sz="1800" dirty="0" err="1">
                <a:solidFill>
                  <a:srgbClr val="1082F2"/>
                </a:solidFill>
              </a:rPr>
              <a:t>XmlStringify</a:t>
            </a:r>
            <a:endParaRPr lang="en-US" sz="1800" dirty="0">
              <a:solidFill>
                <a:srgbClr val="1082F2"/>
              </a:solidFill>
            </a:endParaRPr>
          </a:p>
          <a:p>
            <a:pPr marL="0" indent="0">
              <a:buNone/>
            </a:pPr>
            <a:r>
              <a:rPr lang="en-US" sz="1800" dirty="0"/>
              <a:t>C</a:t>
            </a:r>
            <a:r>
              <a:rPr lang="en-US" sz="1600" dirty="0"/>
              <a:t>onverts given map to XML document, it supports nested maps and arrays</a:t>
            </a:r>
            <a:r>
              <a:rPr lang="en-US" sz="1600" b="0" i="0" dirty="0">
                <a:solidFill>
                  <a:srgbClr val="000000"/>
                </a:solidFill>
                <a:effectLst/>
                <a:latin typeface="Helvetica" panose="020B0604020202020204" pitchFamily="34" charset="0"/>
              </a:rPr>
              <a:t>.</a:t>
            </a:r>
            <a:endParaRPr lang="en-US" sz="1600" dirty="0"/>
          </a:p>
          <a:p>
            <a:r>
              <a:rPr lang="en-US" sz="1600" dirty="0"/>
              <a:t>Inputs</a:t>
            </a:r>
            <a:r>
              <a:rPr lang="en-US" sz="1600" b="1" dirty="0"/>
              <a:t>:</a:t>
            </a:r>
          </a:p>
          <a:p>
            <a:pPr lvl="1"/>
            <a:r>
              <a:rPr lang="en-US" sz="1400" b="1" i="0" dirty="0"/>
              <a:t>object</a:t>
            </a:r>
            <a:r>
              <a:rPr lang="en-US" sz="1400" i="0" dirty="0"/>
              <a:t>: Any map contains any values, nested maps, arrays.</a:t>
            </a:r>
            <a:br>
              <a:rPr lang="en-US" sz="1400" i="0" dirty="0"/>
            </a:br>
            <a:r>
              <a:rPr lang="en-US" sz="1400" i="0" dirty="0"/>
              <a:t>XML element attribute should be in the format: {'TAG_NAME#ATTRIBUTE_NAME' : 'VALUE’}.</a:t>
            </a:r>
            <a:br>
              <a:rPr lang="en-US" sz="1400" i="0" dirty="0"/>
            </a:br>
            <a:r>
              <a:rPr lang="en-US" sz="1400" i="0" dirty="0"/>
              <a:t>The given map should contain only one root entity.</a:t>
            </a:r>
          </a:p>
          <a:p>
            <a:pPr lvl="1"/>
            <a:r>
              <a:rPr lang="en-US" sz="1400" b="1" i="0" dirty="0"/>
              <a:t>nice</a:t>
            </a:r>
            <a:r>
              <a:rPr lang="en-US" sz="1400" i="0" dirty="0"/>
              <a:t> (bool): If true, will add new lines and indentations to make the XML output more readable</a:t>
            </a:r>
          </a:p>
          <a:p>
            <a:pPr lvl="1"/>
            <a:r>
              <a:rPr lang="en-US" sz="1400" b="1" i="0" dirty="0" err="1"/>
              <a:t>xmlDeclaration</a:t>
            </a:r>
            <a:r>
              <a:rPr lang="en-US" sz="1400" i="0" dirty="0"/>
              <a:t> (bool): If true, will add XML declaration to the output string</a:t>
            </a:r>
          </a:p>
          <a:p>
            <a:pPr lvl="1"/>
            <a:r>
              <a:rPr lang="en-US" sz="1400" b="1" i="0" dirty="0" err="1"/>
              <a:t>valueField</a:t>
            </a:r>
            <a:r>
              <a:rPr lang="en-US" sz="1400" i="0" dirty="0"/>
              <a:t>: The name of the key that contains the element value.</a:t>
            </a:r>
          </a:p>
          <a:p>
            <a:pPr lvl="1"/>
            <a:r>
              <a:rPr lang="en-US" sz="1400" b="1" i="0" dirty="0" err="1"/>
              <a:t>attributesField</a:t>
            </a:r>
            <a:r>
              <a:rPr lang="en-US" sz="1400" i="0" dirty="0"/>
              <a:t>: The name of the key that contains the attributes values.</a:t>
            </a:r>
          </a:p>
          <a:p>
            <a:r>
              <a:rPr lang="en-US" sz="1600" i="0" dirty="0"/>
              <a:t>Output</a:t>
            </a:r>
            <a:r>
              <a:rPr lang="en-US" sz="1600" b="1" i="0" dirty="0"/>
              <a:t>:</a:t>
            </a:r>
          </a:p>
          <a:p>
            <a:pPr lvl="1"/>
            <a:r>
              <a:rPr lang="en-US" sz="1400" b="1" i="0" dirty="0" err="1"/>
              <a:t>xmlString</a:t>
            </a:r>
            <a:r>
              <a:rPr lang="en-US" sz="1400" i="0" dirty="0"/>
              <a:t>: The stringified XML.</a:t>
            </a:r>
          </a:p>
          <a:p>
            <a:pPr marL="457200" lvl="1" indent="0">
              <a:buNone/>
            </a:pPr>
            <a:endParaRPr lang="en-US" sz="1500" dirty="0"/>
          </a:p>
        </p:txBody>
      </p:sp>
      <p:pic>
        <p:nvPicPr>
          <p:cNvPr id="11" name="Picture 10">
            <a:extLst>
              <a:ext uri="{FF2B5EF4-FFF2-40B4-BE49-F238E27FC236}">
                <a16:creationId xmlns:a16="http://schemas.microsoft.com/office/drawing/2014/main" id="{D8C46FBE-9CB1-E32D-79F2-1425B4E3ABF9}"/>
              </a:ext>
            </a:extLst>
          </p:cNvPr>
          <p:cNvPicPr>
            <a:picLocks noChangeAspect="1"/>
          </p:cNvPicPr>
          <p:nvPr/>
        </p:nvPicPr>
        <p:blipFill>
          <a:blip r:embed="rId2"/>
          <a:stretch>
            <a:fillRect/>
          </a:stretch>
        </p:blipFill>
        <p:spPr>
          <a:xfrm>
            <a:off x="6858821" y="3836994"/>
            <a:ext cx="4620080" cy="2576620"/>
          </a:xfrm>
          <a:prstGeom prst="rect">
            <a:avLst/>
          </a:prstGeom>
        </p:spPr>
      </p:pic>
      <p:pic>
        <p:nvPicPr>
          <p:cNvPr id="13" name="Picture 12">
            <a:extLst>
              <a:ext uri="{FF2B5EF4-FFF2-40B4-BE49-F238E27FC236}">
                <a16:creationId xmlns:a16="http://schemas.microsoft.com/office/drawing/2014/main" id="{C8B9E31D-D6C8-618A-5493-3B8E79A67A77}"/>
              </a:ext>
            </a:extLst>
          </p:cNvPr>
          <p:cNvPicPr>
            <a:picLocks noChangeAspect="1"/>
          </p:cNvPicPr>
          <p:nvPr/>
        </p:nvPicPr>
        <p:blipFill>
          <a:blip r:embed="rId3"/>
          <a:stretch>
            <a:fillRect/>
          </a:stretch>
        </p:blipFill>
        <p:spPr>
          <a:xfrm>
            <a:off x="8373766" y="4790471"/>
            <a:ext cx="2034188" cy="1907616"/>
          </a:xfrm>
          <a:prstGeom prst="rect">
            <a:avLst/>
          </a:prstGeom>
        </p:spPr>
      </p:pic>
    </p:spTree>
    <p:extLst>
      <p:ext uri="{BB962C8B-B14F-4D97-AF65-F5344CB8AC3E}">
        <p14:creationId xmlns:p14="http://schemas.microsoft.com/office/powerpoint/2010/main" val="2905516356"/>
      </p:ext>
    </p:extLst>
  </p:cSld>
  <p:clrMapOvr>
    <a:masterClrMapping/>
  </p:clrMapOvr>
  <p:transition spd="slow">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9C051-2C77-28E4-3D29-20CD93FCDE9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7E6B4CD-57FF-6C6D-6698-551C95C2A2A4}"/>
              </a:ext>
            </a:extLst>
          </p:cNvPr>
          <p:cNvPicPr>
            <a:picLocks noChangeAspect="1"/>
          </p:cNvPicPr>
          <p:nvPr/>
        </p:nvPicPr>
        <p:blipFill>
          <a:blip r:embed="rId2"/>
          <a:stretch>
            <a:fillRect/>
          </a:stretch>
        </p:blipFill>
        <p:spPr>
          <a:xfrm>
            <a:off x="7430178" y="3538331"/>
            <a:ext cx="4584355" cy="2408714"/>
          </a:xfrm>
          <a:prstGeom prst="rect">
            <a:avLst/>
          </a:prstGeom>
        </p:spPr>
      </p:pic>
      <p:sp>
        <p:nvSpPr>
          <p:cNvPr id="2" name="Title 1">
            <a:extLst>
              <a:ext uri="{FF2B5EF4-FFF2-40B4-BE49-F238E27FC236}">
                <a16:creationId xmlns:a16="http://schemas.microsoft.com/office/drawing/2014/main" id="{8A9ED41E-6EE2-BA1E-C624-A5A711F64176}"/>
              </a:ext>
            </a:extLst>
          </p:cNvPr>
          <p:cNvSpPr>
            <a:spLocks noGrp="1"/>
          </p:cNvSpPr>
          <p:nvPr>
            <p:ph type="title"/>
          </p:nvPr>
        </p:nvSpPr>
        <p:spPr/>
        <p:txBody>
          <a:bodyPr>
            <a:normAutofit/>
          </a:bodyPr>
          <a:lstStyle/>
          <a:p>
            <a:r>
              <a:rPr lang="en-US" b="1" dirty="0"/>
              <a:t>CSV Parsing &amp; Builder</a:t>
            </a:r>
            <a:endParaRPr lang="en-US" dirty="0"/>
          </a:p>
        </p:txBody>
      </p:sp>
      <p:sp>
        <p:nvSpPr>
          <p:cNvPr id="3" name="Content Placeholder 2">
            <a:extLst>
              <a:ext uri="{FF2B5EF4-FFF2-40B4-BE49-F238E27FC236}">
                <a16:creationId xmlns:a16="http://schemas.microsoft.com/office/drawing/2014/main" id="{BA92CA49-C6BB-6C4D-B61F-9330B12DA02C}"/>
              </a:ext>
            </a:extLst>
          </p:cNvPr>
          <p:cNvSpPr>
            <a:spLocks noGrp="1"/>
          </p:cNvSpPr>
          <p:nvPr>
            <p:ph idx="1"/>
          </p:nvPr>
        </p:nvSpPr>
        <p:spPr>
          <a:xfrm>
            <a:off x="838201" y="1497026"/>
            <a:ext cx="10269772" cy="4974805"/>
          </a:xfrm>
        </p:spPr>
        <p:txBody>
          <a:bodyPr>
            <a:normAutofit/>
          </a:bodyPr>
          <a:lstStyle/>
          <a:p>
            <a:pPr marL="0" indent="0">
              <a:buNone/>
            </a:pPr>
            <a:r>
              <a:rPr lang="en-US" sz="1700" dirty="0" err="1">
                <a:solidFill>
                  <a:srgbClr val="1082F2"/>
                </a:solidFill>
              </a:rPr>
              <a:t>CsvParser</a:t>
            </a:r>
            <a:endParaRPr lang="en-US" sz="1700" dirty="0">
              <a:solidFill>
                <a:srgbClr val="1082F2"/>
              </a:solidFill>
            </a:endParaRPr>
          </a:p>
          <a:p>
            <a:pPr marL="0" indent="0">
              <a:buNone/>
            </a:pPr>
            <a:r>
              <a:rPr lang="en-US" sz="1500" dirty="0"/>
              <a:t>A CSV parser, analyzing a CSV input stream and outputting an object for each row.</a:t>
            </a:r>
            <a:br>
              <a:rPr lang="en-US" sz="1500" dirty="0"/>
            </a:br>
            <a:r>
              <a:rPr lang="en-US" sz="1500" dirty="0"/>
              <a:t>If a header line is available, the labels in the header are used to mark the row object.</a:t>
            </a:r>
            <a:br>
              <a:rPr lang="en-US" sz="1500" dirty="0"/>
            </a:br>
            <a:r>
              <a:rPr lang="en-US" sz="1500" dirty="0"/>
              <a:t>If not, the labels will the order of the column starting at ‘0’</a:t>
            </a:r>
          </a:p>
          <a:p>
            <a:r>
              <a:rPr lang="en-US" sz="1600" i="0" dirty="0"/>
              <a:t>Inputs:</a:t>
            </a:r>
          </a:p>
          <a:p>
            <a:pPr lvl="1"/>
            <a:r>
              <a:rPr lang="en-US" sz="1400" dirty="0"/>
              <a:t>[</a:t>
            </a:r>
            <a:r>
              <a:rPr lang="en-US" sz="1400" b="1" dirty="0"/>
              <a:t>stream</a:t>
            </a:r>
            <a:r>
              <a:rPr lang="en-US" sz="1400" dirty="0"/>
              <a:t>]: An input stream represented by an </a:t>
            </a:r>
            <a:r>
              <a:rPr lang="en-US" sz="1400" dirty="0" err="1"/>
              <a:t>iterable</a:t>
            </a:r>
            <a:r>
              <a:rPr lang="en-US" sz="1400" dirty="0"/>
              <a:t> collection of blobs or strings.</a:t>
            </a:r>
            <a:br>
              <a:rPr lang="en-US" sz="1400" dirty="0"/>
            </a:br>
            <a:r>
              <a:rPr lang="en-US" sz="1400" dirty="0"/>
              <a:t>The parser will keep running until the end of the stream is detected</a:t>
            </a:r>
          </a:p>
          <a:p>
            <a:pPr lvl="1"/>
            <a:r>
              <a:rPr lang="en-US" sz="1400" b="1" dirty="0"/>
              <a:t>header</a:t>
            </a:r>
            <a:r>
              <a:rPr lang="en-US" sz="1400" dirty="0"/>
              <a:t> (</a:t>
            </a:r>
            <a:r>
              <a:rPr lang="en-US" sz="1400" dirty="0" err="1"/>
              <a:t>boolean</a:t>
            </a:r>
            <a:r>
              <a:rPr lang="en-US" sz="1400" dirty="0"/>
              <a:t>): Select if a header row is to be expected.</a:t>
            </a:r>
            <a:br>
              <a:rPr lang="en-US" sz="1400" dirty="0"/>
            </a:br>
            <a:r>
              <a:rPr lang="en-US" sz="1400" dirty="0"/>
              <a:t>The header will be used to name the fields in the output object</a:t>
            </a:r>
          </a:p>
          <a:p>
            <a:pPr lvl="1"/>
            <a:r>
              <a:rPr lang="en-US" sz="1400" b="1" dirty="0"/>
              <a:t>delimiter</a:t>
            </a:r>
            <a:r>
              <a:rPr lang="en-US" sz="1400" dirty="0"/>
              <a:t>: The column delimiter</a:t>
            </a:r>
          </a:p>
          <a:p>
            <a:pPr lvl="1"/>
            <a:r>
              <a:rPr lang="en-US" sz="1400" b="1" dirty="0"/>
              <a:t>quote</a:t>
            </a:r>
            <a:r>
              <a:rPr lang="en-US" sz="1400" dirty="0"/>
              <a:t>: The quote character used to surround column values that contain a delimiter</a:t>
            </a:r>
          </a:p>
          <a:p>
            <a:pPr lvl="1"/>
            <a:r>
              <a:rPr lang="en-US" sz="1400" b="1" dirty="0"/>
              <a:t>escape</a:t>
            </a:r>
            <a:r>
              <a:rPr lang="en-US" sz="1400" dirty="0"/>
              <a:t>: The escape character, used to escape quote characters in the column value</a:t>
            </a:r>
          </a:p>
          <a:p>
            <a:pPr lvl="1"/>
            <a:r>
              <a:rPr lang="en-US" sz="1400" b="1" dirty="0" err="1"/>
              <a:t>keepSpaces</a:t>
            </a:r>
            <a:r>
              <a:rPr lang="en-US" sz="1400" dirty="0"/>
              <a:t> (</a:t>
            </a:r>
            <a:r>
              <a:rPr lang="en-US" sz="1400" dirty="0" err="1"/>
              <a:t>boolean</a:t>
            </a:r>
            <a:r>
              <a:rPr lang="en-US" sz="1400" dirty="0"/>
              <a:t>): If set to true, the parser will not trim the fields and keep their surrounding spaces</a:t>
            </a:r>
          </a:p>
          <a:p>
            <a:pPr lvl="1"/>
            <a:r>
              <a:rPr lang="en-US" sz="1400" b="1" dirty="0" err="1"/>
              <a:t>nullValue</a:t>
            </a:r>
            <a:r>
              <a:rPr lang="en-US" sz="1400" dirty="0"/>
              <a:t>: A value that will be treated as null</a:t>
            </a:r>
          </a:p>
          <a:p>
            <a:r>
              <a:rPr lang="en-US" sz="1600" i="0" dirty="0"/>
              <a:t>Output</a:t>
            </a:r>
            <a:r>
              <a:rPr lang="en-US" sz="1600" b="1" i="0" dirty="0"/>
              <a:t>: </a:t>
            </a:r>
            <a:r>
              <a:rPr lang="en-US" sz="1400" dirty="0"/>
              <a:t>object: Return a collection of parsed objects.</a:t>
            </a:r>
          </a:p>
        </p:txBody>
      </p:sp>
    </p:spTree>
    <p:extLst>
      <p:ext uri="{BB962C8B-B14F-4D97-AF65-F5344CB8AC3E}">
        <p14:creationId xmlns:p14="http://schemas.microsoft.com/office/powerpoint/2010/main" val="3748426920"/>
      </p:ext>
    </p:extLst>
  </p:cSld>
  <p:clrMapOvr>
    <a:masterClrMapping/>
  </p:clrMapOvr>
  <p:transition spd="slow">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CA81A-2580-E04F-9E90-DEDEEB03F0B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99E6F5-A17F-DEFB-B7B1-B66DFCA5B264}"/>
              </a:ext>
            </a:extLst>
          </p:cNvPr>
          <p:cNvPicPr>
            <a:picLocks noChangeAspect="1"/>
          </p:cNvPicPr>
          <p:nvPr/>
        </p:nvPicPr>
        <p:blipFill>
          <a:blip r:embed="rId2"/>
          <a:stretch>
            <a:fillRect/>
          </a:stretch>
        </p:blipFill>
        <p:spPr>
          <a:xfrm>
            <a:off x="6206591" y="1473174"/>
            <a:ext cx="5799039" cy="3043877"/>
          </a:xfrm>
          <a:prstGeom prst="rect">
            <a:avLst/>
          </a:prstGeom>
        </p:spPr>
      </p:pic>
      <p:sp>
        <p:nvSpPr>
          <p:cNvPr id="2" name="Title 1">
            <a:extLst>
              <a:ext uri="{FF2B5EF4-FFF2-40B4-BE49-F238E27FC236}">
                <a16:creationId xmlns:a16="http://schemas.microsoft.com/office/drawing/2014/main" id="{EFD5BE7E-21BF-089B-666D-13E8AFF1F40E}"/>
              </a:ext>
            </a:extLst>
          </p:cNvPr>
          <p:cNvSpPr>
            <a:spLocks noGrp="1"/>
          </p:cNvSpPr>
          <p:nvPr>
            <p:ph type="title"/>
          </p:nvPr>
        </p:nvSpPr>
        <p:spPr/>
        <p:txBody>
          <a:bodyPr>
            <a:normAutofit/>
          </a:bodyPr>
          <a:lstStyle/>
          <a:p>
            <a:r>
              <a:rPr lang="en-US" b="1" dirty="0"/>
              <a:t>CSV Parsing &amp; Builder</a:t>
            </a:r>
            <a:endParaRPr lang="en-US" dirty="0"/>
          </a:p>
        </p:txBody>
      </p:sp>
      <p:sp>
        <p:nvSpPr>
          <p:cNvPr id="3" name="Content Placeholder 2">
            <a:extLst>
              <a:ext uri="{FF2B5EF4-FFF2-40B4-BE49-F238E27FC236}">
                <a16:creationId xmlns:a16="http://schemas.microsoft.com/office/drawing/2014/main" id="{DD483982-7010-B5E4-613E-D9A7714EC592}"/>
              </a:ext>
            </a:extLst>
          </p:cNvPr>
          <p:cNvSpPr>
            <a:spLocks noGrp="1"/>
          </p:cNvSpPr>
          <p:nvPr>
            <p:ph idx="1"/>
          </p:nvPr>
        </p:nvSpPr>
        <p:spPr>
          <a:xfrm>
            <a:off x="838200" y="1497026"/>
            <a:ext cx="6492903" cy="5158215"/>
          </a:xfrm>
        </p:spPr>
        <p:txBody>
          <a:bodyPr>
            <a:normAutofit fontScale="85000" lnSpcReduction="20000"/>
          </a:bodyPr>
          <a:lstStyle/>
          <a:p>
            <a:pPr marL="0" indent="0">
              <a:buNone/>
            </a:pPr>
            <a:r>
              <a:rPr lang="en-US" sz="1700" dirty="0" err="1">
                <a:solidFill>
                  <a:srgbClr val="1082F2"/>
                </a:solidFill>
              </a:rPr>
              <a:t>CsvBuilder</a:t>
            </a:r>
            <a:endParaRPr lang="en-US" sz="1700" dirty="0">
              <a:solidFill>
                <a:srgbClr val="1082F2"/>
              </a:solidFill>
            </a:endParaRPr>
          </a:p>
          <a:p>
            <a:pPr marL="0" indent="0">
              <a:buNone/>
            </a:pPr>
            <a:r>
              <a:rPr lang="en-US" sz="1500" dirty="0"/>
              <a:t>Build a csv string from map or sequence of maps</a:t>
            </a:r>
            <a:endParaRPr lang="en-US" sz="1600" dirty="0"/>
          </a:p>
          <a:p>
            <a:r>
              <a:rPr lang="en-US" sz="1600" dirty="0"/>
              <a:t>Inputs</a:t>
            </a:r>
            <a:r>
              <a:rPr lang="en-US" sz="1600" b="1" dirty="0"/>
              <a:t>:</a:t>
            </a:r>
          </a:p>
          <a:p>
            <a:pPr lvl="1"/>
            <a:r>
              <a:rPr lang="en-US" sz="1400" b="1" i="0" dirty="0"/>
              <a:t>maps</a:t>
            </a:r>
            <a:r>
              <a:rPr lang="en-US" sz="1400" i="0" dirty="0"/>
              <a:t>: The input maps or a single map for a single row</a:t>
            </a:r>
          </a:p>
          <a:p>
            <a:pPr lvl="1"/>
            <a:r>
              <a:rPr lang="en-US" sz="1400" b="1" i="0" dirty="0"/>
              <a:t>stream</a:t>
            </a:r>
            <a:r>
              <a:rPr lang="en-US" sz="1400" i="0" dirty="0"/>
              <a:t>(bool): Determine if the return value is a stream of strings or a single string.</a:t>
            </a:r>
            <a:br>
              <a:rPr lang="en-US" sz="1400" i="0" dirty="0"/>
            </a:br>
            <a:r>
              <a:rPr lang="en-US" sz="1400" i="0" dirty="0"/>
              <a:t>Non-streaming mode returns a String with the entire CSV and is best used within a loop so as not to consume too much memory.</a:t>
            </a:r>
            <a:br>
              <a:rPr lang="en-US" sz="1400" i="0" dirty="0"/>
            </a:br>
            <a:r>
              <a:rPr lang="en-US" sz="1400" i="0" dirty="0"/>
              <a:t>Streaming mode returns a stream of strings that is backed by the input stream of maps.</a:t>
            </a:r>
            <a:br>
              <a:rPr lang="en-US" sz="1400" i="0" dirty="0"/>
            </a:br>
            <a:r>
              <a:rPr lang="en-US" sz="1400" i="0" dirty="0"/>
              <a:t>For backward compatibility reasons the default is false.</a:t>
            </a:r>
          </a:p>
          <a:p>
            <a:pPr lvl="1"/>
            <a:r>
              <a:rPr lang="en-US" sz="1400" b="1" i="0" dirty="0"/>
              <a:t>header</a:t>
            </a:r>
            <a:r>
              <a:rPr lang="en-US" sz="1400" i="0" dirty="0"/>
              <a:t> (bool): Determinate if the headers row should be added</a:t>
            </a:r>
          </a:p>
          <a:p>
            <a:pPr lvl="1"/>
            <a:r>
              <a:rPr lang="en-US" sz="1400" b="1" i="0" dirty="0"/>
              <a:t>columns</a:t>
            </a:r>
            <a:r>
              <a:rPr lang="en-US" sz="1400" i="0" dirty="0"/>
              <a:t>: Columns names</a:t>
            </a:r>
          </a:p>
          <a:p>
            <a:pPr lvl="1"/>
            <a:r>
              <a:rPr lang="en-US" sz="1400" b="1" i="0" dirty="0" err="1"/>
              <a:t>escape</a:t>
            </a:r>
            <a:r>
              <a:rPr lang="en-US" sz="1400" i="0" dirty="0" err="1"/>
              <a:t>_</a:t>
            </a:r>
            <a:r>
              <a:rPr lang="en-US" sz="1400" b="1" i="0" dirty="0" err="1"/>
              <a:t>char</a:t>
            </a:r>
            <a:r>
              <a:rPr lang="en-US" sz="1400" i="0" dirty="0"/>
              <a:t>: Escaping char that will be used to escape special characters (only if </a:t>
            </a:r>
            <a:r>
              <a:rPr lang="en-US" sz="1400" i="0" dirty="0" err="1"/>
              <a:t>quote_char</a:t>
            </a:r>
            <a:r>
              <a:rPr lang="en-US" sz="1400" i="0" dirty="0"/>
              <a:t> was not defined)</a:t>
            </a:r>
          </a:p>
          <a:p>
            <a:pPr lvl="1"/>
            <a:r>
              <a:rPr lang="en-US" sz="1400" b="1" i="0" dirty="0" err="1"/>
              <a:t>quote</a:t>
            </a:r>
            <a:r>
              <a:rPr lang="en-US" sz="1400" i="0" dirty="0" err="1"/>
              <a:t>_</a:t>
            </a:r>
            <a:r>
              <a:rPr lang="en-US" sz="1400" b="1" i="0" dirty="0" err="1"/>
              <a:t>char</a:t>
            </a:r>
            <a:r>
              <a:rPr lang="en-US" sz="1400" i="0" dirty="0"/>
              <a:t>: Quote char that will be used to enclose fields that contains special characters</a:t>
            </a:r>
          </a:p>
          <a:p>
            <a:pPr lvl="1"/>
            <a:r>
              <a:rPr lang="en-US" sz="1400" b="1" i="0" dirty="0"/>
              <a:t>delimiter</a:t>
            </a:r>
            <a:r>
              <a:rPr lang="en-US" sz="1400" i="0" dirty="0"/>
              <a:t>: The column delimiter</a:t>
            </a:r>
          </a:p>
          <a:p>
            <a:pPr lvl="1"/>
            <a:r>
              <a:rPr lang="en-US" sz="1400" b="1" i="0" dirty="0" err="1"/>
              <a:t>recordDelimiter</a:t>
            </a:r>
            <a:r>
              <a:rPr lang="en-US" sz="1400" i="0" dirty="0"/>
              <a:t>: The record delimiter. The default is newline (\n).</a:t>
            </a:r>
          </a:p>
          <a:p>
            <a:r>
              <a:rPr lang="en-US" sz="1600" b="1" i="0" dirty="0"/>
              <a:t>Example:</a:t>
            </a:r>
          </a:p>
          <a:p>
            <a:pPr lvl="1"/>
            <a:r>
              <a:rPr lang="en-US" sz="1400" i="0" dirty="0"/>
              <a:t>maps: </a:t>
            </a:r>
            <a:r>
              <a:rPr lang="en-US" sz="900" i="0" dirty="0"/>
              <a:t>[{"customerId":"CUST123456","firstName":"John","lastName":"Doe","email":"john.doe@example.com","phone":"+1-555-123-4567","street":"123 Maple Street","city":"Springfield","state":"IL","postalCode":"62704","country":"USA","dateOfBirth":"1985-07-15","registeredAt":"2023-03-22T10:45:00Z","isActive":"true","loyaltyPoints":"240","newsletterSubscribed":"true","preferredLanguage":"en","contactMethod":"email"}]</a:t>
            </a:r>
          </a:p>
          <a:p>
            <a:pPr lvl="1"/>
            <a:r>
              <a:rPr lang="en-US" sz="1400" i="0" dirty="0"/>
              <a:t>stream: false, header: true, columns: , </a:t>
            </a:r>
            <a:r>
              <a:rPr lang="en-US" sz="1400" i="0" dirty="0" err="1"/>
              <a:t>quote_char</a:t>
            </a:r>
            <a:r>
              <a:rPr lang="en-US" sz="1400" i="0" dirty="0"/>
              <a:t>, delimiter: “,” , </a:t>
            </a:r>
            <a:r>
              <a:rPr lang="en-US" sz="1400" i="0" dirty="0" err="1"/>
              <a:t>record_delimiter</a:t>
            </a:r>
            <a:r>
              <a:rPr lang="en-US" sz="1400" i="0" dirty="0"/>
              <a:t>:</a:t>
            </a:r>
          </a:p>
          <a:p>
            <a:r>
              <a:rPr lang="en-US" sz="1600" b="1" i="0" dirty="0"/>
              <a:t>Output:</a:t>
            </a:r>
          </a:p>
          <a:p>
            <a:pPr lvl="1"/>
            <a:r>
              <a:rPr lang="en-US" sz="1400" i="0" dirty="0"/>
              <a:t>csv: the csv result.</a:t>
            </a:r>
          </a:p>
        </p:txBody>
      </p:sp>
      <p:pic>
        <p:nvPicPr>
          <p:cNvPr id="8" name="Picture 7">
            <a:extLst>
              <a:ext uri="{FF2B5EF4-FFF2-40B4-BE49-F238E27FC236}">
                <a16:creationId xmlns:a16="http://schemas.microsoft.com/office/drawing/2014/main" id="{1DA80707-10CD-B91E-30EE-FCA819E63AAB}"/>
              </a:ext>
            </a:extLst>
          </p:cNvPr>
          <p:cNvPicPr>
            <a:picLocks noChangeAspect="1"/>
          </p:cNvPicPr>
          <p:nvPr/>
        </p:nvPicPr>
        <p:blipFill>
          <a:blip r:embed="rId3"/>
          <a:stretch>
            <a:fillRect/>
          </a:stretch>
        </p:blipFill>
        <p:spPr>
          <a:xfrm>
            <a:off x="8568393" y="2626866"/>
            <a:ext cx="3006589" cy="2825388"/>
          </a:xfrm>
          <a:prstGeom prst="rect">
            <a:avLst/>
          </a:prstGeom>
        </p:spPr>
      </p:pic>
    </p:spTree>
    <p:extLst>
      <p:ext uri="{BB962C8B-B14F-4D97-AF65-F5344CB8AC3E}">
        <p14:creationId xmlns:p14="http://schemas.microsoft.com/office/powerpoint/2010/main" val="1800543810"/>
      </p:ext>
    </p:extLst>
  </p:cSld>
  <p:clrMapOvr>
    <a:masterClrMapping/>
  </p:clrMapOvr>
  <p:transition spd="slow">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2B121-7CDD-E49D-2B08-FFE3EF7DD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93F18-1828-DB3B-946B-C2F548B9C20D}"/>
              </a:ext>
            </a:extLst>
          </p:cNvPr>
          <p:cNvSpPr>
            <a:spLocks noGrp="1"/>
          </p:cNvSpPr>
          <p:nvPr>
            <p:ph type="title"/>
          </p:nvPr>
        </p:nvSpPr>
        <p:spPr>
          <a:xfrm>
            <a:off x="2673092" y="403270"/>
            <a:ext cx="6695824" cy="571501"/>
          </a:xfrm>
        </p:spPr>
        <p:txBody>
          <a:bodyPr>
            <a:normAutofit/>
          </a:bodyPr>
          <a:lstStyle/>
          <a:p>
            <a:pPr algn="ctr"/>
            <a:r>
              <a:rPr lang="en-GB" dirty="0"/>
              <a:t>Inner Flows</a:t>
            </a:r>
            <a:endParaRPr lang="en-IL" dirty="0"/>
          </a:p>
        </p:txBody>
      </p:sp>
      <p:sp>
        <p:nvSpPr>
          <p:cNvPr id="3" name="Content Placeholder 2">
            <a:extLst>
              <a:ext uri="{FF2B5EF4-FFF2-40B4-BE49-F238E27FC236}">
                <a16:creationId xmlns:a16="http://schemas.microsoft.com/office/drawing/2014/main" id="{BE4E6DBD-4430-AA14-48EF-E40EE9F1D366}"/>
              </a:ext>
            </a:extLst>
          </p:cNvPr>
          <p:cNvSpPr>
            <a:spLocks noGrp="1"/>
          </p:cNvSpPr>
          <p:nvPr>
            <p:ph idx="1"/>
          </p:nvPr>
        </p:nvSpPr>
        <p:spPr>
          <a:xfrm>
            <a:off x="641090" y="1379050"/>
            <a:ext cx="5607310" cy="5189065"/>
          </a:xfrm>
        </p:spPr>
        <p:txBody>
          <a:bodyPr vert="horz" lIns="91440" tIns="45720" rIns="91440" bIns="45720" numCol="1" rtlCol="0" anchor="t">
            <a:normAutofit/>
          </a:bodyPr>
          <a:lstStyle/>
          <a:p>
            <a:pPr marL="0" indent="0">
              <a:buNone/>
            </a:pPr>
            <a:r>
              <a:rPr lang="en-US" sz="1600" dirty="0"/>
              <a:t>Broadway provides the ability to </a:t>
            </a:r>
            <a:r>
              <a:rPr lang="en-US" sz="1600" b="1" dirty="0"/>
              <a:t>call one flow from another flow</a:t>
            </a:r>
            <a:r>
              <a:rPr lang="en-US" sz="1600" dirty="0"/>
              <a:t>, enabling reuse of logic across multiple flows or stages. This is achieved with the following built-in </a:t>
            </a:r>
            <a:r>
              <a:rPr lang="en-US" sz="1600" i="1" dirty="0"/>
              <a:t>Inner Flow Actors</a:t>
            </a:r>
            <a:r>
              <a:rPr lang="en-US" sz="1600" dirty="0"/>
              <a:t>:</a:t>
            </a:r>
          </a:p>
          <a:p>
            <a:pPr marL="0" indent="0">
              <a:buNone/>
            </a:pPr>
            <a:endParaRPr lang="en-US" sz="1600" dirty="0">
              <a:solidFill>
                <a:srgbClr val="2E2E2E"/>
              </a:solidFill>
              <a:ea typeface="Roboto"/>
              <a:cs typeface="Roboto"/>
            </a:endParaRPr>
          </a:p>
          <a:p>
            <a:r>
              <a:rPr lang="en-US" sz="1600" b="1">
                <a:solidFill>
                  <a:srgbClr val="2E2E2E"/>
                </a:solidFill>
                <a:ea typeface="Roboto"/>
                <a:cs typeface="Roboto"/>
              </a:rPr>
              <a:t>InnerFlow</a:t>
            </a:r>
            <a:br>
              <a:rPr lang="en-US" sz="1600" dirty="0">
                <a:solidFill>
                  <a:srgbClr val="2E2E2E"/>
                </a:solidFill>
                <a:ea typeface="Roboto"/>
                <a:cs typeface="Roboto"/>
              </a:rPr>
            </a:br>
            <a:r>
              <a:rPr lang="en-US" sz="1600" dirty="0">
                <a:solidFill>
                  <a:srgbClr val="2E2E2E"/>
                </a:solidFill>
                <a:ea typeface="Roboto"/>
                <a:cs typeface="Roboto"/>
              </a:rPr>
              <a:t>Executes a specific Broadway flow. Input and output parameters map directly to the inner flow.</a:t>
            </a:r>
          </a:p>
          <a:p>
            <a:r>
              <a:rPr lang="en-US" sz="1600" b="1" dirty="0" err="1">
                <a:solidFill>
                  <a:srgbClr val="2E2E2E"/>
                </a:solidFill>
                <a:ea typeface="Roboto"/>
                <a:cs typeface="Roboto"/>
              </a:rPr>
              <a:t>InnerFlowDynamic</a:t>
            </a:r>
            <a:br>
              <a:rPr lang="en-US" sz="1600" dirty="0">
                <a:solidFill>
                  <a:srgbClr val="2E2E2E"/>
                </a:solidFill>
                <a:ea typeface="Roboto"/>
                <a:cs typeface="Roboto"/>
              </a:rPr>
            </a:br>
            <a:r>
              <a:rPr lang="en-US" sz="1600" dirty="0">
                <a:solidFill>
                  <a:srgbClr val="2E2E2E"/>
                </a:solidFill>
                <a:ea typeface="Roboto"/>
                <a:cs typeface="Roboto"/>
              </a:rPr>
              <a:t>A flexible version of </a:t>
            </a:r>
            <a:r>
              <a:rPr lang="en-US" sz="1600" dirty="0" err="1">
                <a:solidFill>
                  <a:srgbClr val="2E2E2E"/>
                </a:solidFill>
                <a:ea typeface="Roboto"/>
                <a:cs typeface="Roboto"/>
              </a:rPr>
              <a:t>InnerFlow</a:t>
            </a:r>
            <a:r>
              <a:rPr lang="en-US" sz="1600" dirty="0">
                <a:solidFill>
                  <a:srgbClr val="2E2E2E"/>
                </a:solidFill>
                <a:ea typeface="Roboto"/>
                <a:cs typeface="Roboto"/>
              </a:rPr>
              <a:t>, where the flow name and input arguments are provided dynamically at runtime. Returns a map of the inner flow’s outputs.</a:t>
            </a:r>
          </a:p>
          <a:p>
            <a:r>
              <a:rPr lang="en-US" sz="1600" b="1" dirty="0" err="1">
                <a:solidFill>
                  <a:srgbClr val="2E2E2E"/>
                </a:solidFill>
                <a:ea typeface="Roboto"/>
                <a:cs typeface="Roboto"/>
              </a:rPr>
              <a:t>InnerFlowAsync</a:t>
            </a:r>
            <a:br>
              <a:rPr lang="en-US" sz="1600" dirty="0">
                <a:solidFill>
                  <a:srgbClr val="2E2E2E"/>
                </a:solidFill>
                <a:ea typeface="Roboto"/>
                <a:cs typeface="Roboto"/>
              </a:rPr>
            </a:br>
            <a:r>
              <a:rPr lang="en-US" sz="1600" dirty="0">
                <a:solidFill>
                  <a:srgbClr val="2E2E2E"/>
                </a:solidFill>
                <a:ea typeface="Roboto"/>
                <a:cs typeface="Roboto"/>
              </a:rPr>
              <a:t>Runs a flow asynchronously in a thread pool. </a:t>
            </a:r>
            <a:br>
              <a:rPr lang="en-US" sz="1600" dirty="0">
                <a:solidFill>
                  <a:srgbClr val="2E2E2E"/>
                </a:solidFill>
                <a:ea typeface="Roboto"/>
                <a:cs typeface="Roboto"/>
              </a:rPr>
            </a:br>
            <a:r>
              <a:rPr lang="en-US" sz="1600" dirty="0">
                <a:solidFill>
                  <a:srgbClr val="2E2E2E"/>
                </a:solidFill>
                <a:ea typeface="Roboto"/>
                <a:cs typeface="Roboto"/>
              </a:rPr>
              <a:t>The main flow continues immediately and the results from the inner flow will be available only when its completed</a:t>
            </a:r>
          </a:p>
          <a:p>
            <a:r>
              <a:rPr lang="en-US" sz="1600" b="1" dirty="0" err="1"/>
              <a:t>InnerFlowSession</a:t>
            </a:r>
            <a:r>
              <a:rPr lang="en-US" sz="1600" dirty="0"/>
              <a:t> </a:t>
            </a:r>
            <a:r>
              <a:rPr lang="en-US" sz="1600" dirty="0">
                <a:solidFill>
                  <a:srgbClr val="2E2E2E"/>
                </a:solidFill>
                <a:ea typeface="Roboto"/>
                <a:cs typeface="Roboto"/>
              </a:rPr>
              <a:t>Runs a flow asynchronously</a:t>
            </a:r>
            <a:r>
              <a:rPr lang="en-US" sz="1600" dirty="0"/>
              <a:t>, either locally (default) or on a random node. </a:t>
            </a:r>
            <a:endParaRPr lang="en-US" sz="1600" dirty="0">
              <a:solidFill>
                <a:srgbClr val="2E2E2E"/>
              </a:solidFill>
              <a:ea typeface="Roboto"/>
              <a:cs typeface="Roboto"/>
            </a:endParaRPr>
          </a:p>
        </p:txBody>
      </p:sp>
      <p:sp>
        <p:nvSpPr>
          <p:cNvPr id="9" name="AutoShape 4">
            <a:extLst>
              <a:ext uri="{FF2B5EF4-FFF2-40B4-BE49-F238E27FC236}">
                <a16:creationId xmlns:a16="http://schemas.microsoft.com/office/drawing/2014/main" id="{6491AAF4-EBFC-B87B-C7C7-DED24D382CD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27" name="Picture 26" descr="A screenshot of a computer&#10;&#10;AI-generated content may be incorrect.">
            <a:extLst>
              <a:ext uri="{FF2B5EF4-FFF2-40B4-BE49-F238E27FC236}">
                <a16:creationId xmlns:a16="http://schemas.microsoft.com/office/drawing/2014/main" id="{911837F8-F483-D2E5-1D61-A5B6330874CE}"/>
              </a:ext>
            </a:extLst>
          </p:cNvPr>
          <p:cNvPicPr>
            <a:picLocks noChangeAspect="1"/>
          </p:cNvPicPr>
          <p:nvPr/>
        </p:nvPicPr>
        <p:blipFill>
          <a:blip r:embed="rId3"/>
          <a:stretch>
            <a:fillRect/>
          </a:stretch>
        </p:blipFill>
        <p:spPr>
          <a:xfrm>
            <a:off x="6575548" y="1379050"/>
            <a:ext cx="5019675" cy="5076825"/>
          </a:xfrm>
          <a:prstGeom prst="rect">
            <a:avLst/>
          </a:prstGeom>
        </p:spPr>
      </p:pic>
    </p:spTree>
    <p:extLst>
      <p:ext uri="{BB962C8B-B14F-4D97-AF65-F5344CB8AC3E}">
        <p14:creationId xmlns:p14="http://schemas.microsoft.com/office/powerpoint/2010/main" val="1162906615"/>
      </p:ext>
    </p:extLst>
  </p:cSld>
  <p:clrMapOvr>
    <a:masterClrMapping/>
  </p:clrMapOvr>
  <p:transition spd="slow">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B95E8-97BB-903C-112A-0682D85CD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A8BBD-1A47-119D-E578-A41445497281}"/>
              </a:ext>
            </a:extLst>
          </p:cNvPr>
          <p:cNvSpPr>
            <a:spLocks noGrp="1"/>
          </p:cNvSpPr>
          <p:nvPr>
            <p:ph type="title"/>
          </p:nvPr>
        </p:nvSpPr>
        <p:spPr>
          <a:xfrm>
            <a:off x="2673092" y="403270"/>
            <a:ext cx="6695824" cy="571501"/>
          </a:xfrm>
        </p:spPr>
        <p:txBody>
          <a:bodyPr>
            <a:normAutofit/>
          </a:bodyPr>
          <a:lstStyle/>
          <a:p>
            <a:pPr algn="ctr"/>
            <a:r>
              <a:rPr lang="en-GB" err="1"/>
              <a:t>InnerFlowAsync</a:t>
            </a:r>
            <a:endParaRPr lang="en-IL"/>
          </a:p>
        </p:txBody>
      </p:sp>
      <p:sp>
        <p:nvSpPr>
          <p:cNvPr id="3" name="Content Placeholder 2">
            <a:extLst>
              <a:ext uri="{FF2B5EF4-FFF2-40B4-BE49-F238E27FC236}">
                <a16:creationId xmlns:a16="http://schemas.microsoft.com/office/drawing/2014/main" id="{28C64B22-BA33-9F77-DCE9-E9189A5E6A75}"/>
              </a:ext>
            </a:extLst>
          </p:cNvPr>
          <p:cNvSpPr>
            <a:spLocks noGrp="1"/>
          </p:cNvSpPr>
          <p:nvPr>
            <p:ph idx="1"/>
          </p:nvPr>
        </p:nvSpPr>
        <p:spPr>
          <a:xfrm>
            <a:off x="650861" y="985704"/>
            <a:ext cx="5607310" cy="5628189"/>
          </a:xfrm>
        </p:spPr>
        <p:txBody>
          <a:bodyPr vert="horz" lIns="91440" tIns="45720" rIns="91440" bIns="45720" numCol="1" rtlCol="0" anchor="t">
            <a:normAutofit/>
          </a:bodyPr>
          <a:lstStyle/>
          <a:p>
            <a:pPr marL="0" indent="0">
              <a:buNone/>
            </a:pPr>
            <a:r>
              <a:rPr lang="en-US" sz="1600" dirty="0">
                <a:solidFill>
                  <a:schemeClr val="tx1">
                    <a:lumMod val="50000"/>
                  </a:schemeClr>
                </a:solidFill>
                <a:ea typeface="Roboto"/>
                <a:cs typeface="Roboto"/>
              </a:rPr>
              <a:t>Executes a sub-flow asynchronously in a separate thread using a thread pool.</a:t>
            </a:r>
            <a:endParaRPr lang="en-US" dirty="0"/>
          </a:p>
          <a:p>
            <a:pPr marL="198755" indent="-198755"/>
            <a:r>
              <a:rPr lang="en-US" sz="1600" dirty="0">
                <a:solidFill>
                  <a:schemeClr val="tx1">
                    <a:lumMod val="50000"/>
                  </a:schemeClr>
                </a:solidFill>
                <a:ea typeface="Calibri"/>
                <a:cs typeface="Calibri"/>
              </a:rPr>
              <a:t>Threads:</a:t>
            </a:r>
          </a:p>
          <a:p>
            <a:pPr lvl="1">
              <a:buFont typeface="Courier New" panose="020B0604020202020204" pitchFamily="34" charset="0"/>
              <a:buChar char="o"/>
            </a:pPr>
            <a:r>
              <a:rPr lang="en-US" sz="1400" dirty="0">
                <a:solidFill>
                  <a:schemeClr val="tx1">
                    <a:lumMod val="50000"/>
                  </a:schemeClr>
                </a:solidFill>
                <a:ea typeface="Calibri"/>
                <a:cs typeface="Calibri"/>
              </a:rPr>
              <a:t>The number of threads is set according to the available CPUs and can be overridden using the </a:t>
            </a:r>
            <a:r>
              <a:rPr lang="en-US" sz="1400" dirty="0" err="1">
                <a:solidFill>
                  <a:schemeClr val="tx1">
                    <a:lumMod val="50000"/>
                  </a:schemeClr>
                </a:solidFill>
                <a:ea typeface="Calibri"/>
                <a:cs typeface="Calibri"/>
              </a:rPr>
              <a:t>threadCount</a:t>
            </a:r>
            <a:r>
              <a:rPr lang="en-US" sz="1400" dirty="0">
                <a:solidFill>
                  <a:schemeClr val="tx1">
                    <a:lumMod val="50000"/>
                  </a:schemeClr>
                </a:solidFill>
                <a:ea typeface="Calibri"/>
                <a:cs typeface="Calibri"/>
              </a:rPr>
              <a:t> parameter.</a:t>
            </a:r>
            <a:endParaRPr lang="en-US" dirty="0">
              <a:solidFill>
                <a:schemeClr val="tx1">
                  <a:lumMod val="50000"/>
                </a:schemeClr>
              </a:solidFill>
              <a:ea typeface="Calibri"/>
              <a:cs typeface="Calibri"/>
            </a:endParaRPr>
          </a:p>
          <a:p>
            <a:pPr lvl="1">
              <a:buFont typeface="Courier New" panose="020B0604020202020204" pitchFamily="34" charset="0"/>
              <a:buChar char="o"/>
            </a:pPr>
            <a:r>
              <a:rPr lang="en-US" sz="1400" dirty="0">
                <a:solidFill>
                  <a:schemeClr val="tx1">
                    <a:lumMod val="50000"/>
                  </a:schemeClr>
                </a:solidFill>
                <a:ea typeface="Calibri"/>
                <a:cs typeface="Calibri"/>
              </a:rPr>
              <a:t>If no threads are available, the flow will wait on this Actor for the thread to become available.</a:t>
            </a:r>
          </a:p>
          <a:p>
            <a:pPr marL="198755" indent="-198755"/>
            <a:r>
              <a:rPr lang="en-US" sz="1600" dirty="0">
                <a:solidFill>
                  <a:schemeClr val="tx1">
                    <a:lumMod val="50000"/>
                  </a:schemeClr>
                </a:solidFill>
                <a:ea typeface="Calibri"/>
                <a:cs typeface="Calibri"/>
              </a:rPr>
              <a:t>Async:</a:t>
            </a:r>
          </a:p>
          <a:p>
            <a:pPr lvl="1">
              <a:buFont typeface="Courier New" panose="020B0604020202020204" pitchFamily="34" charset="0"/>
              <a:buChar char="o"/>
            </a:pPr>
            <a:r>
              <a:rPr lang="en-US" sz="1400" dirty="0">
                <a:solidFill>
                  <a:schemeClr val="tx1">
                    <a:lumMod val="50000"/>
                  </a:schemeClr>
                </a:solidFill>
                <a:ea typeface="Calibri"/>
                <a:cs typeface="Calibri"/>
              </a:rPr>
              <a:t>When called, the actor will return immediately once a working thread becomes available.</a:t>
            </a:r>
            <a:endParaRPr lang="en-US" dirty="0">
              <a:solidFill>
                <a:schemeClr val="tx1">
                  <a:lumMod val="50000"/>
                </a:schemeClr>
              </a:solidFill>
              <a:ea typeface="Calibri"/>
              <a:cs typeface="Calibri"/>
            </a:endParaRPr>
          </a:p>
          <a:p>
            <a:pPr lvl="1">
              <a:buFont typeface="Courier New" panose="020B0604020202020204" pitchFamily="34" charset="0"/>
              <a:buChar char="o"/>
            </a:pPr>
            <a:r>
              <a:rPr lang="en-US" sz="1400" dirty="0">
                <a:solidFill>
                  <a:schemeClr val="tx1">
                    <a:lumMod val="50000"/>
                  </a:schemeClr>
                </a:solidFill>
                <a:ea typeface="Calibri"/>
                <a:cs typeface="Calibri"/>
              </a:rPr>
              <a:t>You can use the </a:t>
            </a:r>
            <a:r>
              <a:rPr lang="en-US" sz="1400" dirty="0" err="1">
                <a:solidFill>
                  <a:schemeClr val="tx1">
                    <a:lumMod val="50000"/>
                  </a:schemeClr>
                </a:solidFill>
                <a:ea typeface="Calibri"/>
                <a:cs typeface="Calibri"/>
              </a:rPr>
              <a:t>InnerFlowJoin</a:t>
            </a:r>
            <a:r>
              <a:rPr lang="en-US" sz="1400" dirty="0">
                <a:solidFill>
                  <a:schemeClr val="tx1">
                    <a:lumMod val="50000"/>
                  </a:schemeClr>
                </a:solidFill>
                <a:ea typeface="Calibri"/>
                <a:cs typeface="Calibri"/>
              </a:rPr>
              <a:t> component, to wait for all threads to complete.</a:t>
            </a:r>
          </a:p>
          <a:p>
            <a:pPr lvl="1">
              <a:buFont typeface="Courier New" panose="020B0604020202020204" pitchFamily="34" charset="0"/>
              <a:buChar char="o"/>
            </a:pPr>
            <a:r>
              <a:rPr lang="en-US" sz="1400" dirty="0">
                <a:solidFill>
                  <a:schemeClr val="tx1">
                    <a:lumMod val="50000"/>
                  </a:schemeClr>
                </a:solidFill>
                <a:ea typeface="Calibri"/>
                <a:cs typeface="Calibri"/>
              </a:rPr>
              <a:t>When the flow completes, it will wait for all threads to complete.</a:t>
            </a:r>
          </a:p>
          <a:p>
            <a:pPr marL="198755" indent="-198755"/>
            <a:r>
              <a:rPr lang="en-US" sz="1600" dirty="0">
                <a:solidFill>
                  <a:schemeClr val="tx1">
                    <a:lumMod val="50000"/>
                  </a:schemeClr>
                </a:solidFill>
                <a:ea typeface="Roboto"/>
                <a:cs typeface="Roboto"/>
              </a:rPr>
              <a:t>Input/output parameters:</a:t>
            </a:r>
          </a:p>
          <a:p>
            <a:pPr lvl="1">
              <a:buFont typeface="Courier New" panose="020B0604020202020204" pitchFamily="34" charset="0"/>
              <a:buChar char="o"/>
            </a:pPr>
            <a:r>
              <a:rPr lang="en-US" sz="1400" dirty="0">
                <a:solidFill>
                  <a:schemeClr val="tx1">
                    <a:lumMod val="50000"/>
                  </a:schemeClr>
                </a:solidFill>
                <a:ea typeface="Roboto"/>
                <a:cs typeface="Roboto"/>
              </a:rPr>
              <a:t>Actor's Input arguments reflects the External input parameters defined in the inner flow</a:t>
            </a:r>
          </a:p>
          <a:p>
            <a:pPr lvl="1">
              <a:buFont typeface="Courier New" panose="020B0604020202020204" pitchFamily="34" charset="0"/>
              <a:buChar char="o"/>
            </a:pPr>
            <a:r>
              <a:rPr lang="en-US" sz="1400" dirty="0">
                <a:solidFill>
                  <a:schemeClr val="tx1">
                    <a:lumMod val="50000"/>
                  </a:schemeClr>
                </a:solidFill>
                <a:ea typeface="Roboto"/>
                <a:cs typeface="Roboto"/>
              </a:rPr>
              <a:t>All inner flows' output (non-empty one) is aggregated into [result] array. The [result] will be populated when all executions are finalized</a:t>
            </a:r>
          </a:p>
          <a:p>
            <a:pPr marL="198755" indent="-198755"/>
            <a:r>
              <a:rPr lang="en-US" sz="1600" dirty="0">
                <a:solidFill>
                  <a:schemeClr val="tx1">
                    <a:lumMod val="50000"/>
                  </a:schemeClr>
                </a:solidFill>
                <a:ea typeface="Roboto"/>
                <a:cs typeface="Roboto"/>
              </a:rPr>
              <a:t>Errors encountered will be counted and written to the log file.</a:t>
            </a:r>
          </a:p>
          <a:p>
            <a:pPr marL="0" indent="0">
              <a:buNone/>
            </a:pPr>
            <a:endParaRPr lang="en-US" sz="1600" dirty="0">
              <a:solidFill>
                <a:srgbClr val="2E2E2E"/>
              </a:solidFill>
              <a:latin typeface="Roboto"/>
              <a:ea typeface="Roboto"/>
              <a:cs typeface="Roboto"/>
            </a:endParaRPr>
          </a:p>
          <a:p>
            <a:pPr marL="0" indent="0">
              <a:buNone/>
            </a:pPr>
            <a:endParaRPr lang="en-US" sz="1600" dirty="0">
              <a:solidFill>
                <a:srgbClr val="2E2E2E"/>
              </a:solidFill>
              <a:latin typeface="Roboto"/>
              <a:ea typeface="Roboto"/>
              <a:cs typeface="Roboto"/>
            </a:endParaRPr>
          </a:p>
          <a:p>
            <a:pPr marL="0" indent="0">
              <a:buNone/>
            </a:pPr>
            <a:endParaRPr lang="en-US" sz="1600" dirty="0">
              <a:solidFill>
                <a:srgbClr val="2E2E2E"/>
              </a:solidFill>
              <a:latin typeface="Roboto"/>
              <a:ea typeface="Roboto"/>
              <a:cs typeface="Roboto"/>
            </a:endParaRPr>
          </a:p>
          <a:p>
            <a:pPr marL="0" indent="0">
              <a:buNone/>
            </a:pPr>
            <a:endParaRPr lang="en-US" sz="1600" dirty="0">
              <a:solidFill>
                <a:srgbClr val="2E2E2E"/>
              </a:solidFill>
              <a:latin typeface="Roboto"/>
              <a:ea typeface="Roboto"/>
              <a:cs typeface="Roboto"/>
            </a:endParaRPr>
          </a:p>
          <a:p>
            <a:pPr marL="0" indent="0">
              <a:buNone/>
            </a:pPr>
            <a:endParaRPr lang="en-US" sz="1600" dirty="0">
              <a:solidFill>
                <a:srgbClr val="2E2E2E"/>
              </a:solidFill>
              <a:latin typeface="Roboto"/>
              <a:ea typeface="Roboto"/>
              <a:cs typeface="Roboto"/>
            </a:endParaRPr>
          </a:p>
        </p:txBody>
      </p:sp>
      <p:sp>
        <p:nvSpPr>
          <p:cNvPr id="9" name="AutoShape 4">
            <a:extLst>
              <a:ext uri="{FF2B5EF4-FFF2-40B4-BE49-F238E27FC236}">
                <a16:creationId xmlns:a16="http://schemas.microsoft.com/office/drawing/2014/main" id="{5A4D10BE-7E9B-88B9-7478-F9018575238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27" name="Picture 26" descr="A screenshot of a computer&#10;&#10;AI-generated content may be incorrect.">
            <a:extLst>
              <a:ext uri="{FF2B5EF4-FFF2-40B4-BE49-F238E27FC236}">
                <a16:creationId xmlns:a16="http://schemas.microsoft.com/office/drawing/2014/main" id="{69FC44A6-C7A3-9648-FF39-BE3243FFB989}"/>
              </a:ext>
            </a:extLst>
          </p:cNvPr>
          <p:cNvPicPr>
            <a:picLocks noChangeAspect="1"/>
          </p:cNvPicPr>
          <p:nvPr/>
        </p:nvPicPr>
        <p:blipFill>
          <a:blip r:embed="rId3"/>
          <a:stretch>
            <a:fillRect/>
          </a:stretch>
        </p:blipFill>
        <p:spPr>
          <a:xfrm>
            <a:off x="6575548" y="1379050"/>
            <a:ext cx="5019675" cy="5076825"/>
          </a:xfrm>
          <a:prstGeom prst="rect">
            <a:avLst/>
          </a:prstGeom>
        </p:spPr>
      </p:pic>
    </p:spTree>
    <p:extLst>
      <p:ext uri="{BB962C8B-B14F-4D97-AF65-F5344CB8AC3E}">
        <p14:creationId xmlns:p14="http://schemas.microsoft.com/office/powerpoint/2010/main" val="4292027914"/>
      </p:ext>
    </p:extLst>
  </p:cSld>
  <p:clrMapOvr>
    <a:masterClrMapping/>
  </p:clrMapOvr>
  <p:transition spd="slow">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EEB62-9A34-397A-8CAB-0E1A94711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E34EA-DFFE-2E3F-93CD-0BD8A7436EEF}"/>
              </a:ext>
            </a:extLst>
          </p:cNvPr>
          <p:cNvSpPr>
            <a:spLocks noGrp="1"/>
          </p:cNvSpPr>
          <p:nvPr>
            <p:ph type="title"/>
          </p:nvPr>
        </p:nvSpPr>
        <p:spPr>
          <a:xfrm>
            <a:off x="2673092" y="403270"/>
            <a:ext cx="6695824" cy="571501"/>
          </a:xfrm>
        </p:spPr>
        <p:txBody>
          <a:bodyPr>
            <a:normAutofit/>
          </a:bodyPr>
          <a:lstStyle/>
          <a:p>
            <a:pPr algn="ctr"/>
            <a:r>
              <a:rPr lang="en-GB" err="1">
                <a:latin typeface="Roboto"/>
                <a:ea typeface="Roboto"/>
                <a:cs typeface="Roboto"/>
              </a:rPr>
              <a:t>InnerFlowAsync</a:t>
            </a:r>
            <a:r>
              <a:rPr lang="en-GB">
                <a:latin typeface="Roboto"/>
                <a:ea typeface="Roboto"/>
                <a:cs typeface="Roboto"/>
              </a:rPr>
              <a:t> - output</a:t>
            </a:r>
            <a:endParaRPr lang="en-IL"/>
          </a:p>
        </p:txBody>
      </p:sp>
      <p:sp>
        <p:nvSpPr>
          <p:cNvPr id="9" name="AutoShape 4">
            <a:extLst>
              <a:ext uri="{FF2B5EF4-FFF2-40B4-BE49-F238E27FC236}">
                <a16:creationId xmlns:a16="http://schemas.microsoft.com/office/drawing/2014/main" id="{298D3846-49DF-90C3-C3C2-1BE11448556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19" name="Picture 18" descr="A screenshot of a computer&#10;&#10;AI-generated content may be incorrect.">
            <a:extLst>
              <a:ext uri="{FF2B5EF4-FFF2-40B4-BE49-F238E27FC236}">
                <a16:creationId xmlns:a16="http://schemas.microsoft.com/office/drawing/2014/main" id="{6A0417F5-CF03-0478-E10A-82D3CB4FCE54}"/>
              </a:ext>
            </a:extLst>
          </p:cNvPr>
          <p:cNvPicPr>
            <a:picLocks noChangeAspect="1"/>
          </p:cNvPicPr>
          <p:nvPr/>
        </p:nvPicPr>
        <p:blipFill>
          <a:blip r:embed="rId3"/>
          <a:stretch>
            <a:fillRect/>
          </a:stretch>
        </p:blipFill>
        <p:spPr>
          <a:xfrm>
            <a:off x="1563591" y="3950987"/>
            <a:ext cx="10445994" cy="1167178"/>
          </a:xfrm>
          <a:prstGeom prst="rect">
            <a:avLst/>
          </a:prstGeom>
        </p:spPr>
      </p:pic>
      <p:sp>
        <p:nvSpPr>
          <p:cNvPr id="22" name="TextBox 21">
            <a:extLst>
              <a:ext uri="{FF2B5EF4-FFF2-40B4-BE49-F238E27FC236}">
                <a16:creationId xmlns:a16="http://schemas.microsoft.com/office/drawing/2014/main" id="{6CB33384-D468-8E35-7AD4-D1CCDC1C946C}"/>
              </a:ext>
            </a:extLst>
          </p:cNvPr>
          <p:cNvSpPr txBox="1"/>
          <p:nvPr/>
        </p:nvSpPr>
        <p:spPr>
          <a:xfrm>
            <a:off x="3156955" y="3600172"/>
            <a:ext cx="1375507" cy="286768"/>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rgbClr val="0070C0"/>
                </a:solidFill>
                <a:ea typeface="Calibri"/>
                <a:cs typeface="Calibri"/>
              </a:rPr>
              <a:t>Call the Inner Flow</a:t>
            </a:r>
            <a:endParaRPr lang="en-US" sz="1200" b="1" dirty="0">
              <a:solidFill>
                <a:srgbClr val="0070C0"/>
              </a:solidFill>
            </a:endParaRPr>
          </a:p>
        </p:txBody>
      </p:sp>
      <p:cxnSp>
        <p:nvCxnSpPr>
          <p:cNvPr id="6" name="Straight Arrow Connector 5">
            <a:extLst>
              <a:ext uri="{FF2B5EF4-FFF2-40B4-BE49-F238E27FC236}">
                <a16:creationId xmlns:a16="http://schemas.microsoft.com/office/drawing/2014/main" id="{FCC931C9-E946-A1CB-42C3-9B2B8E10782C}"/>
              </a:ext>
            </a:extLst>
          </p:cNvPr>
          <p:cNvCxnSpPr>
            <a:cxnSpLocks/>
          </p:cNvCxnSpPr>
          <p:nvPr/>
        </p:nvCxnSpPr>
        <p:spPr>
          <a:xfrm>
            <a:off x="4532462" y="3320518"/>
            <a:ext cx="0" cy="634175"/>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8E79B5F6-E128-BB83-A025-723FC32F4C21}"/>
              </a:ext>
            </a:extLst>
          </p:cNvPr>
          <p:cNvPicPr>
            <a:picLocks noChangeAspect="1"/>
          </p:cNvPicPr>
          <p:nvPr/>
        </p:nvPicPr>
        <p:blipFill>
          <a:blip r:embed="rId4"/>
          <a:stretch>
            <a:fillRect/>
          </a:stretch>
        </p:blipFill>
        <p:spPr>
          <a:xfrm>
            <a:off x="193048" y="5319168"/>
            <a:ext cx="9850283" cy="1243893"/>
          </a:xfrm>
          <a:prstGeom prst="rect">
            <a:avLst/>
          </a:prstGeom>
        </p:spPr>
      </p:pic>
      <p:pic>
        <p:nvPicPr>
          <p:cNvPr id="11" name="Picture 10">
            <a:extLst>
              <a:ext uri="{FF2B5EF4-FFF2-40B4-BE49-F238E27FC236}">
                <a16:creationId xmlns:a16="http://schemas.microsoft.com/office/drawing/2014/main" id="{E7E0045C-0448-153C-52DF-7B2CE9042439}"/>
              </a:ext>
            </a:extLst>
          </p:cNvPr>
          <p:cNvPicPr>
            <a:picLocks noChangeAspect="1"/>
          </p:cNvPicPr>
          <p:nvPr/>
        </p:nvPicPr>
        <p:blipFill>
          <a:blip r:embed="rId5"/>
          <a:stretch>
            <a:fillRect/>
          </a:stretch>
        </p:blipFill>
        <p:spPr>
          <a:xfrm>
            <a:off x="534255" y="1974857"/>
            <a:ext cx="8377582" cy="1539625"/>
          </a:xfrm>
          <a:prstGeom prst="rect">
            <a:avLst/>
          </a:prstGeom>
        </p:spPr>
      </p:pic>
      <p:sp>
        <p:nvSpPr>
          <p:cNvPr id="14" name="Content Placeholder 2">
            <a:extLst>
              <a:ext uri="{FF2B5EF4-FFF2-40B4-BE49-F238E27FC236}">
                <a16:creationId xmlns:a16="http://schemas.microsoft.com/office/drawing/2014/main" id="{9656780A-0D9E-09F2-74F6-53D83ACBFD64}"/>
              </a:ext>
            </a:extLst>
          </p:cNvPr>
          <p:cNvSpPr>
            <a:spLocks noGrp="1"/>
          </p:cNvSpPr>
          <p:nvPr>
            <p:ph idx="1"/>
          </p:nvPr>
        </p:nvSpPr>
        <p:spPr>
          <a:xfrm>
            <a:off x="567295" y="1088813"/>
            <a:ext cx="9476036" cy="737962"/>
          </a:xfrm>
        </p:spPr>
        <p:txBody>
          <a:bodyPr vert="horz" lIns="91440" tIns="45720" rIns="91440" bIns="45720" numCol="1" rtlCol="0" anchor="t">
            <a:normAutofit/>
          </a:bodyPr>
          <a:lstStyle/>
          <a:p>
            <a:r>
              <a:rPr lang="en-US" sz="1600" dirty="0">
                <a:solidFill>
                  <a:srgbClr val="2E2E2E"/>
                </a:solidFill>
                <a:latin typeface="Roboto"/>
                <a:ea typeface="Roboto"/>
                <a:cs typeface="Roboto"/>
              </a:rPr>
              <a:t>The [result] output of an </a:t>
            </a:r>
            <a:r>
              <a:rPr lang="en-US" sz="1600" dirty="0" err="1">
                <a:solidFill>
                  <a:srgbClr val="2E2E2E"/>
                </a:solidFill>
                <a:latin typeface="Roboto"/>
                <a:ea typeface="Roboto"/>
                <a:cs typeface="Roboto"/>
              </a:rPr>
              <a:t>InnerFlowAsync</a:t>
            </a:r>
            <a:r>
              <a:rPr lang="en-US" sz="1600" dirty="0">
                <a:solidFill>
                  <a:srgbClr val="2E2E2E"/>
                </a:solidFill>
                <a:latin typeface="Roboto"/>
                <a:ea typeface="Roboto"/>
                <a:cs typeface="Roboto"/>
              </a:rPr>
              <a:t> Actor remains empty until its threads finish execution</a:t>
            </a:r>
          </a:p>
          <a:p>
            <a:r>
              <a:rPr lang="en-US" sz="1600" dirty="0">
                <a:solidFill>
                  <a:srgbClr val="2E2E2E"/>
                </a:solidFill>
                <a:latin typeface="Roboto"/>
                <a:ea typeface="Roboto"/>
                <a:cs typeface="Roboto"/>
              </a:rPr>
              <a:t>Note: The main flow does not complete until all asynchronous threads have finished.</a:t>
            </a:r>
          </a:p>
          <a:p>
            <a:pPr marL="0" indent="0">
              <a:buNone/>
            </a:pPr>
            <a:endParaRPr lang="en-US" sz="1600" dirty="0">
              <a:solidFill>
                <a:srgbClr val="2E2E2E"/>
              </a:solidFill>
              <a:latin typeface="Roboto"/>
              <a:ea typeface="Roboto"/>
              <a:cs typeface="Roboto"/>
            </a:endParaRPr>
          </a:p>
          <a:p>
            <a:pPr marL="0" indent="0">
              <a:buNone/>
            </a:pPr>
            <a:endParaRPr lang="en-US" sz="1600" dirty="0">
              <a:solidFill>
                <a:srgbClr val="2E2E2E"/>
              </a:solidFill>
              <a:latin typeface="Roboto"/>
              <a:ea typeface="Roboto"/>
              <a:cs typeface="Roboto"/>
            </a:endParaRPr>
          </a:p>
          <a:p>
            <a:pPr marL="0" indent="0">
              <a:buNone/>
            </a:pPr>
            <a:endParaRPr lang="en-US" sz="1600" dirty="0">
              <a:solidFill>
                <a:srgbClr val="2E2E2E"/>
              </a:solidFill>
              <a:latin typeface="Roboto"/>
              <a:ea typeface="Roboto"/>
              <a:cs typeface="Roboto"/>
            </a:endParaRPr>
          </a:p>
        </p:txBody>
      </p:sp>
    </p:spTree>
    <p:extLst>
      <p:ext uri="{BB962C8B-B14F-4D97-AF65-F5344CB8AC3E}">
        <p14:creationId xmlns:p14="http://schemas.microsoft.com/office/powerpoint/2010/main" val="597583887"/>
      </p:ext>
    </p:extLst>
  </p:cSld>
  <p:clrMapOvr>
    <a:masterClrMapping/>
  </p:clrMapOvr>
  <p:transition spd="slow">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EF97F-56B2-00D3-8E7D-9CE2ED5B5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88002-35D6-6F6E-34AD-4B662FB0453D}"/>
              </a:ext>
            </a:extLst>
          </p:cNvPr>
          <p:cNvSpPr>
            <a:spLocks noGrp="1"/>
          </p:cNvSpPr>
          <p:nvPr>
            <p:ph type="title"/>
          </p:nvPr>
        </p:nvSpPr>
        <p:spPr>
          <a:xfrm>
            <a:off x="2451493" y="403270"/>
            <a:ext cx="6695824" cy="571501"/>
          </a:xfrm>
        </p:spPr>
        <p:txBody>
          <a:bodyPr>
            <a:normAutofit/>
          </a:bodyPr>
          <a:lstStyle/>
          <a:p>
            <a:pPr algn="ctr"/>
            <a:r>
              <a:rPr lang="en-GB" dirty="0" err="1"/>
              <a:t>InnerFlowJoin</a:t>
            </a:r>
            <a:endParaRPr lang="en-IL" dirty="0"/>
          </a:p>
        </p:txBody>
      </p:sp>
      <p:sp>
        <p:nvSpPr>
          <p:cNvPr id="3" name="Content Placeholder 2">
            <a:extLst>
              <a:ext uri="{FF2B5EF4-FFF2-40B4-BE49-F238E27FC236}">
                <a16:creationId xmlns:a16="http://schemas.microsoft.com/office/drawing/2014/main" id="{5F75A52E-D76C-CDD1-768F-89EFB7D89477}"/>
              </a:ext>
            </a:extLst>
          </p:cNvPr>
          <p:cNvSpPr>
            <a:spLocks noGrp="1"/>
          </p:cNvSpPr>
          <p:nvPr>
            <p:ph idx="1"/>
          </p:nvPr>
        </p:nvSpPr>
        <p:spPr>
          <a:xfrm>
            <a:off x="585627" y="985705"/>
            <a:ext cx="11377774" cy="2200499"/>
          </a:xfrm>
        </p:spPr>
        <p:txBody>
          <a:bodyPr vert="horz" lIns="91440" tIns="45720" rIns="91440" bIns="45720" numCol="1" rtlCol="0" anchor="t">
            <a:normAutofit/>
          </a:bodyPr>
          <a:lstStyle/>
          <a:p>
            <a:pPr marL="198755" indent="-198755"/>
            <a:r>
              <a:rPr lang="en-US" sz="1600" dirty="0">
                <a:solidFill>
                  <a:schemeClr val="tx1">
                    <a:lumMod val="50000"/>
                  </a:schemeClr>
                </a:solidFill>
                <a:ea typeface="Roboto"/>
                <a:cs typeface="Roboto"/>
              </a:rPr>
              <a:t>Used to synchronize after asynchronous execution</a:t>
            </a:r>
          </a:p>
          <a:p>
            <a:pPr marL="198755" indent="-198755"/>
            <a:r>
              <a:rPr lang="en-US" sz="1600" dirty="0">
                <a:solidFill>
                  <a:schemeClr val="tx1">
                    <a:lumMod val="50000"/>
                  </a:schemeClr>
                </a:solidFill>
                <a:ea typeface="Roboto"/>
                <a:cs typeface="Roboto"/>
              </a:rPr>
              <a:t>Waits for all threads (flows) triggered by </a:t>
            </a:r>
            <a:r>
              <a:rPr lang="en-US" sz="1600" dirty="0" err="1">
                <a:solidFill>
                  <a:schemeClr val="tx1">
                    <a:lumMod val="50000"/>
                  </a:schemeClr>
                </a:solidFill>
                <a:ea typeface="Roboto"/>
                <a:cs typeface="Roboto"/>
              </a:rPr>
              <a:t>InnerFlowAsync</a:t>
            </a:r>
            <a:r>
              <a:rPr lang="en-US" sz="1600" dirty="0">
                <a:solidFill>
                  <a:schemeClr val="tx1">
                    <a:lumMod val="50000"/>
                  </a:schemeClr>
                </a:solidFill>
                <a:ea typeface="Roboto"/>
                <a:cs typeface="Roboto"/>
              </a:rPr>
              <a:t> to complete.</a:t>
            </a:r>
          </a:p>
          <a:p>
            <a:pPr marL="198755" indent="-198755"/>
            <a:r>
              <a:rPr lang="en-US" sz="1600" dirty="0">
                <a:solidFill>
                  <a:schemeClr val="tx1">
                    <a:lumMod val="50000"/>
                  </a:schemeClr>
                </a:solidFill>
                <a:ea typeface="Roboto"/>
                <a:cs typeface="Roboto"/>
              </a:rPr>
              <a:t>To use this actor, hook the 'remaining' output argument to the 'remaining' input argument. Execution proceeds when the count of pending flows reaches zero.</a:t>
            </a:r>
          </a:p>
          <a:p>
            <a:pPr marL="198755" indent="-198755"/>
            <a:r>
              <a:rPr lang="en-US" sz="1600" dirty="0">
                <a:solidFill>
                  <a:schemeClr val="tx1">
                    <a:lumMod val="50000"/>
                  </a:schemeClr>
                </a:solidFill>
                <a:ea typeface="Roboto"/>
                <a:cs typeface="Roboto"/>
              </a:rPr>
              <a:t>The [result] output of </a:t>
            </a:r>
            <a:r>
              <a:rPr lang="en-US" sz="1600" dirty="0" err="1">
                <a:solidFill>
                  <a:schemeClr val="tx1">
                    <a:lumMod val="50000"/>
                  </a:schemeClr>
                </a:solidFill>
                <a:ea typeface="Roboto"/>
                <a:cs typeface="Roboto"/>
              </a:rPr>
              <a:t>InnerFlowAsync</a:t>
            </a:r>
            <a:r>
              <a:rPr lang="en-US" sz="1600" dirty="0">
                <a:solidFill>
                  <a:schemeClr val="tx1">
                    <a:lumMod val="50000"/>
                  </a:schemeClr>
                </a:solidFill>
                <a:ea typeface="Roboto"/>
                <a:cs typeface="Roboto"/>
              </a:rPr>
              <a:t> will contain all inner flows' output (non-empty one) past </a:t>
            </a:r>
            <a:r>
              <a:rPr lang="en-US" sz="1600" dirty="0" err="1">
                <a:solidFill>
                  <a:schemeClr val="tx1">
                    <a:lumMod val="50000"/>
                  </a:schemeClr>
                </a:solidFill>
                <a:ea typeface="Roboto"/>
                <a:cs typeface="Roboto"/>
              </a:rPr>
              <a:t>InnerFlowJoin</a:t>
            </a:r>
            <a:endParaRPr lang="en-US" sz="1600" dirty="0">
              <a:solidFill>
                <a:schemeClr val="tx1">
                  <a:lumMod val="50000"/>
                </a:schemeClr>
              </a:solidFill>
              <a:latin typeface="Roboto"/>
              <a:ea typeface="Roboto"/>
              <a:cs typeface="Roboto"/>
            </a:endParaRPr>
          </a:p>
          <a:p>
            <a:pPr marL="0" indent="0">
              <a:buNone/>
            </a:pPr>
            <a:endParaRPr lang="en-US" sz="1600" dirty="0">
              <a:solidFill>
                <a:srgbClr val="2E2E2E"/>
              </a:solidFill>
              <a:latin typeface="Roboto"/>
              <a:ea typeface="Roboto"/>
              <a:cs typeface="Roboto"/>
            </a:endParaRPr>
          </a:p>
          <a:p>
            <a:pPr marL="0" indent="0">
              <a:buNone/>
            </a:pPr>
            <a:endParaRPr lang="en-US" sz="1600" dirty="0">
              <a:solidFill>
                <a:srgbClr val="2E2E2E"/>
              </a:solidFill>
              <a:latin typeface="Roboto"/>
              <a:ea typeface="Roboto"/>
              <a:cs typeface="Roboto"/>
            </a:endParaRPr>
          </a:p>
          <a:p>
            <a:pPr marL="0" indent="0">
              <a:buNone/>
            </a:pPr>
            <a:endParaRPr lang="en-US" sz="1600" dirty="0">
              <a:solidFill>
                <a:srgbClr val="2E2E2E"/>
              </a:solidFill>
              <a:latin typeface="Roboto"/>
              <a:ea typeface="Roboto"/>
              <a:cs typeface="Roboto"/>
            </a:endParaRPr>
          </a:p>
        </p:txBody>
      </p:sp>
      <p:sp>
        <p:nvSpPr>
          <p:cNvPr id="9" name="AutoShape 4">
            <a:extLst>
              <a:ext uri="{FF2B5EF4-FFF2-40B4-BE49-F238E27FC236}">
                <a16:creationId xmlns:a16="http://schemas.microsoft.com/office/drawing/2014/main" id="{3791C516-1128-BDBF-6129-192B3C22A83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16" name="Picture 15">
            <a:extLst>
              <a:ext uri="{FF2B5EF4-FFF2-40B4-BE49-F238E27FC236}">
                <a16:creationId xmlns:a16="http://schemas.microsoft.com/office/drawing/2014/main" id="{BEDF1664-DE44-0E61-BC52-03E23BB2196A}"/>
              </a:ext>
            </a:extLst>
          </p:cNvPr>
          <p:cNvPicPr>
            <a:picLocks noChangeAspect="1"/>
          </p:cNvPicPr>
          <p:nvPr/>
        </p:nvPicPr>
        <p:blipFill>
          <a:blip r:embed="rId3"/>
          <a:stretch>
            <a:fillRect/>
          </a:stretch>
        </p:blipFill>
        <p:spPr>
          <a:xfrm>
            <a:off x="777411" y="2915643"/>
            <a:ext cx="10332378" cy="1728166"/>
          </a:xfrm>
          <a:prstGeom prst="rect">
            <a:avLst/>
          </a:prstGeom>
        </p:spPr>
      </p:pic>
      <p:pic>
        <p:nvPicPr>
          <p:cNvPr id="18" name="Picture 17">
            <a:extLst>
              <a:ext uri="{FF2B5EF4-FFF2-40B4-BE49-F238E27FC236}">
                <a16:creationId xmlns:a16="http://schemas.microsoft.com/office/drawing/2014/main" id="{55760A07-1464-8228-CD11-FA083FD7C126}"/>
              </a:ext>
            </a:extLst>
          </p:cNvPr>
          <p:cNvPicPr>
            <a:picLocks noChangeAspect="1"/>
          </p:cNvPicPr>
          <p:nvPr/>
        </p:nvPicPr>
        <p:blipFill>
          <a:blip r:embed="rId4"/>
          <a:stretch>
            <a:fillRect/>
          </a:stretch>
        </p:blipFill>
        <p:spPr>
          <a:xfrm>
            <a:off x="465939" y="5016961"/>
            <a:ext cx="11260121" cy="1324160"/>
          </a:xfrm>
          <a:prstGeom prst="rect">
            <a:avLst/>
          </a:prstGeom>
        </p:spPr>
      </p:pic>
    </p:spTree>
    <p:extLst>
      <p:ext uri="{BB962C8B-B14F-4D97-AF65-F5344CB8AC3E}">
        <p14:creationId xmlns:p14="http://schemas.microsoft.com/office/powerpoint/2010/main" val="1043377135"/>
      </p:ext>
    </p:extLst>
  </p:cSld>
  <p:clrMapOvr>
    <a:masterClrMapping/>
  </p:clrMapOvr>
  <p:transition spd="slow">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F897D-B2E0-67C5-755A-5C826FC88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B2F852-5F7C-FADD-D19B-0ED8FD03FF4B}"/>
              </a:ext>
            </a:extLst>
          </p:cNvPr>
          <p:cNvSpPr>
            <a:spLocks noGrp="1"/>
          </p:cNvSpPr>
          <p:nvPr>
            <p:ph type="title"/>
          </p:nvPr>
        </p:nvSpPr>
        <p:spPr/>
        <p:txBody>
          <a:bodyPr>
            <a:normAutofit/>
          </a:bodyPr>
          <a:lstStyle/>
          <a:p>
            <a:pPr algn="ctr"/>
            <a:r>
              <a:rPr lang="en-GB" dirty="0" err="1"/>
              <a:t>InnerFlowSession</a:t>
            </a:r>
            <a:endParaRPr lang="en-IL" dirty="0"/>
          </a:p>
        </p:txBody>
      </p:sp>
      <p:sp>
        <p:nvSpPr>
          <p:cNvPr id="3" name="Content Placeholder 2">
            <a:extLst>
              <a:ext uri="{FF2B5EF4-FFF2-40B4-BE49-F238E27FC236}">
                <a16:creationId xmlns:a16="http://schemas.microsoft.com/office/drawing/2014/main" id="{87D97353-A284-03A6-64BC-BB9BC945C548}"/>
              </a:ext>
            </a:extLst>
          </p:cNvPr>
          <p:cNvSpPr>
            <a:spLocks noGrp="1"/>
          </p:cNvSpPr>
          <p:nvPr>
            <p:ph idx="1"/>
          </p:nvPr>
        </p:nvSpPr>
        <p:spPr>
          <a:xfrm>
            <a:off x="727753" y="1299655"/>
            <a:ext cx="9554756" cy="1171544"/>
          </a:xfrm>
        </p:spPr>
        <p:txBody>
          <a:bodyPr vert="horz" lIns="91440" tIns="45720" rIns="91440" bIns="45720" numCol="1" rtlCol="0" anchor="t">
            <a:normAutofit/>
          </a:bodyPr>
          <a:lstStyle/>
          <a:p>
            <a:r>
              <a:rPr lang="en-US" sz="1800" dirty="0">
                <a:solidFill>
                  <a:schemeClr val="tx1">
                    <a:lumMod val="50000"/>
                  </a:schemeClr>
                </a:solidFill>
                <a:ea typeface="Roboto"/>
                <a:cs typeface="Roboto"/>
              </a:rPr>
              <a:t>Executes a sub-flow asynchronously in a separate thread using a thread pool.</a:t>
            </a:r>
          </a:p>
          <a:p>
            <a:r>
              <a:rPr lang="en-US" sz="1800" dirty="0">
                <a:solidFill>
                  <a:schemeClr val="tx1">
                    <a:lumMod val="50000"/>
                  </a:schemeClr>
                </a:solidFill>
                <a:ea typeface="Roboto"/>
                <a:cs typeface="Roboto"/>
              </a:rPr>
              <a:t>Creates a new session context for each flow execution</a:t>
            </a:r>
          </a:p>
          <a:p>
            <a:r>
              <a:rPr lang="en-US" sz="1800" dirty="0">
                <a:solidFill>
                  <a:schemeClr val="tx1">
                    <a:lumMod val="50000"/>
                  </a:schemeClr>
                </a:solidFill>
                <a:ea typeface="Roboto"/>
                <a:cs typeface="Roboto"/>
              </a:rPr>
              <a:t>Uses affinity to determine which Fabric node runs the flow</a:t>
            </a:r>
            <a:endParaRPr lang="en-US" sz="1800" dirty="0">
              <a:solidFill>
                <a:srgbClr val="2E2E2E"/>
              </a:solidFill>
              <a:latin typeface="Roboto"/>
              <a:ea typeface="Roboto"/>
              <a:cs typeface="Roboto"/>
            </a:endParaRPr>
          </a:p>
        </p:txBody>
      </p:sp>
      <p:sp>
        <p:nvSpPr>
          <p:cNvPr id="9" name="AutoShape 4">
            <a:extLst>
              <a:ext uri="{FF2B5EF4-FFF2-40B4-BE49-F238E27FC236}">
                <a16:creationId xmlns:a16="http://schemas.microsoft.com/office/drawing/2014/main" id="{3081C3A8-48FB-35CA-CC14-8D0F9D6E7E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5" name="Picture 4">
            <a:extLst>
              <a:ext uri="{FF2B5EF4-FFF2-40B4-BE49-F238E27FC236}">
                <a16:creationId xmlns:a16="http://schemas.microsoft.com/office/drawing/2014/main" id="{6872C5A1-6756-F3E5-4DDA-9CB97AD71A05}"/>
              </a:ext>
            </a:extLst>
          </p:cNvPr>
          <p:cNvPicPr>
            <a:picLocks noChangeAspect="1"/>
          </p:cNvPicPr>
          <p:nvPr/>
        </p:nvPicPr>
        <p:blipFill>
          <a:blip r:embed="rId3"/>
          <a:stretch>
            <a:fillRect/>
          </a:stretch>
        </p:blipFill>
        <p:spPr>
          <a:xfrm>
            <a:off x="607993" y="4386802"/>
            <a:ext cx="11041294" cy="1183980"/>
          </a:xfrm>
          <a:prstGeom prst="rect">
            <a:avLst/>
          </a:prstGeom>
        </p:spPr>
      </p:pic>
      <p:sp>
        <p:nvSpPr>
          <p:cNvPr id="8" name="Content Placeholder 2">
            <a:extLst>
              <a:ext uri="{FF2B5EF4-FFF2-40B4-BE49-F238E27FC236}">
                <a16:creationId xmlns:a16="http://schemas.microsoft.com/office/drawing/2014/main" id="{0430E7E5-6F5D-AAC1-7F16-9A979C7FA4AA}"/>
              </a:ext>
            </a:extLst>
          </p:cNvPr>
          <p:cNvSpPr txBox="1">
            <a:spLocks/>
          </p:cNvSpPr>
          <p:nvPr/>
        </p:nvSpPr>
        <p:spPr>
          <a:xfrm>
            <a:off x="607993" y="2989410"/>
            <a:ext cx="9902470" cy="1183980"/>
          </a:xfrm>
          <a:prstGeom prst="rect">
            <a:avLst/>
          </a:prstGeom>
        </p:spPr>
        <p:txBody>
          <a:bodyPr vert="horz" lIns="91440" tIns="45720" rIns="91440" bIns="45720" numCol="1" rtlCol="0" anchor="t">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rgbClr val="2E2E2E"/>
                </a:solidFill>
                <a:ea typeface="Roboto"/>
                <a:cs typeface="Roboto"/>
              </a:rPr>
              <a:t>Example: </a:t>
            </a:r>
            <a:br>
              <a:rPr lang="en-US" sz="1600" dirty="0">
                <a:solidFill>
                  <a:srgbClr val="2E2E2E"/>
                </a:solidFill>
                <a:ea typeface="Roboto"/>
                <a:cs typeface="Roboto"/>
              </a:rPr>
            </a:br>
            <a:br>
              <a:rPr lang="en-US" sz="1600" dirty="0">
                <a:solidFill>
                  <a:srgbClr val="2E2E2E"/>
                </a:solidFill>
                <a:ea typeface="Roboto"/>
                <a:cs typeface="Roboto"/>
              </a:rPr>
            </a:br>
            <a:r>
              <a:rPr lang="en-US" sz="1600" dirty="0">
                <a:solidFill>
                  <a:srgbClr val="2E2E2E"/>
                </a:solidFill>
                <a:ea typeface="Roboto"/>
                <a:cs typeface="Roboto"/>
              </a:rPr>
              <a:t>Both the main flow and all </a:t>
            </a:r>
            <a:r>
              <a:rPr lang="en-US" sz="1600" dirty="0" err="1">
                <a:solidFill>
                  <a:srgbClr val="2E2E2E"/>
                </a:solidFill>
                <a:ea typeface="Roboto"/>
                <a:cs typeface="Roboto"/>
              </a:rPr>
              <a:t>InnerFlowSession</a:t>
            </a:r>
            <a:r>
              <a:rPr lang="en-US" sz="1600" dirty="0">
                <a:solidFill>
                  <a:srgbClr val="2E2E2E"/>
                </a:solidFill>
                <a:ea typeface="Roboto"/>
                <a:cs typeface="Roboto"/>
              </a:rPr>
              <a:t> instances are writing to and reading from the same thread-global variable. Each session maintains its own value.</a:t>
            </a:r>
          </a:p>
          <a:p>
            <a:pPr marL="0" indent="0">
              <a:buFont typeface="Arial" panose="020B0604020202020204" pitchFamily="34" charset="0"/>
              <a:buNone/>
            </a:pPr>
            <a:endParaRPr lang="en-US" sz="1600" dirty="0">
              <a:solidFill>
                <a:srgbClr val="2E2E2E"/>
              </a:solidFill>
              <a:ea typeface="Roboto"/>
              <a:cs typeface="Roboto"/>
            </a:endParaRPr>
          </a:p>
          <a:p>
            <a:pPr marL="0" indent="0">
              <a:buFont typeface="Arial" panose="020B0604020202020204" pitchFamily="34" charset="0"/>
              <a:buNone/>
            </a:pPr>
            <a:endParaRPr lang="en-US" sz="1600" dirty="0">
              <a:solidFill>
                <a:srgbClr val="2E2E2E"/>
              </a:solidFill>
              <a:ea typeface="Roboto"/>
              <a:cs typeface="Roboto"/>
            </a:endParaRPr>
          </a:p>
        </p:txBody>
      </p:sp>
    </p:spTree>
    <p:extLst>
      <p:ext uri="{BB962C8B-B14F-4D97-AF65-F5344CB8AC3E}">
        <p14:creationId xmlns:p14="http://schemas.microsoft.com/office/powerpoint/2010/main" val="3722680591"/>
      </p:ext>
    </p:extLst>
  </p:cSld>
  <p:clrMapOvr>
    <a:masterClrMapping/>
  </p:clrMapOvr>
  <p:transition spd="slow">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51D57-27CA-DD6F-D396-F9B424D06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8DE7D-8E0C-ABC2-5D9B-A654B93B58F3}"/>
              </a:ext>
            </a:extLst>
          </p:cNvPr>
          <p:cNvSpPr>
            <a:spLocks noGrp="1"/>
          </p:cNvSpPr>
          <p:nvPr>
            <p:ph type="title"/>
          </p:nvPr>
        </p:nvSpPr>
        <p:spPr>
          <a:xfrm>
            <a:off x="5037992" y="3750911"/>
            <a:ext cx="6673362" cy="566112"/>
          </a:xfrm>
        </p:spPr>
        <p:txBody>
          <a:bodyPr>
            <a:normAutofit/>
          </a:bodyPr>
          <a:lstStyle/>
          <a:p>
            <a:pPr algn="ctr"/>
            <a:r>
              <a:rPr lang="en-US" sz="2400" dirty="0" err="1">
                <a:solidFill>
                  <a:srgbClr val="1082F2"/>
                </a:solidFill>
              </a:rPr>
              <a:t>Pubsub</a:t>
            </a:r>
            <a:endParaRPr lang="en-US" sz="2400" dirty="0">
              <a:solidFill>
                <a:srgbClr val="1082F2"/>
              </a:solidFill>
            </a:endParaRPr>
          </a:p>
        </p:txBody>
      </p:sp>
    </p:spTree>
    <p:extLst>
      <p:ext uri="{BB962C8B-B14F-4D97-AF65-F5344CB8AC3E}">
        <p14:creationId xmlns:p14="http://schemas.microsoft.com/office/powerpoint/2010/main" val="2069128445"/>
      </p:ext>
    </p:extLst>
  </p:cSld>
  <p:clrMapOvr>
    <a:masterClrMapping/>
  </p:clrMapOvr>
  <p:transition spd="slow">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44F1E-9719-C239-8390-AA1E20C13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28593-0669-6052-6F9B-A6A28DA886F5}"/>
              </a:ext>
            </a:extLst>
          </p:cNvPr>
          <p:cNvSpPr>
            <a:spLocks noGrp="1"/>
          </p:cNvSpPr>
          <p:nvPr>
            <p:ph type="title"/>
          </p:nvPr>
        </p:nvSpPr>
        <p:spPr>
          <a:xfrm>
            <a:off x="1318622" y="386169"/>
            <a:ext cx="9554756" cy="589735"/>
          </a:xfrm>
        </p:spPr>
        <p:txBody>
          <a:bodyPr anchor="ctr">
            <a:normAutofit/>
          </a:bodyPr>
          <a:lstStyle/>
          <a:p>
            <a:r>
              <a:rPr lang="nb-NO" dirty="0">
                <a:latin typeface="Roboto"/>
                <a:ea typeface="Roboto"/>
                <a:cs typeface="Roboto"/>
              </a:rPr>
              <a:t>PubSub Configuration</a:t>
            </a:r>
            <a:endParaRPr lang="en-US" dirty="0" err="1"/>
          </a:p>
        </p:txBody>
      </p:sp>
      <p:sp>
        <p:nvSpPr>
          <p:cNvPr id="7" name="Content Placeholder 2">
            <a:extLst>
              <a:ext uri="{FF2B5EF4-FFF2-40B4-BE49-F238E27FC236}">
                <a16:creationId xmlns:a16="http://schemas.microsoft.com/office/drawing/2014/main" id="{96C181DF-BC72-F329-94F2-3C0A94CAF241}"/>
              </a:ext>
            </a:extLst>
          </p:cNvPr>
          <p:cNvSpPr>
            <a:spLocks noGrp="1"/>
          </p:cNvSpPr>
          <p:nvPr>
            <p:ph idx="1"/>
          </p:nvPr>
        </p:nvSpPr>
        <p:spPr>
          <a:xfrm>
            <a:off x="226031" y="1428203"/>
            <a:ext cx="11794733" cy="5043628"/>
          </a:xfrm>
        </p:spPr>
        <p:txBody>
          <a:bodyPr vert="horz" lIns="91440" tIns="45720" rIns="91440" bIns="45720" rtlCol="0" anchor="t">
            <a:normAutofit lnSpcReduction="10000"/>
          </a:bodyPr>
          <a:lstStyle/>
          <a:p>
            <a:pPr>
              <a:spcBef>
                <a:spcPts val="0"/>
              </a:spcBef>
            </a:pPr>
            <a:r>
              <a:rPr lang="en-US" sz="1800" b="1" dirty="0">
                <a:latin typeface="Segoe UI"/>
                <a:cs typeface="Times New Roman"/>
              </a:rPr>
              <a:t>Purpose</a:t>
            </a:r>
            <a:r>
              <a:rPr lang="en-US" sz="1800" dirty="0">
                <a:latin typeface="Segoe UI"/>
                <a:cs typeface="Times New Roman"/>
              </a:rPr>
              <a:t>: </a:t>
            </a:r>
            <a:br>
              <a:rPr lang="en-US" sz="1800" dirty="0">
                <a:latin typeface="Segoe UI"/>
                <a:cs typeface="Times New Roman"/>
              </a:rPr>
            </a:br>
            <a:r>
              <a:rPr lang="en-US" sz="1800" dirty="0">
                <a:latin typeface="Segoe UI"/>
                <a:cs typeface="Times New Roman"/>
              </a:rPr>
              <a:t>Defines the Fabric connection to message providers (e.g., Apache Kafka, JMS) using the </a:t>
            </a:r>
            <a:r>
              <a:rPr lang="en-US" sz="1800" dirty="0" err="1">
                <a:latin typeface="Segoe UI"/>
                <a:cs typeface="Times New Roman"/>
              </a:rPr>
              <a:t>PubSub</a:t>
            </a:r>
            <a:r>
              <a:rPr lang="en-US" sz="1800" dirty="0">
                <a:latin typeface="Segoe UI"/>
                <a:cs typeface="Times New Roman"/>
              </a:rPr>
              <a:t> abstraction layer. </a:t>
            </a:r>
            <a:br>
              <a:rPr lang="en-US" sz="1800" dirty="0">
                <a:latin typeface="Segoe UI"/>
                <a:cs typeface="Times New Roman"/>
              </a:rPr>
            </a:br>
            <a:endParaRPr lang="en-US" sz="1800" dirty="0">
              <a:latin typeface="Segoe UI"/>
              <a:cs typeface="Times New Roman"/>
            </a:endParaRPr>
          </a:p>
          <a:p>
            <a:pPr>
              <a:spcBef>
                <a:spcPts val="0"/>
              </a:spcBef>
            </a:pPr>
            <a:r>
              <a:rPr lang="en-US" sz="1800" b="1" dirty="0">
                <a:latin typeface="Segoe UI"/>
                <a:cs typeface="Times New Roman"/>
              </a:rPr>
              <a:t>Configuration</a:t>
            </a:r>
            <a:r>
              <a:rPr lang="en-US" sz="1800" dirty="0">
                <a:latin typeface="Segoe UI"/>
                <a:cs typeface="Times New Roman"/>
              </a:rPr>
              <a:t> </a:t>
            </a:r>
            <a:r>
              <a:rPr lang="en-US" sz="1800" b="1" dirty="0">
                <a:latin typeface="Segoe UI"/>
                <a:cs typeface="Times New Roman"/>
              </a:rPr>
              <a:t>Location</a:t>
            </a:r>
            <a:r>
              <a:rPr lang="en-US" sz="1800" dirty="0">
                <a:latin typeface="Segoe UI"/>
                <a:cs typeface="Times New Roman"/>
              </a:rPr>
              <a:t>: </a:t>
            </a:r>
            <a:br>
              <a:rPr lang="en-US" sz="1800" dirty="0">
                <a:latin typeface="Segoe UI"/>
                <a:cs typeface="Times New Roman"/>
              </a:rPr>
            </a:br>
            <a:r>
              <a:rPr lang="en-US" sz="1800" dirty="0">
                <a:latin typeface="Segoe UI"/>
                <a:cs typeface="Times New Roman"/>
              </a:rPr>
              <a:t>All connection settings are defined in the [</a:t>
            </a:r>
            <a:r>
              <a:rPr lang="en-US" sz="1800" dirty="0" err="1">
                <a:latin typeface="Segoe UI"/>
                <a:cs typeface="Times New Roman"/>
              </a:rPr>
              <a:t>default_pubsub</a:t>
            </a:r>
            <a:r>
              <a:rPr lang="en-US" sz="1800" dirty="0">
                <a:latin typeface="Segoe UI"/>
                <a:cs typeface="Times New Roman"/>
              </a:rPr>
              <a:t>] section of config.ini—not within the interface. This allows settings to be centrally managed and applied across various Fabric processes.</a:t>
            </a:r>
            <a:br>
              <a:rPr lang="en-US" sz="1800" dirty="0">
                <a:latin typeface="Segoe UI"/>
                <a:cs typeface="Times New Roman"/>
              </a:rPr>
            </a:br>
            <a:endParaRPr lang="en-US" sz="1800" dirty="0">
              <a:latin typeface="Segoe UI"/>
              <a:cs typeface="Times New Roman"/>
            </a:endParaRPr>
          </a:p>
          <a:p>
            <a:pPr>
              <a:spcBef>
                <a:spcPts val="0"/>
              </a:spcBef>
            </a:pPr>
            <a:r>
              <a:rPr lang="en-US" sz="1800" b="1" dirty="0">
                <a:latin typeface="Segoe UI"/>
                <a:cs typeface="Times New Roman"/>
              </a:rPr>
              <a:t>Interface Definition</a:t>
            </a:r>
            <a:r>
              <a:rPr lang="en-US" sz="1800" dirty="0">
                <a:latin typeface="Segoe UI"/>
                <a:cs typeface="Times New Roman"/>
              </a:rPr>
              <a:t>: </a:t>
            </a:r>
            <a:br>
              <a:rPr lang="en-US" sz="1800" dirty="0">
                <a:latin typeface="Segoe UI"/>
                <a:cs typeface="Times New Roman"/>
              </a:rPr>
            </a:br>
            <a:r>
              <a:rPr lang="en-US" sz="1800" dirty="0">
                <a:latin typeface="Segoe UI"/>
                <a:cs typeface="Times New Roman"/>
              </a:rPr>
              <a:t>The interface only includes the Config Section parameter, which references the name of the config.ini section containing connection settings. By default, it is set to </a:t>
            </a:r>
            <a:r>
              <a:rPr lang="en-US" sz="1800" dirty="0" err="1">
                <a:latin typeface="Segoe UI"/>
                <a:cs typeface="Times New Roman"/>
              </a:rPr>
              <a:t>default_pubsub</a:t>
            </a:r>
            <a:r>
              <a:rPr lang="en-US" sz="1800" dirty="0">
                <a:latin typeface="Segoe UI"/>
                <a:cs typeface="Times New Roman"/>
              </a:rPr>
              <a:t>.</a:t>
            </a:r>
            <a:br>
              <a:rPr lang="en-US" sz="1800" dirty="0">
                <a:latin typeface="Segoe UI"/>
                <a:cs typeface="Times New Roman"/>
              </a:rPr>
            </a:br>
            <a:endParaRPr lang="en-US" sz="1800" dirty="0">
              <a:latin typeface="Segoe UI"/>
              <a:cs typeface="Times New Roman"/>
            </a:endParaRPr>
          </a:p>
          <a:p>
            <a:pPr>
              <a:spcBef>
                <a:spcPts val="0"/>
              </a:spcBef>
            </a:pPr>
            <a:r>
              <a:rPr lang="en-US" sz="1800" b="1" dirty="0">
                <a:latin typeface="Segoe UI"/>
                <a:cs typeface="Times New Roman"/>
              </a:rPr>
              <a:t>Shared Usage</a:t>
            </a:r>
            <a:r>
              <a:rPr lang="en-US" sz="1800" dirty="0">
                <a:latin typeface="Segoe UI"/>
                <a:cs typeface="Times New Roman"/>
              </a:rPr>
              <a:t>:</a:t>
            </a:r>
            <a:br>
              <a:rPr lang="en-US" sz="1800" dirty="0">
                <a:latin typeface="Segoe UI"/>
                <a:cs typeface="Times New Roman"/>
              </a:rPr>
            </a:br>
            <a:r>
              <a:rPr lang="en-US" sz="1800" dirty="0">
                <a:latin typeface="Segoe UI"/>
                <a:cs typeface="Times New Roman"/>
              </a:rPr>
              <a:t>The [</a:t>
            </a:r>
            <a:r>
              <a:rPr lang="en-US" sz="1800" dirty="0" err="1">
                <a:latin typeface="Segoe UI"/>
                <a:cs typeface="Times New Roman"/>
              </a:rPr>
              <a:t>default_pubsub</a:t>
            </a:r>
            <a:r>
              <a:rPr lang="en-US" sz="1800" dirty="0">
                <a:latin typeface="Segoe UI"/>
                <a:cs typeface="Times New Roman"/>
              </a:rPr>
              <a:t>] section is also used by CDC and Common DB processes to connect to Kafka.</a:t>
            </a:r>
            <a:br>
              <a:rPr lang="en-US" sz="1800" dirty="0">
                <a:latin typeface="Segoe UI"/>
                <a:cs typeface="Times New Roman"/>
              </a:rPr>
            </a:br>
            <a:endParaRPr lang="en-US" sz="1800" dirty="0">
              <a:latin typeface="Segoe UI"/>
              <a:cs typeface="Times New Roman"/>
            </a:endParaRPr>
          </a:p>
          <a:p>
            <a:pPr>
              <a:spcBef>
                <a:spcPts val="0"/>
              </a:spcBef>
            </a:pPr>
            <a:r>
              <a:rPr lang="en-US" sz="1800" b="1" dirty="0">
                <a:latin typeface="Segoe UI"/>
                <a:cs typeface="Times New Roman"/>
              </a:rPr>
              <a:t>Multiple Connection Settings</a:t>
            </a:r>
            <a:r>
              <a:rPr lang="en-US" sz="1800" dirty="0">
                <a:latin typeface="Segoe UI"/>
                <a:cs typeface="Times New Roman"/>
              </a:rPr>
              <a:t>:</a:t>
            </a:r>
          </a:p>
          <a:p>
            <a:pPr lvl="1"/>
            <a:r>
              <a:rPr lang="en-US" sz="1400" dirty="0">
                <a:latin typeface="Segoe UI"/>
                <a:cs typeface="Segoe UI"/>
              </a:rPr>
              <a:t>When different connection settings are required for various processes, you can create additional section(s) in config.ini and add their names to the interface’s Config Section parameter, separated by commas.</a:t>
            </a:r>
          </a:p>
          <a:p>
            <a:pPr lvl="1"/>
            <a:r>
              <a:rPr lang="en-US" sz="1400" dirty="0">
                <a:latin typeface="Segoe UI"/>
                <a:cs typeface="Segoe UI"/>
              </a:rPr>
              <a:t>The first section name from this list that is found in the config.ini will be used. </a:t>
            </a:r>
          </a:p>
          <a:p>
            <a:pPr lvl="1"/>
            <a:r>
              <a:rPr lang="en-US" sz="1400" dirty="0">
                <a:latin typeface="Segoe UI"/>
                <a:cs typeface="Segoe UI"/>
              </a:rPr>
              <a:t>If the section name defined in the interface does not exist in the config.ini, the settings will default to the [</a:t>
            </a:r>
            <a:r>
              <a:rPr lang="en-US" sz="1400" dirty="0" err="1">
                <a:latin typeface="Segoe UI"/>
                <a:cs typeface="Segoe UI"/>
              </a:rPr>
              <a:t>default_pubsub</a:t>
            </a:r>
            <a:r>
              <a:rPr lang="en-US" sz="1400" dirty="0">
                <a:latin typeface="Segoe UI"/>
                <a:cs typeface="Segoe UI"/>
              </a:rPr>
              <a:t>] section.</a:t>
            </a:r>
          </a:p>
          <a:p>
            <a:pPr lvl="1"/>
            <a:r>
              <a:rPr lang="en-US" sz="1400" dirty="0">
                <a:latin typeface="Segoe UI"/>
                <a:cs typeface="Segoe UI"/>
              </a:rPr>
              <a:t>The new section does not have to include all the parameters, just those that override the default section's settings.</a:t>
            </a:r>
          </a:p>
        </p:txBody>
      </p:sp>
    </p:spTree>
    <p:extLst>
      <p:ext uri="{BB962C8B-B14F-4D97-AF65-F5344CB8AC3E}">
        <p14:creationId xmlns:p14="http://schemas.microsoft.com/office/powerpoint/2010/main" val="3493645829"/>
      </p:ext>
    </p:extLst>
  </p:cSld>
  <p:clrMapOvr>
    <a:masterClrMapping/>
  </p:clrMapOvr>
  <p:transition spd="slow">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96188-6D81-20AD-E5AB-4DA5848F2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05777-536B-1609-3414-A4507730C67D}"/>
              </a:ext>
            </a:extLst>
          </p:cNvPr>
          <p:cNvSpPr>
            <a:spLocks noGrp="1"/>
          </p:cNvSpPr>
          <p:nvPr>
            <p:ph type="title"/>
          </p:nvPr>
        </p:nvSpPr>
        <p:spPr>
          <a:xfrm>
            <a:off x="1318622" y="386169"/>
            <a:ext cx="9554756" cy="589735"/>
          </a:xfrm>
        </p:spPr>
        <p:txBody>
          <a:bodyPr anchor="ctr">
            <a:normAutofit/>
          </a:bodyPr>
          <a:lstStyle/>
          <a:p>
            <a:r>
              <a:rPr lang="nb-NO" dirty="0">
                <a:latin typeface="Roboto"/>
                <a:ea typeface="Roboto"/>
                <a:cs typeface="Roboto"/>
              </a:rPr>
              <a:t>PubSub Configuration</a:t>
            </a:r>
            <a:endParaRPr lang="en-US" dirty="0" err="1"/>
          </a:p>
        </p:txBody>
      </p:sp>
      <p:sp>
        <p:nvSpPr>
          <p:cNvPr id="7" name="Content Placeholder 2">
            <a:extLst>
              <a:ext uri="{FF2B5EF4-FFF2-40B4-BE49-F238E27FC236}">
                <a16:creationId xmlns:a16="http://schemas.microsoft.com/office/drawing/2014/main" id="{AD732881-EBD4-B8EE-826D-78702FD560E1}"/>
              </a:ext>
            </a:extLst>
          </p:cNvPr>
          <p:cNvSpPr>
            <a:spLocks noGrp="1"/>
          </p:cNvSpPr>
          <p:nvPr>
            <p:ph idx="1"/>
          </p:nvPr>
        </p:nvSpPr>
        <p:spPr>
          <a:xfrm>
            <a:off x="620486" y="1428203"/>
            <a:ext cx="11190513" cy="4610643"/>
          </a:xfrm>
        </p:spPr>
        <p:txBody>
          <a:bodyPr vert="horz" lIns="91440" tIns="45720" rIns="91440" bIns="45720" rtlCol="0" anchor="t">
            <a:normAutofit/>
          </a:bodyPr>
          <a:lstStyle/>
          <a:p>
            <a:pPr marL="0" indent="0">
              <a:buNone/>
            </a:pPr>
            <a:r>
              <a:rPr lang="en-US" sz="1800" dirty="0">
                <a:solidFill>
                  <a:srgbClr val="0070C0"/>
                </a:solidFill>
                <a:latin typeface="Segoe UI"/>
                <a:cs typeface="Segoe UI"/>
              </a:rPr>
              <a:t>[</a:t>
            </a:r>
            <a:r>
              <a:rPr lang="en-US" sz="1800" dirty="0" err="1">
                <a:solidFill>
                  <a:srgbClr val="0070C0"/>
                </a:solidFill>
                <a:latin typeface="Segoe UI"/>
                <a:cs typeface="Segoe UI"/>
              </a:rPr>
              <a:t>default_pubsub</a:t>
            </a:r>
            <a:r>
              <a:rPr lang="en-US" sz="1800" dirty="0">
                <a:solidFill>
                  <a:srgbClr val="0070C0"/>
                </a:solidFill>
                <a:latin typeface="Segoe UI"/>
                <a:cs typeface="Segoe UI"/>
              </a:rPr>
              <a:t>]</a:t>
            </a:r>
          </a:p>
          <a:p>
            <a:pPr marL="285750" indent="-285750"/>
            <a:r>
              <a:rPr lang="en-US" sz="1600" b="1" dirty="0">
                <a:latin typeface="Segoe UI"/>
                <a:cs typeface="Segoe UI"/>
              </a:rPr>
              <a:t>TYPE</a:t>
            </a:r>
            <a:r>
              <a:rPr lang="en-US" sz="1600" dirty="0">
                <a:latin typeface="Segoe UI"/>
                <a:cs typeface="Segoe UI"/>
              </a:rPr>
              <a:t>=KAFKA - </a:t>
            </a:r>
            <a:r>
              <a:rPr lang="en-US" sz="1600" dirty="0" err="1">
                <a:latin typeface="Segoe UI"/>
                <a:cs typeface="Segoe UI"/>
              </a:rPr>
              <a:t>pubsub</a:t>
            </a:r>
            <a:r>
              <a:rPr lang="en-US" sz="1600" dirty="0">
                <a:latin typeface="Segoe UI"/>
                <a:cs typeface="Segoe UI"/>
              </a:rPr>
              <a:t> type can be one of [MEMORY, KAFKA, NO_OP, ERROR]</a:t>
            </a:r>
          </a:p>
          <a:p>
            <a:pPr lvl="1"/>
            <a:r>
              <a:rPr lang="en-US" sz="1400" dirty="0">
                <a:latin typeface="Segoe UI"/>
                <a:cs typeface="Segoe UI"/>
              </a:rPr>
              <a:t>MEMORY - execute the message handling via an internal queue that runs on localhost. This type can only be used for debug purpose.</a:t>
            </a:r>
          </a:p>
          <a:p>
            <a:pPr lvl="1"/>
            <a:r>
              <a:rPr lang="en-US" sz="1400" dirty="0">
                <a:latin typeface="Segoe UI"/>
                <a:cs typeface="Segoe UI"/>
              </a:rPr>
              <a:t>NO_OP - do not send or receive the messages. This type can only be used for debug purpose.</a:t>
            </a:r>
          </a:p>
          <a:p>
            <a:pPr lvl="1"/>
            <a:r>
              <a:rPr lang="en-US" sz="1400" dirty="0">
                <a:latin typeface="Segoe UI"/>
                <a:cs typeface="Segoe UI"/>
              </a:rPr>
              <a:t>ERROR - simulate throwing an Unsupported Operation exception. This type can only be used for debug purpose.</a:t>
            </a:r>
          </a:p>
          <a:p>
            <a:pPr marL="285750" indent="-285750"/>
            <a:r>
              <a:rPr lang="en-US" sz="1600" b="1" dirty="0">
                <a:latin typeface="Segoe UI"/>
                <a:cs typeface="Segoe UI"/>
              </a:rPr>
              <a:t>POLL_TIMEOUT</a:t>
            </a:r>
            <a:r>
              <a:rPr lang="en-US" sz="1600" dirty="0">
                <a:latin typeface="Segoe UI"/>
                <a:cs typeface="Segoe UI"/>
              </a:rPr>
              <a:t>=-1 - The timeout to wait for a new message. If the timeout elapses the collection will come to an end. If set to -1 the wait will be forever.</a:t>
            </a:r>
          </a:p>
          <a:p>
            <a:pPr marL="285750" indent="-285750"/>
            <a:r>
              <a:rPr lang="en-US" sz="1600" b="1" dirty="0">
                <a:latin typeface="Segoe UI"/>
                <a:cs typeface="Segoe UI"/>
              </a:rPr>
              <a:t>MAX_POLL_RECORDS</a:t>
            </a:r>
            <a:r>
              <a:rPr lang="en-US" sz="1600" dirty="0">
                <a:latin typeface="Segoe UI"/>
                <a:cs typeface="Segoe UI"/>
              </a:rPr>
              <a:t> – Max number of records that the consumer reads from Kafka in each poll (default: 500). For performance optimization.</a:t>
            </a:r>
          </a:p>
          <a:p>
            <a:pPr marL="285750" indent="-285750"/>
            <a:endParaRPr lang="en-US" sz="1600" dirty="0">
              <a:latin typeface="Segoe UI"/>
              <a:cs typeface="Segoe UI"/>
            </a:endParaRPr>
          </a:p>
        </p:txBody>
      </p:sp>
    </p:spTree>
    <p:extLst>
      <p:ext uri="{BB962C8B-B14F-4D97-AF65-F5344CB8AC3E}">
        <p14:creationId xmlns:p14="http://schemas.microsoft.com/office/powerpoint/2010/main" val="2000115115"/>
      </p:ext>
    </p:extLst>
  </p:cSld>
  <p:clrMapOvr>
    <a:masterClrMapping/>
  </p:clrMapOvr>
  <p:transition spd="slow">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96188-6D81-20AD-E5AB-4DA5848F2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05777-536B-1609-3414-A4507730C67D}"/>
              </a:ext>
            </a:extLst>
          </p:cNvPr>
          <p:cNvSpPr>
            <a:spLocks noGrp="1"/>
          </p:cNvSpPr>
          <p:nvPr>
            <p:ph type="title"/>
          </p:nvPr>
        </p:nvSpPr>
        <p:spPr>
          <a:xfrm>
            <a:off x="1318622" y="386169"/>
            <a:ext cx="9554756" cy="589735"/>
          </a:xfrm>
        </p:spPr>
        <p:txBody>
          <a:bodyPr anchor="ctr">
            <a:normAutofit/>
          </a:bodyPr>
          <a:lstStyle/>
          <a:p>
            <a:r>
              <a:rPr lang="nb-NO" dirty="0">
                <a:latin typeface="Roboto"/>
                <a:ea typeface="Roboto"/>
                <a:cs typeface="Roboto"/>
              </a:rPr>
              <a:t>PubSub Configuration</a:t>
            </a:r>
            <a:endParaRPr lang="en-US" dirty="0" err="1"/>
          </a:p>
        </p:txBody>
      </p:sp>
      <p:sp>
        <p:nvSpPr>
          <p:cNvPr id="7" name="Content Placeholder 2">
            <a:extLst>
              <a:ext uri="{FF2B5EF4-FFF2-40B4-BE49-F238E27FC236}">
                <a16:creationId xmlns:a16="http://schemas.microsoft.com/office/drawing/2014/main" id="{AD732881-EBD4-B8EE-826D-78702FD560E1}"/>
              </a:ext>
            </a:extLst>
          </p:cNvPr>
          <p:cNvSpPr>
            <a:spLocks noGrp="1"/>
          </p:cNvSpPr>
          <p:nvPr>
            <p:ph idx="1"/>
          </p:nvPr>
        </p:nvSpPr>
        <p:spPr>
          <a:xfrm>
            <a:off x="620486" y="1428203"/>
            <a:ext cx="11190513" cy="5235872"/>
          </a:xfrm>
        </p:spPr>
        <p:txBody>
          <a:bodyPr vert="horz" lIns="91440" tIns="45720" rIns="91440" bIns="45720" rtlCol="0" anchor="t">
            <a:normAutofit/>
          </a:bodyPr>
          <a:lstStyle/>
          <a:p>
            <a:pPr>
              <a:buNone/>
            </a:pPr>
            <a:r>
              <a:rPr lang="en-US" sz="1800" b="1" dirty="0">
                <a:latin typeface="Segoe UI"/>
                <a:cs typeface="Segoe UI"/>
              </a:rPr>
              <a:t>TRANSACTION_MODE - </a:t>
            </a:r>
            <a:r>
              <a:rPr lang="en-US" sz="1800" dirty="0">
                <a:latin typeface="Segoe UI"/>
                <a:cs typeface="Segoe UI"/>
              </a:rPr>
              <a:t>Determines how the publisher handles transactions.</a:t>
            </a:r>
            <a:br>
              <a:rPr lang="en-US" sz="1800" dirty="0">
                <a:latin typeface="Segoe UI"/>
                <a:cs typeface="Segoe UI"/>
              </a:rPr>
            </a:br>
            <a:br>
              <a:rPr lang="en-US" sz="1800" dirty="0">
                <a:latin typeface="Segoe UI"/>
                <a:cs typeface="Segoe UI"/>
              </a:rPr>
            </a:br>
            <a:r>
              <a:rPr lang="en-US" sz="1800" dirty="0">
                <a:solidFill>
                  <a:srgbClr val="1082F2"/>
                </a:solidFill>
              </a:rPr>
              <a:t>Publish Actor</a:t>
            </a:r>
          </a:p>
          <a:p>
            <a:pPr>
              <a:buNone/>
            </a:pPr>
            <a:r>
              <a:rPr lang="en-US" sz="1600" dirty="0"/>
              <a:t>	The </a:t>
            </a:r>
            <a:r>
              <a:rPr lang="en-US" sz="1600" b="1" dirty="0"/>
              <a:t>Publish Actor</a:t>
            </a:r>
            <a:r>
              <a:rPr lang="en-US" sz="1600" dirty="0"/>
              <a:t> sends messages to a message bus or topic. It supports different transaction modes that define how and when the message is sent relative to the transaction context:</a:t>
            </a:r>
          </a:p>
          <a:p>
            <a:pPr marL="198755" indent="-198755"/>
            <a:r>
              <a:rPr lang="en-US" sz="1600" b="1" dirty="0">
                <a:latin typeface="Segoe UI"/>
                <a:cs typeface="Segoe UI"/>
              </a:rPr>
              <a:t>Async Mode</a:t>
            </a:r>
            <a:endParaRPr lang="en-US" sz="1600" dirty="0">
              <a:latin typeface="Segoe UI"/>
              <a:cs typeface="Segoe UI"/>
            </a:endParaRPr>
          </a:p>
          <a:p>
            <a:pPr lvl="1"/>
            <a:r>
              <a:rPr lang="en-US" dirty="0">
                <a:latin typeface="Segoe UI"/>
                <a:cs typeface="Segoe UI"/>
              </a:rPr>
              <a:t>Description:</a:t>
            </a:r>
          </a:p>
          <a:p>
            <a:pPr lvl="2"/>
            <a:r>
              <a:rPr lang="en-US" dirty="0">
                <a:latin typeface="Segoe UI"/>
                <a:cs typeface="Segoe UI"/>
              </a:rPr>
              <a:t>Messages are aggregated in an internal queue and sent asynchronously to Kafka upon commit (or discarded on rollback).</a:t>
            </a:r>
            <a:endParaRPr lang="en-US" i="0" dirty="0">
              <a:latin typeface="Segoe UI"/>
              <a:cs typeface="Segoe UI"/>
            </a:endParaRPr>
          </a:p>
          <a:p>
            <a:pPr lvl="1"/>
            <a:r>
              <a:rPr lang="en-US" dirty="0">
                <a:latin typeface="Segoe UI"/>
                <a:cs typeface="Segoe UI"/>
              </a:rPr>
              <a:t>Key Points:</a:t>
            </a:r>
          </a:p>
          <a:p>
            <a:pPr lvl="2"/>
            <a:r>
              <a:rPr lang="en-US" b="1" dirty="0">
                <a:latin typeface="Segoe UI"/>
                <a:cs typeface="Segoe UI"/>
              </a:rPr>
              <a:t>No Guaranteed Delivery:</a:t>
            </a:r>
            <a:r>
              <a:rPr lang="en-US" dirty="0">
                <a:latin typeface="Segoe UI"/>
                <a:cs typeface="Segoe UI"/>
              </a:rPr>
              <a:t> If any message fails, the remaining messages are still sent.</a:t>
            </a:r>
            <a:endParaRPr lang="en-US" i="0" dirty="0">
              <a:latin typeface="Segoe UI"/>
              <a:cs typeface="Segoe UI"/>
            </a:endParaRPr>
          </a:p>
          <a:p>
            <a:pPr lvl="2"/>
            <a:r>
              <a:rPr lang="en-US" dirty="0">
                <a:latin typeface="Segoe UI"/>
                <a:cs typeface="Segoe UI"/>
              </a:rPr>
              <a:t>The commit command raises an exception for failed messages. Check the logs for details.</a:t>
            </a:r>
            <a:endParaRPr lang="en-US" i="0" dirty="0">
              <a:latin typeface="Segoe UI"/>
              <a:cs typeface="Segoe UI"/>
            </a:endParaRPr>
          </a:p>
          <a:p>
            <a:pPr lvl="2"/>
            <a:r>
              <a:rPr lang="en-US" dirty="0">
                <a:latin typeface="Segoe UI"/>
                <a:cs typeface="Segoe UI"/>
              </a:rPr>
              <a:t>Faster than </a:t>
            </a:r>
            <a:r>
              <a:rPr lang="en-US" b="1" dirty="0">
                <a:latin typeface="Segoe UI"/>
                <a:cs typeface="Segoe UI"/>
              </a:rPr>
              <a:t>Broker</a:t>
            </a:r>
            <a:r>
              <a:rPr lang="en-US" dirty="0">
                <a:latin typeface="Segoe UI"/>
                <a:cs typeface="Segoe UI"/>
              </a:rPr>
              <a:t> or </a:t>
            </a:r>
            <a:r>
              <a:rPr lang="en-US" b="1" dirty="0">
                <a:latin typeface="Segoe UI"/>
                <a:cs typeface="Segoe UI"/>
              </a:rPr>
              <a:t>Ignore</a:t>
            </a:r>
            <a:r>
              <a:rPr lang="en-US" dirty="0">
                <a:latin typeface="Segoe UI"/>
                <a:cs typeface="Segoe UI"/>
              </a:rPr>
              <a:t> modes.</a:t>
            </a:r>
            <a:endParaRPr lang="en-US" i="0" dirty="0">
              <a:latin typeface="Segoe UI"/>
              <a:cs typeface="Segoe UI"/>
            </a:endParaRPr>
          </a:p>
          <a:p>
            <a:pPr lvl="2"/>
            <a:r>
              <a:rPr lang="en-US" dirty="0">
                <a:latin typeface="Segoe UI"/>
                <a:cs typeface="Segoe UI"/>
              </a:rPr>
              <a:t>Recommended for scenarios where transactions are not critical.</a:t>
            </a:r>
            <a:endParaRPr lang="en-US" i="0" dirty="0">
              <a:latin typeface="Segoe UI"/>
              <a:cs typeface="Segoe UI"/>
            </a:endParaRPr>
          </a:p>
          <a:p>
            <a:pPr lvl="1"/>
            <a:r>
              <a:rPr lang="en-US" dirty="0">
                <a:latin typeface="Segoe UI"/>
                <a:cs typeface="Segoe UI"/>
              </a:rPr>
              <a:t>Queue Size:</a:t>
            </a:r>
          </a:p>
          <a:p>
            <a:pPr lvl="2"/>
            <a:r>
              <a:rPr lang="en-US" dirty="0">
                <a:latin typeface="Segoe UI"/>
                <a:cs typeface="Segoe UI"/>
              </a:rPr>
              <a:t>Controlled by PUB_QUEUE_LIMIT (a hidden parameter in config.ini).</a:t>
            </a:r>
            <a:endParaRPr lang="en-US" i="0" dirty="0">
              <a:latin typeface="Segoe UI"/>
              <a:cs typeface="Segoe UI"/>
            </a:endParaRPr>
          </a:p>
          <a:p>
            <a:pPr marL="198755" indent="-198755"/>
            <a:endParaRPr lang="en-US" sz="1800" dirty="0">
              <a:latin typeface="Segoe UI"/>
              <a:cs typeface="Segoe UI"/>
            </a:endParaRPr>
          </a:p>
          <a:p>
            <a:pPr marL="285750" indent="-285750"/>
            <a:endParaRPr lang="en-US" sz="1600" dirty="0">
              <a:latin typeface="Segoe UI"/>
              <a:cs typeface="Segoe UI"/>
            </a:endParaRPr>
          </a:p>
        </p:txBody>
      </p:sp>
    </p:spTree>
    <p:extLst>
      <p:ext uri="{BB962C8B-B14F-4D97-AF65-F5344CB8AC3E}">
        <p14:creationId xmlns:p14="http://schemas.microsoft.com/office/powerpoint/2010/main" val="775838133"/>
      </p:ext>
    </p:extLst>
  </p:cSld>
  <p:clrMapOvr>
    <a:masterClrMapping/>
  </p:clrMapOvr>
  <p:transition spd="slow">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96188-6D81-20AD-E5AB-4DA5848F2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05777-536B-1609-3414-A4507730C67D}"/>
              </a:ext>
            </a:extLst>
          </p:cNvPr>
          <p:cNvSpPr>
            <a:spLocks noGrp="1"/>
          </p:cNvSpPr>
          <p:nvPr>
            <p:ph type="title"/>
          </p:nvPr>
        </p:nvSpPr>
        <p:spPr>
          <a:xfrm>
            <a:off x="1318622" y="386169"/>
            <a:ext cx="9554756" cy="589735"/>
          </a:xfrm>
        </p:spPr>
        <p:txBody>
          <a:bodyPr anchor="ctr">
            <a:normAutofit/>
          </a:bodyPr>
          <a:lstStyle/>
          <a:p>
            <a:r>
              <a:rPr lang="nb-NO" dirty="0">
                <a:latin typeface="Roboto"/>
                <a:ea typeface="Roboto"/>
                <a:cs typeface="Roboto"/>
              </a:rPr>
              <a:t>PubSub Configuration</a:t>
            </a:r>
            <a:endParaRPr lang="en-US" dirty="0" err="1"/>
          </a:p>
        </p:txBody>
      </p:sp>
      <p:sp>
        <p:nvSpPr>
          <p:cNvPr id="7" name="Content Placeholder 2">
            <a:extLst>
              <a:ext uri="{FF2B5EF4-FFF2-40B4-BE49-F238E27FC236}">
                <a16:creationId xmlns:a16="http://schemas.microsoft.com/office/drawing/2014/main" id="{AD732881-EBD4-B8EE-826D-78702FD560E1}"/>
              </a:ext>
            </a:extLst>
          </p:cNvPr>
          <p:cNvSpPr>
            <a:spLocks noGrp="1"/>
          </p:cNvSpPr>
          <p:nvPr>
            <p:ph idx="1"/>
          </p:nvPr>
        </p:nvSpPr>
        <p:spPr>
          <a:xfrm>
            <a:off x="620486" y="1428203"/>
            <a:ext cx="11190513" cy="5235872"/>
          </a:xfrm>
        </p:spPr>
        <p:txBody>
          <a:bodyPr vert="horz" lIns="91440" tIns="45720" rIns="91440" bIns="45720" rtlCol="0" anchor="t">
            <a:noAutofit/>
          </a:bodyPr>
          <a:lstStyle/>
          <a:p>
            <a:pPr marL="457200" lvl="1" indent="0">
              <a:buNone/>
            </a:pPr>
            <a:r>
              <a:rPr lang="en-US" sz="1600" b="1" dirty="0">
                <a:latin typeface="Segoe UI"/>
                <a:cs typeface="Segoe UI"/>
              </a:rPr>
              <a:t>Broker Mode</a:t>
            </a:r>
            <a:endParaRPr lang="en-US" sz="1600" dirty="0">
              <a:latin typeface="Segoe UI"/>
              <a:cs typeface="Segoe UI"/>
            </a:endParaRPr>
          </a:p>
          <a:p>
            <a:pPr lvl="1"/>
            <a:r>
              <a:rPr lang="en-US" dirty="0">
                <a:latin typeface="Segoe UI"/>
                <a:cs typeface="Segoe UI"/>
              </a:rPr>
              <a:t>Description:</a:t>
            </a:r>
          </a:p>
          <a:p>
            <a:pPr lvl="2"/>
            <a:r>
              <a:rPr lang="en-US" dirty="0">
                <a:latin typeface="Segoe UI"/>
                <a:cs typeface="Segoe UI"/>
              </a:rPr>
              <a:t>Fully supports transactions, sending messages directly to Kafka without using an internal queue.</a:t>
            </a:r>
            <a:endParaRPr lang="en-US" i="0" dirty="0">
              <a:latin typeface="Segoe UI"/>
              <a:cs typeface="Segoe UI"/>
            </a:endParaRPr>
          </a:p>
          <a:p>
            <a:pPr lvl="1"/>
            <a:r>
              <a:rPr lang="en-US" dirty="0">
                <a:latin typeface="Segoe UI"/>
                <a:cs typeface="Segoe UI"/>
              </a:rPr>
              <a:t>Key Points:</a:t>
            </a:r>
          </a:p>
          <a:p>
            <a:pPr lvl="2"/>
            <a:r>
              <a:rPr lang="en-US" dirty="0">
                <a:latin typeface="Segoe UI"/>
                <a:cs typeface="Segoe UI"/>
              </a:rPr>
              <a:t>On </a:t>
            </a:r>
            <a:r>
              <a:rPr lang="en-US" dirty="0">
                <a:latin typeface="Consolas"/>
                <a:cs typeface="Segoe UI"/>
              </a:rPr>
              <a:t>commit</a:t>
            </a:r>
            <a:r>
              <a:rPr lang="en-US" dirty="0">
                <a:latin typeface="Segoe UI"/>
                <a:cs typeface="Segoe UI"/>
              </a:rPr>
              <a:t>, the transaction is committed to Kafka.</a:t>
            </a:r>
            <a:endParaRPr lang="en-US" i="0" dirty="0">
              <a:latin typeface="Segoe UI"/>
              <a:cs typeface="Segoe UI"/>
            </a:endParaRPr>
          </a:p>
          <a:p>
            <a:pPr lvl="2"/>
            <a:r>
              <a:rPr lang="en-US" dirty="0">
                <a:latin typeface="Segoe UI"/>
                <a:cs typeface="Segoe UI"/>
              </a:rPr>
              <a:t>On </a:t>
            </a:r>
            <a:r>
              <a:rPr lang="en-US" dirty="0">
                <a:latin typeface="Consolas"/>
                <a:cs typeface="Segoe UI"/>
              </a:rPr>
              <a:t>rollback</a:t>
            </a:r>
            <a:r>
              <a:rPr lang="en-US" dirty="0">
                <a:latin typeface="Segoe UI"/>
                <a:cs typeface="Segoe UI"/>
              </a:rPr>
              <a:t>, the transaction is rolled back in Kafka as well.</a:t>
            </a:r>
            <a:endParaRPr lang="en-US" i="0" dirty="0">
              <a:latin typeface="Segoe UI"/>
              <a:cs typeface="Segoe UI"/>
            </a:endParaRPr>
          </a:p>
          <a:p>
            <a:pPr lvl="2"/>
            <a:r>
              <a:rPr lang="en-US" dirty="0">
                <a:latin typeface="Segoe UI"/>
                <a:cs typeface="Segoe UI"/>
              </a:rPr>
              <a:t>Transaction size is limited only by Kafka, with no additional restrictions from Fabric.</a:t>
            </a:r>
            <a:endParaRPr lang="en-US" i="0" dirty="0">
              <a:latin typeface="Segoe UI"/>
              <a:cs typeface="Segoe UI"/>
            </a:endParaRPr>
          </a:p>
          <a:p>
            <a:pPr lvl="2"/>
            <a:r>
              <a:rPr lang="en-US" dirty="0">
                <a:latin typeface="Segoe UI"/>
                <a:cs typeface="Segoe UI"/>
              </a:rPr>
              <a:t>Suitable for scenarios requiring transaction guarantees.</a:t>
            </a:r>
            <a:br>
              <a:rPr lang="en-US" dirty="0">
                <a:latin typeface="Segoe UI"/>
                <a:cs typeface="Segoe UI"/>
              </a:rPr>
            </a:br>
            <a:endParaRPr lang="en-US" i="0" dirty="0">
              <a:latin typeface="Segoe UI"/>
              <a:cs typeface="Segoe UI"/>
            </a:endParaRPr>
          </a:p>
          <a:p>
            <a:pPr marL="457200" lvl="1" indent="0">
              <a:buNone/>
            </a:pPr>
            <a:r>
              <a:rPr lang="en-US" sz="1600" b="1" dirty="0">
                <a:latin typeface="Segoe UI"/>
                <a:cs typeface="Segoe UI"/>
              </a:rPr>
              <a:t>Ignore Mode</a:t>
            </a:r>
            <a:endParaRPr lang="en-US" sz="1600" dirty="0">
              <a:latin typeface="Segoe UI"/>
              <a:cs typeface="Segoe UI"/>
            </a:endParaRPr>
          </a:p>
          <a:p>
            <a:pPr lvl="1"/>
            <a:r>
              <a:rPr lang="en-US" dirty="0">
                <a:latin typeface="Segoe UI"/>
                <a:cs typeface="Segoe UI"/>
              </a:rPr>
              <a:t>Description:</a:t>
            </a:r>
          </a:p>
          <a:p>
            <a:pPr lvl="2"/>
            <a:r>
              <a:rPr lang="en-US" dirty="0">
                <a:latin typeface="Segoe UI"/>
                <a:cs typeface="Segoe UI"/>
              </a:rPr>
              <a:t>Messages are sent synchronously, one by one, and committed immediately.</a:t>
            </a:r>
            <a:endParaRPr lang="en-US" i="0" dirty="0">
              <a:latin typeface="Segoe UI"/>
              <a:cs typeface="Segoe UI"/>
            </a:endParaRPr>
          </a:p>
          <a:p>
            <a:pPr lvl="1"/>
            <a:r>
              <a:rPr lang="en-US" dirty="0">
                <a:latin typeface="Segoe UI"/>
                <a:cs typeface="Segoe UI"/>
              </a:rPr>
              <a:t>Key Points:</a:t>
            </a:r>
          </a:p>
          <a:p>
            <a:pPr lvl="2"/>
            <a:r>
              <a:rPr lang="en-US" dirty="0">
                <a:latin typeface="Segoe UI"/>
                <a:cs typeface="Segoe UI"/>
              </a:rPr>
              <a:t>No need to execute </a:t>
            </a:r>
            <a:r>
              <a:rPr lang="en-US" dirty="0">
                <a:latin typeface="Consolas"/>
                <a:cs typeface="Segoe UI"/>
              </a:rPr>
              <a:t>commit</a:t>
            </a:r>
            <a:r>
              <a:rPr lang="en-US" dirty="0">
                <a:latin typeface="Segoe UI"/>
                <a:cs typeface="Segoe UI"/>
              </a:rPr>
              <a:t> in Fabric.</a:t>
            </a:r>
            <a:endParaRPr lang="en-US" i="0" dirty="0">
              <a:latin typeface="Segoe UI"/>
              <a:cs typeface="Segoe UI"/>
            </a:endParaRPr>
          </a:p>
          <a:p>
            <a:pPr lvl="2"/>
            <a:r>
              <a:rPr lang="en-US" dirty="0">
                <a:latin typeface="Segoe UI"/>
                <a:cs typeface="Segoe UI"/>
              </a:rPr>
              <a:t>Transactions are not supported, and each message is handled individually.</a:t>
            </a:r>
            <a:endParaRPr lang="en-US" i="0" dirty="0">
              <a:latin typeface="Segoe UI"/>
              <a:cs typeface="Segoe UI"/>
            </a:endParaRPr>
          </a:p>
          <a:p>
            <a:pPr lvl="2"/>
            <a:r>
              <a:rPr lang="en-US" dirty="0">
                <a:latin typeface="Segoe UI"/>
                <a:cs typeface="Segoe UI"/>
              </a:rPr>
              <a:t>Recommended for scenarios where transaction handling is unnecessary.</a:t>
            </a:r>
            <a:endParaRPr lang="en-US" i="0" dirty="0">
              <a:latin typeface="Segoe UI"/>
              <a:cs typeface="Segoe UI"/>
            </a:endParaRPr>
          </a:p>
          <a:p>
            <a:pPr marL="198755" indent="-198755"/>
            <a:endParaRPr lang="en-US" sz="1600" dirty="0">
              <a:latin typeface="Segoe UI"/>
              <a:cs typeface="Segoe UI"/>
            </a:endParaRPr>
          </a:p>
          <a:p>
            <a:pPr marL="285750" indent="-285750"/>
            <a:endParaRPr lang="en-US" sz="1600" dirty="0">
              <a:latin typeface="Segoe UI"/>
              <a:cs typeface="Segoe UI"/>
            </a:endParaRPr>
          </a:p>
        </p:txBody>
      </p:sp>
    </p:spTree>
    <p:extLst>
      <p:ext uri="{BB962C8B-B14F-4D97-AF65-F5344CB8AC3E}">
        <p14:creationId xmlns:p14="http://schemas.microsoft.com/office/powerpoint/2010/main" val="3369929613"/>
      </p:ext>
    </p:extLst>
  </p:cSld>
  <p:clrMapOvr>
    <a:masterClrMapping/>
  </p:clrMapOvr>
  <p:transition spd="slow">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03674-999F-8410-D04A-18B241D47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750093-A573-D379-56FF-731D64625CC7}"/>
              </a:ext>
            </a:extLst>
          </p:cNvPr>
          <p:cNvSpPr>
            <a:spLocks noGrp="1"/>
          </p:cNvSpPr>
          <p:nvPr>
            <p:ph type="title"/>
          </p:nvPr>
        </p:nvSpPr>
        <p:spPr/>
        <p:txBody>
          <a:bodyPr>
            <a:normAutofit/>
          </a:bodyPr>
          <a:lstStyle/>
          <a:p>
            <a:r>
              <a:rPr lang="en-US" sz="3200" dirty="0" err="1">
                <a:solidFill>
                  <a:srgbClr val="1082F2"/>
                </a:solidFill>
              </a:rPr>
              <a:t>PubSub</a:t>
            </a:r>
            <a:r>
              <a:rPr lang="en-US" sz="3200" dirty="0">
                <a:solidFill>
                  <a:srgbClr val="1082F2"/>
                </a:solidFill>
              </a:rPr>
              <a:t> Actors</a:t>
            </a:r>
            <a:endParaRPr lang="en-US" dirty="0"/>
          </a:p>
        </p:txBody>
      </p:sp>
      <p:sp>
        <p:nvSpPr>
          <p:cNvPr id="6" name="Content Placeholder 2">
            <a:extLst>
              <a:ext uri="{FF2B5EF4-FFF2-40B4-BE49-F238E27FC236}">
                <a16:creationId xmlns:a16="http://schemas.microsoft.com/office/drawing/2014/main" id="{4B46B1D9-97D5-CE11-8FC1-6298F6C485C8}"/>
              </a:ext>
            </a:extLst>
          </p:cNvPr>
          <p:cNvSpPr txBox="1">
            <a:spLocks/>
          </p:cNvSpPr>
          <p:nvPr/>
        </p:nvSpPr>
        <p:spPr>
          <a:xfrm>
            <a:off x="698721" y="1313204"/>
            <a:ext cx="10794558" cy="5158627"/>
          </a:xfrm>
          <a:prstGeom prst="rect">
            <a:avLst/>
          </a:prstGeom>
        </p:spPr>
        <p:txBody>
          <a:bodyPr vert="horz" lIns="91440" tIns="45720" rIns="91440" bIns="45720" rtlCol="0" anchor="t">
            <a:normAutofit lnSpcReduction="10000"/>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rgbClr val="1082F2"/>
                </a:solidFill>
              </a:rPr>
              <a:t>Broadway Pub/Sub Actors</a:t>
            </a:r>
          </a:p>
          <a:p>
            <a:pPr marL="198755" indent="-198755">
              <a:buFont typeface="Arial" panose="020B0604020202020204" pitchFamily="34" charset="0"/>
              <a:buNone/>
            </a:pPr>
            <a:r>
              <a:rPr lang="en-US" sz="1600" dirty="0"/>
              <a:t>Broadway includes built-in </a:t>
            </a:r>
            <a:r>
              <a:rPr lang="en-US" sz="1600" b="1" dirty="0"/>
              <a:t>queue category Actors</a:t>
            </a:r>
            <a:r>
              <a:rPr lang="en-US" sz="1600" dirty="0"/>
              <a:t> for async message handling:</a:t>
            </a:r>
            <a:endParaRPr lang="en-US" sz="1600" dirty="0">
              <a:ea typeface="Calibri" panose="020F0502020204030204"/>
              <a:cs typeface="Calibri" panose="020F0502020204030204"/>
            </a:endParaRPr>
          </a:p>
          <a:p>
            <a:pPr marL="198755" indent="-198755"/>
            <a:r>
              <a:rPr lang="en-US" sz="1600" b="1" dirty="0"/>
              <a:t>Publish</a:t>
            </a:r>
            <a:r>
              <a:rPr lang="en-US" sz="1600" dirty="0"/>
              <a:t>: Sends messages via a provider.</a:t>
            </a:r>
            <a:endParaRPr lang="en-US" sz="1600" dirty="0">
              <a:ea typeface="Calibri" panose="020F0502020204030204"/>
              <a:cs typeface="Calibri" panose="020F0502020204030204"/>
            </a:endParaRPr>
          </a:p>
          <a:p>
            <a:pPr marL="198755" indent="-198755"/>
            <a:r>
              <a:rPr lang="en-US" sz="1600" b="1" dirty="0"/>
              <a:t>Subscribe</a:t>
            </a:r>
            <a:r>
              <a:rPr lang="en-US" sz="1600" dirty="0"/>
              <a:t>: Receives messages one by one.</a:t>
            </a:r>
            <a:endParaRPr lang="en-US" sz="1600" dirty="0">
              <a:ea typeface="Calibri" panose="020F0502020204030204"/>
              <a:cs typeface="Calibri" panose="020F0502020204030204"/>
            </a:endParaRPr>
          </a:p>
          <a:p>
            <a:pPr marL="198755" indent="-198755"/>
            <a:r>
              <a:rPr lang="en-US" sz="1600" b="1" dirty="0" err="1"/>
              <a:t>SubscribeBatch</a:t>
            </a:r>
            <a:r>
              <a:rPr lang="en-US" sz="1600" dirty="0"/>
              <a:t>: Receives messages in batches</a:t>
            </a:r>
            <a:endParaRPr lang="en-US" sz="1600" dirty="0">
              <a:ea typeface="Calibri" panose="020F0502020204030204"/>
              <a:cs typeface="Calibri" panose="020F0502020204030204"/>
            </a:endParaRPr>
          </a:p>
          <a:p>
            <a:pPr marL="198755" indent="-198755"/>
            <a:r>
              <a:rPr lang="en-US" sz="1600" b="1" dirty="0" err="1"/>
              <a:t>SubscribeWithMetadata</a:t>
            </a:r>
            <a:r>
              <a:rPr lang="en-US" sz="1600" dirty="0"/>
              <a:t>: Like </a:t>
            </a:r>
            <a:r>
              <a:rPr lang="en-US" sz="1600" dirty="0" err="1"/>
              <a:t>SubscribeBatch</a:t>
            </a:r>
            <a:r>
              <a:rPr lang="en-US" sz="1600" dirty="0"/>
              <a:t>, but includes metadata per message.</a:t>
            </a:r>
            <a:endParaRPr lang="en-US" sz="1600" dirty="0">
              <a:ea typeface="Calibri" panose="020F0502020204030204"/>
              <a:cs typeface="Calibri" panose="020F0502020204030204"/>
            </a:endParaRPr>
          </a:p>
          <a:p>
            <a:pPr marL="198755" indent="-198755"/>
            <a:endParaRPr lang="en-US" sz="1600" dirty="0">
              <a:ea typeface="Calibri" panose="020F0502020204030204"/>
              <a:cs typeface="Calibri" panose="020F0502020204030204"/>
            </a:endParaRPr>
          </a:p>
          <a:p>
            <a:pPr marL="0" indent="0">
              <a:buNone/>
            </a:pPr>
            <a:r>
              <a:rPr lang="en-US" sz="1600" b="1" dirty="0"/>
              <a:t>Note:</a:t>
            </a:r>
            <a:r>
              <a:rPr lang="en-US" sz="1600" dirty="0"/>
              <a:t> Both </a:t>
            </a:r>
            <a:r>
              <a:rPr lang="en-US" sz="1600" b="1" dirty="0"/>
              <a:t>Subscribe</a:t>
            </a:r>
            <a:r>
              <a:rPr lang="en-US" sz="1600" dirty="0"/>
              <a:t> and </a:t>
            </a:r>
            <a:r>
              <a:rPr lang="en-US" sz="1600" b="1" dirty="0" err="1"/>
              <a:t>SubscribeBatch</a:t>
            </a:r>
            <a:r>
              <a:rPr lang="en-US" sz="1600" dirty="0"/>
              <a:t> can read messages in batches—the difference lies in the output:</a:t>
            </a:r>
          </a:p>
          <a:p>
            <a:r>
              <a:rPr lang="en-US" sz="1600" b="1" dirty="0"/>
              <a:t>Subscribe</a:t>
            </a:r>
            <a:r>
              <a:rPr lang="en-US" sz="1600" dirty="0"/>
              <a:t> - Iterates over messages and returns them </a:t>
            </a:r>
            <a:r>
              <a:rPr lang="en-US" sz="1600" b="1" dirty="0"/>
              <a:t>one by one</a:t>
            </a:r>
            <a:r>
              <a:rPr lang="en-US" sz="1600" dirty="0"/>
              <a:t>.</a:t>
            </a:r>
          </a:p>
          <a:p>
            <a:r>
              <a:rPr lang="en-US" sz="1600" b="1" dirty="0" err="1"/>
              <a:t>SubscribeBatch</a:t>
            </a:r>
            <a:r>
              <a:rPr lang="en-US" sz="1600" dirty="0"/>
              <a:t> - Returns the </a:t>
            </a:r>
            <a:r>
              <a:rPr lang="en-US" sz="1600" b="1" dirty="0"/>
              <a:t>entire batch at once</a:t>
            </a:r>
            <a:r>
              <a:rPr lang="en-US" sz="1600" dirty="0"/>
              <a:t>, which can then be iterated inside the flow.</a:t>
            </a:r>
          </a:p>
          <a:p>
            <a:pPr marL="0" indent="0">
              <a:buNone/>
            </a:pPr>
            <a:r>
              <a:rPr lang="en-US" sz="1600" b="1" dirty="0"/>
              <a:t>Why it matters:</a:t>
            </a:r>
            <a:endParaRPr lang="en-US" sz="1600" dirty="0"/>
          </a:p>
          <a:p>
            <a:r>
              <a:rPr lang="en-US" sz="1600" dirty="0"/>
              <a:t>Use </a:t>
            </a:r>
            <a:r>
              <a:rPr lang="en-US" sz="1600" b="1" dirty="0" err="1"/>
              <a:t>SubscribeBatch</a:t>
            </a:r>
            <a:r>
              <a:rPr lang="en-US" sz="1600" dirty="0"/>
              <a:t> when transactions are needed and a </a:t>
            </a:r>
            <a:r>
              <a:rPr lang="en-US" sz="1600" b="1" dirty="0"/>
              <a:t>commit</a:t>
            </a:r>
            <a:r>
              <a:rPr lang="en-US" sz="1600" dirty="0"/>
              <a:t> should happen at the end of the batch commit not to Kafka, but for another source).</a:t>
            </a:r>
          </a:p>
          <a:p>
            <a:r>
              <a:rPr lang="en-US" sz="1600" dirty="0"/>
              <a:t>With </a:t>
            </a:r>
            <a:r>
              <a:rPr lang="en-US" sz="1600" b="1" dirty="0"/>
              <a:t>Subscribe</a:t>
            </a:r>
            <a:r>
              <a:rPr lang="en-US" sz="1600" dirty="0"/>
              <a:t>, since only one message is returned at a time, it is not possible to know where one batch ends and the next begins.</a:t>
            </a:r>
          </a:p>
          <a:p>
            <a:pPr marL="0" indent="0">
              <a:buFont typeface="Arial" panose="020B0604020202020204" pitchFamily="34" charset="0"/>
              <a:buNone/>
            </a:pPr>
            <a:endParaRPr lang="en-US" sz="1600" dirty="0"/>
          </a:p>
          <a:p>
            <a:pPr marL="457200" lvl="1" indent="0">
              <a:buFont typeface="Arial" panose="020B0604020202020204" pitchFamily="34" charset="0"/>
              <a:buNone/>
            </a:pPr>
            <a:endParaRPr lang="en-US" sz="1500" dirty="0"/>
          </a:p>
        </p:txBody>
      </p:sp>
    </p:spTree>
    <p:extLst>
      <p:ext uri="{BB962C8B-B14F-4D97-AF65-F5344CB8AC3E}">
        <p14:creationId xmlns:p14="http://schemas.microsoft.com/office/powerpoint/2010/main" val="948625805"/>
      </p:ext>
    </p:extLst>
  </p:cSld>
  <p:clrMapOvr>
    <a:masterClrMapping/>
  </p:clrMapOvr>
  <p:transition spd="slow">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97DD6-74D3-0B59-5A34-D6E854096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D4545-2341-880C-F595-E0F9C109CD5C}"/>
              </a:ext>
            </a:extLst>
          </p:cNvPr>
          <p:cNvSpPr>
            <a:spLocks noGrp="1"/>
          </p:cNvSpPr>
          <p:nvPr>
            <p:ph type="title"/>
          </p:nvPr>
        </p:nvSpPr>
        <p:spPr/>
        <p:txBody>
          <a:bodyPr>
            <a:normAutofit/>
          </a:bodyPr>
          <a:lstStyle/>
          <a:p>
            <a:r>
              <a:rPr lang="en-US" sz="3200" dirty="0" err="1">
                <a:solidFill>
                  <a:srgbClr val="1082F2"/>
                </a:solidFill>
              </a:rPr>
              <a:t>PubSub</a:t>
            </a:r>
            <a:r>
              <a:rPr lang="en-US" sz="3200" dirty="0">
                <a:solidFill>
                  <a:srgbClr val="1082F2"/>
                </a:solidFill>
              </a:rPr>
              <a:t> Actors</a:t>
            </a:r>
            <a:endParaRPr lang="en-US" dirty="0"/>
          </a:p>
        </p:txBody>
      </p:sp>
      <p:sp>
        <p:nvSpPr>
          <p:cNvPr id="6" name="Content Placeholder 2">
            <a:extLst>
              <a:ext uri="{FF2B5EF4-FFF2-40B4-BE49-F238E27FC236}">
                <a16:creationId xmlns:a16="http://schemas.microsoft.com/office/drawing/2014/main" id="{29C8B3E8-4833-2641-109B-0321F0695EC7}"/>
              </a:ext>
            </a:extLst>
          </p:cNvPr>
          <p:cNvSpPr txBox="1">
            <a:spLocks/>
          </p:cNvSpPr>
          <p:nvPr/>
        </p:nvSpPr>
        <p:spPr>
          <a:xfrm>
            <a:off x="698721" y="1313204"/>
            <a:ext cx="10794558" cy="5158627"/>
          </a:xfrm>
          <a:prstGeom prst="rect">
            <a:avLst/>
          </a:prstGeom>
        </p:spPr>
        <p:txBody>
          <a:bodyPr vert="horz" lIns="91440" tIns="45720" rIns="91440" bIns="45720" rtlCol="0" anchor="t">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98755" indent="-198755">
              <a:buFont typeface="Arial" panose="020B0604020202020204" pitchFamily="34" charset="0"/>
              <a:buNone/>
            </a:pPr>
            <a:r>
              <a:rPr lang="en-US" sz="1800" dirty="0">
                <a:solidFill>
                  <a:srgbClr val="1082F2"/>
                </a:solidFill>
              </a:rPr>
              <a:t>Supported Providers:</a:t>
            </a:r>
            <a:endParaRPr lang="en-US" sz="1800" dirty="0">
              <a:solidFill>
                <a:srgbClr val="1082F2"/>
              </a:solidFill>
              <a:ea typeface="Calibri" panose="020F0502020204030204"/>
              <a:cs typeface="Calibri" panose="020F0502020204030204"/>
            </a:endParaRPr>
          </a:p>
          <a:p>
            <a:pPr marL="198755" indent="-198755"/>
            <a:r>
              <a:rPr lang="en-US" sz="1600" dirty="0"/>
              <a:t>Apache Kafka</a:t>
            </a:r>
            <a:endParaRPr lang="en-US" sz="1600" dirty="0">
              <a:ea typeface="Calibri" panose="020F0502020204030204"/>
              <a:cs typeface="Calibri" panose="020F0502020204030204"/>
            </a:endParaRPr>
          </a:p>
          <a:p>
            <a:pPr marL="198755" indent="-198755"/>
            <a:r>
              <a:rPr lang="en-US" sz="1600" dirty="0"/>
              <a:t>JMS (e.g., RabbitMQ, ActiveMQ)</a:t>
            </a:r>
            <a:endParaRPr lang="en-US" sz="1600" dirty="0">
              <a:ea typeface="Calibri" panose="020F0502020204030204"/>
              <a:cs typeface="Calibri" panose="020F0502020204030204"/>
            </a:endParaRPr>
          </a:p>
          <a:p>
            <a:pPr marL="198755" indent="-198755"/>
            <a:r>
              <a:rPr lang="en-US" sz="1600" dirty="0"/>
              <a:t>Fabric in-memory queue (Broker memory) – used manly for Dev environments</a:t>
            </a:r>
            <a:endParaRPr lang="en-US" sz="1600" dirty="0">
              <a:ea typeface="Calibri" panose="020F0502020204030204"/>
              <a:cs typeface="Calibri" panose="020F0502020204030204"/>
            </a:endParaRPr>
          </a:p>
          <a:p>
            <a:pPr marL="0" indent="0">
              <a:buFont typeface="Arial" panose="020B0604020202020204" pitchFamily="34" charset="0"/>
              <a:buNone/>
            </a:pPr>
            <a:endParaRPr lang="en-US" sz="1600" dirty="0"/>
          </a:p>
          <a:p>
            <a:pPr marL="457200" lvl="1" indent="0">
              <a:buFont typeface="Arial" panose="020B0604020202020204" pitchFamily="34" charset="0"/>
              <a:buNone/>
            </a:pPr>
            <a:endParaRPr lang="en-US" sz="1500" dirty="0"/>
          </a:p>
        </p:txBody>
      </p:sp>
    </p:spTree>
    <p:extLst>
      <p:ext uri="{BB962C8B-B14F-4D97-AF65-F5344CB8AC3E}">
        <p14:creationId xmlns:p14="http://schemas.microsoft.com/office/powerpoint/2010/main" val="2975868939"/>
      </p:ext>
    </p:extLst>
  </p:cSld>
  <p:clrMapOvr>
    <a:masterClrMapping/>
  </p:clrMapOvr>
  <p:transition spd="slow">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22C81-DB2C-EEEA-8D57-1C5BE60E6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3D43B-A3E0-F643-3B63-1C415E5238E3}"/>
              </a:ext>
            </a:extLst>
          </p:cNvPr>
          <p:cNvSpPr>
            <a:spLocks noGrp="1"/>
          </p:cNvSpPr>
          <p:nvPr>
            <p:ph type="title"/>
          </p:nvPr>
        </p:nvSpPr>
        <p:spPr>
          <a:xfrm>
            <a:off x="5037992" y="3750911"/>
            <a:ext cx="6673362" cy="566112"/>
          </a:xfrm>
        </p:spPr>
        <p:txBody>
          <a:bodyPr>
            <a:normAutofit/>
          </a:bodyPr>
          <a:lstStyle/>
          <a:p>
            <a:pPr algn="ctr"/>
            <a:r>
              <a:rPr lang="en-US" sz="2400" dirty="0">
                <a:solidFill>
                  <a:srgbClr val="1082F2"/>
                </a:solidFill>
              </a:rPr>
              <a:t>Stream</a:t>
            </a:r>
          </a:p>
        </p:txBody>
      </p:sp>
    </p:spTree>
    <p:extLst>
      <p:ext uri="{BB962C8B-B14F-4D97-AF65-F5344CB8AC3E}">
        <p14:creationId xmlns:p14="http://schemas.microsoft.com/office/powerpoint/2010/main" val="1603134483"/>
      </p:ext>
    </p:extLst>
  </p:cSld>
  <p:clrMapOvr>
    <a:masterClrMapping/>
  </p:clrMapOvr>
  <p:transition spd="slow">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6B3F7-3E16-2AEE-DB90-F03782755A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B68D4A-4BD3-9422-A048-644B9819DE21}"/>
              </a:ext>
            </a:extLst>
          </p:cNvPr>
          <p:cNvSpPr>
            <a:spLocks noGrp="1"/>
          </p:cNvSpPr>
          <p:nvPr>
            <p:ph type="title"/>
          </p:nvPr>
        </p:nvSpPr>
        <p:spPr/>
        <p:txBody>
          <a:bodyPr>
            <a:normAutofit/>
          </a:bodyPr>
          <a:lstStyle/>
          <a:p>
            <a:r>
              <a:rPr lang="en-US" b="1" dirty="0"/>
              <a:t>Streams</a:t>
            </a:r>
            <a:endParaRPr lang="en-US" dirty="0"/>
          </a:p>
        </p:txBody>
      </p:sp>
      <p:sp>
        <p:nvSpPr>
          <p:cNvPr id="3" name="Content Placeholder 2">
            <a:extLst>
              <a:ext uri="{FF2B5EF4-FFF2-40B4-BE49-F238E27FC236}">
                <a16:creationId xmlns:a16="http://schemas.microsoft.com/office/drawing/2014/main" id="{F463B54C-E3FA-38B0-C30F-907073B70CFA}"/>
              </a:ext>
            </a:extLst>
          </p:cNvPr>
          <p:cNvSpPr>
            <a:spLocks noGrp="1"/>
          </p:cNvSpPr>
          <p:nvPr>
            <p:ph idx="1"/>
          </p:nvPr>
        </p:nvSpPr>
        <p:spPr>
          <a:xfrm>
            <a:off x="838200" y="1209352"/>
            <a:ext cx="11231880" cy="5154871"/>
          </a:xfrm>
        </p:spPr>
        <p:txBody>
          <a:bodyPr>
            <a:normAutofit/>
          </a:bodyPr>
          <a:lstStyle/>
          <a:p>
            <a:pPr marL="0" indent="0">
              <a:buNone/>
            </a:pPr>
            <a:r>
              <a:rPr lang="en-US" sz="1800" dirty="0" err="1">
                <a:solidFill>
                  <a:srgbClr val="1082F2"/>
                </a:solidFill>
              </a:rPr>
              <a:t>FileRead</a:t>
            </a:r>
            <a:br>
              <a:rPr lang="en-US" sz="1700" dirty="0">
                <a:solidFill>
                  <a:srgbClr val="1082F2"/>
                </a:solidFill>
              </a:rPr>
            </a:br>
            <a:r>
              <a:rPr lang="en-US" sz="1500" dirty="0"/>
              <a:t> </a:t>
            </a:r>
            <a:br>
              <a:rPr lang="en-US" sz="1500" dirty="0"/>
            </a:br>
            <a:r>
              <a:rPr lang="en-US" sz="1600" dirty="0"/>
              <a:t>Read data from a file given an interface and path.</a:t>
            </a:r>
          </a:p>
          <a:p>
            <a:pPr lvl="1"/>
            <a:r>
              <a:rPr lang="en-US" sz="1600" dirty="0"/>
              <a:t>The file is opened lazily when an actor reads the output stream.</a:t>
            </a:r>
          </a:p>
          <a:p>
            <a:pPr lvl="1"/>
            <a:r>
              <a:rPr lang="en-US" sz="1600" dirty="0"/>
              <a:t>Once the file is read completely, it is closed. If the file is not read completely, it is closed at the end of the flow.</a:t>
            </a:r>
          </a:p>
          <a:p>
            <a:pPr marL="0" indent="0">
              <a:buNone/>
            </a:pPr>
            <a:r>
              <a:rPr lang="en-US" sz="1600" b="1" dirty="0"/>
              <a:t>Inputs:</a:t>
            </a:r>
          </a:p>
          <a:p>
            <a:pPr lvl="1"/>
            <a:r>
              <a:rPr lang="en-US" sz="1600" i="0" dirty="0"/>
              <a:t>interface: The interface to use.</a:t>
            </a:r>
          </a:p>
          <a:p>
            <a:pPr lvl="1"/>
            <a:r>
              <a:rPr lang="en-US" sz="1600" i="0" dirty="0"/>
              <a:t>path: The path to the file, relative to the interface.</a:t>
            </a:r>
          </a:p>
          <a:p>
            <a:pPr marL="0" indent="0">
              <a:buNone/>
            </a:pPr>
            <a:r>
              <a:rPr lang="en-US" sz="1600" b="1" dirty="0"/>
              <a:t>Output:</a:t>
            </a:r>
          </a:p>
          <a:p>
            <a:pPr lvl="1"/>
            <a:r>
              <a:rPr lang="en-US" sz="1600" i="0" dirty="0"/>
              <a:t>stream: The result stream, represented by a collection of blobs.</a:t>
            </a:r>
          </a:p>
          <a:p>
            <a:pPr lvl="1"/>
            <a:endParaRPr lang="en-US" sz="1100" i="0" dirty="0"/>
          </a:p>
          <a:p>
            <a:pPr lvl="2"/>
            <a:endParaRPr lang="en-US" sz="900" i="0" dirty="0"/>
          </a:p>
          <a:p>
            <a:pPr lvl="2"/>
            <a:endParaRPr lang="en-US" sz="900" i="0" dirty="0"/>
          </a:p>
          <a:p>
            <a:pPr lvl="2"/>
            <a:endParaRPr lang="en-US" sz="900" i="0" dirty="0"/>
          </a:p>
          <a:p>
            <a:pPr lvl="2"/>
            <a:endParaRPr lang="en-US" sz="1200" i="0" dirty="0"/>
          </a:p>
          <a:p>
            <a:pPr lvl="2"/>
            <a:endParaRPr lang="en-US" sz="1400" b="1" i="0" dirty="0"/>
          </a:p>
        </p:txBody>
      </p:sp>
      <p:pic>
        <p:nvPicPr>
          <p:cNvPr id="8" name="Picture 7">
            <a:extLst>
              <a:ext uri="{FF2B5EF4-FFF2-40B4-BE49-F238E27FC236}">
                <a16:creationId xmlns:a16="http://schemas.microsoft.com/office/drawing/2014/main" id="{9EA24C11-BC28-B8EC-75E3-8A37F7547F39}"/>
              </a:ext>
            </a:extLst>
          </p:cNvPr>
          <p:cNvPicPr>
            <a:picLocks noChangeAspect="1"/>
          </p:cNvPicPr>
          <p:nvPr/>
        </p:nvPicPr>
        <p:blipFill>
          <a:blip r:embed="rId2"/>
          <a:stretch>
            <a:fillRect/>
          </a:stretch>
        </p:blipFill>
        <p:spPr>
          <a:xfrm>
            <a:off x="892319" y="4399499"/>
            <a:ext cx="5683178" cy="1837650"/>
          </a:xfrm>
          <a:prstGeom prst="rect">
            <a:avLst/>
          </a:prstGeom>
        </p:spPr>
      </p:pic>
      <p:sp>
        <p:nvSpPr>
          <p:cNvPr id="4" name="Rectangle 3">
            <a:hlinkClick r:id="rId3" action="ppaction://hlinksldjump"/>
            <a:extLst>
              <a:ext uri="{FF2B5EF4-FFF2-40B4-BE49-F238E27FC236}">
                <a16:creationId xmlns:a16="http://schemas.microsoft.com/office/drawing/2014/main" id="{3E29B16B-5E00-E12D-A90C-8D1C7A951CC4}"/>
              </a:ext>
            </a:extLst>
          </p:cNvPr>
          <p:cNvSpPr/>
          <p:nvPr/>
        </p:nvSpPr>
        <p:spPr>
          <a:xfrm>
            <a:off x="7247586" y="4439830"/>
            <a:ext cx="4647565" cy="1682359"/>
          </a:xfrm>
          <a:prstGeom prst="rect">
            <a:avLst/>
          </a:prstGeom>
          <a:solidFill>
            <a:schemeClr val="bg2"/>
          </a:solidFill>
          <a:ln>
            <a:noFill/>
          </a:ln>
          <a:effectLst>
            <a:outerShdw blurRad="157150" dist="145807" dir="6240000" sx="101824" sy="101824" algn="br" rotWithShape="0">
              <a:prstClr val="black">
                <a:alpha val="17111"/>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a:p>
        </p:txBody>
      </p:sp>
      <p:sp>
        <p:nvSpPr>
          <p:cNvPr id="5" name="Content Placeholder 2">
            <a:extLst>
              <a:ext uri="{FF2B5EF4-FFF2-40B4-BE49-F238E27FC236}">
                <a16:creationId xmlns:a16="http://schemas.microsoft.com/office/drawing/2014/main" id="{C97C2176-FFD5-870E-61A8-72518147E695}"/>
              </a:ext>
            </a:extLst>
          </p:cNvPr>
          <p:cNvSpPr txBox="1">
            <a:spLocks/>
          </p:cNvSpPr>
          <p:nvPr/>
        </p:nvSpPr>
        <p:spPr>
          <a:xfrm>
            <a:off x="7401698" y="5204401"/>
            <a:ext cx="4316472" cy="917788"/>
          </a:xfrm>
          <a:prstGeom prst="rect">
            <a:avLst/>
          </a:prstGeom>
        </p:spPr>
        <p:txBody>
          <a:bodyPr vert="horz" lIns="91440" tIns="45720" rIns="91440" bIns="45720" rtlCol="0" anchor="t">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lumMod val="60000"/>
                    <a:lumOff val="40000"/>
                  </a:schemeClr>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lumMod val="60000"/>
                    <a:lumOff val="40000"/>
                  </a:schemeClr>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lumMod val="60000"/>
                    <a:lumOff val="40000"/>
                  </a:schemeClr>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A </a:t>
            </a:r>
            <a:r>
              <a:rPr lang="en-US" sz="1600" i="1" dirty="0"/>
              <a:t>stream</a:t>
            </a:r>
            <a:r>
              <a:rPr lang="en-US" sz="1600" dirty="0"/>
              <a:t> output can connect to only one input—linking it to multiple targets causes failure, since a stream is readable only once.</a:t>
            </a:r>
          </a:p>
        </p:txBody>
      </p:sp>
      <p:sp>
        <p:nvSpPr>
          <p:cNvPr id="6" name="TextBox 5">
            <a:extLst>
              <a:ext uri="{FF2B5EF4-FFF2-40B4-BE49-F238E27FC236}">
                <a16:creationId xmlns:a16="http://schemas.microsoft.com/office/drawing/2014/main" id="{AB7C1FC5-663E-6AA0-B920-E6420C8A9723}"/>
              </a:ext>
            </a:extLst>
          </p:cNvPr>
          <p:cNvSpPr txBox="1"/>
          <p:nvPr/>
        </p:nvSpPr>
        <p:spPr>
          <a:xfrm>
            <a:off x="8141193" y="4672729"/>
            <a:ext cx="2927757" cy="369332"/>
          </a:xfrm>
          <a:prstGeom prst="rect">
            <a:avLst/>
          </a:prstGeom>
          <a:noFill/>
        </p:spPr>
        <p:txBody>
          <a:bodyPr wrap="square">
            <a:spAutoFit/>
          </a:bodyPr>
          <a:lstStyle/>
          <a:p>
            <a:pPr marL="0" defTabSz="914400" rtl="0" eaLnBrk="1" latinLnBrk="0" hangingPunct="1"/>
            <a:r>
              <a:rPr lang="en-US" sz="1800" b="1" dirty="0"/>
              <a:t>Note:</a:t>
            </a:r>
          </a:p>
        </p:txBody>
      </p:sp>
      <p:pic>
        <p:nvPicPr>
          <p:cNvPr id="7" name="Graphic 6">
            <a:extLst>
              <a:ext uri="{FF2B5EF4-FFF2-40B4-BE49-F238E27FC236}">
                <a16:creationId xmlns:a16="http://schemas.microsoft.com/office/drawing/2014/main" id="{4031586D-FCAE-3289-8D6D-A2C087D11FC3}"/>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542377" y="4637063"/>
            <a:ext cx="459756" cy="459756"/>
          </a:xfrm>
          <a:prstGeom prst="rect">
            <a:avLst/>
          </a:prstGeom>
        </p:spPr>
      </p:pic>
    </p:spTree>
    <p:extLst>
      <p:ext uri="{BB962C8B-B14F-4D97-AF65-F5344CB8AC3E}">
        <p14:creationId xmlns:p14="http://schemas.microsoft.com/office/powerpoint/2010/main" val="2550480724"/>
      </p:ext>
    </p:extLst>
  </p:cSld>
  <p:clrMapOvr>
    <a:masterClrMapping/>
  </p:clrMapOvr>
  <p:transition spd="slow">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3E227-8465-189F-BEEB-2651D3E80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6485E-99B9-9730-C82E-F805B7D5E244}"/>
              </a:ext>
            </a:extLst>
          </p:cNvPr>
          <p:cNvSpPr>
            <a:spLocks noGrp="1"/>
          </p:cNvSpPr>
          <p:nvPr>
            <p:ph type="title"/>
          </p:nvPr>
        </p:nvSpPr>
        <p:spPr/>
        <p:txBody>
          <a:bodyPr>
            <a:normAutofit/>
          </a:bodyPr>
          <a:lstStyle/>
          <a:p>
            <a:r>
              <a:rPr lang="en-US" b="1" dirty="0"/>
              <a:t>Streams</a:t>
            </a:r>
            <a:endParaRPr lang="en-US" dirty="0"/>
          </a:p>
        </p:txBody>
      </p:sp>
      <p:sp>
        <p:nvSpPr>
          <p:cNvPr id="3" name="Content Placeholder 2">
            <a:extLst>
              <a:ext uri="{FF2B5EF4-FFF2-40B4-BE49-F238E27FC236}">
                <a16:creationId xmlns:a16="http://schemas.microsoft.com/office/drawing/2014/main" id="{DDBE90B4-C182-3576-F9E9-8684C9643DD6}"/>
              </a:ext>
            </a:extLst>
          </p:cNvPr>
          <p:cNvSpPr>
            <a:spLocks noGrp="1"/>
          </p:cNvSpPr>
          <p:nvPr>
            <p:ph idx="1"/>
          </p:nvPr>
        </p:nvSpPr>
        <p:spPr>
          <a:xfrm>
            <a:off x="838200" y="1244600"/>
            <a:ext cx="11056951" cy="5384799"/>
          </a:xfrm>
        </p:spPr>
        <p:txBody>
          <a:bodyPr>
            <a:normAutofit/>
          </a:bodyPr>
          <a:lstStyle/>
          <a:p>
            <a:pPr marL="0" indent="0">
              <a:buNone/>
            </a:pPr>
            <a:r>
              <a:rPr lang="en-US" sz="1800" dirty="0" err="1">
                <a:solidFill>
                  <a:srgbClr val="1082F2"/>
                </a:solidFill>
              </a:rPr>
              <a:t>FileWrite</a:t>
            </a:r>
            <a:endParaRPr lang="en-US" sz="1700" dirty="0">
              <a:solidFill>
                <a:srgbClr val="1082F2"/>
              </a:solidFill>
            </a:endParaRPr>
          </a:p>
          <a:p>
            <a:pPr marL="0" indent="0">
              <a:buNone/>
            </a:pPr>
            <a:r>
              <a:rPr lang="en-US" sz="1600" dirty="0"/>
              <a:t>Write data to a file given an interface and a path.</a:t>
            </a:r>
          </a:p>
          <a:p>
            <a:r>
              <a:rPr lang="en-US" sz="1600" dirty="0"/>
              <a:t>The file is opened when the actor is first called with new data</a:t>
            </a:r>
          </a:p>
          <a:p>
            <a:r>
              <a:rPr lang="en-US" sz="1600" dirty="0"/>
              <a:t>If the file open happens within a transaction, the file is closed when the transaction is complete.</a:t>
            </a:r>
            <a:br>
              <a:rPr lang="en-US" sz="1600" dirty="0"/>
            </a:br>
            <a:r>
              <a:rPr lang="en-US" sz="1600" dirty="0"/>
              <a:t>If there is no transaction, the file is closed at the end of the flow.</a:t>
            </a:r>
          </a:p>
          <a:p>
            <a:r>
              <a:rPr lang="en-US" sz="1600" dirty="0"/>
              <a:t>When using a transaction in rewrite mode (append=false), if a rollback occurs, the file is deleted.</a:t>
            </a:r>
          </a:p>
          <a:p>
            <a:r>
              <a:rPr lang="en-US" sz="1600" dirty="0"/>
              <a:t>Use </a:t>
            </a:r>
            <a:r>
              <a:rPr lang="en-US" sz="1600" dirty="0" err="1"/>
              <a:t>ioBufferSize</a:t>
            </a:r>
            <a:r>
              <a:rPr lang="en-US" sz="1600" dirty="0"/>
              <a:t> to improve the performance; It holds a size of the memory buffer before flushing to the underlying file system. If left empty, uses the system default (8K).</a:t>
            </a:r>
          </a:p>
          <a:p>
            <a:pPr lvl="2"/>
            <a:endParaRPr lang="en-US" sz="900" i="0" dirty="0"/>
          </a:p>
          <a:p>
            <a:pPr lvl="2"/>
            <a:endParaRPr lang="en-US" sz="900" i="0" dirty="0"/>
          </a:p>
          <a:p>
            <a:pPr lvl="2"/>
            <a:endParaRPr lang="en-US" sz="1200" i="0" dirty="0"/>
          </a:p>
          <a:p>
            <a:pPr lvl="2"/>
            <a:endParaRPr lang="en-US" sz="1400" b="1" i="0" dirty="0"/>
          </a:p>
        </p:txBody>
      </p:sp>
      <p:pic>
        <p:nvPicPr>
          <p:cNvPr id="5" name="Picture 4">
            <a:extLst>
              <a:ext uri="{FF2B5EF4-FFF2-40B4-BE49-F238E27FC236}">
                <a16:creationId xmlns:a16="http://schemas.microsoft.com/office/drawing/2014/main" id="{831A04CB-292E-90EF-60E2-0C88C11D2AE4}"/>
              </a:ext>
            </a:extLst>
          </p:cNvPr>
          <p:cNvPicPr>
            <a:picLocks noChangeAspect="1"/>
          </p:cNvPicPr>
          <p:nvPr/>
        </p:nvPicPr>
        <p:blipFill>
          <a:blip r:embed="rId2"/>
          <a:stretch>
            <a:fillRect/>
          </a:stretch>
        </p:blipFill>
        <p:spPr>
          <a:xfrm>
            <a:off x="838200" y="4052143"/>
            <a:ext cx="5368392" cy="2419688"/>
          </a:xfrm>
          <a:prstGeom prst="rect">
            <a:avLst/>
          </a:prstGeom>
        </p:spPr>
      </p:pic>
      <p:sp>
        <p:nvSpPr>
          <p:cNvPr id="4" name="Rectangle 3">
            <a:hlinkClick r:id="rId3" action="ppaction://hlinksldjump"/>
            <a:extLst>
              <a:ext uri="{FF2B5EF4-FFF2-40B4-BE49-F238E27FC236}">
                <a16:creationId xmlns:a16="http://schemas.microsoft.com/office/drawing/2014/main" id="{4641CE48-49FF-2D93-D38A-260CE69F35C8}"/>
              </a:ext>
            </a:extLst>
          </p:cNvPr>
          <p:cNvSpPr/>
          <p:nvPr/>
        </p:nvSpPr>
        <p:spPr>
          <a:xfrm>
            <a:off x="7247586" y="4553711"/>
            <a:ext cx="4647565" cy="1618489"/>
          </a:xfrm>
          <a:prstGeom prst="rect">
            <a:avLst/>
          </a:prstGeom>
          <a:solidFill>
            <a:schemeClr val="bg2"/>
          </a:solidFill>
          <a:ln>
            <a:noFill/>
          </a:ln>
          <a:effectLst>
            <a:outerShdw blurRad="157150" dist="145807" dir="6240000" sx="101824" sy="101824" algn="br" rotWithShape="0">
              <a:prstClr val="black">
                <a:alpha val="17111"/>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a:p>
        </p:txBody>
      </p:sp>
      <p:sp>
        <p:nvSpPr>
          <p:cNvPr id="6" name="Content Placeholder 2">
            <a:extLst>
              <a:ext uri="{FF2B5EF4-FFF2-40B4-BE49-F238E27FC236}">
                <a16:creationId xmlns:a16="http://schemas.microsoft.com/office/drawing/2014/main" id="{0DB76DF2-EDB5-8781-5114-269BF441E7F2}"/>
              </a:ext>
            </a:extLst>
          </p:cNvPr>
          <p:cNvSpPr txBox="1">
            <a:spLocks/>
          </p:cNvSpPr>
          <p:nvPr/>
        </p:nvSpPr>
        <p:spPr>
          <a:xfrm>
            <a:off x="7542377" y="5204400"/>
            <a:ext cx="4175793" cy="894648"/>
          </a:xfrm>
          <a:prstGeom prst="rect">
            <a:avLst/>
          </a:prstGeom>
        </p:spPr>
        <p:txBody>
          <a:bodyPr vert="horz" lIns="91440" tIns="45720" rIns="91440" bIns="45720" rtlCol="0" anchor="t">
            <a:normAutofit fontScale="77500" lnSpcReduction="20000"/>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lumMod val="60000"/>
                    <a:lumOff val="40000"/>
                  </a:schemeClr>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lumMod val="60000"/>
                    <a:lumOff val="40000"/>
                  </a:schemeClr>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lumMod val="60000"/>
                    <a:lumOff val="40000"/>
                  </a:schemeClr>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When using </a:t>
            </a:r>
            <a:r>
              <a:rPr lang="en-US" b="1" dirty="0" err="1"/>
              <a:t>FileWriter</a:t>
            </a:r>
            <a:r>
              <a:rPr lang="en-US" dirty="0"/>
              <a:t>, always add </a:t>
            </a:r>
            <a:r>
              <a:rPr lang="en-US" b="1" dirty="0" err="1"/>
              <a:t>ResetActors</a:t>
            </a:r>
            <a:r>
              <a:rPr lang="en-US" dirty="0"/>
              <a:t> at the end of the flow to reset the </a:t>
            </a:r>
            <a:r>
              <a:rPr lang="en-US" b="1" dirty="0" err="1"/>
              <a:t>FileWriter</a:t>
            </a:r>
            <a:r>
              <a:rPr lang="en-US" b="1" dirty="0"/>
              <a:t>(s)</a:t>
            </a:r>
            <a:r>
              <a:rPr lang="he-IL" dirty="0"/>
              <a:t>- </a:t>
            </a:r>
            <a:r>
              <a:rPr lang="en-US" dirty="0"/>
              <a:t>to ensure flush of the file buffer into file.</a:t>
            </a:r>
          </a:p>
        </p:txBody>
      </p:sp>
      <p:sp>
        <p:nvSpPr>
          <p:cNvPr id="7" name="TextBox 6">
            <a:extLst>
              <a:ext uri="{FF2B5EF4-FFF2-40B4-BE49-F238E27FC236}">
                <a16:creationId xmlns:a16="http://schemas.microsoft.com/office/drawing/2014/main" id="{D1118D1C-AE79-85B2-C6F2-3878E3663286}"/>
              </a:ext>
            </a:extLst>
          </p:cNvPr>
          <p:cNvSpPr txBox="1"/>
          <p:nvPr/>
        </p:nvSpPr>
        <p:spPr>
          <a:xfrm>
            <a:off x="8141193" y="4672729"/>
            <a:ext cx="2927757" cy="369332"/>
          </a:xfrm>
          <a:prstGeom prst="rect">
            <a:avLst/>
          </a:prstGeom>
          <a:noFill/>
        </p:spPr>
        <p:txBody>
          <a:bodyPr wrap="square">
            <a:spAutoFit/>
          </a:bodyPr>
          <a:lstStyle/>
          <a:p>
            <a:pPr marL="0" defTabSz="914400" rtl="0" eaLnBrk="1" latinLnBrk="0" hangingPunct="1"/>
            <a:r>
              <a:rPr lang="en-US" sz="1800" b="1" dirty="0"/>
              <a:t>Best practice:</a:t>
            </a:r>
          </a:p>
        </p:txBody>
      </p:sp>
      <p:pic>
        <p:nvPicPr>
          <p:cNvPr id="8" name="Graphic 7">
            <a:extLst>
              <a:ext uri="{FF2B5EF4-FFF2-40B4-BE49-F238E27FC236}">
                <a16:creationId xmlns:a16="http://schemas.microsoft.com/office/drawing/2014/main" id="{F2EAE5A6-C9BF-A6AF-F31C-18175A7017EF}"/>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542377" y="4637063"/>
            <a:ext cx="459756" cy="459756"/>
          </a:xfrm>
          <a:prstGeom prst="rect">
            <a:avLst/>
          </a:prstGeom>
        </p:spPr>
      </p:pic>
    </p:spTree>
    <p:extLst>
      <p:ext uri="{BB962C8B-B14F-4D97-AF65-F5344CB8AC3E}">
        <p14:creationId xmlns:p14="http://schemas.microsoft.com/office/powerpoint/2010/main" val="1484066086"/>
      </p:ext>
    </p:extLst>
  </p:cSld>
  <p:clrMapOvr>
    <a:masterClrMapping/>
  </p:clrMapOvr>
  <p:transition spd="slow">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09F3D-E2FA-53D2-D715-165058130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6CE97-72DF-16FC-9A72-37CD4009872B}"/>
              </a:ext>
            </a:extLst>
          </p:cNvPr>
          <p:cNvSpPr>
            <a:spLocks noGrp="1"/>
          </p:cNvSpPr>
          <p:nvPr>
            <p:ph type="title"/>
          </p:nvPr>
        </p:nvSpPr>
        <p:spPr/>
        <p:txBody>
          <a:bodyPr>
            <a:normAutofit/>
          </a:bodyPr>
          <a:lstStyle/>
          <a:p>
            <a:r>
              <a:rPr lang="en-US" b="1" dirty="0"/>
              <a:t>Http</a:t>
            </a:r>
            <a:endParaRPr lang="en-US" dirty="0"/>
          </a:p>
        </p:txBody>
      </p:sp>
      <p:sp>
        <p:nvSpPr>
          <p:cNvPr id="3" name="Content Placeholder 2">
            <a:extLst>
              <a:ext uri="{FF2B5EF4-FFF2-40B4-BE49-F238E27FC236}">
                <a16:creationId xmlns:a16="http://schemas.microsoft.com/office/drawing/2014/main" id="{3C406A91-3F25-C584-1466-475E99EE8CD5}"/>
              </a:ext>
            </a:extLst>
          </p:cNvPr>
          <p:cNvSpPr>
            <a:spLocks noGrp="1"/>
          </p:cNvSpPr>
          <p:nvPr>
            <p:ph idx="1"/>
          </p:nvPr>
        </p:nvSpPr>
        <p:spPr>
          <a:xfrm>
            <a:off x="694944" y="975905"/>
            <a:ext cx="10719645" cy="5495926"/>
          </a:xfrm>
        </p:spPr>
        <p:txBody>
          <a:bodyPr>
            <a:normAutofit fontScale="77500" lnSpcReduction="20000"/>
          </a:bodyPr>
          <a:lstStyle/>
          <a:p>
            <a:pPr marL="0" indent="0">
              <a:buNone/>
            </a:pPr>
            <a:r>
              <a:rPr lang="en-US" sz="2200" dirty="0">
                <a:solidFill>
                  <a:srgbClr val="1082F2"/>
                </a:solidFill>
              </a:rPr>
              <a:t>Http Actor</a:t>
            </a:r>
            <a:br>
              <a:rPr lang="en-US" sz="1700" dirty="0">
                <a:solidFill>
                  <a:srgbClr val="1082F2"/>
                </a:solidFill>
              </a:rPr>
            </a:br>
            <a:r>
              <a:rPr lang="en-US" sz="1500" dirty="0"/>
              <a:t> </a:t>
            </a:r>
            <a:br>
              <a:rPr lang="en-US" sz="1500" dirty="0"/>
            </a:br>
            <a:r>
              <a:rPr lang="en-US" sz="1800" dirty="0"/>
              <a:t>Send a request to a web server</a:t>
            </a:r>
            <a:br>
              <a:rPr lang="en-US" sz="1800" dirty="0"/>
            </a:br>
            <a:r>
              <a:rPr lang="en-US" sz="1800" dirty="0"/>
              <a:t>Supports streaming payload and result and sending and receiving header </a:t>
            </a:r>
            <a:br>
              <a:rPr lang="en-US" sz="1800" dirty="0"/>
            </a:br>
            <a:r>
              <a:rPr lang="en-US" sz="1800" dirty="0"/>
              <a:t> parameters</a:t>
            </a:r>
          </a:p>
          <a:p>
            <a:pPr marL="0" indent="0">
              <a:buNone/>
            </a:pPr>
            <a:endParaRPr lang="en-US" sz="1500" dirty="0"/>
          </a:p>
          <a:p>
            <a:pPr marL="0" lvl="0" indent="0" eaLnBrk="0" fontAlgn="base" hangingPunct="0">
              <a:spcBef>
                <a:spcPct val="0"/>
              </a:spcBef>
              <a:spcAft>
                <a:spcPct val="0"/>
              </a:spcAft>
              <a:buNone/>
            </a:pPr>
            <a:r>
              <a:rPr lang="en-US" altLang="en-US" sz="1800" b="1" dirty="0"/>
              <a:t>Inputs</a:t>
            </a:r>
            <a:r>
              <a:rPr lang="en-US" altLang="en-US" sz="1800" dirty="0"/>
              <a:t>:</a:t>
            </a:r>
          </a:p>
          <a:p>
            <a:pPr marL="0" lvl="0" indent="0" eaLnBrk="0" fontAlgn="base" hangingPunct="0">
              <a:spcBef>
                <a:spcPct val="0"/>
              </a:spcBef>
              <a:spcAft>
                <a:spcPct val="0"/>
              </a:spcAft>
              <a:buNone/>
            </a:pPr>
            <a:endParaRPr lang="en-US" altLang="en-US" sz="1500" dirty="0"/>
          </a:p>
          <a:p>
            <a:pPr eaLnBrk="0" fontAlgn="base" hangingPunct="0">
              <a:spcBef>
                <a:spcPts val="600"/>
              </a:spcBef>
              <a:spcAft>
                <a:spcPct val="0"/>
              </a:spcAft>
            </a:pPr>
            <a:r>
              <a:rPr lang="en-US" altLang="en-US" sz="1500" b="1" dirty="0"/>
              <a:t>interface</a:t>
            </a:r>
            <a:r>
              <a:rPr lang="en-US" altLang="en-US" sz="1500" dirty="0"/>
              <a:t> – The HTTP interface to use.</a:t>
            </a:r>
          </a:p>
          <a:p>
            <a:pPr eaLnBrk="0" fontAlgn="base" hangingPunct="0">
              <a:spcBef>
                <a:spcPts val="600"/>
              </a:spcBef>
              <a:spcAft>
                <a:spcPct val="0"/>
              </a:spcAft>
            </a:pPr>
            <a:r>
              <a:rPr lang="en-US" altLang="en-US" sz="1500" b="1" dirty="0"/>
              <a:t>path</a:t>
            </a:r>
            <a:r>
              <a:rPr lang="en-US" altLang="en-US" sz="1500" dirty="0"/>
              <a:t> – Path relative to the interface (e.g. </a:t>
            </a:r>
            <a:r>
              <a:rPr lang="en-US" sz="1500" dirty="0"/>
              <a:t>/</a:t>
            </a:r>
            <a:r>
              <a:rPr lang="en-US" sz="1500" dirty="0" err="1"/>
              <a:t>api</a:t>
            </a:r>
            <a:r>
              <a:rPr lang="en-US" sz="1500" dirty="0"/>
              <a:t>/v1/employees)</a:t>
            </a:r>
            <a:endParaRPr lang="en-US" altLang="en-US" sz="1500" dirty="0"/>
          </a:p>
          <a:p>
            <a:pPr eaLnBrk="0" fontAlgn="base" hangingPunct="0">
              <a:spcBef>
                <a:spcPts val="600"/>
              </a:spcBef>
              <a:spcAft>
                <a:spcPct val="0"/>
              </a:spcAft>
            </a:pPr>
            <a:r>
              <a:rPr lang="en-US" altLang="en-US" sz="1500" b="1" dirty="0"/>
              <a:t>params</a:t>
            </a:r>
            <a:r>
              <a:rPr lang="en-US" altLang="en-US" sz="1500" dirty="0"/>
              <a:t> – A map of query string parameters (e.g. </a:t>
            </a:r>
            <a:r>
              <a:rPr lang="en-US" sz="1500" dirty="0"/>
              <a:t>{“employee_id”:”519”} )</a:t>
            </a:r>
            <a:endParaRPr lang="en-US" altLang="en-US" sz="1500" dirty="0"/>
          </a:p>
          <a:p>
            <a:pPr lvl="1" eaLnBrk="0" fontAlgn="base" hangingPunct="0">
              <a:spcBef>
                <a:spcPts val="0"/>
              </a:spcBef>
              <a:spcAft>
                <a:spcPct val="0"/>
              </a:spcAft>
              <a:buFont typeface="Courier New" panose="02070309020205020404" pitchFamily="49" charset="0"/>
              <a:buChar char="o"/>
            </a:pPr>
            <a:r>
              <a:rPr lang="en-US" altLang="en-US" sz="1500" dirty="0"/>
              <a:t>Values are encoded automatically; ? and &amp; are added as needed.</a:t>
            </a:r>
          </a:p>
          <a:p>
            <a:pPr lvl="1" eaLnBrk="0" fontAlgn="base" hangingPunct="0">
              <a:spcBef>
                <a:spcPts val="0"/>
              </a:spcBef>
              <a:spcAft>
                <a:spcPct val="0"/>
              </a:spcAft>
              <a:buFont typeface="Courier New" panose="02070309020205020404" pitchFamily="49" charset="0"/>
              <a:buChar char="o"/>
            </a:pPr>
            <a:r>
              <a:rPr lang="en-US" altLang="en-US" sz="1500" dirty="0"/>
              <a:t>If a value is an array, the key/value is repeated for each entry.</a:t>
            </a:r>
          </a:p>
          <a:p>
            <a:pPr lvl="1" eaLnBrk="0" fontAlgn="base" hangingPunct="0">
              <a:spcBef>
                <a:spcPts val="0"/>
              </a:spcBef>
              <a:spcAft>
                <a:spcPct val="0"/>
              </a:spcAft>
              <a:buFont typeface="Courier New" panose="02070309020205020404" pitchFamily="49" charset="0"/>
              <a:buChar char="o"/>
            </a:pPr>
            <a:r>
              <a:rPr lang="en-US" altLang="en-US" sz="1500" dirty="0"/>
              <a:t>If not a map, the value is appended directly to the URL without escaping.</a:t>
            </a:r>
          </a:p>
          <a:p>
            <a:pPr eaLnBrk="0" fontAlgn="base" hangingPunct="0">
              <a:spcBef>
                <a:spcPts val="600"/>
              </a:spcBef>
              <a:spcAft>
                <a:spcPct val="0"/>
              </a:spcAft>
            </a:pPr>
            <a:r>
              <a:rPr lang="en-US" altLang="en-US" sz="1500" b="1" dirty="0"/>
              <a:t>method</a:t>
            </a:r>
            <a:r>
              <a:rPr lang="en-US" altLang="en-US" sz="1500" dirty="0"/>
              <a:t> – HTTP method; defaults to POST (if a body is provided), otherwise GET.</a:t>
            </a:r>
          </a:p>
          <a:p>
            <a:pPr eaLnBrk="0" fontAlgn="base" hangingPunct="0">
              <a:spcBef>
                <a:spcPts val="600"/>
              </a:spcBef>
              <a:spcAft>
                <a:spcPct val="0"/>
              </a:spcAft>
            </a:pPr>
            <a:r>
              <a:rPr lang="en-US" altLang="en-US" sz="1500" b="1" dirty="0"/>
              <a:t>stream</a:t>
            </a:r>
            <a:r>
              <a:rPr lang="en-US" altLang="en-US" sz="1500" dirty="0"/>
              <a:t> – Request body. If </a:t>
            </a:r>
            <a:r>
              <a:rPr lang="en-US" altLang="en-US" sz="1500" dirty="0" err="1"/>
              <a:t>iterable</a:t>
            </a:r>
            <a:r>
              <a:rPr lang="en-US" altLang="en-US" sz="1500" dirty="0"/>
              <a:t>, the entire stream is sent.</a:t>
            </a:r>
          </a:p>
          <a:p>
            <a:pPr eaLnBrk="0" fontAlgn="base" hangingPunct="0">
              <a:spcBef>
                <a:spcPts val="600"/>
              </a:spcBef>
              <a:spcAft>
                <a:spcPct val="0"/>
              </a:spcAft>
            </a:pPr>
            <a:r>
              <a:rPr lang="en-US" altLang="en-US" sz="1500" b="1" dirty="0"/>
              <a:t>headers</a:t>
            </a:r>
            <a:r>
              <a:rPr lang="en-US" altLang="en-US" sz="1500" dirty="0"/>
              <a:t> – Optional HTTP headers. Provided headers are not overridden.</a:t>
            </a:r>
          </a:p>
          <a:p>
            <a:pPr eaLnBrk="0" fontAlgn="base" hangingPunct="0">
              <a:spcBef>
                <a:spcPts val="600"/>
              </a:spcBef>
              <a:spcAft>
                <a:spcPct val="0"/>
              </a:spcAft>
            </a:pPr>
            <a:r>
              <a:rPr lang="en-US" altLang="en-US" sz="1500" b="1" dirty="0"/>
              <a:t>format</a:t>
            </a:r>
            <a:r>
              <a:rPr lang="en-US" altLang="en-US" sz="1500" dirty="0"/>
              <a:t> – Sets Content-Type and Accept headers automatically.</a:t>
            </a:r>
          </a:p>
          <a:p>
            <a:pPr lvl="1" eaLnBrk="0" fontAlgn="base" hangingPunct="0">
              <a:spcBef>
                <a:spcPts val="0"/>
              </a:spcBef>
              <a:spcAft>
                <a:spcPct val="0"/>
              </a:spcAft>
              <a:buFont typeface="Courier New" panose="02070309020205020404" pitchFamily="49" charset="0"/>
              <a:buChar char="o"/>
            </a:pPr>
            <a:r>
              <a:rPr lang="en-US" altLang="en-US" sz="1500" dirty="0"/>
              <a:t>If these headers are provided explicitly, they are not overridden.</a:t>
            </a:r>
          </a:p>
          <a:p>
            <a:pPr lvl="1" eaLnBrk="0" fontAlgn="base" hangingPunct="0">
              <a:spcBef>
                <a:spcPts val="0"/>
              </a:spcBef>
              <a:spcAft>
                <a:spcPct val="0"/>
              </a:spcAft>
              <a:buFont typeface="Courier New" panose="02070309020205020404" pitchFamily="49" charset="0"/>
              <a:buChar char="o"/>
            </a:pPr>
            <a:r>
              <a:rPr lang="en-US" altLang="en-US" sz="1500" dirty="0"/>
              <a:t>Does not affect serialization/deserialization; use </a:t>
            </a:r>
            <a:r>
              <a:rPr lang="en-US" altLang="en-US" sz="1500" dirty="0" err="1"/>
              <a:t>HttpJson</a:t>
            </a:r>
            <a:r>
              <a:rPr lang="en-US" altLang="en-US" sz="1500" dirty="0"/>
              <a:t> Actor for JSON conversion.</a:t>
            </a:r>
          </a:p>
          <a:p>
            <a:pPr eaLnBrk="0" fontAlgn="base" hangingPunct="0">
              <a:spcBef>
                <a:spcPts val="600"/>
              </a:spcBef>
              <a:spcAft>
                <a:spcPct val="0"/>
              </a:spcAft>
            </a:pPr>
            <a:r>
              <a:rPr lang="en-US" altLang="en-US" sz="1500" b="1" dirty="0" err="1"/>
              <a:t>exceptionOnError</a:t>
            </a:r>
            <a:r>
              <a:rPr lang="en-US" altLang="en-US" sz="1500" dirty="0"/>
              <a:t> – Defines behavior for error responses:</a:t>
            </a:r>
          </a:p>
          <a:p>
            <a:pPr lvl="1" eaLnBrk="0" fontAlgn="base" hangingPunct="0">
              <a:spcBef>
                <a:spcPts val="0"/>
              </a:spcBef>
              <a:spcAft>
                <a:spcPct val="0"/>
              </a:spcAft>
              <a:buFont typeface="Courier New" panose="02070309020205020404" pitchFamily="49" charset="0"/>
              <a:buChar char="o"/>
            </a:pPr>
            <a:r>
              <a:rPr lang="en-US" altLang="en-US" sz="1500" dirty="0"/>
              <a:t>true – Throws an exception for bad status codes.</a:t>
            </a:r>
          </a:p>
          <a:p>
            <a:pPr lvl="1" eaLnBrk="0" fontAlgn="base" hangingPunct="0">
              <a:spcBef>
                <a:spcPts val="0"/>
              </a:spcBef>
              <a:spcAft>
                <a:spcPct val="0"/>
              </a:spcAft>
              <a:buFont typeface="Courier New" panose="02070309020205020404" pitchFamily="49" charset="0"/>
              <a:buChar char="o"/>
            </a:pPr>
            <a:r>
              <a:rPr lang="en-US" altLang="en-US" sz="1500" dirty="0"/>
              <a:t>false – Continues execution, returning the status code and error content.</a:t>
            </a:r>
          </a:p>
          <a:p>
            <a:pPr lvl="1" eaLnBrk="0" fontAlgn="base" hangingPunct="0">
              <a:spcBef>
                <a:spcPts val="0"/>
              </a:spcBef>
              <a:spcAft>
                <a:spcPct val="0"/>
              </a:spcAft>
              <a:buFont typeface="Courier New" panose="02070309020205020404" pitchFamily="49" charset="0"/>
              <a:buChar char="o"/>
            </a:pPr>
            <a:r>
              <a:rPr lang="en-US" altLang="en-US" sz="1500" dirty="0"/>
              <a:t>Networking errors always throw an exception.</a:t>
            </a:r>
          </a:p>
          <a:p>
            <a:pPr eaLnBrk="0" fontAlgn="base" hangingPunct="0">
              <a:spcBef>
                <a:spcPts val="600"/>
              </a:spcBef>
              <a:spcAft>
                <a:spcPct val="0"/>
              </a:spcAft>
            </a:pPr>
            <a:r>
              <a:rPr lang="en-US" altLang="en-US" sz="1500" b="1" dirty="0"/>
              <a:t>timeout</a:t>
            </a:r>
            <a:r>
              <a:rPr lang="en-US" altLang="en-US" sz="1500" dirty="0"/>
              <a:t> – Request timeout (</a:t>
            </a:r>
            <a:r>
              <a:rPr lang="en-US" altLang="en-US" sz="1500" dirty="0" err="1"/>
              <a:t>ms</a:t>
            </a:r>
            <a:r>
              <a:rPr lang="en-US" altLang="en-US" sz="1500" dirty="0"/>
              <a:t>). Throws an exception if exceeded.</a:t>
            </a:r>
          </a:p>
          <a:p>
            <a:pPr eaLnBrk="0" fontAlgn="base" hangingPunct="0">
              <a:spcBef>
                <a:spcPts val="600"/>
              </a:spcBef>
              <a:spcAft>
                <a:spcPct val="0"/>
              </a:spcAft>
            </a:pPr>
            <a:r>
              <a:rPr lang="en-US" altLang="en-US" sz="1500" b="1" dirty="0" err="1"/>
              <a:t>noCertificateCheck</a:t>
            </a:r>
            <a:r>
              <a:rPr lang="en-US" altLang="en-US" sz="1500" dirty="0"/>
              <a:t> – Disables certificate verification for HTTPS.</a:t>
            </a:r>
          </a:p>
          <a:p>
            <a:pPr lvl="1" eaLnBrk="0" fontAlgn="base" hangingPunct="0">
              <a:spcBef>
                <a:spcPts val="0"/>
              </a:spcBef>
              <a:spcAft>
                <a:spcPct val="0"/>
              </a:spcAft>
              <a:buFont typeface="Courier New" panose="02070309020205020404" pitchFamily="49" charset="0"/>
              <a:buChar char="o"/>
            </a:pPr>
            <a:r>
              <a:rPr lang="en-US" altLang="en-US" sz="1500" dirty="0"/>
              <a:t>Allows connections to servers with self-signed or unknown certificates.</a:t>
            </a:r>
          </a:p>
          <a:p>
            <a:pPr lvl="1" eaLnBrk="0" fontAlgn="base" hangingPunct="0">
              <a:spcBef>
                <a:spcPts val="0"/>
              </a:spcBef>
              <a:spcAft>
                <a:spcPct val="0"/>
              </a:spcAft>
              <a:buFont typeface="Courier New" panose="02070309020205020404" pitchFamily="49" charset="0"/>
              <a:buChar char="o"/>
            </a:pPr>
            <a:r>
              <a:rPr lang="en-US" altLang="en-US" sz="1500" dirty="0"/>
              <a:t>⚠️ Connection is encrypted but not secure (susceptible to MITM attacks). Use only if necessary.</a:t>
            </a:r>
          </a:p>
          <a:p>
            <a:pPr eaLnBrk="0" fontAlgn="base" hangingPunct="0">
              <a:spcBef>
                <a:spcPts val="600"/>
              </a:spcBef>
              <a:spcAft>
                <a:spcPct val="0"/>
              </a:spcAft>
            </a:pPr>
            <a:r>
              <a:rPr lang="en-US" altLang="en-US" sz="1500" b="1" dirty="0"/>
              <a:t>debug</a:t>
            </a:r>
            <a:r>
              <a:rPr lang="en-US" altLang="en-US" sz="1500" dirty="0"/>
              <a:t> – Enables debug logging of URI, method, headers, and parameters.</a:t>
            </a:r>
            <a:endParaRPr lang="en-US" sz="1500" dirty="0"/>
          </a:p>
          <a:p>
            <a:pPr marL="0" indent="0">
              <a:buNone/>
            </a:pPr>
            <a:endParaRPr lang="en-US" sz="1600" i="0" dirty="0"/>
          </a:p>
          <a:p>
            <a:pPr lvl="2"/>
            <a:endParaRPr lang="en-US" sz="1200" i="0" dirty="0"/>
          </a:p>
          <a:p>
            <a:pPr lvl="2"/>
            <a:endParaRPr lang="en-US" sz="1400" b="1" i="0" dirty="0"/>
          </a:p>
        </p:txBody>
      </p:sp>
      <p:sp>
        <p:nvSpPr>
          <p:cNvPr id="5" name="TextBox 4">
            <a:extLst>
              <a:ext uri="{FF2B5EF4-FFF2-40B4-BE49-F238E27FC236}">
                <a16:creationId xmlns:a16="http://schemas.microsoft.com/office/drawing/2014/main" id="{5ADACC99-B1BD-1F74-92B8-2A910025E8E4}"/>
              </a:ext>
            </a:extLst>
          </p:cNvPr>
          <p:cNvSpPr txBox="1"/>
          <p:nvPr/>
        </p:nvSpPr>
        <p:spPr>
          <a:xfrm>
            <a:off x="1592411" y="5333627"/>
            <a:ext cx="148929" cy="1436506"/>
          </a:xfrm>
          <a:prstGeom prst="rect">
            <a:avLst/>
          </a:prstGeom>
          <a:noFill/>
        </p:spPr>
        <p:txBody>
          <a:bodyPr wrap="square" rtlCol="0">
            <a:spAutoFit/>
          </a:bodyPr>
          <a:lstStyle/>
          <a:p>
            <a:endParaRPr lang="en-US" dirty="0"/>
          </a:p>
        </p:txBody>
      </p:sp>
      <p:pic>
        <p:nvPicPr>
          <p:cNvPr id="8" name="Picture 7">
            <a:extLst>
              <a:ext uri="{FF2B5EF4-FFF2-40B4-BE49-F238E27FC236}">
                <a16:creationId xmlns:a16="http://schemas.microsoft.com/office/drawing/2014/main" id="{6E652E40-73E7-875D-BCB6-833CEEBE57EC}"/>
              </a:ext>
            </a:extLst>
          </p:cNvPr>
          <p:cNvPicPr>
            <a:picLocks noChangeAspect="1"/>
          </p:cNvPicPr>
          <p:nvPr/>
        </p:nvPicPr>
        <p:blipFill>
          <a:blip r:embed="rId2"/>
          <a:stretch>
            <a:fillRect/>
          </a:stretch>
        </p:blipFill>
        <p:spPr>
          <a:xfrm>
            <a:off x="6257391" y="1102904"/>
            <a:ext cx="5718992" cy="3338786"/>
          </a:xfrm>
          <a:prstGeom prst="rect">
            <a:avLst/>
          </a:prstGeom>
        </p:spPr>
      </p:pic>
      <p:pic>
        <p:nvPicPr>
          <p:cNvPr id="9" name="Picture 8">
            <a:extLst>
              <a:ext uri="{FF2B5EF4-FFF2-40B4-BE49-F238E27FC236}">
                <a16:creationId xmlns:a16="http://schemas.microsoft.com/office/drawing/2014/main" id="{69FB28A1-85C1-4C45-B681-11754D1547F6}"/>
              </a:ext>
            </a:extLst>
          </p:cNvPr>
          <p:cNvPicPr>
            <a:picLocks noChangeAspect="1"/>
          </p:cNvPicPr>
          <p:nvPr/>
        </p:nvPicPr>
        <p:blipFill>
          <a:blip r:embed="rId3"/>
          <a:stretch>
            <a:fillRect/>
          </a:stretch>
        </p:blipFill>
        <p:spPr>
          <a:xfrm>
            <a:off x="7078895" y="2382717"/>
            <a:ext cx="2838747" cy="2685989"/>
          </a:xfrm>
          <a:prstGeom prst="rect">
            <a:avLst/>
          </a:prstGeom>
        </p:spPr>
      </p:pic>
      <p:sp>
        <p:nvSpPr>
          <p:cNvPr id="10" name="Content Placeholder 2">
            <a:extLst>
              <a:ext uri="{FF2B5EF4-FFF2-40B4-BE49-F238E27FC236}">
                <a16:creationId xmlns:a16="http://schemas.microsoft.com/office/drawing/2014/main" id="{428338E6-355D-074A-FD74-F28EE0469F04}"/>
              </a:ext>
            </a:extLst>
          </p:cNvPr>
          <p:cNvSpPr txBox="1">
            <a:spLocks/>
          </p:cNvSpPr>
          <p:nvPr/>
        </p:nvSpPr>
        <p:spPr>
          <a:xfrm>
            <a:off x="7105031" y="5269191"/>
            <a:ext cx="4803619" cy="1202640"/>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1400" b="1" dirty="0"/>
              <a:t>Outputs:</a:t>
            </a:r>
          </a:p>
          <a:p>
            <a:pPr lvl="1"/>
            <a:r>
              <a:rPr lang="en-US" sz="1100" i="0" dirty="0"/>
              <a:t>stream: The result stream, represented by a collection of blobs.</a:t>
            </a:r>
          </a:p>
          <a:p>
            <a:pPr lvl="1"/>
            <a:r>
              <a:rPr lang="en-US" sz="1100" i="0" dirty="0"/>
              <a:t>status: The status code returned by the http server.</a:t>
            </a:r>
          </a:p>
          <a:p>
            <a:pPr lvl="1"/>
            <a:r>
              <a:rPr lang="en-US" sz="1100" i="0" dirty="0"/>
              <a:t>header: A map of header parameters returned in the HTTP response.</a:t>
            </a:r>
            <a:endParaRPr lang="en-US" sz="1100" b="1" dirty="0"/>
          </a:p>
          <a:p>
            <a:pPr lvl="1"/>
            <a:endParaRPr lang="en-US" sz="1100" i="0" dirty="0"/>
          </a:p>
          <a:p>
            <a:pPr marL="457200" lvl="1" indent="0">
              <a:buNone/>
            </a:pPr>
            <a:endParaRPr lang="en-US" sz="1100" i="0" dirty="0"/>
          </a:p>
          <a:p>
            <a:pPr lvl="2"/>
            <a:endParaRPr lang="en-US" sz="900" i="0" dirty="0"/>
          </a:p>
          <a:p>
            <a:pPr lvl="2"/>
            <a:endParaRPr lang="en-US" sz="1200" i="0" dirty="0"/>
          </a:p>
          <a:p>
            <a:pPr lvl="2"/>
            <a:endParaRPr lang="en-US" sz="1400" b="1" i="0" dirty="0"/>
          </a:p>
        </p:txBody>
      </p:sp>
    </p:spTree>
    <p:extLst>
      <p:ext uri="{BB962C8B-B14F-4D97-AF65-F5344CB8AC3E}">
        <p14:creationId xmlns:p14="http://schemas.microsoft.com/office/powerpoint/2010/main" val="90394956"/>
      </p:ext>
    </p:extLst>
  </p:cSld>
  <p:clrMapOvr>
    <a:masterClrMapping/>
  </p:clrMapOvr>
  <p:transition spd="slow">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5EF73-2CB3-C9B5-D1CA-BA3EE6143D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60D599-3980-D59C-6443-6AFFC2766794}"/>
              </a:ext>
            </a:extLst>
          </p:cNvPr>
          <p:cNvSpPr>
            <a:spLocks noGrp="1"/>
          </p:cNvSpPr>
          <p:nvPr>
            <p:ph type="title"/>
          </p:nvPr>
        </p:nvSpPr>
        <p:spPr/>
        <p:txBody>
          <a:bodyPr>
            <a:normAutofit/>
          </a:bodyPr>
          <a:lstStyle/>
          <a:p>
            <a:r>
              <a:rPr lang="en-US" b="1" dirty="0"/>
              <a:t>Http</a:t>
            </a:r>
            <a:endParaRPr lang="en-US" dirty="0"/>
          </a:p>
        </p:txBody>
      </p:sp>
      <p:sp>
        <p:nvSpPr>
          <p:cNvPr id="3" name="Content Placeholder 2">
            <a:extLst>
              <a:ext uri="{FF2B5EF4-FFF2-40B4-BE49-F238E27FC236}">
                <a16:creationId xmlns:a16="http://schemas.microsoft.com/office/drawing/2014/main" id="{267AA4EE-1E68-1EA1-3CA0-B4EF5128DD05}"/>
              </a:ext>
            </a:extLst>
          </p:cNvPr>
          <p:cNvSpPr>
            <a:spLocks noGrp="1"/>
          </p:cNvSpPr>
          <p:nvPr>
            <p:ph idx="1"/>
          </p:nvPr>
        </p:nvSpPr>
        <p:spPr>
          <a:xfrm>
            <a:off x="838200" y="1497027"/>
            <a:ext cx="5368391" cy="2800653"/>
          </a:xfrm>
        </p:spPr>
        <p:txBody>
          <a:bodyPr>
            <a:normAutofit lnSpcReduction="10000"/>
          </a:bodyPr>
          <a:lstStyle/>
          <a:p>
            <a:pPr marL="0" indent="0">
              <a:buNone/>
            </a:pPr>
            <a:r>
              <a:rPr lang="en-US" sz="1600" dirty="0" err="1">
                <a:solidFill>
                  <a:srgbClr val="1082F2"/>
                </a:solidFill>
              </a:rPr>
              <a:t>HttpJson</a:t>
            </a:r>
            <a:r>
              <a:rPr lang="en-US" sz="1600" dirty="0">
                <a:solidFill>
                  <a:srgbClr val="1082F2"/>
                </a:solidFill>
              </a:rPr>
              <a:t> Actor</a:t>
            </a:r>
            <a:br>
              <a:rPr lang="en-US" sz="1700" dirty="0">
                <a:solidFill>
                  <a:srgbClr val="1082F2"/>
                </a:solidFill>
              </a:rPr>
            </a:br>
            <a:endParaRPr lang="en-US" sz="1500" dirty="0">
              <a:solidFill>
                <a:srgbClr val="1082F2"/>
              </a:solidFill>
            </a:endParaRPr>
          </a:p>
          <a:p>
            <a:pPr marL="0" indent="0">
              <a:buNone/>
            </a:pPr>
            <a:r>
              <a:rPr lang="en-US" sz="1400" dirty="0"/>
              <a:t>Send a request to a web server stringifying the request into JSON and parsing the </a:t>
            </a:r>
            <a:br>
              <a:rPr lang="en-US" sz="1400" dirty="0"/>
            </a:br>
            <a:r>
              <a:rPr lang="en-US" sz="1400" dirty="0"/>
              <a:t>JSON result. In case of a JSON parsing error, the actor will throw an exception</a:t>
            </a:r>
          </a:p>
          <a:p>
            <a:pPr lvl="2"/>
            <a:endParaRPr lang="en-US" sz="1400" i="0" dirty="0"/>
          </a:p>
          <a:p>
            <a:pPr lvl="2"/>
            <a:endParaRPr lang="en-US" sz="900" i="0" dirty="0"/>
          </a:p>
          <a:p>
            <a:pPr marL="0" indent="0">
              <a:buNone/>
            </a:pPr>
            <a:r>
              <a:rPr lang="en-US" sz="1500" dirty="0" err="1">
                <a:solidFill>
                  <a:srgbClr val="1082F2"/>
                </a:solidFill>
              </a:rPr>
              <a:t>HttpForm</a:t>
            </a:r>
            <a:r>
              <a:rPr lang="en-US" sz="1500" dirty="0">
                <a:solidFill>
                  <a:srgbClr val="1082F2"/>
                </a:solidFill>
              </a:rPr>
              <a:t> Actor</a:t>
            </a:r>
          </a:p>
          <a:p>
            <a:pPr marL="0" indent="0">
              <a:buNone/>
            </a:pPr>
            <a:r>
              <a:rPr lang="en-US" sz="1400" dirty="0"/>
              <a:t>Send a request to a web server emulating form POST submission.</a:t>
            </a:r>
            <a:br>
              <a:rPr lang="en-US" sz="1400" dirty="0"/>
            </a:br>
            <a:r>
              <a:rPr lang="en-US" sz="1300" dirty="0"/>
              <a:t>      </a:t>
            </a:r>
            <a:endParaRPr lang="en-US" sz="1600" i="0" dirty="0"/>
          </a:p>
          <a:p>
            <a:pPr lvl="2"/>
            <a:endParaRPr lang="en-US" sz="1400" b="1" i="0" dirty="0"/>
          </a:p>
        </p:txBody>
      </p:sp>
      <p:pic>
        <p:nvPicPr>
          <p:cNvPr id="5" name="Picture 4">
            <a:extLst>
              <a:ext uri="{FF2B5EF4-FFF2-40B4-BE49-F238E27FC236}">
                <a16:creationId xmlns:a16="http://schemas.microsoft.com/office/drawing/2014/main" id="{C6FC05F0-5B84-A72E-EF2A-607516508375}"/>
              </a:ext>
            </a:extLst>
          </p:cNvPr>
          <p:cNvPicPr>
            <a:picLocks noChangeAspect="1"/>
          </p:cNvPicPr>
          <p:nvPr/>
        </p:nvPicPr>
        <p:blipFill>
          <a:blip r:embed="rId2"/>
          <a:stretch>
            <a:fillRect/>
          </a:stretch>
        </p:blipFill>
        <p:spPr>
          <a:xfrm>
            <a:off x="6417088" y="1414731"/>
            <a:ext cx="5368391" cy="2901630"/>
          </a:xfrm>
          <a:prstGeom prst="rect">
            <a:avLst/>
          </a:prstGeom>
        </p:spPr>
      </p:pic>
      <p:sp>
        <p:nvSpPr>
          <p:cNvPr id="4" name="Rectangle 3">
            <a:hlinkClick r:id="rId3" action="ppaction://hlinksldjump"/>
            <a:extLst>
              <a:ext uri="{FF2B5EF4-FFF2-40B4-BE49-F238E27FC236}">
                <a16:creationId xmlns:a16="http://schemas.microsoft.com/office/drawing/2014/main" id="{5F61DD0A-EAF4-8C46-4229-1752665FF435}"/>
              </a:ext>
            </a:extLst>
          </p:cNvPr>
          <p:cNvSpPr/>
          <p:nvPr/>
        </p:nvSpPr>
        <p:spPr>
          <a:xfrm>
            <a:off x="838200" y="4551728"/>
            <a:ext cx="9150960" cy="1739005"/>
          </a:xfrm>
          <a:prstGeom prst="rect">
            <a:avLst/>
          </a:prstGeom>
          <a:solidFill>
            <a:schemeClr val="bg2"/>
          </a:solidFill>
          <a:ln>
            <a:noFill/>
          </a:ln>
          <a:effectLst>
            <a:outerShdw blurRad="157150" dist="145807" dir="6240000" sx="101824" sy="101824" algn="br" rotWithShape="0">
              <a:prstClr val="black">
                <a:alpha val="17111"/>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a:p>
        </p:txBody>
      </p:sp>
      <p:sp>
        <p:nvSpPr>
          <p:cNvPr id="6" name="Content Placeholder 2">
            <a:extLst>
              <a:ext uri="{FF2B5EF4-FFF2-40B4-BE49-F238E27FC236}">
                <a16:creationId xmlns:a16="http://schemas.microsoft.com/office/drawing/2014/main" id="{7E0D2C59-1060-3CCE-76A9-5D87EC56EA64}"/>
              </a:ext>
            </a:extLst>
          </p:cNvPr>
          <p:cNvSpPr txBox="1">
            <a:spLocks/>
          </p:cNvSpPr>
          <p:nvPr/>
        </p:nvSpPr>
        <p:spPr>
          <a:xfrm>
            <a:off x="1059839" y="5202416"/>
            <a:ext cx="9227161" cy="1088317"/>
          </a:xfrm>
          <a:prstGeom prst="rect">
            <a:avLst/>
          </a:prstGeom>
        </p:spPr>
        <p:txBody>
          <a:bodyPr vert="horz" lIns="91440" tIns="45720" rIns="91440" bIns="45720" rtlCol="0" anchor="t">
            <a:no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lumMod val="60000"/>
                    <a:lumOff val="40000"/>
                  </a:schemeClr>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lumMod val="60000"/>
                    <a:lumOff val="40000"/>
                  </a:schemeClr>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lumMod val="60000"/>
                    <a:lumOff val="40000"/>
                  </a:schemeClr>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Where applicable, use the </a:t>
            </a:r>
            <a:r>
              <a:rPr lang="en-US" sz="1400" b="1" dirty="0" err="1"/>
              <a:t>HttpJson</a:t>
            </a:r>
            <a:r>
              <a:rPr lang="en-US" sz="1400" dirty="0"/>
              <a:t> Actor instead of the </a:t>
            </a:r>
            <a:r>
              <a:rPr lang="en-US" sz="1400" b="1" dirty="0"/>
              <a:t>Http</a:t>
            </a:r>
            <a:r>
              <a:rPr lang="en-US" sz="1400" dirty="0"/>
              <a:t> Actor.</a:t>
            </a:r>
          </a:p>
          <a:p>
            <a:r>
              <a:rPr lang="en-US" sz="1400" dirty="0"/>
              <a:t>The </a:t>
            </a:r>
            <a:r>
              <a:rPr lang="en-US" sz="1400" b="1" dirty="0" err="1"/>
              <a:t>HttpJson</a:t>
            </a:r>
            <a:r>
              <a:rPr lang="en-US" sz="1400" dirty="0"/>
              <a:t> Actor sends a request to a web server, stringifying the request into JSON and parsing the JSON result.</a:t>
            </a:r>
          </a:p>
          <a:p>
            <a:r>
              <a:rPr lang="en-US" sz="1400" dirty="0"/>
              <a:t>If there is a JSON parsing error, the Actor will throw an exception.</a:t>
            </a:r>
          </a:p>
        </p:txBody>
      </p:sp>
      <p:sp>
        <p:nvSpPr>
          <p:cNvPr id="7" name="TextBox 6">
            <a:extLst>
              <a:ext uri="{FF2B5EF4-FFF2-40B4-BE49-F238E27FC236}">
                <a16:creationId xmlns:a16="http://schemas.microsoft.com/office/drawing/2014/main" id="{94AAD736-3924-1C13-7331-C8CFF74C8AA6}"/>
              </a:ext>
            </a:extLst>
          </p:cNvPr>
          <p:cNvSpPr txBox="1"/>
          <p:nvPr/>
        </p:nvSpPr>
        <p:spPr>
          <a:xfrm>
            <a:off x="1731807" y="4670746"/>
            <a:ext cx="2927757" cy="369332"/>
          </a:xfrm>
          <a:prstGeom prst="rect">
            <a:avLst/>
          </a:prstGeom>
          <a:noFill/>
        </p:spPr>
        <p:txBody>
          <a:bodyPr wrap="square">
            <a:spAutoFit/>
          </a:bodyPr>
          <a:lstStyle/>
          <a:p>
            <a:pPr marL="0" defTabSz="914400" rtl="0" eaLnBrk="1" latinLnBrk="0" hangingPunct="1"/>
            <a:r>
              <a:rPr lang="en-US" sz="1800" b="1" dirty="0"/>
              <a:t>Best practice:</a:t>
            </a:r>
          </a:p>
        </p:txBody>
      </p:sp>
      <p:pic>
        <p:nvPicPr>
          <p:cNvPr id="8" name="Graphic 7">
            <a:extLst>
              <a:ext uri="{FF2B5EF4-FFF2-40B4-BE49-F238E27FC236}">
                <a16:creationId xmlns:a16="http://schemas.microsoft.com/office/drawing/2014/main" id="{886558B6-AA27-3EBA-5C53-A4C8CDEDF262}"/>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2991" y="4635080"/>
            <a:ext cx="459756" cy="459756"/>
          </a:xfrm>
          <a:prstGeom prst="rect">
            <a:avLst/>
          </a:prstGeom>
        </p:spPr>
      </p:pic>
    </p:spTree>
    <p:extLst>
      <p:ext uri="{BB962C8B-B14F-4D97-AF65-F5344CB8AC3E}">
        <p14:creationId xmlns:p14="http://schemas.microsoft.com/office/powerpoint/2010/main" val="356032363"/>
      </p:ext>
    </p:extLst>
  </p:cSld>
  <p:clrMapOvr>
    <a:masterClrMapping/>
  </p:clrMapOvr>
  <p:transition spd="slow">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A68F6-B7D2-D10A-23AE-6499834BD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ECA11B-B6BE-26BA-DAEC-02981D323FDB}"/>
              </a:ext>
            </a:extLst>
          </p:cNvPr>
          <p:cNvSpPr>
            <a:spLocks noGrp="1"/>
          </p:cNvSpPr>
          <p:nvPr>
            <p:ph type="title"/>
          </p:nvPr>
        </p:nvSpPr>
        <p:spPr/>
        <p:txBody>
          <a:bodyPr>
            <a:normAutofit/>
          </a:bodyPr>
          <a:lstStyle/>
          <a:p>
            <a:r>
              <a:rPr lang="en-US" b="1" dirty="0"/>
              <a:t>Streams</a:t>
            </a:r>
            <a:endParaRPr lang="en-US" dirty="0"/>
          </a:p>
        </p:txBody>
      </p:sp>
      <p:sp>
        <p:nvSpPr>
          <p:cNvPr id="3" name="Content Placeholder 2">
            <a:extLst>
              <a:ext uri="{FF2B5EF4-FFF2-40B4-BE49-F238E27FC236}">
                <a16:creationId xmlns:a16="http://schemas.microsoft.com/office/drawing/2014/main" id="{A6B1424A-7DDC-29E9-87C3-4A5014A9CC58}"/>
              </a:ext>
            </a:extLst>
          </p:cNvPr>
          <p:cNvSpPr>
            <a:spLocks noGrp="1"/>
          </p:cNvSpPr>
          <p:nvPr>
            <p:ph idx="1"/>
          </p:nvPr>
        </p:nvSpPr>
        <p:spPr/>
        <p:txBody>
          <a:bodyPr>
            <a:normAutofit/>
          </a:bodyPr>
          <a:lstStyle/>
          <a:p>
            <a:r>
              <a:rPr lang="en-US" sz="1800" dirty="0" err="1">
                <a:solidFill>
                  <a:srgbClr val="1082F2"/>
                </a:solidFill>
              </a:rPr>
              <a:t>ConstBuffer</a:t>
            </a:r>
            <a:br>
              <a:rPr lang="en-US" sz="1700" dirty="0">
                <a:solidFill>
                  <a:srgbClr val="1082F2"/>
                </a:solidFill>
              </a:rPr>
            </a:br>
            <a:r>
              <a:rPr lang="en-US" sz="1500" dirty="0"/>
              <a:t> </a:t>
            </a:r>
            <a:br>
              <a:rPr lang="en-US" sz="1500" dirty="0"/>
            </a:br>
            <a:r>
              <a:rPr lang="en-US" sz="1300" dirty="0"/>
              <a:t>Converts the input value to a byte array blob.</a:t>
            </a:r>
            <a:br>
              <a:rPr lang="en-US" sz="1300" dirty="0"/>
            </a:br>
            <a:r>
              <a:rPr lang="en-US" sz="1300" dirty="0"/>
              <a:t>The constant supplied is a string where every two bytes are a hexadecimal value of a single byte.</a:t>
            </a:r>
            <a:br>
              <a:rPr lang="en-US" sz="1300" dirty="0"/>
            </a:br>
            <a:r>
              <a:rPr lang="en-US" sz="1300" dirty="0"/>
              <a:t>For instance FF10 represents the byte array [255,16].</a:t>
            </a:r>
            <a:br>
              <a:rPr lang="en-US" sz="1300" dirty="0"/>
            </a:br>
            <a:r>
              <a:rPr lang="en-US" sz="1300" dirty="0"/>
              <a:t>Other characters or characters that are nor paired are ignored so 'FF 10' is the same as 'FF,10!’..</a:t>
            </a:r>
          </a:p>
          <a:p>
            <a:endParaRPr lang="en-US" sz="1300" dirty="0"/>
          </a:p>
          <a:p>
            <a:pPr lvl="1"/>
            <a:r>
              <a:rPr lang="en-US" sz="1400" b="1" dirty="0"/>
              <a:t>Inputs</a:t>
            </a:r>
            <a:r>
              <a:rPr lang="en-US" sz="900" b="1" dirty="0"/>
              <a:t>:</a:t>
            </a:r>
          </a:p>
          <a:p>
            <a:pPr lvl="2"/>
            <a:r>
              <a:rPr lang="en-US" sz="1300" i="0" dirty="0"/>
              <a:t>value: A string representation of a binary value.</a:t>
            </a:r>
          </a:p>
          <a:p>
            <a:pPr lvl="1"/>
            <a:r>
              <a:rPr lang="en-US" sz="1400" b="1" dirty="0"/>
              <a:t>Example</a:t>
            </a:r>
            <a:r>
              <a:rPr lang="en-US" sz="600" b="1" dirty="0"/>
              <a:t>:</a:t>
            </a:r>
          </a:p>
          <a:p>
            <a:pPr lvl="2"/>
            <a:r>
              <a:rPr lang="en-US" sz="1300" i="0" dirty="0"/>
              <a:t>value :48656C6C6F20576F726C64.</a:t>
            </a:r>
          </a:p>
          <a:p>
            <a:pPr lvl="1"/>
            <a:r>
              <a:rPr lang="en-US" sz="1400" b="1" dirty="0"/>
              <a:t>Output</a:t>
            </a:r>
            <a:r>
              <a:rPr lang="en-US" sz="600" b="1" dirty="0"/>
              <a:t>:</a:t>
            </a:r>
          </a:p>
          <a:p>
            <a:pPr lvl="2"/>
            <a:r>
              <a:rPr lang="en-US" sz="1300" i="0" dirty="0"/>
              <a:t>value: The input converted to a byte array blob.</a:t>
            </a:r>
          </a:p>
          <a:p>
            <a:r>
              <a:rPr lang="en-US" sz="1600" dirty="0" err="1">
                <a:solidFill>
                  <a:srgbClr val="1082F2"/>
                </a:solidFill>
              </a:rPr>
              <a:t>StringToBytes</a:t>
            </a:r>
            <a:endParaRPr lang="en-US" sz="1600" dirty="0">
              <a:solidFill>
                <a:srgbClr val="1082F2"/>
              </a:solidFill>
            </a:endParaRPr>
          </a:p>
          <a:p>
            <a:r>
              <a:rPr lang="en-US" sz="1600" i="0" dirty="0" err="1">
                <a:solidFill>
                  <a:srgbClr val="1082F2"/>
                </a:solidFill>
              </a:rPr>
              <a:t>BytesToS</a:t>
            </a:r>
            <a:r>
              <a:rPr lang="en-US" sz="1600" dirty="0" err="1">
                <a:solidFill>
                  <a:srgbClr val="1082F2"/>
                </a:solidFill>
              </a:rPr>
              <a:t>tring</a:t>
            </a:r>
            <a:endParaRPr lang="en-US" sz="1600" i="0" dirty="0">
              <a:solidFill>
                <a:srgbClr val="1082F2"/>
              </a:solidFill>
            </a:endParaRPr>
          </a:p>
          <a:p>
            <a:pPr lvl="2"/>
            <a:endParaRPr lang="en-US" sz="1400" b="1" i="0" dirty="0"/>
          </a:p>
        </p:txBody>
      </p:sp>
      <p:pic>
        <p:nvPicPr>
          <p:cNvPr id="8" name="Picture 7">
            <a:extLst>
              <a:ext uri="{FF2B5EF4-FFF2-40B4-BE49-F238E27FC236}">
                <a16:creationId xmlns:a16="http://schemas.microsoft.com/office/drawing/2014/main" id="{76B60F8C-746A-1284-F657-C60449753981}"/>
              </a:ext>
            </a:extLst>
          </p:cNvPr>
          <p:cNvPicPr>
            <a:picLocks noChangeAspect="1"/>
          </p:cNvPicPr>
          <p:nvPr/>
        </p:nvPicPr>
        <p:blipFill>
          <a:blip r:embed="rId2"/>
          <a:stretch>
            <a:fillRect/>
          </a:stretch>
        </p:blipFill>
        <p:spPr>
          <a:xfrm>
            <a:off x="6151726" y="2482328"/>
            <a:ext cx="6026617" cy="2089672"/>
          </a:xfrm>
          <a:prstGeom prst="rect">
            <a:avLst/>
          </a:prstGeom>
        </p:spPr>
      </p:pic>
    </p:spTree>
    <p:extLst>
      <p:ext uri="{BB962C8B-B14F-4D97-AF65-F5344CB8AC3E}">
        <p14:creationId xmlns:p14="http://schemas.microsoft.com/office/powerpoint/2010/main" val="3860356779"/>
      </p:ext>
    </p:extLst>
  </p:cSld>
  <p:clrMapOvr>
    <a:masterClrMapping/>
  </p:clrMapOvr>
  <p:transition spd="slow">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5EB70-61DD-E2F8-41AF-25F34655D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F204E-2B97-2948-C136-8F6AB4774048}"/>
              </a:ext>
            </a:extLst>
          </p:cNvPr>
          <p:cNvSpPr>
            <a:spLocks noGrp="1"/>
          </p:cNvSpPr>
          <p:nvPr>
            <p:ph type="title"/>
          </p:nvPr>
        </p:nvSpPr>
        <p:spPr/>
        <p:txBody>
          <a:bodyPr>
            <a:normAutofit/>
          </a:bodyPr>
          <a:lstStyle/>
          <a:p>
            <a:r>
              <a:rPr lang="en-US" b="1" dirty="0"/>
              <a:t>Streams</a:t>
            </a:r>
            <a:endParaRPr lang="en-US" dirty="0"/>
          </a:p>
        </p:txBody>
      </p:sp>
      <p:sp>
        <p:nvSpPr>
          <p:cNvPr id="3" name="Content Placeholder 2">
            <a:extLst>
              <a:ext uri="{FF2B5EF4-FFF2-40B4-BE49-F238E27FC236}">
                <a16:creationId xmlns:a16="http://schemas.microsoft.com/office/drawing/2014/main" id="{6B410F46-4EA1-2980-1388-7B8CBFA45151}"/>
              </a:ext>
            </a:extLst>
          </p:cNvPr>
          <p:cNvSpPr>
            <a:spLocks noGrp="1"/>
          </p:cNvSpPr>
          <p:nvPr>
            <p:ph idx="1"/>
          </p:nvPr>
        </p:nvSpPr>
        <p:spPr/>
        <p:txBody>
          <a:bodyPr>
            <a:normAutofit lnSpcReduction="10000"/>
          </a:bodyPr>
          <a:lstStyle/>
          <a:p>
            <a:pPr marL="0" indent="0">
              <a:buNone/>
            </a:pPr>
            <a:r>
              <a:rPr lang="en-US" sz="1700" dirty="0">
                <a:solidFill>
                  <a:srgbClr val="1082F2"/>
                </a:solidFill>
              </a:rPr>
              <a:t>Unzip Actor</a:t>
            </a:r>
          </a:p>
          <a:p>
            <a:pPr marL="0" indent="0">
              <a:buNone/>
            </a:pPr>
            <a:r>
              <a:rPr lang="en-US" sz="1600" dirty="0"/>
              <a:t>Unzip data from a zip file.</a:t>
            </a:r>
          </a:p>
          <a:p>
            <a:r>
              <a:rPr lang="en-US" sz="1800" b="1" dirty="0"/>
              <a:t>Inputs:</a:t>
            </a:r>
          </a:p>
          <a:p>
            <a:pPr lvl="1"/>
            <a:r>
              <a:rPr lang="en-US" i="0" dirty="0"/>
              <a:t>stream: The input stream, represented by a collection of blobs.</a:t>
            </a:r>
          </a:p>
          <a:p>
            <a:pPr lvl="1"/>
            <a:r>
              <a:rPr lang="en-US" i="0" dirty="0"/>
              <a:t>filter: An optional regex to filter the file names.</a:t>
            </a:r>
            <a:br>
              <a:rPr lang="en-US" i="0" dirty="0"/>
            </a:br>
            <a:r>
              <a:rPr lang="en-US" i="0" dirty="0"/>
              <a:t>The regex needs to be present at least once in the full path name of the file.</a:t>
            </a:r>
          </a:p>
          <a:p>
            <a:r>
              <a:rPr lang="en-US" sz="1800" b="1" dirty="0"/>
              <a:t>Example:</a:t>
            </a:r>
          </a:p>
          <a:p>
            <a:pPr lvl="1"/>
            <a:r>
              <a:rPr lang="en-US" i="0" dirty="0"/>
              <a:t>stream: output of </a:t>
            </a:r>
            <a:r>
              <a:rPr lang="en-US" i="0" dirty="0" err="1"/>
              <a:t>FileRead</a:t>
            </a:r>
            <a:r>
              <a:rPr lang="en-US" i="0" dirty="0"/>
              <a:t> of a zipped file</a:t>
            </a:r>
          </a:p>
          <a:p>
            <a:pPr lvl="1"/>
            <a:r>
              <a:rPr lang="en-US" i="0" dirty="0"/>
              <a:t>filer: *.</a:t>
            </a:r>
          </a:p>
          <a:p>
            <a:r>
              <a:rPr lang="en-US" sz="1800" b="1" dirty="0"/>
              <a:t>Output:</a:t>
            </a:r>
          </a:p>
          <a:p>
            <a:pPr lvl="1"/>
            <a:r>
              <a:rPr lang="en-US" i="0" dirty="0"/>
              <a:t>files: A map containing the file description fields and a 'stream' field containing the file payload.</a:t>
            </a:r>
          </a:p>
          <a:p>
            <a:pPr lvl="2"/>
            <a:endParaRPr lang="en-US" i="0" dirty="0"/>
          </a:p>
          <a:p>
            <a:pPr lvl="2"/>
            <a:endParaRPr lang="en-US" i="0" dirty="0"/>
          </a:p>
          <a:p>
            <a:pPr lvl="2"/>
            <a:endParaRPr lang="en-US" i="0" dirty="0"/>
          </a:p>
          <a:p>
            <a:pPr lvl="2"/>
            <a:endParaRPr lang="en-US" sz="900" i="0" dirty="0"/>
          </a:p>
          <a:p>
            <a:pPr lvl="2"/>
            <a:endParaRPr lang="en-US" sz="1200" i="0" dirty="0"/>
          </a:p>
          <a:p>
            <a:pPr lvl="2"/>
            <a:endParaRPr lang="en-US" sz="1400" b="1" i="0" dirty="0"/>
          </a:p>
        </p:txBody>
      </p:sp>
      <p:pic>
        <p:nvPicPr>
          <p:cNvPr id="7" name="Picture 6">
            <a:extLst>
              <a:ext uri="{FF2B5EF4-FFF2-40B4-BE49-F238E27FC236}">
                <a16:creationId xmlns:a16="http://schemas.microsoft.com/office/drawing/2014/main" id="{11FE6292-261A-F05A-C005-347F8273F817}"/>
              </a:ext>
            </a:extLst>
          </p:cNvPr>
          <p:cNvPicPr>
            <a:picLocks noChangeAspect="1"/>
          </p:cNvPicPr>
          <p:nvPr/>
        </p:nvPicPr>
        <p:blipFill>
          <a:blip r:embed="rId2"/>
          <a:stretch>
            <a:fillRect/>
          </a:stretch>
        </p:blipFill>
        <p:spPr>
          <a:xfrm>
            <a:off x="6363596" y="975904"/>
            <a:ext cx="5441308" cy="2747963"/>
          </a:xfrm>
          <a:prstGeom prst="rect">
            <a:avLst/>
          </a:prstGeom>
        </p:spPr>
      </p:pic>
      <p:pic>
        <p:nvPicPr>
          <p:cNvPr id="12" name="Picture 11">
            <a:extLst>
              <a:ext uri="{FF2B5EF4-FFF2-40B4-BE49-F238E27FC236}">
                <a16:creationId xmlns:a16="http://schemas.microsoft.com/office/drawing/2014/main" id="{32A9871D-5465-B939-A939-2253F3DA5548}"/>
              </a:ext>
            </a:extLst>
          </p:cNvPr>
          <p:cNvPicPr>
            <a:picLocks noChangeAspect="1"/>
          </p:cNvPicPr>
          <p:nvPr/>
        </p:nvPicPr>
        <p:blipFill>
          <a:blip r:embed="rId3"/>
          <a:stretch>
            <a:fillRect/>
          </a:stretch>
        </p:blipFill>
        <p:spPr>
          <a:xfrm>
            <a:off x="6363596" y="3836995"/>
            <a:ext cx="5441308" cy="2634836"/>
          </a:xfrm>
          <a:prstGeom prst="rect">
            <a:avLst/>
          </a:prstGeom>
        </p:spPr>
      </p:pic>
    </p:spTree>
    <p:extLst>
      <p:ext uri="{BB962C8B-B14F-4D97-AF65-F5344CB8AC3E}">
        <p14:creationId xmlns:p14="http://schemas.microsoft.com/office/powerpoint/2010/main" val="872174016"/>
      </p:ext>
    </p:extLst>
  </p:cSld>
  <p:clrMapOvr>
    <a:masterClrMapping/>
  </p:clrMapOvr>
  <p:transition spd="slow">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9D47A-6C4C-E610-50DA-6C5E78236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2CD3F7-883C-73D5-91A6-76196D1ABCD6}"/>
              </a:ext>
            </a:extLst>
          </p:cNvPr>
          <p:cNvSpPr>
            <a:spLocks noGrp="1"/>
          </p:cNvSpPr>
          <p:nvPr>
            <p:ph type="title"/>
          </p:nvPr>
        </p:nvSpPr>
        <p:spPr/>
        <p:txBody>
          <a:bodyPr>
            <a:normAutofit/>
          </a:bodyPr>
          <a:lstStyle/>
          <a:p>
            <a:r>
              <a:rPr lang="en-US" b="1" dirty="0"/>
              <a:t>Streams</a:t>
            </a:r>
            <a:endParaRPr lang="en-US" dirty="0"/>
          </a:p>
        </p:txBody>
      </p:sp>
      <p:sp>
        <p:nvSpPr>
          <p:cNvPr id="3" name="Content Placeholder 2">
            <a:extLst>
              <a:ext uri="{FF2B5EF4-FFF2-40B4-BE49-F238E27FC236}">
                <a16:creationId xmlns:a16="http://schemas.microsoft.com/office/drawing/2014/main" id="{5166F3A3-B863-8518-F753-BECCD07C7F37}"/>
              </a:ext>
            </a:extLst>
          </p:cNvPr>
          <p:cNvSpPr>
            <a:spLocks noGrp="1"/>
          </p:cNvSpPr>
          <p:nvPr>
            <p:ph idx="1"/>
          </p:nvPr>
        </p:nvSpPr>
        <p:spPr>
          <a:xfrm>
            <a:off x="482600" y="1253068"/>
            <a:ext cx="6578600" cy="5494866"/>
          </a:xfrm>
        </p:spPr>
        <p:txBody>
          <a:bodyPr>
            <a:normAutofit fontScale="70000" lnSpcReduction="20000"/>
          </a:bodyPr>
          <a:lstStyle/>
          <a:p>
            <a:pPr marL="0" indent="0">
              <a:buNone/>
            </a:pPr>
            <a:r>
              <a:rPr lang="en-US" dirty="0">
                <a:solidFill>
                  <a:srgbClr val="1082F2"/>
                </a:solidFill>
              </a:rPr>
              <a:t>Compress Actor</a:t>
            </a:r>
            <a:br>
              <a:rPr lang="en-US" sz="1700" dirty="0">
                <a:solidFill>
                  <a:srgbClr val="1082F2"/>
                </a:solidFill>
              </a:rPr>
            </a:br>
            <a:r>
              <a:rPr lang="en-US" sz="1500" dirty="0"/>
              <a:t> </a:t>
            </a:r>
            <a:br>
              <a:rPr lang="en-US" sz="1500" dirty="0"/>
            </a:br>
            <a:r>
              <a:rPr lang="en-US" sz="1800" dirty="0"/>
              <a:t>Read data from a stream, compress it and return a stream with the compressed  data.</a:t>
            </a:r>
            <a:br>
              <a:rPr lang="en-US" sz="1800" dirty="0"/>
            </a:br>
            <a:r>
              <a:rPr lang="en-US" sz="1800" dirty="0"/>
              <a:t>The stream is read lazily when an actor consumes the output stream.</a:t>
            </a:r>
          </a:p>
          <a:p>
            <a:r>
              <a:rPr lang="en-US" sz="1200" b="1" dirty="0"/>
              <a:t>Inputs</a:t>
            </a:r>
            <a:r>
              <a:rPr lang="en-US" sz="800" b="1" dirty="0"/>
              <a:t>:</a:t>
            </a:r>
          </a:p>
          <a:p>
            <a:pPr lvl="1"/>
            <a:r>
              <a:rPr lang="en-US" sz="1100" i="0" dirty="0"/>
              <a:t>format: The compression format to use. Supported formats are GZIP, LZ4, DEFLATE and NONE. If no value is passed, the stream will be repeated with no compression (NONE).</a:t>
            </a:r>
          </a:p>
          <a:p>
            <a:pPr lvl="1"/>
            <a:r>
              <a:rPr lang="en-US" sz="1100" i="0" dirty="0"/>
              <a:t>stream: The input stream, represented by a collection of blobs. String collections and single strings are automatically converted.</a:t>
            </a:r>
          </a:p>
          <a:p>
            <a:r>
              <a:rPr lang="en-US" sz="1200" b="1" dirty="0"/>
              <a:t>Example</a:t>
            </a:r>
            <a:r>
              <a:rPr lang="en-US" sz="800" b="1" dirty="0"/>
              <a:t>:</a:t>
            </a:r>
          </a:p>
          <a:p>
            <a:pPr lvl="1"/>
            <a:r>
              <a:rPr lang="en-US" sz="1100" i="0" dirty="0"/>
              <a:t>format: GZIP.</a:t>
            </a:r>
          </a:p>
          <a:p>
            <a:pPr lvl="1"/>
            <a:r>
              <a:rPr lang="en-US" sz="1100" i="0" dirty="0"/>
              <a:t>stream: text in const actor.</a:t>
            </a:r>
          </a:p>
          <a:p>
            <a:r>
              <a:rPr lang="en-US" sz="1200" b="1" dirty="0"/>
              <a:t>Output</a:t>
            </a:r>
            <a:r>
              <a:rPr lang="en-US" sz="800" b="1" dirty="0"/>
              <a:t>:</a:t>
            </a:r>
          </a:p>
          <a:p>
            <a:pPr lvl="1"/>
            <a:r>
              <a:rPr lang="en-US" sz="1100" i="0" dirty="0"/>
              <a:t>stream: The result stream, represented by a collection of blobs.</a:t>
            </a:r>
          </a:p>
          <a:p>
            <a:pPr lvl="1"/>
            <a:endParaRPr lang="en-US" sz="1100" i="0" dirty="0"/>
          </a:p>
          <a:p>
            <a:pPr marL="0" indent="0">
              <a:buNone/>
            </a:pPr>
            <a:r>
              <a:rPr lang="en-US" dirty="0">
                <a:solidFill>
                  <a:srgbClr val="1082F2"/>
                </a:solidFill>
              </a:rPr>
              <a:t>Uncompress Actor</a:t>
            </a:r>
            <a:br>
              <a:rPr lang="en-US" sz="1700" dirty="0">
                <a:solidFill>
                  <a:srgbClr val="1082F2"/>
                </a:solidFill>
              </a:rPr>
            </a:br>
            <a:r>
              <a:rPr lang="en-US" sz="1500" dirty="0"/>
              <a:t> </a:t>
            </a:r>
            <a:br>
              <a:rPr lang="en-US" sz="1500" dirty="0"/>
            </a:br>
            <a:r>
              <a:rPr lang="en-US" dirty="0"/>
              <a:t>Read compressed data from a stream, uncompress it and return a stream with the uncompressed data.</a:t>
            </a:r>
            <a:br>
              <a:rPr lang="en-US" dirty="0"/>
            </a:br>
            <a:r>
              <a:rPr lang="en-US" dirty="0"/>
              <a:t>The stream is read lazily when an actor consumes the output stream.</a:t>
            </a:r>
          </a:p>
          <a:p>
            <a:r>
              <a:rPr lang="en-US" sz="1200" b="1" dirty="0"/>
              <a:t>Inputs</a:t>
            </a:r>
            <a:r>
              <a:rPr lang="en-US" sz="800" b="1" dirty="0"/>
              <a:t>:</a:t>
            </a:r>
          </a:p>
          <a:p>
            <a:pPr lvl="1"/>
            <a:r>
              <a:rPr lang="en-US" sz="1100" i="0" dirty="0"/>
              <a:t>format: The compression format to use. Supported formats are GZIP, LZ4, DEFLATE and NONE. If no value is passed, the stream will be repeated with no compression (NONE).</a:t>
            </a:r>
          </a:p>
          <a:p>
            <a:pPr lvl="1"/>
            <a:r>
              <a:rPr lang="en-US" sz="1100" i="0" dirty="0"/>
              <a:t>stream: The input stream, represented by a collection of blobs. String collections and single strings are automatically converted.</a:t>
            </a:r>
          </a:p>
          <a:p>
            <a:r>
              <a:rPr lang="en-US" sz="1200" b="1" dirty="0"/>
              <a:t>Example</a:t>
            </a:r>
            <a:r>
              <a:rPr lang="en-US" sz="800" b="1" dirty="0"/>
              <a:t>:</a:t>
            </a:r>
          </a:p>
          <a:p>
            <a:pPr lvl="1"/>
            <a:r>
              <a:rPr lang="en-US" sz="1100" i="0" dirty="0"/>
              <a:t>format: GZIP.</a:t>
            </a:r>
          </a:p>
          <a:p>
            <a:pPr lvl="1"/>
            <a:r>
              <a:rPr lang="en-US" sz="1100" i="0" dirty="0"/>
              <a:t>stream: compressed file content as output from </a:t>
            </a:r>
            <a:r>
              <a:rPr lang="en-US" sz="1100" i="0" dirty="0" err="1"/>
              <a:t>FileRead</a:t>
            </a:r>
            <a:r>
              <a:rPr lang="en-US" sz="1100" i="0" dirty="0"/>
              <a:t>.</a:t>
            </a:r>
          </a:p>
          <a:p>
            <a:r>
              <a:rPr lang="en-US" sz="1200" b="1" dirty="0"/>
              <a:t>Output</a:t>
            </a:r>
            <a:r>
              <a:rPr lang="en-US" sz="800" b="1" dirty="0"/>
              <a:t>:</a:t>
            </a:r>
          </a:p>
          <a:p>
            <a:pPr lvl="1"/>
            <a:r>
              <a:rPr lang="en-US" sz="1100" i="0" dirty="0"/>
              <a:t>stream: The result stream, represented by a collection of blobs.</a:t>
            </a:r>
            <a:endParaRPr lang="en-US" sz="1200" i="0" dirty="0"/>
          </a:p>
        </p:txBody>
      </p:sp>
      <p:pic>
        <p:nvPicPr>
          <p:cNvPr id="5" name="Picture 4">
            <a:extLst>
              <a:ext uri="{FF2B5EF4-FFF2-40B4-BE49-F238E27FC236}">
                <a16:creationId xmlns:a16="http://schemas.microsoft.com/office/drawing/2014/main" id="{5FD2868F-A745-FA60-E78F-D641AB791F05}"/>
              </a:ext>
            </a:extLst>
          </p:cNvPr>
          <p:cNvPicPr>
            <a:picLocks noChangeAspect="1"/>
          </p:cNvPicPr>
          <p:nvPr/>
        </p:nvPicPr>
        <p:blipFill>
          <a:blip r:embed="rId2"/>
          <a:stretch>
            <a:fillRect/>
          </a:stretch>
        </p:blipFill>
        <p:spPr>
          <a:xfrm>
            <a:off x="6745669" y="1123628"/>
            <a:ext cx="4534533" cy="2305372"/>
          </a:xfrm>
          <a:prstGeom prst="rect">
            <a:avLst/>
          </a:prstGeom>
        </p:spPr>
      </p:pic>
      <p:pic>
        <p:nvPicPr>
          <p:cNvPr id="7" name="Picture 6">
            <a:extLst>
              <a:ext uri="{FF2B5EF4-FFF2-40B4-BE49-F238E27FC236}">
                <a16:creationId xmlns:a16="http://schemas.microsoft.com/office/drawing/2014/main" id="{3B1D3CEF-F22E-3919-C108-29C75A498CB8}"/>
              </a:ext>
            </a:extLst>
          </p:cNvPr>
          <p:cNvPicPr>
            <a:picLocks noChangeAspect="1"/>
          </p:cNvPicPr>
          <p:nvPr/>
        </p:nvPicPr>
        <p:blipFill>
          <a:blip r:embed="rId3"/>
          <a:stretch>
            <a:fillRect/>
          </a:stretch>
        </p:blipFill>
        <p:spPr>
          <a:xfrm>
            <a:off x="6823608" y="4000501"/>
            <a:ext cx="5368392" cy="1943371"/>
          </a:xfrm>
          <a:prstGeom prst="rect">
            <a:avLst/>
          </a:prstGeom>
        </p:spPr>
      </p:pic>
    </p:spTree>
    <p:extLst>
      <p:ext uri="{BB962C8B-B14F-4D97-AF65-F5344CB8AC3E}">
        <p14:creationId xmlns:p14="http://schemas.microsoft.com/office/powerpoint/2010/main" val="723130654"/>
      </p:ext>
    </p:extLst>
  </p:cSld>
  <p:clrMapOvr>
    <a:masterClrMapping/>
  </p:clrMapOvr>
  <p:transition spd="slow">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46B6F-192A-3D8D-4123-E6E1C575A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9E017-61A1-4AA7-4035-433489B1AEF7}"/>
              </a:ext>
            </a:extLst>
          </p:cNvPr>
          <p:cNvSpPr>
            <a:spLocks noGrp="1"/>
          </p:cNvSpPr>
          <p:nvPr>
            <p:ph type="title"/>
          </p:nvPr>
        </p:nvSpPr>
        <p:spPr>
          <a:xfrm>
            <a:off x="5037992" y="3750911"/>
            <a:ext cx="6673362" cy="566112"/>
          </a:xfrm>
        </p:spPr>
        <p:txBody>
          <a:bodyPr>
            <a:normAutofit/>
          </a:bodyPr>
          <a:lstStyle/>
          <a:p>
            <a:pPr algn="ctr"/>
            <a:r>
              <a:rPr lang="en-US" sz="2400" dirty="0">
                <a:solidFill>
                  <a:srgbClr val="1082F2"/>
                </a:solidFill>
              </a:rPr>
              <a:t>System</a:t>
            </a:r>
          </a:p>
        </p:txBody>
      </p:sp>
    </p:spTree>
    <p:extLst>
      <p:ext uri="{BB962C8B-B14F-4D97-AF65-F5344CB8AC3E}">
        <p14:creationId xmlns:p14="http://schemas.microsoft.com/office/powerpoint/2010/main" val="3876706881"/>
      </p:ext>
    </p:extLst>
  </p:cSld>
  <p:clrMapOvr>
    <a:masterClrMapping/>
  </p:clrMapOvr>
  <p:transition spd="slow">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E5F50-9E8D-1830-5985-A8DF38325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68A74E-0836-06A0-76CF-ED29D3ED5BE7}"/>
              </a:ext>
            </a:extLst>
          </p:cNvPr>
          <p:cNvSpPr>
            <a:spLocks noGrp="1"/>
          </p:cNvSpPr>
          <p:nvPr>
            <p:ph type="title"/>
          </p:nvPr>
        </p:nvSpPr>
        <p:spPr/>
        <p:txBody>
          <a:bodyPr>
            <a:normAutofit/>
          </a:bodyPr>
          <a:lstStyle/>
          <a:p>
            <a:r>
              <a:rPr lang="en-US" b="1" dirty="0"/>
              <a:t>System</a:t>
            </a:r>
            <a:endParaRPr lang="en-US" dirty="0"/>
          </a:p>
        </p:txBody>
      </p:sp>
      <p:sp>
        <p:nvSpPr>
          <p:cNvPr id="3" name="Content Placeholder 2">
            <a:extLst>
              <a:ext uri="{FF2B5EF4-FFF2-40B4-BE49-F238E27FC236}">
                <a16:creationId xmlns:a16="http://schemas.microsoft.com/office/drawing/2014/main" id="{4C7E6DB0-7E9E-1B65-EF05-BF84F8CF2DED}"/>
              </a:ext>
            </a:extLst>
          </p:cNvPr>
          <p:cNvSpPr>
            <a:spLocks noGrp="1"/>
          </p:cNvSpPr>
          <p:nvPr>
            <p:ph idx="1"/>
          </p:nvPr>
        </p:nvSpPr>
        <p:spPr/>
        <p:txBody>
          <a:bodyPr>
            <a:normAutofit/>
          </a:bodyPr>
          <a:lstStyle/>
          <a:p>
            <a:pPr marL="0" indent="0">
              <a:buNone/>
            </a:pPr>
            <a:r>
              <a:rPr lang="en-US" sz="1700" dirty="0">
                <a:solidFill>
                  <a:srgbClr val="1082F2"/>
                </a:solidFill>
              </a:rPr>
              <a:t>Ls Actor</a:t>
            </a:r>
            <a:br>
              <a:rPr lang="en-US" sz="1700" dirty="0">
                <a:solidFill>
                  <a:srgbClr val="1082F2"/>
                </a:solidFill>
              </a:rPr>
            </a:br>
            <a:br>
              <a:rPr lang="en-US" sz="1500" dirty="0"/>
            </a:br>
            <a:r>
              <a:rPr lang="en-US" sz="1500" dirty="0"/>
              <a:t> List files in a given directory</a:t>
            </a:r>
            <a:endParaRPr lang="en-US" sz="1600" dirty="0"/>
          </a:p>
          <a:p>
            <a:r>
              <a:rPr lang="en-US" sz="1600" b="1" dirty="0"/>
              <a:t>Inputs:</a:t>
            </a:r>
          </a:p>
          <a:p>
            <a:pPr lvl="1"/>
            <a:r>
              <a:rPr lang="en-US" sz="1400" i="0" dirty="0"/>
              <a:t>interface: The interface to use.</a:t>
            </a:r>
            <a:br>
              <a:rPr lang="en-US" sz="1400" i="0" dirty="0"/>
            </a:br>
            <a:r>
              <a:rPr lang="en-US" sz="1400" i="0" dirty="0"/>
              <a:t>This can be the base URL or a reference to an interface defined in the container.</a:t>
            </a:r>
          </a:p>
          <a:p>
            <a:pPr lvl="1"/>
            <a:r>
              <a:rPr lang="en-US" sz="1400" i="0" dirty="0"/>
              <a:t>path: The path to use relative to the interface</a:t>
            </a:r>
          </a:p>
          <a:p>
            <a:pPr lvl="1"/>
            <a:r>
              <a:rPr lang="en-US" sz="1400" i="0" dirty="0"/>
              <a:t>pattern: The file pattern depends on the interface type</a:t>
            </a:r>
            <a:br>
              <a:rPr lang="en-US" sz="1400" i="0" dirty="0"/>
            </a:br>
            <a:r>
              <a:rPr lang="en-US" sz="1400" i="0" dirty="0"/>
              <a:t>(SFTP/FTP/S3/Azure/GCS) – see input description for more info.</a:t>
            </a:r>
          </a:p>
          <a:p>
            <a:pPr lvl="1"/>
            <a:r>
              <a:rPr lang="en-US" sz="1400" i="0" dirty="0"/>
              <a:t>directories (</a:t>
            </a:r>
            <a:r>
              <a:rPr lang="en-US" sz="1400" i="0" dirty="0" err="1"/>
              <a:t>boolean</a:t>
            </a:r>
            <a:r>
              <a:rPr lang="en-US" sz="1400" i="0" dirty="0"/>
              <a:t>): Show directories in the result </a:t>
            </a:r>
          </a:p>
          <a:p>
            <a:endParaRPr lang="en-US" sz="1400" i="0" dirty="0"/>
          </a:p>
          <a:p>
            <a:r>
              <a:rPr lang="en-US" sz="1600" b="1" i="0" dirty="0"/>
              <a:t>Output:</a:t>
            </a:r>
          </a:p>
          <a:p>
            <a:pPr lvl="1"/>
            <a:r>
              <a:rPr lang="en-US" sz="1400" i="0" dirty="0"/>
              <a:t>result: The list of files, with their name and size</a:t>
            </a:r>
            <a:endParaRPr lang="en-US" sz="1400" dirty="0"/>
          </a:p>
        </p:txBody>
      </p:sp>
      <p:pic>
        <p:nvPicPr>
          <p:cNvPr id="9" name="Picture 8">
            <a:extLst>
              <a:ext uri="{FF2B5EF4-FFF2-40B4-BE49-F238E27FC236}">
                <a16:creationId xmlns:a16="http://schemas.microsoft.com/office/drawing/2014/main" id="{18DADBD1-FBD1-F281-D7DF-9C44D3D0D8EB}"/>
              </a:ext>
            </a:extLst>
          </p:cNvPr>
          <p:cNvPicPr>
            <a:picLocks noChangeAspect="1"/>
          </p:cNvPicPr>
          <p:nvPr/>
        </p:nvPicPr>
        <p:blipFill>
          <a:blip r:embed="rId2"/>
          <a:stretch>
            <a:fillRect/>
          </a:stretch>
        </p:blipFill>
        <p:spPr>
          <a:xfrm>
            <a:off x="6317596" y="2794000"/>
            <a:ext cx="5584693" cy="3498306"/>
          </a:xfrm>
          <a:prstGeom prst="rect">
            <a:avLst/>
          </a:prstGeom>
        </p:spPr>
      </p:pic>
    </p:spTree>
    <p:extLst>
      <p:ext uri="{BB962C8B-B14F-4D97-AF65-F5344CB8AC3E}">
        <p14:creationId xmlns:p14="http://schemas.microsoft.com/office/powerpoint/2010/main" val="2671879332"/>
      </p:ext>
    </p:extLst>
  </p:cSld>
  <p:clrMapOvr>
    <a:masterClrMapping/>
  </p:clrMapOvr>
  <p:transition spd="slow">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BBD32-E0C7-0A62-DC94-52127B891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ECD17-EA33-827E-42CB-16CFBF841C99}"/>
              </a:ext>
            </a:extLst>
          </p:cNvPr>
          <p:cNvSpPr>
            <a:spLocks noGrp="1"/>
          </p:cNvSpPr>
          <p:nvPr>
            <p:ph type="title"/>
          </p:nvPr>
        </p:nvSpPr>
        <p:spPr/>
        <p:txBody>
          <a:bodyPr>
            <a:normAutofit/>
          </a:bodyPr>
          <a:lstStyle/>
          <a:p>
            <a:r>
              <a:rPr lang="en-US" b="1" dirty="0"/>
              <a:t>System</a:t>
            </a:r>
            <a:endParaRPr lang="en-US" dirty="0"/>
          </a:p>
        </p:txBody>
      </p:sp>
      <p:sp>
        <p:nvSpPr>
          <p:cNvPr id="3" name="Content Placeholder 2">
            <a:extLst>
              <a:ext uri="{FF2B5EF4-FFF2-40B4-BE49-F238E27FC236}">
                <a16:creationId xmlns:a16="http://schemas.microsoft.com/office/drawing/2014/main" id="{E8A59A73-BD10-EFCD-238E-976246763905}"/>
              </a:ext>
            </a:extLst>
          </p:cNvPr>
          <p:cNvSpPr>
            <a:spLocks noGrp="1"/>
          </p:cNvSpPr>
          <p:nvPr>
            <p:ph idx="1"/>
          </p:nvPr>
        </p:nvSpPr>
        <p:spPr/>
        <p:txBody>
          <a:bodyPr>
            <a:normAutofit/>
          </a:bodyPr>
          <a:lstStyle/>
          <a:p>
            <a:pPr marL="0" indent="0">
              <a:buNone/>
            </a:pPr>
            <a:r>
              <a:rPr lang="en-US" sz="1700" dirty="0">
                <a:solidFill>
                  <a:srgbClr val="1082F2"/>
                </a:solidFill>
              </a:rPr>
              <a:t>cp Actor</a:t>
            </a:r>
            <a:br>
              <a:rPr lang="en-US" sz="1700" dirty="0">
                <a:solidFill>
                  <a:srgbClr val="1082F2"/>
                </a:solidFill>
              </a:rPr>
            </a:br>
            <a:br>
              <a:rPr lang="en-US" sz="1500" dirty="0"/>
            </a:br>
            <a:r>
              <a:rPr lang="en-US" sz="1400" b="0" i="0" dirty="0">
                <a:solidFill>
                  <a:srgbClr val="000000"/>
                </a:solidFill>
                <a:effectLst/>
                <a:latin typeface="Helvetica" panose="020B0604020202020204" pitchFamily="34" charset="0"/>
              </a:rPr>
              <a:t>Copy a file.</a:t>
            </a:r>
            <a:endParaRPr lang="en-US" sz="1600" dirty="0"/>
          </a:p>
          <a:p>
            <a:r>
              <a:rPr lang="en-US" sz="1600" b="1" dirty="0"/>
              <a:t>Inputs:</a:t>
            </a:r>
          </a:p>
          <a:p>
            <a:pPr lvl="1"/>
            <a:r>
              <a:rPr lang="en-US" sz="1400" i="0" dirty="0"/>
              <a:t>interface: The interface to use.</a:t>
            </a:r>
            <a:br>
              <a:rPr lang="en-US" sz="1400" i="0" dirty="0"/>
            </a:br>
            <a:r>
              <a:rPr lang="en-US" sz="1400" i="0" dirty="0"/>
              <a:t>This can be the base URL or a reference to an interface defined in the container.</a:t>
            </a:r>
          </a:p>
          <a:p>
            <a:pPr lvl="1"/>
            <a:r>
              <a:rPr lang="en-US" sz="1400" i="0" dirty="0"/>
              <a:t>from: Path of the source file</a:t>
            </a:r>
          </a:p>
          <a:p>
            <a:pPr lvl="1"/>
            <a:r>
              <a:rPr lang="en-US" sz="1400" i="0" dirty="0"/>
              <a:t>to: Path of the destination file</a:t>
            </a:r>
          </a:p>
          <a:p>
            <a:r>
              <a:rPr lang="en-US" sz="1600" b="1" i="0" dirty="0"/>
              <a:t>Output:</a:t>
            </a:r>
          </a:p>
          <a:p>
            <a:pPr lvl="1"/>
            <a:r>
              <a:rPr lang="en-US" sz="1400" i="0" dirty="0"/>
              <a:t>affected: The number of files affected by this action</a:t>
            </a:r>
            <a:endParaRPr lang="en-US" sz="1400" dirty="0"/>
          </a:p>
        </p:txBody>
      </p:sp>
      <p:pic>
        <p:nvPicPr>
          <p:cNvPr id="7" name="Picture 6">
            <a:extLst>
              <a:ext uri="{FF2B5EF4-FFF2-40B4-BE49-F238E27FC236}">
                <a16:creationId xmlns:a16="http://schemas.microsoft.com/office/drawing/2014/main" id="{695D24BE-0C9A-CA31-EAD9-DCFB49968872}"/>
              </a:ext>
            </a:extLst>
          </p:cNvPr>
          <p:cNvPicPr>
            <a:picLocks noChangeAspect="1"/>
          </p:cNvPicPr>
          <p:nvPr/>
        </p:nvPicPr>
        <p:blipFill>
          <a:blip r:embed="rId2"/>
          <a:stretch>
            <a:fillRect/>
          </a:stretch>
        </p:blipFill>
        <p:spPr>
          <a:xfrm>
            <a:off x="7853175" y="1285556"/>
            <a:ext cx="2676899" cy="4572638"/>
          </a:xfrm>
          <a:prstGeom prst="rect">
            <a:avLst/>
          </a:prstGeom>
        </p:spPr>
      </p:pic>
    </p:spTree>
    <p:extLst>
      <p:ext uri="{BB962C8B-B14F-4D97-AF65-F5344CB8AC3E}">
        <p14:creationId xmlns:p14="http://schemas.microsoft.com/office/powerpoint/2010/main" val="2173983701"/>
      </p:ext>
    </p:extLst>
  </p:cSld>
  <p:clrMapOvr>
    <a:masterClrMapping/>
  </p:clrMapOvr>
  <p:transition spd="slow">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BCD6C-577C-6774-2CE6-A188A1542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42C1C-AC9A-B8E5-0AC9-45B92C924746}"/>
              </a:ext>
            </a:extLst>
          </p:cNvPr>
          <p:cNvSpPr>
            <a:spLocks noGrp="1"/>
          </p:cNvSpPr>
          <p:nvPr>
            <p:ph type="title"/>
          </p:nvPr>
        </p:nvSpPr>
        <p:spPr/>
        <p:txBody>
          <a:bodyPr>
            <a:normAutofit/>
          </a:bodyPr>
          <a:lstStyle/>
          <a:p>
            <a:r>
              <a:rPr lang="en-US" b="1" dirty="0"/>
              <a:t>System</a:t>
            </a:r>
            <a:endParaRPr lang="en-US" dirty="0"/>
          </a:p>
        </p:txBody>
      </p:sp>
      <p:sp>
        <p:nvSpPr>
          <p:cNvPr id="3" name="Content Placeholder 2">
            <a:extLst>
              <a:ext uri="{FF2B5EF4-FFF2-40B4-BE49-F238E27FC236}">
                <a16:creationId xmlns:a16="http://schemas.microsoft.com/office/drawing/2014/main" id="{AFF0A9B8-C306-3F44-B22B-64186EC7A1C2}"/>
              </a:ext>
            </a:extLst>
          </p:cNvPr>
          <p:cNvSpPr>
            <a:spLocks noGrp="1"/>
          </p:cNvSpPr>
          <p:nvPr>
            <p:ph idx="1"/>
          </p:nvPr>
        </p:nvSpPr>
        <p:spPr/>
        <p:txBody>
          <a:bodyPr>
            <a:normAutofit/>
          </a:bodyPr>
          <a:lstStyle/>
          <a:p>
            <a:pPr marL="0" indent="0">
              <a:buNone/>
            </a:pPr>
            <a:r>
              <a:rPr lang="en-US" sz="1700" dirty="0">
                <a:solidFill>
                  <a:srgbClr val="1082F2"/>
                </a:solidFill>
              </a:rPr>
              <a:t>md Actor</a:t>
            </a:r>
            <a:br>
              <a:rPr lang="en-US" sz="1700" dirty="0">
                <a:solidFill>
                  <a:srgbClr val="1082F2"/>
                </a:solidFill>
              </a:rPr>
            </a:br>
            <a:br>
              <a:rPr lang="en-US" sz="1500" dirty="0"/>
            </a:br>
            <a:r>
              <a:rPr lang="en-US" sz="1400" b="0" i="0" dirty="0">
                <a:solidFill>
                  <a:srgbClr val="000000"/>
                </a:solidFill>
                <a:effectLst/>
                <a:latin typeface="Helvetica" panose="020B0604020202020204" pitchFamily="34" charset="0"/>
              </a:rPr>
              <a:t>Create a directory.</a:t>
            </a:r>
            <a:endParaRPr lang="en-US" sz="1600" dirty="0"/>
          </a:p>
          <a:p>
            <a:r>
              <a:rPr lang="en-US" sz="1600" b="1" dirty="0"/>
              <a:t>Inputs:</a:t>
            </a:r>
          </a:p>
          <a:p>
            <a:pPr lvl="1"/>
            <a:r>
              <a:rPr lang="en-US" sz="1400" i="0" dirty="0"/>
              <a:t>interface: The interface to use.</a:t>
            </a:r>
            <a:br>
              <a:rPr lang="en-US" sz="1400" i="0" dirty="0"/>
            </a:br>
            <a:r>
              <a:rPr lang="en-US" sz="1400" i="0" dirty="0"/>
              <a:t>This can be the base URL or a reference to an interface defined in the container.</a:t>
            </a:r>
          </a:p>
          <a:p>
            <a:pPr lvl="1"/>
            <a:r>
              <a:rPr lang="en-US" sz="1400" i="0" dirty="0"/>
              <a:t>path: The path of the directory to create</a:t>
            </a:r>
          </a:p>
          <a:p>
            <a:r>
              <a:rPr lang="en-US" sz="1600" b="1" i="0" dirty="0"/>
              <a:t>Output:</a:t>
            </a:r>
          </a:p>
          <a:p>
            <a:pPr lvl="1"/>
            <a:r>
              <a:rPr lang="en-US" sz="1400" i="0" dirty="0"/>
              <a:t>affected: Will return 1 if the directory was created, 0 if it already existed.</a:t>
            </a:r>
            <a:endParaRPr lang="en-US" sz="1400" dirty="0"/>
          </a:p>
        </p:txBody>
      </p:sp>
      <p:pic>
        <p:nvPicPr>
          <p:cNvPr id="5" name="Picture 4">
            <a:extLst>
              <a:ext uri="{FF2B5EF4-FFF2-40B4-BE49-F238E27FC236}">
                <a16:creationId xmlns:a16="http://schemas.microsoft.com/office/drawing/2014/main" id="{AF738F78-BB5B-AE5F-1D82-38DA4EB14F7B}"/>
              </a:ext>
            </a:extLst>
          </p:cNvPr>
          <p:cNvPicPr>
            <a:picLocks noChangeAspect="1"/>
          </p:cNvPicPr>
          <p:nvPr/>
        </p:nvPicPr>
        <p:blipFill>
          <a:blip r:embed="rId2"/>
          <a:stretch>
            <a:fillRect/>
          </a:stretch>
        </p:blipFill>
        <p:spPr>
          <a:xfrm>
            <a:off x="7886515" y="1385602"/>
            <a:ext cx="2648320" cy="4086795"/>
          </a:xfrm>
          <a:prstGeom prst="rect">
            <a:avLst/>
          </a:prstGeom>
        </p:spPr>
      </p:pic>
    </p:spTree>
    <p:extLst>
      <p:ext uri="{BB962C8B-B14F-4D97-AF65-F5344CB8AC3E}">
        <p14:creationId xmlns:p14="http://schemas.microsoft.com/office/powerpoint/2010/main" val="701502254"/>
      </p:ext>
    </p:extLst>
  </p:cSld>
  <p:clrMapOvr>
    <a:masterClrMapping/>
  </p:clrMapOvr>
  <p:transition spd="slow">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0DA3D-6ECB-66E2-9473-16B7388B8F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8D88D6-893F-164B-8256-1D4ADE451AE1}"/>
              </a:ext>
            </a:extLst>
          </p:cNvPr>
          <p:cNvSpPr>
            <a:spLocks noGrp="1"/>
          </p:cNvSpPr>
          <p:nvPr>
            <p:ph type="title"/>
          </p:nvPr>
        </p:nvSpPr>
        <p:spPr/>
        <p:txBody>
          <a:bodyPr>
            <a:normAutofit/>
          </a:bodyPr>
          <a:lstStyle/>
          <a:p>
            <a:r>
              <a:rPr lang="en-US" b="1" dirty="0"/>
              <a:t>System</a:t>
            </a:r>
            <a:endParaRPr lang="en-US" dirty="0"/>
          </a:p>
        </p:txBody>
      </p:sp>
      <p:sp>
        <p:nvSpPr>
          <p:cNvPr id="3" name="Content Placeholder 2">
            <a:extLst>
              <a:ext uri="{FF2B5EF4-FFF2-40B4-BE49-F238E27FC236}">
                <a16:creationId xmlns:a16="http://schemas.microsoft.com/office/drawing/2014/main" id="{C64A9751-6A89-8D94-8B19-EBDB2D09F941}"/>
              </a:ext>
            </a:extLst>
          </p:cNvPr>
          <p:cNvSpPr>
            <a:spLocks noGrp="1"/>
          </p:cNvSpPr>
          <p:nvPr>
            <p:ph idx="1"/>
          </p:nvPr>
        </p:nvSpPr>
        <p:spPr/>
        <p:txBody>
          <a:bodyPr>
            <a:normAutofit/>
          </a:bodyPr>
          <a:lstStyle/>
          <a:p>
            <a:pPr marL="0" indent="0">
              <a:buNone/>
            </a:pPr>
            <a:r>
              <a:rPr lang="en-US" sz="1700" dirty="0">
                <a:solidFill>
                  <a:srgbClr val="1082F2"/>
                </a:solidFill>
              </a:rPr>
              <a:t>mv Actor</a:t>
            </a:r>
            <a:br>
              <a:rPr lang="en-US" sz="1700" dirty="0">
                <a:solidFill>
                  <a:srgbClr val="1082F2"/>
                </a:solidFill>
              </a:rPr>
            </a:br>
            <a:br>
              <a:rPr lang="en-US" sz="1500" dirty="0"/>
            </a:br>
            <a:r>
              <a:rPr lang="en-US" sz="1400" dirty="0">
                <a:solidFill>
                  <a:srgbClr val="000000"/>
                </a:solidFill>
                <a:latin typeface="Helvetica" panose="020B0604020202020204" pitchFamily="34" charset="0"/>
              </a:rPr>
              <a:t>Move a file</a:t>
            </a:r>
            <a:r>
              <a:rPr lang="en-US" sz="1400" b="0" i="0" dirty="0">
                <a:solidFill>
                  <a:srgbClr val="000000"/>
                </a:solidFill>
                <a:effectLst/>
                <a:latin typeface="Helvetica" panose="020B0604020202020204" pitchFamily="34" charset="0"/>
              </a:rPr>
              <a:t>.</a:t>
            </a:r>
            <a:endParaRPr lang="en-US" sz="1600" dirty="0"/>
          </a:p>
          <a:p>
            <a:r>
              <a:rPr lang="en-US" sz="1600" b="1" dirty="0"/>
              <a:t>Inputs:</a:t>
            </a:r>
          </a:p>
          <a:p>
            <a:pPr lvl="1"/>
            <a:r>
              <a:rPr lang="en-US" sz="1400" i="0" dirty="0"/>
              <a:t>interface: The interface to use.</a:t>
            </a:r>
            <a:br>
              <a:rPr lang="en-US" sz="1400" i="0" dirty="0"/>
            </a:br>
            <a:r>
              <a:rPr lang="en-US" sz="1400" i="0" dirty="0"/>
              <a:t>This can be the base URL or a reference to an interface defined in the container.</a:t>
            </a:r>
          </a:p>
          <a:p>
            <a:pPr lvl="1"/>
            <a:r>
              <a:rPr lang="en-US" sz="1400" i="0" dirty="0"/>
              <a:t>from: Path of the source file</a:t>
            </a:r>
          </a:p>
          <a:p>
            <a:pPr lvl="1"/>
            <a:r>
              <a:rPr lang="en-US" sz="1400" i="0" dirty="0"/>
              <a:t>to: Path of the destination file</a:t>
            </a:r>
          </a:p>
          <a:p>
            <a:r>
              <a:rPr lang="en-US" sz="1600" b="1" i="0" dirty="0"/>
              <a:t>Output:</a:t>
            </a:r>
          </a:p>
          <a:p>
            <a:pPr lvl="1"/>
            <a:r>
              <a:rPr lang="en-US" sz="1400" i="0" dirty="0"/>
              <a:t>affected: The number of files affected by this action</a:t>
            </a:r>
            <a:endParaRPr lang="en-US" sz="1400" dirty="0"/>
          </a:p>
        </p:txBody>
      </p:sp>
      <p:pic>
        <p:nvPicPr>
          <p:cNvPr id="10" name="Picture 9">
            <a:extLst>
              <a:ext uri="{FF2B5EF4-FFF2-40B4-BE49-F238E27FC236}">
                <a16:creationId xmlns:a16="http://schemas.microsoft.com/office/drawing/2014/main" id="{99FA6B08-490E-4AE2-47D1-617F3B8ACF61}"/>
              </a:ext>
            </a:extLst>
          </p:cNvPr>
          <p:cNvPicPr>
            <a:picLocks noChangeAspect="1"/>
          </p:cNvPicPr>
          <p:nvPr/>
        </p:nvPicPr>
        <p:blipFill>
          <a:blip r:embed="rId2"/>
          <a:stretch>
            <a:fillRect/>
          </a:stretch>
        </p:blipFill>
        <p:spPr>
          <a:xfrm>
            <a:off x="7862699" y="1728548"/>
            <a:ext cx="2695951" cy="3419952"/>
          </a:xfrm>
          <a:prstGeom prst="rect">
            <a:avLst/>
          </a:prstGeom>
        </p:spPr>
      </p:pic>
    </p:spTree>
    <p:extLst>
      <p:ext uri="{BB962C8B-B14F-4D97-AF65-F5344CB8AC3E}">
        <p14:creationId xmlns:p14="http://schemas.microsoft.com/office/powerpoint/2010/main" val="844305177"/>
      </p:ext>
    </p:extLst>
  </p:cSld>
  <p:clrMapOvr>
    <a:masterClrMapping/>
  </p:clrMapOvr>
  <p:transition spd="slow">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D8D99-AFE9-EE89-B40A-DE4ABC73E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DF6B0-D44D-8F09-24D0-DEC49204255E}"/>
              </a:ext>
            </a:extLst>
          </p:cNvPr>
          <p:cNvSpPr>
            <a:spLocks noGrp="1"/>
          </p:cNvSpPr>
          <p:nvPr>
            <p:ph type="title"/>
          </p:nvPr>
        </p:nvSpPr>
        <p:spPr/>
        <p:txBody>
          <a:bodyPr>
            <a:normAutofit/>
          </a:bodyPr>
          <a:lstStyle/>
          <a:p>
            <a:r>
              <a:rPr lang="en-US" b="1" dirty="0"/>
              <a:t>System</a:t>
            </a:r>
            <a:endParaRPr lang="en-US" dirty="0"/>
          </a:p>
        </p:txBody>
      </p:sp>
      <p:sp>
        <p:nvSpPr>
          <p:cNvPr id="3" name="Content Placeholder 2">
            <a:extLst>
              <a:ext uri="{FF2B5EF4-FFF2-40B4-BE49-F238E27FC236}">
                <a16:creationId xmlns:a16="http://schemas.microsoft.com/office/drawing/2014/main" id="{AC57B558-BE9B-06C2-DF5D-4100D5865E00}"/>
              </a:ext>
            </a:extLst>
          </p:cNvPr>
          <p:cNvSpPr>
            <a:spLocks noGrp="1"/>
          </p:cNvSpPr>
          <p:nvPr>
            <p:ph idx="1"/>
          </p:nvPr>
        </p:nvSpPr>
        <p:spPr/>
        <p:txBody>
          <a:bodyPr>
            <a:normAutofit/>
          </a:bodyPr>
          <a:lstStyle/>
          <a:p>
            <a:pPr marL="0" indent="0">
              <a:buNone/>
            </a:pPr>
            <a:r>
              <a:rPr lang="en-US" sz="1700" dirty="0">
                <a:solidFill>
                  <a:srgbClr val="1082F2"/>
                </a:solidFill>
              </a:rPr>
              <a:t>rm Actor</a:t>
            </a:r>
            <a:br>
              <a:rPr lang="en-US" sz="1700" dirty="0">
                <a:solidFill>
                  <a:srgbClr val="1082F2"/>
                </a:solidFill>
              </a:rPr>
            </a:br>
            <a:br>
              <a:rPr lang="en-US" sz="1500" dirty="0"/>
            </a:br>
            <a:r>
              <a:rPr lang="en-US" sz="1400" dirty="0">
                <a:solidFill>
                  <a:srgbClr val="000000"/>
                </a:solidFill>
                <a:latin typeface="Helvetica" panose="020B0604020202020204" pitchFamily="34" charset="0"/>
              </a:rPr>
              <a:t>Remove a file</a:t>
            </a:r>
            <a:r>
              <a:rPr lang="en-US" sz="1400" b="0" i="0" dirty="0">
                <a:solidFill>
                  <a:srgbClr val="000000"/>
                </a:solidFill>
                <a:effectLst/>
                <a:latin typeface="Helvetica" panose="020B0604020202020204" pitchFamily="34" charset="0"/>
              </a:rPr>
              <a:t>.</a:t>
            </a:r>
            <a:endParaRPr lang="en-US" sz="1600" dirty="0"/>
          </a:p>
          <a:p>
            <a:r>
              <a:rPr lang="en-US" sz="1600" b="1" dirty="0"/>
              <a:t>Inputs:</a:t>
            </a:r>
          </a:p>
          <a:p>
            <a:pPr lvl="1"/>
            <a:r>
              <a:rPr lang="en-US" sz="1400" i="0" dirty="0"/>
              <a:t>interface: The interface to use.</a:t>
            </a:r>
            <a:br>
              <a:rPr lang="en-US" sz="1400" i="0" dirty="0"/>
            </a:br>
            <a:r>
              <a:rPr lang="en-US" sz="1400" i="0" dirty="0"/>
              <a:t>This can be the base URL or a reference to an interface defined in the container.</a:t>
            </a:r>
          </a:p>
          <a:p>
            <a:pPr lvl="1"/>
            <a:r>
              <a:rPr lang="en-US" sz="1400" i="0" dirty="0"/>
              <a:t>path: the path of file or directory to remove</a:t>
            </a:r>
            <a:br>
              <a:rPr lang="en-US" sz="1400" i="0" dirty="0"/>
            </a:br>
            <a:r>
              <a:rPr lang="en-US" sz="1400" i="0" dirty="0"/>
              <a:t>in case of path of directory, directory should be empty before deleting.</a:t>
            </a:r>
          </a:p>
          <a:p>
            <a:r>
              <a:rPr lang="en-US" sz="1600" b="1" i="0" dirty="0"/>
              <a:t>Output:</a:t>
            </a:r>
          </a:p>
          <a:p>
            <a:pPr lvl="1"/>
            <a:r>
              <a:rPr lang="en-US" sz="1400" i="0" dirty="0"/>
              <a:t>affected: The number of files affected by this action</a:t>
            </a:r>
            <a:endParaRPr lang="en-US" sz="1400" dirty="0"/>
          </a:p>
        </p:txBody>
      </p:sp>
      <p:pic>
        <p:nvPicPr>
          <p:cNvPr id="5" name="Picture 4">
            <a:extLst>
              <a:ext uri="{FF2B5EF4-FFF2-40B4-BE49-F238E27FC236}">
                <a16:creationId xmlns:a16="http://schemas.microsoft.com/office/drawing/2014/main" id="{6E054562-DC9C-51AE-A2B9-4590BF96CC29}"/>
              </a:ext>
            </a:extLst>
          </p:cNvPr>
          <p:cNvPicPr>
            <a:picLocks noChangeAspect="1"/>
          </p:cNvPicPr>
          <p:nvPr/>
        </p:nvPicPr>
        <p:blipFill>
          <a:blip r:embed="rId2"/>
          <a:stretch>
            <a:fillRect/>
          </a:stretch>
        </p:blipFill>
        <p:spPr>
          <a:xfrm>
            <a:off x="7862699" y="1750808"/>
            <a:ext cx="2686425" cy="3029373"/>
          </a:xfrm>
          <a:prstGeom prst="rect">
            <a:avLst/>
          </a:prstGeom>
        </p:spPr>
      </p:pic>
    </p:spTree>
    <p:extLst>
      <p:ext uri="{BB962C8B-B14F-4D97-AF65-F5344CB8AC3E}">
        <p14:creationId xmlns:p14="http://schemas.microsoft.com/office/powerpoint/2010/main" val="3773997686"/>
      </p:ext>
    </p:extLst>
  </p:cSld>
  <p:clrMapOvr>
    <a:masterClrMapping/>
  </p:clrMapOvr>
  <p:transition spd="slow">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A299C-3A13-51BA-08F6-2C4E4FC46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811DA-2FB1-F6FD-0D3E-4C3E8A7F32FD}"/>
              </a:ext>
            </a:extLst>
          </p:cNvPr>
          <p:cNvSpPr>
            <a:spLocks noGrp="1"/>
          </p:cNvSpPr>
          <p:nvPr>
            <p:ph type="title"/>
          </p:nvPr>
        </p:nvSpPr>
        <p:spPr/>
        <p:txBody>
          <a:bodyPr>
            <a:normAutofit/>
          </a:bodyPr>
          <a:lstStyle/>
          <a:p>
            <a:r>
              <a:rPr lang="en-US" b="1" dirty="0"/>
              <a:t>System</a:t>
            </a:r>
            <a:endParaRPr lang="en-US" dirty="0"/>
          </a:p>
        </p:txBody>
      </p:sp>
      <p:sp>
        <p:nvSpPr>
          <p:cNvPr id="3" name="Content Placeholder 2">
            <a:extLst>
              <a:ext uri="{FF2B5EF4-FFF2-40B4-BE49-F238E27FC236}">
                <a16:creationId xmlns:a16="http://schemas.microsoft.com/office/drawing/2014/main" id="{A9CFCBB1-84B5-100D-2D0A-372094FFA846}"/>
              </a:ext>
            </a:extLst>
          </p:cNvPr>
          <p:cNvSpPr>
            <a:spLocks noGrp="1"/>
          </p:cNvSpPr>
          <p:nvPr>
            <p:ph idx="1"/>
          </p:nvPr>
        </p:nvSpPr>
        <p:spPr/>
        <p:txBody>
          <a:bodyPr>
            <a:normAutofit/>
          </a:bodyPr>
          <a:lstStyle/>
          <a:p>
            <a:pPr marL="0" indent="0">
              <a:buNone/>
            </a:pPr>
            <a:r>
              <a:rPr lang="en-US" sz="1700" dirty="0">
                <a:solidFill>
                  <a:srgbClr val="1082F2"/>
                </a:solidFill>
              </a:rPr>
              <a:t>Sleep Actor</a:t>
            </a:r>
            <a:br>
              <a:rPr lang="en-US" sz="1700" dirty="0">
                <a:solidFill>
                  <a:srgbClr val="1082F2"/>
                </a:solidFill>
              </a:rPr>
            </a:br>
            <a:br>
              <a:rPr lang="en-US" sz="1500" dirty="0"/>
            </a:br>
            <a:r>
              <a:rPr lang="en-US" sz="1400" dirty="0">
                <a:solidFill>
                  <a:srgbClr val="000000"/>
                </a:solidFill>
                <a:latin typeface="Helvetica" panose="020B0604020202020204" pitchFamily="34" charset="0"/>
              </a:rPr>
              <a:t>Suspend the execution thread for a given duration</a:t>
            </a:r>
            <a:endParaRPr lang="en-US" sz="1600" dirty="0"/>
          </a:p>
          <a:p>
            <a:r>
              <a:rPr lang="en-US" sz="1600" b="1" dirty="0"/>
              <a:t>Input:</a:t>
            </a:r>
            <a:br>
              <a:rPr lang="en-US" sz="1600" b="1" dirty="0"/>
            </a:br>
            <a:r>
              <a:rPr lang="en-US" sz="1400" dirty="0" err="1"/>
              <a:t>millis</a:t>
            </a:r>
            <a:r>
              <a:rPr lang="en-US" sz="1400" dirty="0"/>
              <a:t>: Duration in milliseconds to sleep</a:t>
            </a:r>
          </a:p>
          <a:p>
            <a:pPr marL="457200" lvl="1" indent="0">
              <a:buNone/>
            </a:pPr>
            <a:endParaRPr lang="en-US" sz="1400" i="0" dirty="0"/>
          </a:p>
        </p:txBody>
      </p:sp>
      <p:pic>
        <p:nvPicPr>
          <p:cNvPr id="6" name="Picture 5">
            <a:extLst>
              <a:ext uri="{FF2B5EF4-FFF2-40B4-BE49-F238E27FC236}">
                <a16:creationId xmlns:a16="http://schemas.microsoft.com/office/drawing/2014/main" id="{5DCD477D-27A9-33CB-0271-4CD39905ED6C}"/>
              </a:ext>
            </a:extLst>
          </p:cNvPr>
          <p:cNvPicPr>
            <a:picLocks noChangeAspect="1"/>
          </p:cNvPicPr>
          <p:nvPr/>
        </p:nvPicPr>
        <p:blipFill>
          <a:blip r:embed="rId2"/>
          <a:stretch>
            <a:fillRect/>
          </a:stretch>
        </p:blipFill>
        <p:spPr>
          <a:xfrm>
            <a:off x="7853173" y="1595219"/>
            <a:ext cx="2695951" cy="3134162"/>
          </a:xfrm>
          <a:prstGeom prst="rect">
            <a:avLst/>
          </a:prstGeom>
        </p:spPr>
      </p:pic>
    </p:spTree>
    <p:extLst>
      <p:ext uri="{BB962C8B-B14F-4D97-AF65-F5344CB8AC3E}">
        <p14:creationId xmlns:p14="http://schemas.microsoft.com/office/powerpoint/2010/main" val="741279320"/>
      </p:ext>
    </p:extLst>
  </p:cSld>
  <p:clrMapOvr>
    <a:masterClrMapping/>
  </p:clrMapOvr>
  <p:transition spd="slow">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BBB43-28A6-732A-4551-59B92E5B7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5C63A-E21E-9A8F-D949-55552502EE87}"/>
              </a:ext>
            </a:extLst>
          </p:cNvPr>
          <p:cNvSpPr>
            <a:spLocks noGrp="1"/>
          </p:cNvSpPr>
          <p:nvPr>
            <p:ph type="title"/>
          </p:nvPr>
        </p:nvSpPr>
        <p:spPr/>
        <p:txBody>
          <a:bodyPr>
            <a:normAutofit/>
          </a:bodyPr>
          <a:lstStyle/>
          <a:p>
            <a:r>
              <a:rPr lang="en-US" b="1" dirty="0"/>
              <a:t>System</a:t>
            </a:r>
            <a:endParaRPr lang="en-US" dirty="0"/>
          </a:p>
        </p:txBody>
      </p:sp>
      <p:sp>
        <p:nvSpPr>
          <p:cNvPr id="3" name="Content Placeholder 2">
            <a:extLst>
              <a:ext uri="{FF2B5EF4-FFF2-40B4-BE49-F238E27FC236}">
                <a16:creationId xmlns:a16="http://schemas.microsoft.com/office/drawing/2014/main" id="{EB0C0FB7-D3A5-5089-4746-0832BE9CF739}"/>
              </a:ext>
            </a:extLst>
          </p:cNvPr>
          <p:cNvSpPr>
            <a:spLocks noGrp="1"/>
          </p:cNvSpPr>
          <p:nvPr>
            <p:ph idx="1"/>
          </p:nvPr>
        </p:nvSpPr>
        <p:spPr/>
        <p:txBody>
          <a:bodyPr>
            <a:normAutofit/>
          </a:bodyPr>
          <a:lstStyle/>
          <a:p>
            <a:pPr marL="0" indent="0">
              <a:buNone/>
            </a:pPr>
            <a:r>
              <a:rPr lang="en-US" sz="1700" dirty="0" err="1">
                <a:solidFill>
                  <a:srgbClr val="1082F2"/>
                </a:solidFill>
              </a:rPr>
              <a:t>SysEnv</a:t>
            </a:r>
            <a:r>
              <a:rPr lang="en-US" sz="1700" dirty="0">
                <a:solidFill>
                  <a:srgbClr val="1082F2"/>
                </a:solidFill>
              </a:rPr>
              <a:t> Actor</a:t>
            </a:r>
            <a:br>
              <a:rPr lang="en-US" sz="1700" dirty="0">
                <a:solidFill>
                  <a:srgbClr val="1082F2"/>
                </a:solidFill>
              </a:rPr>
            </a:br>
            <a:br>
              <a:rPr lang="en-US" sz="1500" dirty="0"/>
            </a:br>
            <a:r>
              <a:rPr lang="en-US" sz="1400" dirty="0">
                <a:solidFill>
                  <a:srgbClr val="000000"/>
                </a:solidFill>
                <a:latin typeface="Helvetica" panose="020B0604020202020204" pitchFamily="34" charset="0"/>
              </a:rPr>
              <a:t>Read an environment variable, either from the java properties or from the system environment.</a:t>
            </a:r>
            <a:br>
              <a:rPr lang="en-US" sz="1400" dirty="0">
                <a:solidFill>
                  <a:srgbClr val="000000"/>
                </a:solidFill>
                <a:latin typeface="Helvetica" panose="020B0604020202020204" pitchFamily="34" charset="0"/>
              </a:rPr>
            </a:br>
            <a:r>
              <a:rPr lang="en-US" sz="1400" dirty="0">
                <a:solidFill>
                  <a:srgbClr val="000000"/>
                </a:solidFill>
                <a:latin typeface="Helvetica" panose="020B0604020202020204" pitchFamily="34" charset="0"/>
              </a:rPr>
              <a:t>If no variable name is supplied, the actor returns a map of all java and system properties.</a:t>
            </a:r>
          </a:p>
          <a:p>
            <a:endParaRPr lang="en-US" sz="1400" dirty="0">
              <a:solidFill>
                <a:srgbClr val="000000"/>
              </a:solidFill>
              <a:latin typeface="Helvetica" panose="020B0604020202020204" pitchFamily="34" charset="0"/>
            </a:endParaRPr>
          </a:p>
          <a:p>
            <a:r>
              <a:rPr lang="en-US" sz="1600" b="1" dirty="0"/>
              <a:t>Input:</a:t>
            </a:r>
            <a:br>
              <a:rPr lang="en-US" sz="1600" b="1" dirty="0"/>
            </a:br>
            <a:r>
              <a:rPr lang="en-US" sz="1400" dirty="0"/>
              <a:t>name: The environment variable name to read or empty for all</a:t>
            </a:r>
          </a:p>
          <a:p>
            <a:r>
              <a:rPr lang="en-US" sz="1600" b="1" i="0" dirty="0"/>
              <a:t>Output:</a:t>
            </a:r>
            <a:br>
              <a:rPr lang="en-US" sz="1600" b="1" i="0" dirty="0"/>
            </a:br>
            <a:r>
              <a:rPr lang="en-US" sz="1400" dirty="0"/>
              <a:t>value: The variables value or a map of all values</a:t>
            </a:r>
          </a:p>
        </p:txBody>
      </p:sp>
      <p:pic>
        <p:nvPicPr>
          <p:cNvPr id="6" name="Picture 5">
            <a:extLst>
              <a:ext uri="{FF2B5EF4-FFF2-40B4-BE49-F238E27FC236}">
                <a16:creationId xmlns:a16="http://schemas.microsoft.com/office/drawing/2014/main" id="{380EF5C5-A690-1ABF-CFDB-5DF92FA946D3}"/>
              </a:ext>
            </a:extLst>
          </p:cNvPr>
          <p:cNvPicPr>
            <a:picLocks noChangeAspect="1"/>
          </p:cNvPicPr>
          <p:nvPr/>
        </p:nvPicPr>
        <p:blipFill>
          <a:blip r:embed="rId2"/>
          <a:stretch>
            <a:fillRect/>
          </a:stretch>
        </p:blipFill>
        <p:spPr>
          <a:xfrm>
            <a:off x="8973768" y="3525643"/>
            <a:ext cx="3057365" cy="2946188"/>
          </a:xfrm>
          <a:prstGeom prst="rect">
            <a:avLst/>
          </a:prstGeom>
        </p:spPr>
      </p:pic>
      <p:pic>
        <p:nvPicPr>
          <p:cNvPr id="5" name="Picture 4">
            <a:extLst>
              <a:ext uri="{FF2B5EF4-FFF2-40B4-BE49-F238E27FC236}">
                <a16:creationId xmlns:a16="http://schemas.microsoft.com/office/drawing/2014/main" id="{DC7F2002-20FE-355D-DA9D-C23171237A33}"/>
              </a:ext>
            </a:extLst>
          </p:cNvPr>
          <p:cNvPicPr>
            <a:picLocks noChangeAspect="1"/>
          </p:cNvPicPr>
          <p:nvPr/>
        </p:nvPicPr>
        <p:blipFill>
          <a:blip r:embed="rId3"/>
          <a:stretch>
            <a:fillRect/>
          </a:stretch>
        </p:blipFill>
        <p:spPr>
          <a:xfrm>
            <a:off x="5739180" y="4738082"/>
            <a:ext cx="3051398" cy="1733749"/>
          </a:xfrm>
          <a:prstGeom prst="rect">
            <a:avLst/>
          </a:prstGeom>
        </p:spPr>
      </p:pic>
      <p:sp>
        <p:nvSpPr>
          <p:cNvPr id="7" name="TextBox 6">
            <a:extLst>
              <a:ext uri="{FF2B5EF4-FFF2-40B4-BE49-F238E27FC236}">
                <a16:creationId xmlns:a16="http://schemas.microsoft.com/office/drawing/2014/main" id="{8E4ED1FF-27F8-EF22-08E0-DEB82241AC4B}"/>
              </a:ext>
            </a:extLst>
          </p:cNvPr>
          <p:cNvSpPr txBox="1"/>
          <p:nvPr/>
        </p:nvSpPr>
        <p:spPr>
          <a:xfrm>
            <a:off x="5672667" y="4428134"/>
            <a:ext cx="2469266" cy="307777"/>
          </a:xfrm>
          <a:prstGeom prst="rect">
            <a:avLst/>
          </a:prstGeom>
          <a:noFill/>
        </p:spPr>
        <p:txBody>
          <a:bodyPr wrap="none" rtlCol="0">
            <a:spAutoFit/>
          </a:bodyPr>
          <a:lstStyle/>
          <a:p>
            <a:r>
              <a:rPr lang="en-US" sz="1400" dirty="0"/>
              <a:t>Example 1: read FABRIC_HOME</a:t>
            </a:r>
          </a:p>
        </p:txBody>
      </p:sp>
      <p:sp>
        <p:nvSpPr>
          <p:cNvPr id="8" name="TextBox 7">
            <a:extLst>
              <a:ext uri="{FF2B5EF4-FFF2-40B4-BE49-F238E27FC236}">
                <a16:creationId xmlns:a16="http://schemas.microsoft.com/office/drawing/2014/main" id="{D8CB2E0D-F056-B122-D8F5-94DF19FAB2C2}"/>
              </a:ext>
            </a:extLst>
          </p:cNvPr>
          <p:cNvSpPr txBox="1"/>
          <p:nvPr/>
        </p:nvSpPr>
        <p:spPr>
          <a:xfrm>
            <a:off x="8952270" y="3266644"/>
            <a:ext cx="1564018" cy="307777"/>
          </a:xfrm>
          <a:prstGeom prst="rect">
            <a:avLst/>
          </a:prstGeom>
          <a:noFill/>
        </p:spPr>
        <p:txBody>
          <a:bodyPr wrap="none" rtlCol="0">
            <a:spAutoFit/>
          </a:bodyPr>
          <a:lstStyle/>
          <a:p>
            <a:r>
              <a:rPr lang="en-US" sz="1400" dirty="0"/>
              <a:t>Example 2: read all</a:t>
            </a:r>
          </a:p>
        </p:txBody>
      </p:sp>
    </p:spTree>
    <p:extLst>
      <p:ext uri="{BB962C8B-B14F-4D97-AF65-F5344CB8AC3E}">
        <p14:creationId xmlns:p14="http://schemas.microsoft.com/office/powerpoint/2010/main" val="1287479589"/>
      </p:ext>
    </p:extLst>
  </p:cSld>
  <p:clrMapOvr>
    <a:masterClrMapping/>
  </p:clrMapOvr>
  <p:transition spd="slow">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BF4E9-3B20-690C-33B7-F971348AD29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8440D7A-F459-0D8D-FE28-E66CE0A5D1BC}"/>
              </a:ext>
            </a:extLst>
          </p:cNvPr>
          <p:cNvPicPr>
            <a:picLocks noChangeAspect="1"/>
          </p:cNvPicPr>
          <p:nvPr/>
        </p:nvPicPr>
        <p:blipFill>
          <a:blip r:embed="rId2"/>
          <a:stretch>
            <a:fillRect/>
          </a:stretch>
        </p:blipFill>
        <p:spPr>
          <a:xfrm>
            <a:off x="6362706" y="1378299"/>
            <a:ext cx="5586132" cy="2375656"/>
          </a:xfrm>
          <a:prstGeom prst="rect">
            <a:avLst/>
          </a:prstGeom>
        </p:spPr>
      </p:pic>
      <p:sp>
        <p:nvSpPr>
          <p:cNvPr id="2" name="Title 1">
            <a:extLst>
              <a:ext uri="{FF2B5EF4-FFF2-40B4-BE49-F238E27FC236}">
                <a16:creationId xmlns:a16="http://schemas.microsoft.com/office/drawing/2014/main" id="{DB0F1FAA-1BD1-7ADA-6CF1-AEC279E56703}"/>
              </a:ext>
            </a:extLst>
          </p:cNvPr>
          <p:cNvSpPr>
            <a:spLocks noGrp="1"/>
          </p:cNvSpPr>
          <p:nvPr>
            <p:ph type="title"/>
          </p:nvPr>
        </p:nvSpPr>
        <p:spPr/>
        <p:txBody>
          <a:bodyPr>
            <a:normAutofit/>
          </a:bodyPr>
          <a:lstStyle/>
          <a:p>
            <a:r>
              <a:rPr lang="en-US" b="1" dirty="0"/>
              <a:t>System</a:t>
            </a:r>
            <a:endParaRPr lang="en-US" dirty="0"/>
          </a:p>
        </p:txBody>
      </p:sp>
      <p:sp>
        <p:nvSpPr>
          <p:cNvPr id="3" name="Content Placeholder 2">
            <a:extLst>
              <a:ext uri="{FF2B5EF4-FFF2-40B4-BE49-F238E27FC236}">
                <a16:creationId xmlns:a16="http://schemas.microsoft.com/office/drawing/2014/main" id="{FF785367-81B9-350B-2742-6759885E12C9}"/>
              </a:ext>
            </a:extLst>
          </p:cNvPr>
          <p:cNvSpPr>
            <a:spLocks noGrp="1"/>
          </p:cNvSpPr>
          <p:nvPr>
            <p:ph idx="1"/>
          </p:nvPr>
        </p:nvSpPr>
        <p:spPr>
          <a:xfrm>
            <a:off x="838200" y="1168400"/>
            <a:ext cx="8551333" cy="5477933"/>
          </a:xfrm>
        </p:spPr>
        <p:txBody>
          <a:bodyPr>
            <a:noAutofit/>
          </a:bodyPr>
          <a:lstStyle/>
          <a:p>
            <a:pPr marL="0" indent="0">
              <a:buNone/>
            </a:pPr>
            <a:r>
              <a:rPr lang="en-US" sz="1700" dirty="0">
                <a:solidFill>
                  <a:srgbClr val="1082F2"/>
                </a:solidFill>
              </a:rPr>
              <a:t>Exec Actor</a:t>
            </a:r>
            <a:br>
              <a:rPr lang="en-US" sz="1700" dirty="0">
                <a:solidFill>
                  <a:srgbClr val="1082F2"/>
                </a:solidFill>
              </a:rPr>
            </a:br>
            <a:br>
              <a:rPr lang="en-US" sz="1200" dirty="0"/>
            </a:br>
            <a:r>
              <a:rPr lang="en-US" sz="1400" dirty="0">
                <a:solidFill>
                  <a:srgbClr val="000000"/>
                </a:solidFill>
                <a:latin typeface="Helvetica" panose="020B0604020202020204" pitchFamily="34" charset="0"/>
              </a:rPr>
              <a:t>Execute a system process and wait for it to complete</a:t>
            </a:r>
          </a:p>
          <a:p>
            <a:pPr lvl="1"/>
            <a:endParaRPr lang="en-US" sz="1200" b="1" dirty="0"/>
          </a:p>
          <a:p>
            <a:r>
              <a:rPr lang="en-US" sz="1200" b="1" dirty="0"/>
              <a:t>Inputs:</a:t>
            </a:r>
          </a:p>
          <a:p>
            <a:pPr lvl="1">
              <a:spcBef>
                <a:spcPts val="0"/>
              </a:spcBef>
            </a:pPr>
            <a:r>
              <a:rPr lang="en-US" sz="1200" i="0" dirty="0"/>
              <a:t>command: The command to perform</a:t>
            </a:r>
          </a:p>
          <a:p>
            <a:pPr lvl="1">
              <a:spcBef>
                <a:spcPts val="0"/>
              </a:spcBef>
            </a:pPr>
            <a:r>
              <a:rPr lang="en-US" sz="1200" i="0" dirty="0"/>
              <a:t>params: Array of parameters to pass to the command</a:t>
            </a:r>
          </a:p>
          <a:p>
            <a:pPr lvl="1">
              <a:spcBef>
                <a:spcPts val="0"/>
              </a:spcBef>
            </a:pPr>
            <a:r>
              <a:rPr lang="en-US" sz="1200" i="0" dirty="0"/>
              <a:t>standard: Selects which standard streams to read.</a:t>
            </a:r>
            <a:endParaRPr lang="en-US" sz="1200" dirty="0"/>
          </a:p>
          <a:p>
            <a:pPr lvl="1">
              <a:spcBef>
                <a:spcPts val="0"/>
              </a:spcBef>
            </a:pPr>
            <a:r>
              <a:rPr lang="en-US" sz="1200" i="0" dirty="0"/>
              <a:t>in: The data to send to the standard input of the process before reading </a:t>
            </a:r>
            <a:br>
              <a:rPr lang="en-US" sz="1200" i="0" dirty="0"/>
            </a:br>
            <a:r>
              <a:rPr lang="en-US" sz="1200" i="0" dirty="0"/>
              <a:t>the output</a:t>
            </a:r>
          </a:p>
          <a:p>
            <a:r>
              <a:rPr lang="en-US" sz="1200" b="1" i="0" dirty="0"/>
              <a:t>Example:</a:t>
            </a:r>
          </a:p>
          <a:p>
            <a:pPr lvl="1">
              <a:spcBef>
                <a:spcPts val="0"/>
              </a:spcBef>
            </a:pPr>
            <a:r>
              <a:rPr lang="en-US" sz="1200" i="0" dirty="0"/>
              <a:t>command: </a:t>
            </a:r>
            <a:r>
              <a:rPr lang="en-US" sz="1200" i="0" dirty="0" err="1"/>
              <a:t>chmod</a:t>
            </a:r>
            <a:endParaRPr lang="en-US" sz="1200" i="0" dirty="0"/>
          </a:p>
          <a:p>
            <a:pPr lvl="1">
              <a:spcBef>
                <a:spcPts val="0"/>
              </a:spcBef>
            </a:pPr>
            <a:r>
              <a:rPr lang="en-US" sz="1200" i="0" dirty="0"/>
              <a:t>params: [766, /opt/apps/fabric/workspace/project/</a:t>
            </a:r>
            <a:r>
              <a:rPr lang="en-US" sz="1200" i="0" dirty="0" err="1"/>
              <a:t>newDirectory</a:t>
            </a:r>
            <a:r>
              <a:rPr lang="en-US" sz="1200" i="0" dirty="0"/>
              <a:t>/]</a:t>
            </a:r>
          </a:p>
          <a:p>
            <a:pPr lvl="1">
              <a:spcBef>
                <a:spcPts val="0"/>
              </a:spcBef>
            </a:pPr>
            <a:r>
              <a:rPr lang="en-US" sz="1200" i="0" dirty="0"/>
              <a:t>standard: both</a:t>
            </a:r>
          </a:p>
          <a:p>
            <a:pPr lvl="1">
              <a:spcBef>
                <a:spcPts val="0"/>
              </a:spcBef>
            </a:pPr>
            <a:r>
              <a:rPr lang="en-US" sz="1200" i="0" dirty="0"/>
              <a:t>in:</a:t>
            </a:r>
          </a:p>
          <a:p>
            <a:r>
              <a:rPr lang="en-US" sz="1200" b="1" i="0" dirty="0"/>
              <a:t>Outputs:</a:t>
            </a:r>
          </a:p>
          <a:p>
            <a:pPr lvl="1">
              <a:spcBef>
                <a:spcPts val="0"/>
              </a:spcBef>
            </a:pPr>
            <a:r>
              <a:rPr lang="en-US" sz="1200" i="0" dirty="0" err="1"/>
              <a:t>exitValue</a:t>
            </a:r>
            <a:r>
              <a:rPr lang="en-US" sz="1200" i="0" dirty="0"/>
              <a:t>: The exit value of the process</a:t>
            </a:r>
          </a:p>
          <a:p>
            <a:pPr lvl="1">
              <a:spcBef>
                <a:spcPts val="0"/>
              </a:spcBef>
            </a:pPr>
            <a:r>
              <a:rPr lang="en-US" sz="1200" i="0" dirty="0"/>
              <a:t>out: The standard output of the process</a:t>
            </a:r>
          </a:p>
          <a:p>
            <a:pPr lvl="1">
              <a:spcBef>
                <a:spcPts val="0"/>
              </a:spcBef>
            </a:pPr>
            <a:r>
              <a:rPr lang="en-US" sz="1200" i="0" dirty="0"/>
              <a:t>err: The standard error of the process</a:t>
            </a:r>
          </a:p>
          <a:p>
            <a:pPr lvl="1"/>
            <a:endParaRPr lang="en-US" sz="1200" dirty="0"/>
          </a:p>
          <a:p>
            <a:pPr marL="0" indent="0">
              <a:buNone/>
            </a:pPr>
            <a:r>
              <a:rPr lang="en-US" sz="1700" dirty="0" err="1">
                <a:solidFill>
                  <a:srgbClr val="1082F2"/>
                </a:solidFill>
              </a:rPr>
              <a:t>ExecAsync</a:t>
            </a:r>
            <a:br>
              <a:rPr lang="en-US" sz="1200" dirty="0">
                <a:solidFill>
                  <a:srgbClr val="1082F2"/>
                </a:solidFill>
              </a:rPr>
            </a:br>
            <a:br>
              <a:rPr lang="en-US" sz="1200" dirty="0"/>
            </a:br>
            <a:r>
              <a:rPr lang="en-US" sz="1400" dirty="0">
                <a:solidFill>
                  <a:srgbClr val="000000"/>
                </a:solidFill>
                <a:latin typeface="Helvetica" panose="020B0604020202020204" pitchFamily="34" charset="0"/>
              </a:rPr>
              <a:t>Execute a system process and do not wait for it to complete. </a:t>
            </a:r>
            <a:br>
              <a:rPr lang="en-US" sz="1400" dirty="0">
                <a:solidFill>
                  <a:srgbClr val="000000"/>
                </a:solidFill>
                <a:latin typeface="Helvetica" panose="020B0604020202020204" pitchFamily="34" charset="0"/>
              </a:rPr>
            </a:br>
            <a:r>
              <a:rPr lang="en-US" sz="1400" dirty="0">
                <a:solidFill>
                  <a:srgbClr val="000000"/>
                </a:solidFill>
                <a:latin typeface="Helvetica" panose="020B0604020202020204" pitchFamily="34" charset="0"/>
              </a:rPr>
              <a:t>This mode of execution enables reading the output as a stream.</a:t>
            </a:r>
          </a:p>
          <a:p>
            <a:pPr lvl="1"/>
            <a:endParaRPr lang="en-US" sz="1200" i="0" dirty="0"/>
          </a:p>
        </p:txBody>
      </p:sp>
      <p:pic>
        <p:nvPicPr>
          <p:cNvPr id="5" name="Picture 4">
            <a:extLst>
              <a:ext uri="{FF2B5EF4-FFF2-40B4-BE49-F238E27FC236}">
                <a16:creationId xmlns:a16="http://schemas.microsoft.com/office/drawing/2014/main" id="{015DFE10-3C8C-481B-9492-1F02A1C3406A}"/>
              </a:ext>
            </a:extLst>
          </p:cNvPr>
          <p:cNvPicPr>
            <a:picLocks noChangeAspect="1"/>
          </p:cNvPicPr>
          <p:nvPr/>
        </p:nvPicPr>
        <p:blipFill>
          <a:blip r:embed="rId3"/>
          <a:stretch>
            <a:fillRect/>
          </a:stretch>
        </p:blipFill>
        <p:spPr>
          <a:xfrm>
            <a:off x="6210300" y="4071680"/>
            <a:ext cx="5981700" cy="2529076"/>
          </a:xfrm>
          <a:prstGeom prst="rect">
            <a:avLst/>
          </a:prstGeom>
        </p:spPr>
      </p:pic>
      <p:sp>
        <p:nvSpPr>
          <p:cNvPr id="9" name="TextBox 8">
            <a:extLst>
              <a:ext uri="{FF2B5EF4-FFF2-40B4-BE49-F238E27FC236}">
                <a16:creationId xmlns:a16="http://schemas.microsoft.com/office/drawing/2014/main" id="{85EAF312-55A8-85AF-DF48-A8E1FBE9B2F4}"/>
              </a:ext>
            </a:extLst>
          </p:cNvPr>
          <p:cNvSpPr txBox="1"/>
          <p:nvPr/>
        </p:nvSpPr>
        <p:spPr>
          <a:xfrm>
            <a:off x="6333067" y="1058403"/>
            <a:ext cx="2426113" cy="307777"/>
          </a:xfrm>
          <a:prstGeom prst="rect">
            <a:avLst/>
          </a:prstGeom>
          <a:noFill/>
        </p:spPr>
        <p:txBody>
          <a:bodyPr wrap="none" rtlCol="0">
            <a:spAutoFit/>
          </a:bodyPr>
          <a:lstStyle/>
          <a:p>
            <a:r>
              <a:rPr lang="en-US" sz="1400" dirty="0"/>
              <a:t>Example 1: get system variable</a:t>
            </a:r>
          </a:p>
        </p:txBody>
      </p:sp>
      <p:sp>
        <p:nvSpPr>
          <p:cNvPr id="10" name="TextBox 9">
            <a:extLst>
              <a:ext uri="{FF2B5EF4-FFF2-40B4-BE49-F238E27FC236}">
                <a16:creationId xmlns:a16="http://schemas.microsoft.com/office/drawing/2014/main" id="{3F8B09BB-1F02-1BD0-7D4B-80608DCC1E84}"/>
              </a:ext>
            </a:extLst>
          </p:cNvPr>
          <p:cNvSpPr txBox="1"/>
          <p:nvPr/>
        </p:nvSpPr>
        <p:spPr>
          <a:xfrm>
            <a:off x="6269569" y="3766074"/>
            <a:ext cx="2134110" cy="307777"/>
          </a:xfrm>
          <a:prstGeom prst="rect">
            <a:avLst/>
          </a:prstGeom>
          <a:noFill/>
        </p:spPr>
        <p:txBody>
          <a:bodyPr wrap="none" rtlCol="0">
            <a:spAutoFit/>
          </a:bodyPr>
          <a:lstStyle/>
          <a:p>
            <a:r>
              <a:rPr lang="en-US" sz="1400" dirty="0"/>
              <a:t>Example 2: execute </a:t>
            </a:r>
            <a:r>
              <a:rPr lang="en-US" sz="1400" dirty="0" err="1"/>
              <a:t>chmod</a:t>
            </a:r>
            <a:endParaRPr lang="en-US" sz="1400" dirty="0"/>
          </a:p>
        </p:txBody>
      </p:sp>
    </p:spTree>
    <p:extLst>
      <p:ext uri="{BB962C8B-B14F-4D97-AF65-F5344CB8AC3E}">
        <p14:creationId xmlns:p14="http://schemas.microsoft.com/office/powerpoint/2010/main" val="2315016069"/>
      </p:ext>
    </p:extLst>
  </p:cSld>
  <p:clrMapOvr>
    <a:masterClrMapping/>
  </p:clrMapOvr>
  <p:transition spd="slow">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266D5-01FF-C888-44D0-9FA661A8B14E}"/>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448762A-68ED-8DBA-C50C-71F54E4D100B}"/>
              </a:ext>
            </a:extLst>
          </p:cNvPr>
          <p:cNvPicPr>
            <a:picLocks noChangeAspect="1"/>
          </p:cNvPicPr>
          <p:nvPr/>
        </p:nvPicPr>
        <p:blipFill>
          <a:blip r:embed="rId2"/>
          <a:stretch>
            <a:fillRect/>
          </a:stretch>
        </p:blipFill>
        <p:spPr>
          <a:xfrm>
            <a:off x="6950340" y="4216332"/>
            <a:ext cx="5083804" cy="1719970"/>
          </a:xfrm>
          <a:prstGeom prst="rect">
            <a:avLst/>
          </a:prstGeom>
        </p:spPr>
      </p:pic>
      <p:sp>
        <p:nvSpPr>
          <p:cNvPr id="2" name="Title 1">
            <a:extLst>
              <a:ext uri="{FF2B5EF4-FFF2-40B4-BE49-F238E27FC236}">
                <a16:creationId xmlns:a16="http://schemas.microsoft.com/office/drawing/2014/main" id="{531A36E4-16CD-7DB5-1673-5D6B6AB3ACEB}"/>
              </a:ext>
            </a:extLst>
          </p:cNvPr>
          <p:cNvSpPr>
            <a:spLocks noGrp="1"/>
          </p:cNvSpPr>
          <p:nvPr>
            <p:ph type="title"/>
          </p:nvPr>
        </p:nvSpPr>
        <p:spPr/>
        <p:txBody>
          <a:bodyPr>
            <a:normAutofit/>
          </a:bodyPr>
          <a:lstStyle/>
          <a:p>
            <a:r>
              <a:rPr lang="en-US" b="1" dirty="0"/>
              <a:t>System</a:t>
            </a:r>
            <a:endParaRPr lang="en-US" dirty="0"/>
          </a:p>
        </p:txBody>
      </p:sp>
      <p:sp>
        <p:nvSpPr>
          <p:cNvPr id="3" name="Content Placeholder 2">
            <a:extLst>
              <a:ext uri="{FF2B5EF4-FFF2-40B4-BE49-F238E27FC236}">
                <a16:creationId xmlns:a16="http://schemas.microsoft.com/office/drawing/2014/main" id="{9DA830A3-D213-7CD4-8ECF-0EBC0E9F8FEB}"/>
              </a:ext>
            </a:extLst>
          </p:cNvPr>
          <p:cNvSpPr>
            <a:spLocks noGrp="1"/>
          </p:cNvSpPr>
          <p:nvPr>
            <p:ph idx="1"/>
          </p:nvPr>
        </p:nvSpPr>
        <p:spPr>
          <a:xfrm>
            <a:off x="287053" y="1497026"/>
            <a:ext cx="8018748" cy="5233973"/>
          </a:xfrm>
        </p:spPr>
        <p:txBody>
          <a:bodyPr>
            <a:normAutofit fontScale="92500" lnSpcReduction="20000"/>
          </a:bodyPr>
          <a:lstStyle/>
          <a:p>
            <a:pPr marL="0" indent="0">
              <a:buNone/>
            </a:pPr>
            <a:r>
              <a:rPr lang="en-US" sz="1900" dirty="0" err="1">
                <a:solidFill>
                  <a:srgbClr val="1082F2"/>
                </a:solidFill>
              </a:rPr>
              <a:t>JMXWrite</a:t>
            </a:r>
            <a:r>
              <a:rPr lang="en-US" sz="1900" dirty="0">
                <a:solidFill>
                  <a:srgbClr val="1082F2"/>
                </a:solidFill>
              </a:rPr>
              <a:t> Actor</a:t>
            </a:r>
            <a:br>
              <a:rPr lang="en-US" sz="2700" dirty="0">
                <a:solidFill>
                  <a:srgbClr val="1082F2"/>
                </a:solidFill>
              </a:rPr>
            </a:br>
            <a:br>
              <a:rPr lang="en-US" sz="1500" dirty="0"/>
            </a:br>
            <a:r>
              <a:rPr lang="en-US" sz="1500" dirty="0">
                <a:solidFill>
                  <a:srgbClr val="000000"/>
                </a:solidFill>
                <a:latin typeface="Helvetica" panose="020B0604020202020204" pitchFamily="34" charset="0"/>
              </a:rPr>
              <a:t>Write a custom JMX value into the current process JMX statistics module.</a:t>
            </a:r>
          </a:p>
          <a:p>
            <a:r>
              <a:rPr lang="en-US" sz="1600" b="1" dirty="0"/>
              <a:t>Inputs:</a:t>
            </a:r>
          </a:p>
          <a:p>
            <a:pPr lvl="1">
              <a:spcBef>
                <a:spcPts val="0"/>
              </a:spcBef>
            </a:pPr>
            <a:r>
              <a:rPr lang="en-US" sz="1500" dirty="0"/>
              <a:t>key: Select which key to report on.</a:t>
            </a:r>
          </a:p>
          <a:p>
            <a:pPr lvl="1">
              <a:spcBef>
                <a:spcPts val="0"/>
              </a:spcBef>
            </a:pPr>
            <a:r>
              <a:rPr lang="en-US" sz="1500" dirty="0"/>
              <a:t>value: The value to report.</a:t>
            </a:r>
          </a:p>
          <a:p>
            <a:pPr marL="0" indent="0">
              <a:buNone/>
            </a:pPr>
            <a:r>
              <a:rPr lang="en-US" sz="1900" dirty="0" err="1">
                <a:solidFill>
                  <a:srgbClr val="1082F2"/>
                </a:solidFill>
              </a:rPr>
              <a:t>JMXRead</a:t>
            </a:r>
            <a:r>
              <a:rPr lang="en-US" sz="1900" dirty="0">
                <a:solidFill>
                  <a:srgbClr val="1082F2"/>
                </a:solidFill>
              </a:rPr>
              <a:t> Actor</a:t>
            </a:r>
            <a:br>
              <a:rPr lang="en-US" sz="1700" dirty="0">
                <a:solidFill>
                  <a:srgbClr val="1082F2"/>
                </a:solidFill>
              </a:rPr>
            </a:br>
            <a:br>
              <a:rPr lang="en-US" sz="1500" dirty="0"/>
            </a:br>
            <a:r>
              <a:rPr lang="en-US" sz="1500" dirty="0">
                <a:solidFill>
                  <a:srgbClr val="000000"/>
                </a:solidFill>
                <a:latin typeface="Helvetica" panose="020B0604020202020204" pitchFamily="34" charset="0"/>
              </a:rPr>
              <a:t>Read a JMX value from the current process JMX statistics module.</a:t>
            </a:r>
          </a:p>
          <a:p>
            <a:r>
              <a:rPr lang="en-US" sz="1600" b="1" dirty="0"/>
              <a:t>Inputs:</a:t>
            </a:r>
          </a:p>
          <a:p>
            <a:pPr lvl="1">
              <a:spcBef>
                <a:spcPts val="0"/>
              </a:spcBef>
            </a:pPr>
            <a:r>
              <a:rPr lang="en-US" sz="1500" dirty="0"/>
              <a:t>stats: Select which statistic metric to read. </a:t>
            </a:r>
            <a:r>
              <a:rPr lang="en-US" sz="1500" dirty="0" err="1"/>
              <a:t>JMXWrite</a:t>
            </a:r>
            <a:r>
              <a:rPr lang="en-US" sz="1500" dirty="0"/>
              <a:t> reports as </a:t>
            </a:r>
            <a:r>
              <a:rPr lang="en-US" sz="1500" dirty="0" err="1"/>
              <a:t>customStats</a:t>
            </a:r>
            <a:r>
              <a:rPr lang="en-US" sz="1500" dirty="0"/>
              <a:t>.</a:t>
            </a:r>
          </a:p>
          <a:p>
            <a:pPr lvl="1">
              <a:spcBef>
                <a:spcPts val="0"/>
              </a:spcBef>
            </a:pPr>
            <a:r>
              <a:rPr lang="en-US" sz="1500" dirty="0"/>
              <a:t>key: Select which key within the statistics to read.</a:t>
            </a:r>
            <a:br>
              <a:rPr lang="en-US" sz="1500" dirty="0"/>
            </a:br>
            <a:r>
              <a:rPr lang="en-US" sz="1500" dirty="0"/>
              <a:t>Leaving the key empty will read an aggregate of all statistics for the stats entry.</a:t>
            </a:r>
          </a:p>
          <a:p>
            <a:r>
              <a:rPr lang="en-US" sz="1600" b="1" dirty="0"/>
              <a:t>Outputs</a:t>
            </a:r>
            <a:r>
              <a:rPr lang="en-US" sz="1500" dirty="0"/>
              <a:t>:</a:t>
            </a:r>
          </a:p>
          <a:p>
            <a:pPr lvl="1"/>
            <a:r>
              <a:rPr lang="en-US" sz="1400" i="0" dirty="0"/>
              <a:t>count : The number of times the given key has been reported.</a:t>
            </a:r>
          </a:p>
          <a:p>
            <a:pPr lvl="1"/>
            <a:r>
              <a:rPr lang="en-US" sz="1500" dirty="0"/>
              <a:t>total: The aggregate total of the values passed to the given statistics key.</a:t>
            </a:r>
          </a:p>
          <a:p>
            <a:pPr lvl="1"/>
            <a:r>
              <a:rPr lang="en-US" sz="1500" dirty="0"/>
              <a:t>last: The last value reported for this statistic.</a:t>
            </a:r>
          </a:p>
          <a:p>
            <a:pPr lvl="1"/>
            <a:r>
              <a:rPr lang="en-US" sz="1500" dirty="0"/>
              <a:t>average: The average value of this statistic, rounded down to the closest integer.</a:t>
            </a:r>
          </a:p>
          <a:p>
            <a:pPr lvl="1"/>
            <a:r>
              <a:rPr lang="en-US" sz="1500" dirty="0"/>
              <a:t>timestamp: The timestamp of the last report for this statistic</a:t>
            </a:r>
          </a:p>
          <a:p>
            <a:pPr lvl="1"/>
            <a:r>
              <a:rPr lang="en-US" sz="1500" dirty="0"/>
              <a:t>since: The number of milliseconds elapsed since the last report for this statistic</a:t>
            </a:r>
          </a:p>
          <a:p>
            <a:pPr lvl="1"/>
            <a:r>
              <a:rPr lang="en-US" sz="1500" dirty="0" err="1"/>
              <a:t>totalLast</a:t>
            </a:r>
            <a:r>
              <a:rPr lang="en-US" sz="1500" dirty="0"/>
              <a:t>: For an aggregate statistic, when a key is not supplied, this is the total of the 'last' reports of all keys.</a:t>
            </a:r>
          </a:p>
          <a:p>
            <a:pPr lvl="1"/>
            <a:endParaRPr lang="en-US" sz="1400" i="0" dirty="0"/>
          </a:p>
          <a:p>
            <a:pPr lvl="2"/>
            <a:endParaRPr lang="en-US" sz="1400" b="1" i="0" dirty="0"/>
          </a:p>
        </p:txBody>
      </p:sp>
      <p:pic>
        <p:nvPicPr>
          <p:cNvPr id="6" name="Picture 5">
            <a:extLst>
              <a:ext uri="{FF2B5EF4-FFF2-40B4-BE49-F238E27FC236}">
                <a16:creationId xmlns:a16="http://schemas.microsoft.com/office/drawing/2014/main" id="{49FB9095-6E61-1262-9A80-E2994A7B80DF}"/>
              </a:ext>
            </a:extLst>
          </p:cNvPr>
          <p:cNvPicPr>
            <a:picLocks noChangeAspect="1"/>
          </p:cNvPicPr>
          <p:nvPr/>
        </p:nvPicPr>
        <p:blipFill>
          <a:blip r:embed="rId3"/>
          <a:stretch>
            <a:fillRect/>
          </a:stretch>
        </p:blipFill>
        <p:spPr>
          <a:xfrm>
            <a:off x="9427835" y="1557867"/>
            <a:ext cx="2477113" cy="2445120"/>
          </a:xfrm>
          <a:prstGeom prst="rect">
            <a:avLst/>
          </a:prstGeom>
        </p:spPr>
      </p:pic>
      <p:sp>
        <p:nvSpPr>
          <p:cNvPr id="9" name="TextBox 8">
            <a:extLst>
              <a:ext uri="{FF2B5EF4-FFF2-40B4-BE49-F238E27FC236}">
                <a16:creationId xmlns:a16="http://schemas.microsoft.com/office/drawing/2014/main" id="{8C5A7515-2D0D-F74F-2110-7AF7B9F94675}"/>
              </a:ext>
            </a:extLst>
          </p:cNvPr>
          <p:cNvSpPr txBox="1"/>
          <p:nvPr/>
        </p:nvSpPr>
        <p:spPr>
          <a:xfrm>
            <a:off x="9304867" y="1189249"/>
            <a:ext cx="2012987" cy="307777"/>
          </a:xfrm>
          <a:prstGeom prst="rect">
            <a:avLst/>
          </a:prstGeom>
          <a:noFill/>
        </p:spPr>
        <p:txBody>
          <a:bodyPr wrap="none" rtlCol="0">
            <a:spAutoFit/>
          </a:bodyPr>
          <a:lstStyle/>
          <a:p>
            <a:r>
              <a:rPr lang="en-US" sz="1400" dirty="0"/>
              <a:t>The stats in statistic page</a:t>
            </a:r>
          </a:p>
        </p:txBody>
      </p:sp>
      <p:sp>
        <p:nvSpPr>
          <p:cNvPr id="10" name="TextBox 9">
            <a:extLst>
              <a:ext uri="{FF2B5EF4-FFF2-40B4-BE49-F238E27FC236}">
                <a16:creationId xmlns:a16="http://schemas.microsoft.com/office/drawing/2014/main" id="{2CAC7BBC-6766-6D6B-2800-975272693929}"/>
              </a:ext>
            </a:extLst>
          </p:cNvPr>
          <p:cNvSpPr txBox="1"/>
          <p:nvPr/>
        </p:nvSpPr>
        <p:spPr>
          <a:xfrm>
            <a:off x="6904633" y="3933768"/>
            <a:ext cx="1854034" cy="307777"/>
          </a:xfrm>
          <a:prstGeom prst="rect">
            <a:avLst/>
          </a:prstGeom>
          <a:noFill/>
        </p:spPr>
        <p:txBody>
          <a:bodyPr wrap="none" rtlCol="0">
            <a:spAutoFit/>
          </a:bodyPr>
          <a:lstStyle/>
          <a:p>
            <a:r>
              <a:rPr lang="en-US" sz="1400" dirty="0"/>
              <a:t>Write &amp; read JMX stats</a:t>
            </a:r>
          </a:p>
        </p:txBody>
      </p:sp>
    </p:spTree>
    <p:extLst>
      <p:ext uri="{BB962C8B-B14F-4D97-AF65-F5344CB8AC3E}">
        <p14:creationId xmlns:p14="http://schemas.microsoft.com/office/powerpoint/2010/main" val="3370494584"/>
      </p:ext>
    </p:extLst>
  </p:cSld>
  <p:clrMapOvr>
    <a:masterClrMapping/>
  </p:clrMapOvr>
  <p:transition spd="slow">
    <p:wipe dir="r"/>
  </p:transition>
</p:sld>
</file>

<file path=ppt/theme/theme1.xml><?xml version="1.0" encoding="utf-8"?>
<a:theme xmlns:a="http://schemas.openxmlformats.org/drawingml/2006/main" name="2_Office Theme">
  <a:themeElements>
    <a:clrScheme name="k2">
      <a:dk1>
        <a:srgbClr val="3B3C47"/>
      </a:dk1>
      <a:lt1>
        <a:srgbClr val="FFFFFF"/>
      </a:lt1>
      <a:dk2>
        <a:srgbClr val="1182F2"/>
      </a:dk2>
      <a:lt2>
        <a:srgbClr val="EDF5FE"/>
      </a:lt2>
      <a:accent1>
        <a:srgbClr val="17E7FE"/>
      </a:accent1>
      <a:accent2>
        <a:srgbClr val="923CEF"/>
      </a:accent2>
      <a:accent3>
        <a:srgbClr val="04D793"/>
      </a:accent3>
      <a:accent4>
        <a:srgbClr val="1182F2"/>
      </a:accent4>
      <a:accent5>
        <a:srgbClr val="F0822A"/>
      </a:accent5>
      <a:accent6>
        <a:srgbClr val="F13F92"/>
      </a:accent6>
      <a:hlink>
        <a:srgbClr val="1182F2"/>
      </a:hlink>
      <a:folHlink>
        <a:srgbClr val="2E2E2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with images - March 2023" id="{E32DEDF4-6FE1-7B45-88F4-21FFD2FADC17}" vid="{24B6B51B-2C36-2140-927F-C94A972C68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ashboardview xmlns="74083ff3-901d-4a80-b854-a128eee5eee4" xsi:nil="true"/>
    <_ip_UnifiedCompliancePolicyUIAction xmlns="http://schemas.microsoft.com/sharepoint/v3" xsi:nil="true"/>
    <lcf76f155ced4ddcb4097134ff3c332f xmlns="74083ff3-901d-4a80-b854-a128eee5eee4">
      <Terms xmlns="http://schemas.microsoft.com/office/infopath/2007/PartnerControls"/>
    </lcf76f155ced4ddcb4097134ff3c332f>
    <_ip_UnifiedCompliancePolicyProperties xmlns="http://schemas.microsoft.com/sharepoint/v3" xsi:nil="true"/>
    <TaxCatchAll xmlns="207f1ff3-1f77-40fd-ad5b-9d6ae8cfe6f8" xsi:nil="true"/>
    <Team xmlns="74083ff3-901d-4a80-b854-a128eee5eee4" xsi:nil="true"/>
    <SharedWithUsers xmlns="207f1ff3-1f77-40fd-ad5b-9d6ae8cfe6f8">
      <UserInfo>
        <DisplayName>Rivi Green</DisplayName>
        <AccountId>112</AccountId>
        <AccountType/>
      </UserInfo>
      <UserInfo>
        <DisplayName>Shani Rotem</DisplayName>
        <AccountId>117</AccountId>
        <AccountType/>
      </UserInfo>
      <UserInfo>
        <DisplayName>Roy Ittah</DisplayName>
        <AccountId>1499</AccountId>
        <AccountType/>
      </UserInfo>
    </SharedWithUsers>
    <Department xmlns="74083ff3-901d-4a80-b854-a128eee5eee4">Marketing</Department>
    <Sales_x0020_Assets xmlns="74083ff3-901d-4a80-b854-a128eee5eee4">false</Sales_x0020_Asset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857D32277AC8A4EB3BE59077C9D6D08" ma:contentTypeVersion="25" ma:contentTypeDescription="Create a new document." ma:contentTypeScope="" ma:versionID="9dee1bf899079b184d8cd08041495969">
  <xsd:schema xmlns:xsd="http://www.w3.org/2001/XMLSchema" xmlns:xs="http://www.w3.org/2001/XMLSchema" xmlns:p="http://schemas.microsoft.com/office/2006/metadata/properties" xmlns:ns1="http://schemas.microsoft.com/sharepoint/v3" xmlns:ns2="207f1ff3-1f77-40fd-ad5b-9d6ae8cfe6f8" xmlns:ns3="74083ff3-901d-4a80-b854-a128eee5eee4" targetNamespace="http://schemas.microsoft.com/office/2006/metadata/properties" ma:root="true" ma:fieldsID="b903f4083474ff0c952f8f1f368f6c56" ns1:_="" ns2:_="" ns3:_="">
    <xsd:import namespace="http://schemas.microsoft.com/sharepoint/v3"/>
    <xsd:import namespace="207f1ff3-1f77-40fd-ad5b-9d6ae8cfe6f8"/>
    <xsd:import namespace="74083ff3-901d-4a80-b854-a128eee5eee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DateTaken" minOccurs="0"/>
                <xsd:element ref="ns3:MediaServiceLocation"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Dashboardview" minOccurs="0"/>
                <xsd:element ref="ns3:Team" minOccurs="0"/>
                <xsd:element ref="ns3:MediaLengthInSeconds" minOccurs="0"/>
                <xsd:element ref="ns1:_ip_UnifiedCompliancePolicyProperties" minOccurs="0"/>
                <xsd:element ref="ns1:_ip_UnifiedCompliancePolicyUIAction" minOccurs="0"/>
                <xsd:element ref="ns3:lcf76f155ced4ddcb4097134ff3c332f" minOccurs="0"/>
                <xsd:element ref="ns2:TaxCatchAll" minOccurs="0"/>
                <xsd:element ref="ns3:MediaServiceObjectDetectorVersions" minOccurs="0"/>
                <xsd:element ref="ns3:MediaServiceSearchProperties" minOccurs="0"/>
                <xsd:element ref="ns3:MediaServiceBillingMetadata" minOccurs="0"/>
                <xsd:element ref="ns3:Sales_x0020_Assets" minOccurs="0"/>
                <xsd:element ref="ns3:Depart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7f1ff3-1f77-40fd-ad5b-9d6ae8cfe6f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27" nillable="true" ma:displayName="Taxonomy Catch All Column" ma:hidden="true" ma:list="{b14cb109-3faf-4295-a09d-03433ead41c6}" ma:internalName="TaxCatchAll" ma:showField="CatchAllData" ma:web="207f1ff3-1f77-40fd-ad5b-9d6ae8cfe6f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4083ff3-901d-4a80-b854-a128eee5eee4"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AutoTags" ma:index="12" nillable="true" ma:displayName="MediaServiceAutoTags" ma:description="" ma:internalName="MediaServiceAutoTags" ma:readOnly="true">
      <xsd:simpleType>
        <xsd:restriction base="dms:Text"/>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Dashboardview" ma:index="20" nillable="true" ma:displayName="Dashboard view" ma:format="Dropdown" ma:internalName="Dashboardview">
      <xsd:simpleType>
        <xsd:restriction base="dms:Choice">
          <xsd:enumeration value="Yes"/>
          <xsd:enumeration value="No"/>
        </xsd:restriction>
      </xsd:simpleType>
    </xsd:element>
    <xsd:element name="Team" ma:index="21" nillable="true" ma:displayName="Team " ma:format="Dropdown" ma:internalName="Team">
      <xsd:simpleType>
        <xsd:restriction base="dms:Choice">
          <xsd:enumeration value="IT"/>
          <xsd:enumeration value="Infra"/>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06b8eabe-3e4c-4b59-81cb-ab0a37b0a08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Sales_x0020_Assets" ma:index="31" nillable="true" ma:displayName="Sales Assets" ma:default="0" ma:description="Shared Sales Assets" ma:indexed="true" ma:internalName="Sales_x0020_Assets">
      <xsd:simpleType>
        <xsd:restriction base="dms:Boolean"/>
      </xsd:simpleType>
    </xsd:element>
    <xsd:element name="Department" ma:index="32" nillable="true" ma:displayName="Department" ma:default="Marketing" ma:format="Dropdown" ma:indexed="true" ma:internalName="Department">
      <xsd:simpleType>
        <xsd:restriction base="dms:Choice">
          <xsd:enumeration value="Marketing"/>
          <xsd:enumeration value="Legal"/>
          <xsd:enumeration value="Sales"/>
          <xsd:enumeration value="Sales Eng"/>
          <xsd:enumeration value="Finance"/>
          <xsd:enumeration value="R&amp;D"/>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6A8DA9-D201-45DD-A660-CABF16868DCC}">
  <ds:schemaRefs>
    <ds:schemaRef ds:uri="207f1ff3-1f77-40fd-ad5b-9d6ae8cfe6f8"/>
    <ds:schemaRef ds:uri="74083ff3-901d-4a80-b854-a128eee5eee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9BFCF45-68C4-47F9-A6B2-E16BB4835E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07f1ff3-1f77-40fd-ad5b-9d6ae8cfe6f8"/>
    <ds:schemaRef ds:uri="74083ff3-901d-4a80-b854-a128eee5ee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65DF118-5329-4FBE-A597-4D7C3C60887E}">
  <ds:schemaRefs>
    <ds:schemaRef ds:uri="http://schemas.microsoft.com/sharepoint/v3/contenttype/forms"/>
  </ds:schemaRefs>
</ds:datastoreItem>
</file>

<file path=docMetadata/LabelInfo.xml><?xml version="1.0" encoding="utf-8"?>
<clbl:labelList xmlns:clbl="http://schemas.microsoft.com/office/2020/mipLabelMetadata">
  <clbl:label id="{994f176e-6775-4954-9f9e-0c719b5e9ca0}" enabled="0" method="" siteId="{994f176e-6775-4954-9f9e-0c719b5e9ca0}" removed="1"/>
</clbl:labelList>
</file>

<file path=docProps/app.xml><?xml version="1.0" encoding="utf-8"?>
<Properties xmlns="http://schemas.openxmlformats.org/officeDocument/2006/extended-properties" xmlns:vt="http://schemas.openxmlformats.org/officeDocument/2006/docPropsVTypes">
  <Template>TEMPLATE with images - March 2023</Template>
  <TotalTime>24517</TotalTime>
  <Words>7735</Words>
  <Application>Microsoft Office PowerPoint</Application>
  <PresentationFormat>Widescreen</PresentationFormat>
  <Paragraphs>835</Paragraphs>
  <Slides>87</Slides>
  <Notes>26</Notes>
  <HiddenSlides>0</HiddenSlides>
  <MMClips>0</MMClips>
  <ScaleCrop>false</ScaleCrop>
  <HeadingPairs>
    <vt:vector size="4" baseType="variant">
      <vt:variant>
        <vt:lpstr>Theme</vt:lpstr>
      </vt:variant>
      <vt:variant>
        <vt:i4>1</vt:i4>
      </vt:variant>
      <vt:variant>
        <vt:lpstr>Slide Titles</vt:lpstr>
      </vt:variant>
      <vt:variant>
        <vt:i4>87</vt:i4>
      </vt:variant>
    </vt:vector>
  </HeadingPairs>
  <TitlesOfParts>
    <vt:vector size="88" baseType="lpstr">
      <vt:lpstr>2_Office Theme</vt:lpstr>
      <vt:lpstr> Course 3 BW Actors  </vt:lpstr>
      <vt:lpstr>Agenda</vt:lpstr>
      <vt:lpstr>BW – DB Actors </vt:lpstr>
      <vt:lpstr>BW – DB Actors </vt:lpstr>
      <vt:lpstr>BW – DB Actors </vt:lpstr>
      <vt:lpstr>BW – Fabric Actors </vt:lpstr>
      <vt:lpstr>JavaScript</vt:lpstr>
      <vt:lpstr>JavaScript</vt:lpstr>
      <vt:lpstr>Control Flows: Stage Conditions</vt:lpstr>
      <vt:lpstr>Control Flows: Conditions Actors</vt:lpstr>
      <vt:lpstr>Control Flows: ElseIf Stage Condition (v8.0+)</vt:lpstr>
      <vt:lpstr>Control Flows: ElseIf Stage Condition (v8.0+)</vt:lpstr>
      <vt:lpstr>Control Flows: Merged Stage</vt:lpstr>
      <vt:lpstr>Control Flows: Merged Stage - "Break" Behavior</vt:lpstr>
      <vt:lpstr>Control Flows: Condition Branch</vt:lpstr>
      <vt:lpstr>Control Flows: Loops and Iterations</vt:lpstr>
      <vt:lpstr>Iterations </vt:lpstr>
      <vt:lpstr>ForLoop</vt:lpstr>
      <vt:lpstr>While</vt:lpstr>
      <vt:lpstr>ForEach</vt:lpstr>
      <vt:lpstr>Controlling Loop Behaviour</vt:lpstr>
      <vt:lpstr>String Operations</vt:lpstr>
      <vt:lpstr>Concatenation and Length</vt:lpstr>
      <vt:lpstr>Case Conversion &amp; Trimming</vt:lpstr>
      <vt:lpstr>Substring Operations</vt:lpstr>
      <vt:lpstr>Padding and Replacement</vt:lpstr>
      <vt:lpstr>Split and StringBuild</vt:lpstr>
      <vt:lpstr>StringFormat and ToString</vt:lpstr>
      <vt:lpstr>RegEx and NewLine</vt:lpstr>
      <vt:lpstr>Date Utilities</vt:lpstr>
      <vt:lpstr>Date Construction &amp; Decomposition</vt:lpstr>
      <vt:lpstr>Current Date, Date Arithmetic &amp; Duration</vt:lpstr>
      <vt:lpstr>Date Formatting &amp; Parsing</vt:lpstr>
      <vt:lpstr>Collections – Maps &amp; Arrays</vt:lpstr>
      <vt:lpstr>Maps</vt:lpstr>
      <vt:lpstr>Maps</vt:lpstr>
      <vt:lpstr>Maps</vt:lpstr>
      <vt:lpstr>Maps</vt:lpstr>
      <vt:lpstr>Arrays</vt:lpstr>
      <vt:lpstr>Arrays</vt:lpstr>
      <vt:lpstr>Arrays</vt:lpstr>
      <vt:lpstr>Arrays</vt:lpstr>
      <vt:lpstr>Arrays</vt:lpstr>
      <vt:lpstr>Collection Data Manipulation</vt:lpstr>
      <vt:lpstr>Collection Data Manipulation</vt:lpstr>
      <vt:lpstr>Collection Data Manipulation</vt:lpstr>
      <vt:lpstr>Collection Data Manipulation</vt:lpstr>
      <vt:lpstr>Collection Data Manipulation</vt:lpstr>
      <vt:lpstr>Collection Data Manipulation</vt:lpstr>
      <vt:lpstr>Collection Data Manipulation</vt:lpstr>
      <vt:lpstr>Parser &amp; Stringify</vt:lpstr>
      <vt:lpstr>Json Parsing &amp; Stringifying</vt:lpstr>
      <vt:lpstr>Json Parsing &amp; Stringifying</vt:lpstr>
      <vt:lpstr>Yaml Parsing &amp; Stringifying</vt:lpstr>
      <vt:lpstr>XML Parsing &amp; Stringifying</vt:lpstr>
      <vt:lpstr>CSV Parsing &amp; Builder</vt:lpstr>
      <vt:lpstr>CSV Parsing &amp; Builder</vt:lpstr>
      <vt:lpstr>Inner Flows</vt:lpstr>
      <vt:lpstr>InnerFlowAsync</vt:lpstr>
      <vt:lpstr>InnerFlowAsync - output</vt:lpstr>
      <vt:lpstr>InnerFlowJoin</vt:lpstr>
      <vt:lpstr>InnerFlowSession</vt:lpstr>
      <vt:lpstr>Pubsub</vt:lpstr>
      <vt:lpstr>PubSub Configuration</vt:lpstr>
      <vt:lpstr>PubSub Configuration</vt:lpstr>
      <vt:lpstr>PubSub Configuration</vt:lpstr>
      <vt:lpstr>PubSub Configuration</vt:lpstr>
      <vt:lpstr>PubSub Actors</vt:lpstr>
      <vt:lpstr>PubSub Actors</vt:lpstr>
      <vt:lpstr>Stream</vt:lpstr>
      <vt:lpstr>Streams</vt:lpstr>
      <vt:lpstr>Streams</vt:lpstr>
      <vt:lpstr>Http</vt:lpstr>
      <vt:lpstr>Http</vt:lpstr>
      <vt:lpstr>Streams</vt:lpstr>
      <vt:lpstr>Streams</vt:lpstr>
      <vt:lpstr>Streams</vt:lpstr>
      <vt:lpstr>System</vt:lpstr>
      <vt:lpstr>System</vt:lpstr>
      <vt:lpstr>System</vt:lpstr>
      <vt:lpstr>System</vt:lpstr>
      <vt:lpstr>System</vt:lpstr>
      <vt:lpstr>System</vt:lpstr>
      <vt:lpstr>System</vt:lpstr>
      <vt:lpstr>System</vt:lpstr>
      <vt:lpstr>System</vt:lpstr>
      <vt:lpstr>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Tal Levinkron</dc:creator>
  <cp:lastModifiedBy>Shani Rotem</cp:lastModifiedBy>
  <cp:revision>11</cp:revision>
  <dcterms:created xsi:type="dcterms:W3CDTF">2024-02-21T10:22:58Z</dcterms:created>
  <dcterms:modified xsi:type="dcterms:W3CDTF">2026-04-09T18:37:22Z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0x010100B857D32277AC8A4EB3BE59077C9D6D08</vt:lpwstr>
  </property>
  <property fmtid="{D5CDD505-2E9C-101B-9397-08002B2CF9AE}" pid="3" name="MediaServiceImageTags">
    <vt:lpwstr/>
  </property>
</Properties>
</file>