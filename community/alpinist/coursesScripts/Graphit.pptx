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5"/>
  </p:notesMasterIdLst>
  <p:sldIdLst>
    <p:sldId id="2147472508" r:id="rId5"/>
    <p:sldId id="2144327533" r:id="rId6"/>
    <p:sldId id="2147472609" r:id="rId7"/>
    <p:sldId id="2147472613" r:id="rId8"/>
    <p:sldId id="2147472612" r:id="rId9"/>
    <p:sldId id="2147472614" r:id="rId10"/>
    <p:sldId id="2147472615" r:id="rId11"/>
    <p:sldId id="2147472633" r:id="rId12"/>
    <p:sldId id="2147472616" r:id="rId13"/>
    <p:sldId id="2147472617" r:id="rId14"/>
    <p:sldId id="2147472632" r:id="rId15"/>
    <p:sldId id="2147472620" r:id="rId16"/>
    <p:sldId id="2147472619" r:id="rId17"/>
    <p:sldId id="2147472621" r:id="rId18"/>
    <p:sldId id="2147472622" r:id="rId19"/>
    <p:sldId id="2147472629" r:id="rId20"/>
    <p:sldId id="2147472631" r:id="rId21"/>
    <p:sldId id="2147472634" r:id="rId22"/>
    <p:sldId id="2147472637" r:id="rId23"/>
    <p:sldId id="2147472638" r:id="rId24"/>
    <p:sldId id="2147472630" r:id="rId25"/>
    <p:sldId id="2147472624" r:id="rId26"/>
    <p:sldId id="2147472639" r:id="rId27"/>
    <p:sldId id="2147472623" r:id="rId28"/>
    <p:sldId id="2147472641" r:id="rId29"/>
    <p:sldId id="2147472640" r:id="rId30"/>
    <p:sldId id="2147472642" r:id="rId31"/>
    <p:sldId id="2147472627" r:id="rId32"/>
    <p:sldId id="2147472610" r:id="rId33"/>
    <p:sldId id="2147472636" r:id="rId34"/>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EFACAC-067D-45A3-A8E2-AD5088EA945C}">
          <p14:sldIdLst>
            <p14:sldId id="2147472508"/>
            <p14:sldId id="2144327533"/>
            <p14:sldId id="2147472609"/>
            <p14:sldId id="2147472613"/>
            <p14:sldId id="2147472612"/>
            <p14:sldId id="2147472614"/>
            <p14:sldId id="2147472615"/>
            <p14:sldId id="2147472633"/>
            <p14:sldId id="2147472616"/>
            <p14:sldId id="2147472617"/>
            <p14:sldId id="2147472632"/>
            <p14:sldId id="2147472620"/>
            <p14:sldId id="2147472619"/>
            <p14:sldId id="2147472621"/>
            <p14:sldId id="2147472622"/>
            <p14:sldId id="2147472629"/>
            <p14:sldId id="2147472631"/>
            <p14:sldId id="2147472634"/>
            <p14:sldId id="2147472637"/>
            <p14:sldId id="2147472638"/>
            <p14:sldId id="2147472630"/>
            <p14:sldId id="2147472624"/>
            <p14:sldId id="2147472639"/>
            <p14:sldId id="2147472623"/>
            <p14:sldId id="2147472641"/>
            <p14:sldId id="2147472640"/>
            <p14:sldId id="2147472642"/>
            <p14:sldId id="2147472627"/>
            <p14:sldId id="2147472610"/>
            <p14:sldId id="21474726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AE2"/>
    <a:srgbClr val="ECE0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589"/>
  </p:normalViewPr>
  <p:slideViewPr>
    <p:cSldViewPr snapToGrid="0">
      <p:cViewPr>
        <p:scale>
          <a:sx n="70" d="100"/>
          <a:sy n="70" d="100"/>
        </p:scale>
        <p:origin x="72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3F75B-7228-48BC-9683-90948C293748}"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9409D-F537-4CCC-A32D-DA5DDF242412}" type="slidenum">
              <a:rPr lang="en-US" smtClean="0"/>
              <a:t>‹#›</a:t>
            </a:fld>
            <a:endParaRPr lang="en-US"/>
          </a:p>
        </p:txBody>
      </p:sp>
    </p:spTree>
    <p:extLst>
      <p:ext uri="{BB962C8B-B14F-4D97-AF65-F5344CB8AC3E}">
        <p14:creationId xmlns:p14="http://schemas.microsoft.com/office/powerpoint/2010/main" val="743483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29409D-F537-4CCC-A32D-DA5DDF242412}" type="slidenum">
              <a:rPr lang="en-US" smtClean="0"/>
              <a:t>1</a:t>
            </a:fld>
            <a:endParaRPr lang="en-US"/>
          </a:p>
        </p:txBody>
      </p:sp>
    </p:spTree>
    <p:extLst>
      <p:ext uri="{BB962C8B-B14F-4D97-AF65-F5344CB8AC3E}">
        <p14:creationId xmlns:p14="http://schemas.microsoft.com/office/powerpoint/2010/main" val="2955446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8929409D-F537-4CCC-A32D-DA5DDF242412}" type="slidenum">
              <a:rPr lang="en-US" smtClean="0"/>
              <a:t>3</a:t>
            </a:fld>
            <a:endParaRPr lang="en-US"/>
          </a:p>
        </p:txBody>
      </p:sp>
    </p:spTree>
    <p:extLst>
      <p:ext uri="{BB962C8B-B14F-4D97-AF65-F5344CB8AC3E}">
        <p14:creationId xmlns:p14="http://schemas.microsoft.com/office/powerpoint/2010/main" val="400795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C0FCE-158C-6079-FBB9-3633B7497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AAAA8-F0FB-7AB9-DFB4-DFA7030873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2AEAB-0EBF-4D10-078C-9EECB5C13CF6}"/>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4D594D16-0BC7-FF20-0268-4A53CDCEF859}"/>
              </a:ext>
            </a:extLst>
          </p:cNvPr>
          <p:cNvSpPr>
            <a:spLocks noGrp="1"/>
          </p:cNvSpPr>
          <p:nvPr>
            <p:ph type="sldNum" sz="quarter" idx="5"/>
          </p:nvPr>
        </p:nvSpPr>
        <p:spPr/>
        <p:txBody>
          <a:bodyPr/>
          <a:lstStyle/>
          <a:p>
            <a:fld id="{8929409D-F537-4CCC-A32D-DA5DDF242412}" type="slidenum">
              <a:rPr lang="en-US" smtClean="0"/>
              <a:t>4</a:t>
            </a:fld>
            <a:endParaRPr lang="en-US"/>
          </a:p>
        </p:txBody>
      </p:sp>
    </p:spTree>
    <p:extLst>
      <p:ext uri="{BB962C8B-B14F-4D97-AF65-F5344CB8AC3E}">
        <p14:creationId xmlns:p14="http://schemas.microsoft.com/office/powerpoint/2010/main" val="451411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DD2C-29AE-281B-4ADD-DD5D3EC7C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344F2-C81B-31ED-C458-0604D59E9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3DBC6-843B-B70D-6A36-64D8C66D6582}"/>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ED97C3A-7954-7F0F-68AB-3D8B5BC02121}"/>
              </a:ext>
            </a:extLst>
          </p:cNvPr>
          <p:cNvSpPr>
            <a:spLocks noGrp="1"/>
          </p:cNvSpPr>
          <p:nvPr>
            <p:ph type="sldNum" sz="quarter" idx="5"/>
          </p:nvPr>
        </p:nvSpPr>
        <p:spPr/>
        <p:txBody>
          <a:bodyPr/>
          <a:lstStyle/>
          <a:p>
            <a:fld id="{8929409D-F537-4CCC-A32D-DA5DDF242412}" type="slidenum">
              <a:rPr lang="en-US" smtClean="0"/>
              <a:t>5</a:t>
            </a:fld>
            <a:endParaRPr lang="en-US"/>
          </a:p>
        </p:txBody>
      </p:sp>
    </p:spTree>
    <p:extLst>
      <p:ext uri="{BB962C8B-B14F-4D97-AF65-F5344CB8AC3E}">
        <p14:creationId xmlns:p14="http://schemas.microsoft.com/office/powerpoint/2010/main" val="1631397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39535-F88B-8AD1-9F06-26A469E82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4852A-7B9B-FFF8-AE57-D098F6221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2B210-521B-222A-41BF-71A5F2BDF992}"/>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3BBD4EAE-B1C7-5CBD-97C9-5B29762B2E88}"/>
              </a:ext>
            </a:extLst>
          </p:cNvPr>
          <p:cNvSpPr>
            <a:spLocks noGrp="1"/>
          </p:cNvSpPr>
          <p:nvPr>
            <p:ph type="sldNum" sz="quarter" idx="5"/>
          </p:nvPr>
        </p:nvSpPr>
        <p:spPr/>
        <p:txBody>
          <a:bodyPr/>
          <a:lstStyle/>
          <a:p>
            <a:fld id="{8929409D-F537-4CCC-A32D-DA5DDF242412}" type="slidenum">
              <a:rPr lang="en-US" smtClean="0"/>
              <a:t>6</a:t>
            </a:fld>
            <a:endParaRPr lang="en-US"/>
          </a:p>
        </p:txBody>
      </p:sp>
    </p:spTree>
    <p:extLst>
      <p:ext uri="{BB962C8B-B14F-4D97-AF65-F5344CB8AC3E}">
        <p14:creationId xmlns:p14="http://schemas.microsoft.com/office/powerpoint/2010/main" val="335679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A5D10-9D17-C8D7-58F2-99A7012F1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CE615-1DE3-B3EB-FA31-C52D7778F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62FD5-5610-5DC7-B2DD-0F3067A9A8E1}"/>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F919BB4E-8664-CA14-1891-C5D72A531F64}"/>
              </a:ext>
            </a:extLst>
          </p:cNvPr>
          <p:cNvSpPr>
            <a:spLocks noGrp="1"/>
          </p:cNvSpPr>
          <p:nvPr>
            <p:ph type="sldNum" sz="quarter" idx="5"/>
          </p:nvPr>
        </p:nvSpPr>
        <p:spPr/>
        <p:txBody>
          <a:bodyPr/>
          <a:lstStyle/>
          <a:p>
            <a:fld id="{8929409D-F537-4CCC-A32D-DA5DDF242412}" type="slidenum">
              <a:rPr lang="en-US" smtClean="0"/>
              <a:t>7</a:t>
            </a:fld>
            <a:endParaRPr lang="en-US"/>
          </a:p>
        </p:txBody>
      </p:sp>
    </p:spTree>
    <p:extLst>
      <p:ext uri="{BB962C8B-B14F-4D97-AF65-F5344CB8AC3E}">
        <p14:creationId xmlns:p14="http://schemas.microsoft.com/office/powerpoint/2010/main" val="1976254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D2C4D-8F95-C8C8-0A19-9D89CCCB7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EECAA-0DE3-4075-3A4E-644FCCCE8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076D1-EA01-0D93-7F3F-908D785D11E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435A20C-DEC1-6B02-7D06-7297CBFF8C45}"/>
              </a:ext>
            </a:extLst>
          </p:cNvPr>
          <p:cNvSpPr>
            <a:spLocks noGrp="1"/>
          </p:cNvSpPr>
          <p:nvPr>
            <p:ph type="sldNum" sz="quarter" idx="5"/>
          </p:nvPr>
        </p:nvSpPr>
        <p:spPr/>
        <p:txBody>
          <a:bodyPr/>
          <a:lstStyle/>
          <a:p>
            <a:fld id="{8929409D-F537-4CCC-A32D-DA5DDF242412}" type="slidenum">
              <a:rPr lang="en-US" smtClean="0"/>
              <a:t>8</a:t>
            </a:fld>
            <a:endParaRPr lang="en-US"/>
          </a:p>
        </p:txBody>
      </p:sp>
    </p:spTree>
    <p:extLst>
      <p:ext uri="{BB962C8B-B14F-4D97-AF65-F5344CB8AC3E}">
        <p14:creationId xmlns:p14="http://schemas.microsoft.com/office/powerpoint/2010/main" val="364199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12E99-5BBF-22FC-0A91-2F426AB9F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F5352-5BD0-5B98-06A4-B322806B4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3ECDC-F459-EF99-ADFA-D664E291721D}"/>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7ECDF94B-6186-FA2B-F821-5DDBB5DFB56D}"/>
              </a:ext>
            </a:extLst>
          </p:cNvPr>
          <p:cNvSpPr>
            <a:spLocks noGrp="1"/>
          </p:cNvSpPr>
          <p:nvPr>
            <p:ph type="sldNum" sz="quarter" idx="5"/>
          </p:nvPr>
        </p:nvSpPr>
        <p:spPr/>
        <p:txBody>
          <a:bodyPr/>
          <a:lstStyle/>
          <a:p>
            <a:fld id="{8929409D-F537-4CCC-A32D-DA5DDF242412}" type="slidenum">
              <a:rPr lang="en-US" smtClean="0"/>
              <a:t>9</a:t>
            </a:fld>
            <a:endParaRPr lang="en-US"/>
          </a:p>
        </p:txBody>
      </p:sp>
    </p:spTree>
    <p:extLst>
      <p:ext uri="{BB962C8B-B14F-4D97-AF65-F5344CB8AC3E}">
        <p14:creationId xmlns:p14="http://schemas.microsoft.com/office/powerpoint/2010/main" val="2937481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B8FA-938F-54BF-0D47-C35BFA63A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3946C-80C4-EAA5-5005-716263492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B67B5-86C6-0FF0-6FE9-39D67F4EECCB}"/>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B623EEE1-E610-3C1D-F6D3-D169E2BFAFC2}"/>
              </a:ext>
            </a:extLst>
          </p:cNvPr>
          <p:cNvSpPr>
            <a:spLocks noGrp="1"/>
          </p:cNvSpPr>
          <p:nvPr>
            <p:ph type="sldNum" sz="quarter" idx="5"/>
          </p:nvPr>
        </p:nvSpPr>
        <p:spPr/>
        <p:txBody>
          <a:bodyPr/>
          <a:lstStyle/>
          <a:p>
            <a:fld id="{8929409D-F537-4CCC-A32D-DA5DDF242412}" type="slidenum">
              <a:rPr lang="en-US" smtClean="0"/>
              <a:t>10</a:t>
            </a:fld>
            <a:endParaRPr lang="en-US"/>
          </a:p>
        </p:txBody>
      </p:sp>
    </p:spTree>
    <p:extLst>
      <p:ext uri="{BB962C8B-B14F-4D97-AF65-F5344CB8AC3E}">
        <p14:creationId xmlns:p14="http://schemas.microsoft.com/office/powerpoint/2010/main" val="1420530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57C9A-C6DD-755D-B17B-9517792F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45FB4-8DB4-1271-9C76-6B34BC45D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BE80C-C00A-867C-16B5-F837AFFB5B08}"/>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455365A1-5F27-52C1-B932-528CE07C2CDE}"/>
              </a:ext>
            </a:extLst>
          </p:cNvPr>
          <p:cNvSpPr>
            <a:spLocks noGrp="1"/>
          </p:cNvSpPr>
          <p:nvPr>
            <p:ph type="sldNum" sz="quarter" idx="5"/>
          </p:nvPr>
        </p:nvSpPr>
        <p:spPr/>
        <p:txBody>
          <a:bodyPr/>
          <a:lstStyle/>
          <a:p>
            <a:fld id="{8929409D-F537-4CCC-A32D-DA5DDF242412}" type="slidenum">
              <a:rPr lang="en-US" smtClean="0"/>
              <a:t>11</a:t>
            </a:fld>
            <a:endParaRPr lang="en-US"/>
          </a:p>
        </p:txBody>
      </p:sp>
    </p:spTree>
    <p:extLst>
      <p:ext uri="{BB962C8B-B14F-4D97-AF65-F5344CB8AC3E}">
        <p14:creationId xmlns:p14="http://schemas.microsoft.com/office/powerpoint/2010/main" val="1615202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E626A-12E0-4A7F-7E0A-1D84B54D9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459BD-C8EB-999C-8079-AE00A7D37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57181-5A52-C274-8EE8-F281A52CAEDA}"/>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6BC08858-45C1-40AC-D474-1ED46E11989C}"/>
              </a:ext>
            </a:extLst>
          </p:cNvPr>
          <p:cNvSpPr>
            <a:spLocks noGrp="1"/>
          </p:cNvSpPr>
          <p:nvPr>
            <p:ph type="sldNum" sz="quarter" idx="5"/>
          </p:nvPr>
        </p:nvSpPr>
        <p:spPr/>
        <p:txBody>
          <a:bodyPr/>
          <a:lstStyle/>
          <a:p>
            <a:fld id="{8929409D-F537-4CCC-A32D-DA5DDF242412}" type="slidenum">
              <a:rPr lang="en-US" smtClean="0"/>
              <a:t>12</a:t>
            </a:fld>
            <a:endParaRPr lang="en-US"/>
          </a:p>
        </p:txBody>
      </p:sp>
    </p:spTree>
    <p:extLst>
      <p:ext uri="{BB962C8B-B14F-4D97-AF65-F5344CB8AC3E}">
        <p14:creationId xmlns:p14="http://schemas.microsoft.com/office/powerpoint/2010/main" val="1469018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E85F-1968-6737-65A0-5F117F5A7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4F649-C5FB-B1E0-91F1-37250F387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188AD-B11B-155A-01EF-F3C1E3DAAAFB}"/>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136B2D9C-94FD-B506-59AC-87770B0ABF2D}"/>
              </a:ext>
            </a:extLst>
          </p:cNvPr>
          <p:cNvSpPr>
            <a:spLocks noGrp="1"/>
          </p:cNvSpPr>
          <p:nvPr>
            <p:ph type="sldNum" sz="quarter" idx="5"/>
          </p:nvPr>
        </p:nvSpPr>
        <p:spPr/>
        <p:txBody>
          <a:bodyPr/>
          <a:lstStyle/>
          <a:p>
            <a:fld id="{8929409D-F537-4CCC-A32D-DA5DDF242412}" type="slidenum">
              <a:rPr lang="en-US" smtClean="0"/>
              <a:t>13</a:t>
            </a:fld>
            <a:endParaRPr lang="en-US"/>
          </a:p>
        </p:txBody>
      </p:sp>
    </p:spTree>
    <p:extLst>
      <p:ext uri="{BB962C8B-B14F-4D97-AF65-F5344CB8AC3E}">
        <p14:creationId xmlns:p14="http://schemas.microsoft.com/office/powerpoint/2010/main" val="4250553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814C-9687-1D4C-D990-336A1D3FE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CFF3B-7E66-8EC4-A9F3-0B04B9572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AE3B5-7B4A-581F-1AB3-7CF5FEDCC940}"/>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E7D752E-FE3C-D0F4-DA46-E1C021F84540}"/>
              </a:ext>
            </a:extLst>
          </p:cNvPr>
          <p:cNvSpPr>
            <a:spLocks noGrp="1"/>
          </p:cNvSpPr>
          <p:nvPr>
            <p:ph type="sldNum" sz="quarter" idx="5"/>
          </p:nvPr>
        </p:nvSpPr>
        <p:spPr/>
        <p:txBody>
          <a:bodyPr/>
          <a:lstStyle/>
          <a:p>
            <a:fld id="{8929409D-F537-4CCC-A32D-DA5DDF242412}" type="slidenum">
              <a:rPr lang="en-US" smtClean="0"/>
              <a:t>14</a:t>
            </a:fld>
            <a:endParaRPr lang="en-US"/>
          </a:p>
        </p:txBody>
      </p:sp>
    </p:spTree>
    <p:extLst>
      <p:ext uri="{BB962C8B-B14F-4D97-AF65-F5344CB8AC3E}">
        <p14:creationId xmlns:p14="http://schemas.microsoft.com/office/powerpoint/2010/main" val="4067514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2F085-A953-1F86-0584-C3268BF42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D4F0C-B995-301B-85A3-D7524869E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8ECF5-43FD-02B9-F181-F459140C0609}"/>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B7CEED57-67CD-04AB-1CD0-87F6D517EF4B}"/>
              </a:ext>
            </a:extLst>
          </p:cNvPr>
          <p:cNvSpPr>
            <a:spLocks noGrp="1"/>
          </p:cNvSpPr>
          <p:nvPr>
            <p:ph type="sldNum" sz="quarter" idx="5"/>
          </p:nvPr>
        </p:nvSpPr>
        <p:spPr/>
        <p:txBody>
          <a:bodyPr/>
          <a:lstStyle/>
          <a:p>
            <a:fld id="{8929409D-F537-4CCC-A32D-DA5DDF242412}" type="slidenum">
              <a:rPr lang="en-US" smtClean="0"/>
              <a:t>15</a:t>
            </a:fld>
            <a:endParaRPr lang="en-US"/>
          </a:p>
        </p:txBody>
      </p:sp>
    </p:spTree>
    <p:extLst>
      <p:ext uri="{BB962C8B-B14F-4D97-AF65-F5344CB8AC3E}">
        <p14:creationId xmlns:p14="http://schemas.microsoft.com/office/powerpoint/2010/main" val="883325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A3084-16A5-A2B1-E493-532CACA5A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48A72-C0D4-BE32-EA57-0BEC62B1D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70511-0068-53A1-4025-2E0ACBF95E52}"/>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F8B71EC1-15BB-1F06-CD70-27A70DD04F6D}"/>
              </a:ext>
            </a:extLst>
          </p:cNvPr>
          <p:cNvSpPr>
            <a:spLocks noGrp="1"/>
          </p:cNvSpPr>
          <p:nvPr>
            <p:ph type="sldNum" sz="quarter" idx="5"/>
          </p:nvPr>
        </p:nvSpPr>
        <p:spPr/>
        <p:txBody>
          <a:bodyPr/>
          <a:lstStyle/>
          <a:p>
            <a:fld id="{8929409D-F537-4CCC-A32D-DA5DDF242412}" type="slidenum">
              <a:rPr lang="en-US" smtClean="0"/>
              <a:t>16</a:t>
            </a:fld>
            <a:endParaRPr lang="en-US"/>
          </a:p>
        </p:txBody>
      </p:sp>
    </p:spTree>
    <p:extLst>
      <p:ext uri="{BB962C8B-B14F-4D97-AF65-F5344CB8AC3E}">
        <p14:creationId xmlns:p14="http://schemas.microsoft.com/office/powerpoint/2010/main" val="1025045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D2EFD-6BFD-4D73-C281-92C614FE3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89897-6048-CC5E-8A2C-DDE4D869F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503C2-1300-4CC4-12B3-3392ACF6FA06}"/>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E978CA3C-05EF-C6E5-D24C-6FF4ACE24F72}"/>
              </a:ext>
            </a:extLst>
          </p:cNvPr>
          <p:cNvSpPr>
            <a:spLocks noGrp="1"/>
          </p:cNvSpPr>
          <p:nvPr>
            <p:ph type="sldNum" sz="quarter" idx="5"/>
          </p:nvPr>
        </p:nvSpPr>
        <p:spPr/>
        <p:txBody>
          <a:bodyPr/>
          <a:lstStyle/>
          <a:p>
            <a:fld id="{8929409D-F537-4CCC-A32D-DA5DDF242412}" type="slidenum">
              <a:rPr lang="en-US" smtClean="0"/>
              <a:t>17</a:t>
            </a:fld>
            <a:endParaRPr lang="en-US"/>
          </a:p>
        </p:txBody>
      </p:sp>
    </p:spTree>
    <p:extLst>
      <p:ext uri="{BB962C8B-B14F-4D97-AF65-F5344CB8AC3E}">
        <p14:creationId xmlns:p14="http://schemas.microsoft.com/office/powerpoint/2010/main" val="1304832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802AC-5A04-B5C5-3B86-5DD6BA256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D08ED-D081-6E6E-F25C-73F8FC3D3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73944-8EF9-2AF0-02BC-FB265D4EC0EE}"/>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3A96EA34-8A14-E72B-AD12-256FFBBD8300}"/>
              </a:ext>
            </a:extLst>
          </p:cNvPr>
          <p:cNvSpPr>
            <a:spLocks noGrp="1"/>
          </p:cNvSpPr>
          <p:nvPr>
            <p:ph type="sldNum" sz="quarter" idx="5"/>
          </p:nvPr>
        </p:nvSpPr>
        <p:spPr/>
        <p:txBody>
          <a:bodyPr/>
          <a:lstStyle/>
          <a:p>
            <a:fld id="{8929409D-F537-4CCC-A32D-DA5DDF242412}" type="slidenum">
              <a:rPr lang="en-US" smtClean="0"/>
              <a:t>18</a:t>
            </a:fld>
            <a:endParaRPr lang="en-US"/>
          </a:p>
        </p:txBody>
      </p:sp>
    </p:spTree>
    <p:extLst>
      <p:ext uri="{BB962C8B-B14F-4D97-AF65-F5344CB8AC3E}">
        <p14:creationId xmlns:p14="http://schemas.microsoft.com/office/powerpoint/2010/main" val="3436756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6739-CB55-52AF-9548-DF9B9B37B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1714C-4537-0F11-3911-1D5E65E4B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99BB8-E189-A9DF-9E92-44DB30A66AFD}"/>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58D62BDA-ACA8-7ED9-509C-19DFE187D723}"/>
              </a:ext>
            </a:extLst>
          </p:cNvPr>
          <p:cNvSpPr>
            <a:spLocks noGrp="1"/>
          </p:cNvSpPr>
          <p:nvPr>
            <p:ph type="sldNum" sz="quarter" idx="5"/>
          </p:nvPr>
        </p:nvSpPr>
        <p:spPr/>
        <p:txBody>
          <a:bodyPr/>
          <a:lstStyle/>
          <a:p>
            <a:fld id="{8929409D-F537-4CCC-A32D-DA5DDF242412}" type="slidenum">
              <a:rPr lang="en-US" smtClean="0"/>
              <a:t>19</a:t>
            </a:fld>
            <a:endParaRPr lang="en-US"/>
          </a:p>
        </p:txBody>
      </p:sp>
    </p:spTree>
    <p:extLst>
      <p:ext uri="{BB962C8B-B14F-4D97-AF65-F5344CB8AC3E}">
        <p14:creationId xmlns:p14="http://schemas.microsoft.com/office/powerpoint/2010/main" val="9245083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FA979-568F-6486-EBDB-794FAD02A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B7F4B-A6DD-96EE-85E1-B89113768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A146A-8D3D-28EA-558D-CEA0C609D60E}"/>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21758B66-8B4C-38F9-F425-147CDDD408D7}"/>
              </a:ext>
            </a:extLst>
          </p:cNvPr>
          <p:cNvSpPr>
            <a:spLocks noGrp="1"/>
          </p:cNvSpPr>
          <p:nvPr>
            <p:ph type="sldNum" sz="quarter" idx="5"/>
          </p:nvPr>
        </p:nvSpPr>
        <p:spPr/>
        <p:txBody>
          <a:bodyPr/>
          <a:lstStyle/>
          <a:p>
            <a:fld id="{8929409D-F537-4CCC-A32D-DA5DDF242412}" type="slidenum">
              <a:rPr lang="en-US" smtClean="0"/>
              <a:t>20</a:t>
            </a:fld>
            <a:endParaRPr lang="en-US"/>
          </a:p>
        </p:txBody>
      </p:sp>
    </p:spTree>
    <p:extLst>
      <p:ext uri="{BB962C8B-B14F-4D97-AF65-F5344CB8AC3E}">
        <p14:creationId xmlns:p14="http://schemas.microsoft.com/office/powerpoint/2010/main" val="4259538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B23F-1F86-AFB4-38F8-7CECFB13A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ABFD0-5219-D0DD-C2E8-8B379086B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4401F-B94A-1811-472C-D83D0D050DE9}"/>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60CC3662-1EF5-4796-8AE6-7D2855008B2C}"/>
              </a:ext>
            </a:extLst>
          </p:cNvPr>
          <p:cNvSpPr>
            <a:spLocks noGrp="1"/>
          </p:cNvSpPr>
          <p:nvPr>
            <p:ph type="sldNum" sz="quarter" idx="5"/>
          </p:nvPr>
        </p:nvSpPr>
        <p:spPr/>
        <p:txBody>
          <a:bodyPr/>
          <a:lstStyle/>
          <a:p>
            <a:fld id="{8929409D-F537-4CCC-A32D-DA5DDF242412}" type="slidenum">
              <a:rPr lang="en-US" smtClean="0"/>
              <a:t>21</a:t>
            </a:fld>
            <a:endParaRPr lang="en-US"/>
          </a:p>
        </p:txBody>
      </p:sp>
    </p:spTree>
    <p:extLst>
      <p:ext uri="{BB962C8B-B14F-4D97-AF65-F5344CB8AC3E}">
        <p14:creationId xmlns:p14="http://schemas.microsoft.com/office/powerpoint/2010/main" val="3502633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F05E8-D448-2358-EB6F-51975D60D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C7190-ADC3-9959-947E-7511C460E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513E4-8C12-2D22-C31F-8CAC0A61314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8265EDD-ED8C-C228-78C7-68A38CB04D03}"/>
              </a:ext>
            </a:extLst>
          </p:cNvPr>
          <p:cNvSpPr>
            <a:spLocks noGrp="1"/>
          </p:cNvSpPr>
          <p:nvPr>
            <p:ph type="sldNum" sz="quarter" idx="5"/>
          </p:nvPr>
        </p:nvSpPr>
        <p:spPr/>
        <p:txBody>
          <a:bodyPr/>
          <a:lstStyle/>
          <a:p>
            <a:fld id="{8929409D-F537-4CCC-A32D-DA5DDF242412}" type="slidenum">
              <a:rPr lang="en-US" smtClean="0"/>
              <a:t>22</a:t>
            </a:fld>
            <a:endParaRPr lang="en-US"/>
          </a:p>
        </p:txBody>
      </p:sp>
    </p:spTree>
    <p:extLst>
      <p:ext uri="{BB962C8B-B14F-4D97-AF65-F5344CB8AC3E}">
        <p14:creationId xmlns:p14="http://schemas.microsoft.com/office/powerpoint/2010/main" val="3153161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83AE9-67CE-F0CD-9FBC-4FB7037CA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14AE5-53D8-F78A-84B9-987A2A2C3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E7861-37F3-49B7-94C0-44E35FBE79F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478C0830-C5B9-135B-93C8-C1948A47E403}"/>
              </a:ext>
            </a:extLst>
          </p:cNvPr>
          <p:cNvSpPr>
            <a:spLocks noGrp="1"/>
          </p:cNvSpPr>
          <p:nvPr>
            <p:ph type="sldNum" sz="quarter" idx="5"/>
          </p:nvPr>
        </p:nvSpPr>
        <p:spPr/>
        <p:txBody>
          <a:bodyPr/>
          <a:lstStyle/>
          <a:p>
            <a:fld id="{8929409D-F537-4CCC-A32D-DA5DDF242412}" type="slidenum">
              <a:rPr lang="en-US" smtClean="0"/>
              <a:t>23</a:t>
            </a:fld>
            <a:endParaRPr lang="en-US"/>
          </a:p>
        </p:txBody>
      </p:sp>
    </p:spTree>
    <p:extLst>
      <p:ext uri="{BB962C8B-B14F-4D97-AF65-F5344CB8AC3E}">
        <p14:creationId xmlns:p14="http://schemas.microsoft.com/office/powerpoint/2010/main" val="2938836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2FB1-B652-1DD5-91BE-ADA0BE9AC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F91D5-0E02-A5B4-66A4-C13A316D4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668DE-1A56-68A3-FF58-32EDDC95BF5B}"/>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14796D5-C50A-0EDE-0662-38AF2757546A}"/>
              </a:ext>
            </a:extLst>
          </p:cNvPr>
          <p:cNvSpPr>
            <a:spLocks noGrp="1"/>
          </p:cNvSpPr>
          <p:nvPr>
            <p:ph type="sldNum" sz="quarter" idx="5"/>
          </p:nvPr>
        </p:nvSpPr>
        <p:spPr/>
        <p:txBody>
          <a:bodyPr/>
          <a:lstStyle/>
          <a:p>
            <a:fld id="{8929409D-F537-4CCC-A32D-DA5DDF242412}" type="slidenum">
              <a:rPr lang="en-US" smtClean="0"/>
              <a:t>24</a:t>
            </a:fld>
            <a:endParaRPr lang="en-US"/>
          </a:p>
        </p:txBody>
      </p:sp>
    </p:spTree>
    <p:extLst>
      <p:ext uri="{BB962C8B-B14F-4D97-AF65-F5344CB8AC3E}">
        <p14:creationId xmlns:p14="http://schemas.microsoft.com/office/powerpoint/2010/main" val="2927209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D46B-AF57-32F3-DAC1-DB4DCF3CC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0FA35-5D6F-694E-B4BA-496A5F62E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5EAB8-73C4-88B4-905C-12F74E122C14}"/>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127AD953-F9FE-6FB8-85E1-8F648BAEC493}"/>
              </a:ext>
            </a:extLst>
          </p:cNvPr>
          <p:cNvSpPr>
            <a:spLocks noGrp="1"/>
          </p:cNvSpPr>
          <p:nvPr>
            <p:ph type="sldNum" sz="quarter" idx="5"/>
          </p:nvPr>
        </p:nvSpPr>
        <p:spPr/>
        <p:txBody>
          <a:bodyPr/>
          <a:lstStyle/>
          <a:p>
            <a:fld id="{8929409D-F537-4CCC-A32D-DA5DDF242412}" type="slidenum">
              <a:rPr lang="en-US" smtClean="0"/>
              <a:t>25</a:t>
            </a:fld>
            <a:endParaRPr lang="en-US"/>
          </a:p>
        </p:txBody>
      </p:sp>
    </p:spTree>
    <p:extLst>
      <p:ext uri="{BB962C8B-B14F-4D97-AF65-F5344CB8AC3E}">
        <p14:creationId xmlns:p14="http://schemas.microsoft.com/office/powerpoint/2010/main" val="285528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AE21E-1D8D-19AB-F4CA-8CCC7360F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ACF71-0349-4E1D-CD5F-E847A8A8A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4A137-CA16-CE5A-6F38-0973732014A6}"/>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C660F53F-150B-6994-3742-2AB74C1B4DD5}"/>
              </a:ext>
            </a:extLst>
          </p:cNvPr>
          <p:cNvSpPr>
            <a:spLocks noGrp="1"/>
          </p:cNvSpPr>
          <p:nvPr>
            <p:ph type="sldNum" sz="quarter" idx="5"/>
          </p:nvPr>
        </p:nvSpPr>
        <p:spPr/>
        <p:txBody>
          <a:bodyPr/>
          <a:lstStyle/>
          <a:p>
            <a:fld id="{8929409D-F537-4CCC-A32D-DA5DDF242412}" type="slidenum">
              <a:rPr lang="en-US" smtClean="0"/>
              <a:t>26</a:t>
            </a:fld>
            <a:endParaRPr lang="en-US"/>
          </a:p>
        </p:txBody>
      </p:sp>
    </p:spTree>
    <p:extLst>
      <p:ext uri="{BB962C8B-B14F-4D97-AF65-F5344CB8AC3E}">
        <p14:creationId xmlns:p14="http://schemas.microsoft.com/office/powerpoint/2010/main" val="8751635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6A48-BF45-76B0-027C-836D7B338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70276-F78D-8936-995D-5A202BEDE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F2125-016C-9300-E551-BD242786B5FF}"/>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24C24F74-938E-5FDD-3590-F473480BECAE}"/>
              </a:ext>
            </a:extLst>
          </p:cNvPr>
          <p:cNvSpPr>
            <a:spLocks noGrp="1"/>
          </p:cNvSpPr>
          <p:nvPr>
            <p:ph type="sldNum" sz="quarter" idx="5"/>
          </p:nvPr>
        </p:nvSpPr>
        <p:spPr/>
        <p:txBody>
          <a:bodyPr/>
          <a:lstStyle/>
          <a:p>
            <a:fld id="{8929409D-F537-4CCC-A32D-DA5DDF242412}" type="slidenum">
              <a:rPr lang="en-US" smtClean="0"/>
              <a:t>27</a:t>
            </a:fld>
            <a:endParaRPr lang="en-US"/>
          </a:p>
        </p:txBody>
      </p:sp>
    </p:spTree>
    <p:extLst>
      <p:ext uri="{BB962C8B-B14F-4D97-AF65-F5344CB8AC3E}">
        <p14:creationId xmlns:p14="http://schemas.microsoft.com/office/powerpoint/2010/main" val="1057441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A248-BB30-7718-BA76-6203252A8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B8B1E-5F70-6321-C99A-0A727307F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D4172-9263-5DFE-3BE8-11F3DC5F1A5D}"/>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0658DD37-89B3-0577-9D0B-B5267278FF21}"/>
              </a:ext>
            </a:extLst>
          </p:cNvPr>
          <p:cNvSpPr>
            <a:spLocks noGrp="1"/>
          </p:cNvSpPr>
          <p:nvPr>
            <p:ph type="sldNum" sz="quarter" idx="5"/>
          </p:nvPr>
        </p:nvSpPr>
        <p:spPr/>
        <p:txBody>
          <a:bodyPr/>
          <a:lstStyle/>
          <a:p>
            <a:fld id="{8929409D-F537-4CCC-A32D-DA5DDF242412}" type="slidenum">
              <a:rPr lang="en-US" smtClean="0"/>
              <a:t>28</a:t>
            </a:fld>
            <a:endParaRPr lang="en-US"/>
          </a:p>
        </p:txBody>
      </p:sp>
    </p:spTree>
    <p:extLst>
      <p:ext uri="{BB962C8B-B14F-4D97-AF65-F5344CB8AC3E}">
        <p14:creationId xmlns:p14="http://schemas.microsoft.com/office/powerpoint/2010/main" val="1942880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4473E-6174-5CAA-6BF6-FE1E13622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D9961-4814-FA78-A31B-D8E1D498B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C2247-7692-8CAF-209B-38A6EE7DBF29}"/>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6F9D9393-F66B-BD2D-C2E2-98FCDAE455E8}"/>
              </a:ext>
            </a:extLst>
          </p:cNvPr>
          <p:cNvSpPr>
            <a:spLocks noGrp="1"/>
          </p:cNvSpPr>
          <p:nvPr>
            <p:ph type="sldNum" sz="quarter" idx="5"/>
          </p:nvPr>
        </p:nvSpPr>
        <p:spPr/>
        <p:txBody>
          <a:bodyPr/>
          <a:lstStyle/>
          <a:p>
            <a:fld id="{8929409D-F537-4CCC-A32D-DA5DDF242412}" type="slidenum">
              <a:rPr lang="en-US" smtClean="0"/>
              <a:t>29</a:t>
            </a:fld>
            <a:endParaRPr lang="en-US"/>
          </a:p>
        </p:txBody>
      </p:sp>
    </p:spTree>
    <p:extLst>
      <p:ext uri="{BB962C8B-B14F-4D97-AF65-F5344CB8AC3E}">
        <p14:creationId xmlns:p14="http://schemas.microsoft.com/office/powerpoint/2010/main" val="2758831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79E29-F7C3-16B7-7CC8-458681E56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45647-4892-1088-E2DC-C993A35E4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25611-C27F-C6A0-694E-B07B7A992340}"/>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28EB2F3A-DE5D-65A0-9725-CB736CE6FB4E}"/>
              </a:ext>
            </a:extLst>
          </p:cNvPr>
          <p:cNvSpPr>
            <a:spLocks noGrp="1"/>
          </p:cNvSpPr>
          <p:nvPr>
            <p:ph type="sldNum" sz="quarter" idx="5"/>
          </p:nvPr>
        </p:nvSpPr>
        <p:spPr/>
        <p:txBody>
          <a:bodyPr/>
          <a:lstStyle/>
          <a:p>
            <a:fld id="{8929409D-F537-4CCC-A32D-DA5DDF242412}" type="slidenum">
              <a:rPr lang="en-US" smtClean="0"/>
              <a:t>30</a:t>
            </a:fld>
            <a:endParaRPr lang="en-US"/>
          </a:p>
        </p:txBody>
      </p:sp>
    </p:spTree>
    <p:extLst>
      <p:ext uri="{BB962C8B-B14F-4D97-AF65-F5344CB8AC3E}">
        <p14:creationId xmlns:p14="http://schemas.microsoft.com/office/powerpoint/2010/main" val="36298065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92DB551-97C2-22BF-B760-90EAA00E4B91}"/>
              </a:ext>
            </a:extLst>
          </p:cNvPr>
          <p:cNvSpPr/>
          <p:nvPr/>
        </p:nvSpPr>
        <p:spPr>
          <a:xfrm>
            <a:off x="80920" y="72828"/>
            <a:ext cx="1521303" cy="10919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4" name="Picture Placeholder 4">
            <a:extLst>
              <a:ext uri="{FF2B5EF4-FFF2-40B4-BE49-F238E27FC236}">
                <a16:creationId xmlns:a16="http://schemas.microsoft.com/office/drawing/2014/main" id="{DF78302C-DD1C-A64C-0D25-6D0E0EFF67D2}"/>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728133" y="558800"/>
            <a:ext cx="5367867" cy="6299200"/>
          </a:xfrm>
          <a:custGeom>
            <a:avLst/>
            <a:gdLst>
              <a:gd name="connsiteX0" fmla="*/ 12647 w 2049737"/>
              <a:gd name="connsiteY0" fmla="*/ 0 h 2159877"/>
              <a:gd name="connsiteX1" fmla="*/ 2037090 w 2049737"/>
              <a:gd name="connsiteY1" fmla="*/ 0 h 2159877"/>
              <a:gd name="connsiteX2" fmla="*/ 2049737 w 2049737"/>
              <a:gd name="connsiteY2" fmla="*/ 12647 h 2159877"/>
              <a:gd name="connsiteX3" fmla="*/ 2049737 w 2049737"/>
              <a:gd name="connsiteY3" fmla="*/ 2147230 h 2159877"/>
              <a:gd name="connsiteX4" fmla="*/ 2037090 w 2049737"/>
              <a:gd name="connsiteY4" fmla="*/ 2159877 h 2159877"/>
              <a:gd name="connsiteX5" fmla="*/ 12647 w 2049737"/>
              <a:gd name="connsiteY5" fmla="*/ 2159877 h 2159877"/>
              <a:gd name="connsiteX6" fmla="*/ 0 w 2049737"/>
              <a:gd name="connsiteY6" fmla="*/ 2147230 h 2159877"/>
              <a:gd name="connsiteX7" fmla="*/ 0 w 2049737"/>
              <a:gd name="connsiteY7" fmla="*/ 12647 h 2159877"/>
              <a:gd name="connsiteX8" fmla="*/ 12647 w 2049737"/>
              <a:gd name="connsiteY8" fmla="*/ 0 h 2159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9737" h="2159877">
                <a:moveTo>
                  <a:pt x="12647" y="0"/>
                </a:moveTo>
                <a:lnTo>
                  <a:pt x="2037090" y="0"/>
                </a:lnTo>
                <a:cubicBezTo>
                  <a:pt x="2044075" y="0"/>
                  <a:pt x="2049737" y="5662"/>
                  <a:pt x="2049737" y="12647"/>
                </a:cubicBezTo>
                <a:lnTo>
                  <a:pt x="2049737" y="2147230"/>
                </a:lnTo>
                <a:cubicBezTo>
                  <a:pt x="2049737" y="2154215"/>
                  <a:pt x="2044075" y="2159877"/>
                  <a:pt x="2037090" y="2159877"/>
                </a:cubicBezTo>
                <a:lnTo>
                  <a:pt x="12647" y="2159877"/>
                </a:lnTo>
                <a:cubicBezTo>
                  <a:pt x="5662" y="2159877"/>
                  <a:pt x="0" y="2154215"/>
                  <a:pt x="0" y="2147230"/>
                </a:cubicBezTo>
                <a:lnTo>
                  <a:pt x="0" y="12647"/>
                </a:lnTo>
                <a:cubicBezTo>
                  <a:pt x="0" y="5662"/>
                  <a:pt x="5662" y="0"/>
                  <a:pt x="12647" y="0"/>
                </a:cubicBezTo>
                <a:close/>
              </a:path>
            </a:pathLst>
          </a:custGeom>
          <a:effectLst>
            <a:outerShdw blurRad="381000" algn="ctr" rotWithShape="0">
              <a:schemeClr val="tx1">
                <a:lumMod val="75000"/>
                <a:lumOff val="25000"/>
                <a:alpha val="40000"/>
              </a:schemeClr>
            </a:outerShdw>
          </a:effectLst>
        </p:spPr>
      </p:pic>
      <p:pic>
        <p:nvPicPr>
          <p:cNvPr id="2" name="Graphic 1">
            <a:extLst>
              <a:ext uri="{FF2B5EF4-FFF2-40B4-BE49-F238E27FC236}">
                <a16:creationId xmlns:a16="http://schemas.microsoft.com/office/drawing/2014/main" id="{31DB5385-C9B2-CCE8-8B6B-16ACEAD3B2E8}"/>
              </a:ext>
            </a:extLst>
          </p:cNvPr>
          <p:cNvPicPr>
            <a:picLocks noChangeAspect="1"/>
          </p:cNvPicPr>
          <p:nvPr/>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35831" y="1164768"/>
            <a:ext cx="2851193" cy="855358"/>
          </a:xfrm>
          <a:prstGeom prst="rect">
            <a:avLst/>
          </a:prstGeom>
        </p:spPr>
      </p:pic>
      <p:sp>
        <p:nvSpPr>
          <p:cNvPr id="12" name="Content Placeholder 3">
            <a:extLst>
              <a:ext uri="{FF2B5EF4-FFF2-40B4-BE49-F238E27FC236}">
                <a16:creationId xmlns:a16="http://schemas.microsoft.com/office/drawing/2014/main" id="{0F447F73-6D9E-DF1B-CF21-A4B39B369CFA}"/>
              </a:ext>
            </a:extLst>
          </p:cNvPr>
          <p:cNvSpPr>
            <a:spLocks noGrp="1"/>
          </p:cNvSpPr>
          <p:nvPr>
            <p:ph sz="quarter" idx="10"/>
          </p:nvPr>
        </p:nvSpPr>
        <p:spPr>
          <a:xfrm>
            <a:off x="6995664" y="4059509"/>
            <a:ext cx="4317001" cy="1075294"/>
          </a:xfrm>
          <a:prstGeom prst="rect">
            <a:avLst/>
          </a:prstGeom>
        </p:spPr>
        <p:txBody>
          <a:bodyPr/>
          <a:lstStyle>
            <a:lvl1pPr marL="0" indent="0">
              <a:buFont typeface="Arial" panose="020B0604020202020204" pitchFamily="34" charset="0"/>
              <a:buNone/>
              <a:defRPr sz="2000" b="1" spc="0">
                <a:solidFill>
                  <a:schemeClr val="tx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Second level</a:t>
            </a:r>
          </a:p>
        </p:txBody>
      </p:sp>
      <p:pic>
        <p:nvPicPr>
          <p:cNvPr id="30" name="Graphic 29">
            <a:extLst>
              <a:ext uri="{FF2B5EF4-FFF2-40B4-BE49-F238E27FC236}">
                <a16:creationId xmlns:a16="http://schemas.microsoft.com/office/drawing/2014/main" id="{A384254D-7517-A188-8627-503DAFC93059}"/>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57245" y="2637401"/>
            <a:ext cx="1509642" cy="1509642"/>
          </a:xfrm>
          <a:prstGeom prst="rect">
            <a:avLst/>
          </a:prstGeom>
        </p:spPr>
      </p:pic>
      <p:sp>
        <p:nvSpPr>
          <p:cNvPr id="9" name="Content Placeholder 8">
            <a:extLst>
              <a:ext uri="{FF2B5EF4-FFF2-40B4-BE49-F238E27FC236}">
                <a16:creationId xmlns:a16="http://schemas.microsoft.com/office/drawing/2014/main" id="{480FE308-09FC-491C-C3D5-EEA0B9452A4E}"/>
              </a:ext>
            </a:extLst>
          </p:cNvPr>
          <p:cNvSpPr>
            <a:spLocks noGrp="1"/>
          </p:cNvSpPr>
          <p:nvPr>
            <p:ph sz="quarter" idx="11" hasCustomPrompt="1"/>
          </p:nvPr>
        </p:nvSpPr>
        <p:spPr>
          <a:xfrm>
            <a:off x="6996113" y="5145017"/>
            <a:ext cx="4704970" cy="324145"/>
          </a:xfrm>
        </p:spPr>
        <p:txBody>
          <a:bodyPr/>
          <a:lstStyle>
            <a:lvl1pPr>
              <a:defRPr b="1">
                <a:solidFill>
                  <a:schemeClr val="tx1"/>
                </a:solidFill>
              </a:defRPr>
            </a:lvl1pPr>
          </a:lstStyle>
          <a:p>
            <a:pPr lvl="0"/>
            <a:r>
              <a:rPr lang="en-US"/>
              <a:t>Speaker:</a:t>
            </a:r>
          </a:p>
        </p:txBody>
      </p:sp>
      <p:sp>
        <p:nvSpPr>
          <p:cNvPr id="11" name="Content Placeholder 8">
            <a:extLst>
              <a:ext uri="{FF2B5EF4-FFF2-40B4-BE49-F238E27FC236}">
                <a16:creationId xmlns:a16="http://schemas.microsoft.com/office/drawing/2014/main" id="{CA57BCDB-83E2-96FE-12A8-C0A78C18F2E0}"/>
              </a:ext>
            </a:extLst>
          </p:cNvPr>
          <p:cNvSpPr>
            <a:spLocks noGrp="1"/>
          </p:cNvSpPr>
          <p:nvPr>
            <p:ph sz="quarter" idx="12" hasCustomPrompt="1"/>
          </p:nvPr>
        </p:nvSpPr>
        <p:spPr>
          <a:xfrm>
            <a:off x="6996113" y="5531159"/>
            <a:ext cx="4704970" cy="324145"/>
          </a:xfrm>
        </p:spPr>
        <p:txBody>
          <a:bodyPr/>
          <a:lstStyle>
            <a:lvl1pPr>
              <a:defRPr b="1">
                <a:solidFill>
                  <a:schemeClr val="tx1"/>
                </a:solidFill>
              </a:defRPr>
            </a:lvl1pPr>
          </a:lstStyle>
          <a:p>
            <a:pPr lvl="0"/>
            <a:r>
              <a:rPr lang="en-US"/>
              <a:t>Title:</a:t>
            </a:r>
          </a:p>
        </p:txBody>
      </p:sp>
      <p:sp>
        <p:nvSpPr>
          <p:cNvPr id="6" name="Content Placeholder 5">
            <a:extLst>
              <a:ext uri="{FF2B5EF4-FFF2-40B4-BE49-F238E27FC236}">
                <a16:creationId xmlns:a16="http://schemas.microsoft.com/office/drawing/2014/main" id="{BF41C380-BADA-0B81-62B2-D66AE948F079}"/>
              </a:ext>
            </a:extLst>
          </p:cNvPr>
          <p:cNvSpPr>
            <a:spLocks noGrp="1"/>
          </p:cNvSpPr>
          <p:nvPr>
            <p:ph sz="quarter" idx="13"/>
          </p:nvPr>
        </p:nvSpPr>
        <p:spPr>
          <a:xfrm>
            <a:off x="6996113" y="2338388"/>
            <a:ext cx="4316412" cy="1593850"/>
          </a:xfrm>
        </p:spPr>
        <p:txBody>
          <a:bodyPr anchor="ctr">
            <a:normAutofit/>
          </a:bodyPr>
          <a:lstStyle>
            <a:lvl1pPr>
              <a:defRPr sz="4000" b="1">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spTree>
    <p:extLst>
      <p:ext uri="{BB962C8B-B14F-4D97-AF65-F5344CB8AC3E}">
        <p14:creationId xmlns:p14="http://schemas.microsoft.com/office/powerpoint/2010/main" val="1160205273"/>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 Placeholder 15">
            <a:extLst>
              <a:ext uri="{FF2B5EF4-FFF2-40B4-BE49-F238E27FC236}">
                <a16:creationId xmlns:a16="http://schemas.microsoft.com/office/drawing/2014/main" id="{0DF1BF24-B304-80DA-ABDD-430AB653AD5D}"/>
              </a:ext>
            </a:extLst>
          </p:cNvPr>
          <p:cNvSpPr>
            <a:spLocks noGrp="1"/>
          </p:cNvSpPr>
          <p:nvPr>
            <p:ph idx="1"/>
          </p:nvPr>
        </p:nvSpPr>
        <p:spPr>
          <a:xfrm>
            <a:off x="1318622" y="1497027"/>
            <a:ext cx="9554756" cy="467993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Tree>
    <p:extLst>
      <p:ext uri="{BB962C8B-B14F-4D97-AF65-F5344CB8AC3E}">
        <p14:creationId xmlns:p14="http://schemas.microsoft.com/office/powerpoint/2010/main" val="502933028"/>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Content Placeholder 4">
            <a:extLst>
              <a:ext uri="{FF2B5EF4-FFF2-40B4-BE49-F238E27FC236}">
                <a16:creationId xmlns:a16="http://schemas.microsoft.com/office/drawing/2014/main" id="{3350D1D3-32F3-71E6-C667-67FDAF469CBA}"/>
              </a:ext>
            </a:extLst>
          </p:cNvPr>
          <p:cNvSpPr>
            <a:spLocks noGrp="1"/>
          </p:cNvSpPr>
          <p:nvPr>
            <p:ph sz="quarter" idx="11"/>
          </p:nvPr>
        </p:nvSpPr>
        <p:spPr>
          <a:xfrm>
            <a:off x="838200" y="1490663"/>
            <a:ext cx="5153025" cy="468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E937D61-9219-87FB-3B18-2EE668F8927B}"/>
              </a:ext>
            </a:extLst>
          </p:cNvPr>
          <p:cNvSpPr>
            <a:spLocks noGrp="1"/>
          </p:cNvSpPr>
          <p:nvPr>
            <p:ph sz="quarter" idx="12"/>
          </p:nvPr>
        </p:nvSpPr>
        <p:spPr>
          <a:xfrm>
            <a:off x="6277304" y="1490663"/>
            <a:ext cx="5153025" cy="468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731648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 Placeholder 15">
            <a:extLst>
              <a:ext uri="{FF2B5EF4-FFF2-40B4-BE49-F238E27FC236}">
                <a16:creationId xmlns:a16="http://schemas.microsoft.com/office/drawing/2014/main" id="{10A2BEA0-7E65-8FB6-662E-5B307BEE9611}"/>
              </a:ext>
            </a:extLst>
          </p:cNvPr>
          <p:cNvSpPr>
            <a:spLocks noGrp="1"/>
          </p:cNvSpPr>
          <p:nvPr>
            <p:ph idx="1"/>
          </p:nvPr>
        </p:nvSpPr>
        <p:spPr>
          <a:xfrm>
            <a:off x="838200" y="1497027"/>
            <a:ext cx="10515600" cy="46799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2" name="Content Placeholder 2">
            <a:extLst>
              <a:ext uri="{FF2B5EF4-FFF2-40B4-BE49-F238E27FC236}">
                <a16:creationId xmlns:a16="http://schemas.microsoft.com/office/drawing/2014/main" id="{FD16D100-018A-D540-6D96-6D161D566C32}"/>
              </a:ext>
            </a:extLst>
          </p:cNvPr>
          <p:cNvSpPr>
            <a:spLocks noGrp="1"/>
          </p:cNvSpPr>
          <p:nvPr>
            <p:ph sz="quarter" idx="14"/>
          </p:nvPr>
        </p:nvSpPr>
        <p:spPr>
          <a:xfrm>
            <a:off x="1527969" y="951848"/>
            <a:ext cx="9136062" cy="364282"/>
          </a:xfrm>
        </p:spPr>
        <p:txBody>
          <a:bodyPr>
            <a:noAutofit/>
          </a:bodyPr>
          <a:lstStyle>
            <a:lvl1pPr marL="0" indent="0" algn="ctr">
              <a:buNone/>
              <a:defRPr sz="2400" b="1">
                <a:solidFill>
                  <a:schemeClr val="tx1"/>
                </a:solidFill>
                <a:latin typeface="+mj-lt"/>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2555074140"/>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a:xfrm>
            <a:off x="4177553" y="403270"/>
            <a:ext cx="6695824" cy="778213"/>
          </a:xfrm>
        </p:spPr>
        <p:txBody>
          <a:bodyPr anchor="t"/>
          <a:lstStyle>
            <a:lvl1pPr algn="l">
              <a:defRPr>
                <a:solidFill>
                  <a:schemeClr val="tx2"/>
                </a:solidFill>
              </a:defRPr>
            </a:lvl1p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 Placeholder 15">
            <a:extLst>
              <a:ext uri="{FF2B5EF4-FFF2-40B4-BE49-F238E27FC236}">
                <a16:creationId xmlns:a16="http://schemas.microsoft.com/office/drawing/2014/main" id="{0DF1BF24-B304-80DA-ABDD-430AB653AD5D}"/>
              </a:ext>
            </a:extLst>
          </p:cNvPr>
          <p:cNvSpPr>
            <a:spLocks noGrp="1"/>
          </p:cNvSpPr>
          <p:nvPr>
            <p:ph idx="1"/>
          </p:nvPr>
        </p:nvSpPr>
        <p:spPr>
          <a:xfrm>
            <a:off x="4177552" y="1634247"/>
            <a:ext cx="7176247" cy="4542716"/>
          </a:xfrm>
          <a:prstGeom prst="rect">
            <a:avLst/>
          </a:prstGeom>
        </p:spPr>
        <p:txBody>
          <a:bodyPr vert="horz" lIns="91440" tIns="45720" rIns="91440" bIns="45720" rtlCol="0">
            <a:normAutofit/>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5" name="Picture Placeholder 4">
            <a:extLst>
              <a:ext uri="{FF2B5EF4-FFF2-40B4-BE49-F238E27FC236}">
                <a16:creationId xmlns:a16="http://schemas.microsoft.com/office/drawing/2014/main" id="{0CE57B95-064E-5ECE-8F7A-79A8FE79E25E}"/>
              </a:ext>
            </a:extLst>
          </p:cNvPr>
          <p:cNvSpPr>
            <a:spLocks noGrp="1"/>
          </p:cNvSpPr>
          <p:nvPr>
            <p:ph type="pic" sz="quarter" idx="10"/>
          </p:nvPr>
        </p:nvSpPr>
        <p:spPr>
          <a:xfrm>
            <a:off x="228599" y="0"/>
            <a:ext cx="3267635" cy="6858000"/>
          </a:xfrm>
        </p:spPr>
        <p:txBody>
          <a:bodyPr/>
          <a:lstStyle/>
          <a:p>
            <a:r>
              <a:rPr lang="en-US"/>
              <a:t>Click icon to add picture</a:t>
            </a:r>
          </a:p>
        </p:txBody>
      </p:sp>
      <p:pic>
        <p:nvPicPr>
          <p:cNvPr id="6" name="Graphic 5">
            <a:extLst>
              <a:ext uri="{FF2B5EF4-FFF2-40B4-BE49-F238E27FC236}">
                <a16:creationId xmlns:a16="http://schemas.microsoft.com/office/drawing/2014/main" id="{97677E30-2C53-AA24-5BA6-622B7E2A3D4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8982" y="245824"/>
            <a:ext cx="1049640" cy="314892"/>
          </a:xfrm>
          <a:prstGeom prst="rect">
            <a:avLst/>
          </a:prstGeom>
        </p:spPr>
      </p:pic>
    </p:spTree>
    <p:extLst>
      <p:ext uri="{BB962C8B-B14F-4D97-AF65-F5344CB8AC3E}">
        <p14:creationId xmlns:p14="http://schemas.microsoft.com/office/powerpoint/2010/main" val="3640397991"/>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E4D90-FDDA-DF23-B535-2C7BA8E5F609}"/>
              </a:ext>
            </a:extLst>
          </p:cNvPr>
          <p:cNvSpPr>
            <a:spLocks noGrp="1"/>
          </p:cNvSpPr>
          <p:nvPr>
            <p:ph type="title"/>
          </p:nvPr>
        </p:nvSpPr>
        <p:spPr/>
        <p:txBody>
          <a:bodyPr/>
          <a:lstStyle/>
          <a:p>
            <a:r>
              <a:rPr lang="en-US"/>
              <a:t>Click to edit Master title style</a:t>
            </a:r>
          </a:p>
        </p:txBody>
      </p:sp>
      <p:sp>
        <p:nvSpPr>
          <p:cNvPr id="11" name="Rectangle: Rounded Corners 2">
            <a:extLst>
              <a:ext uri="{FF2B5EF4-FFF2-40B4-BE49-F238E27FC236}">
                <a16:creationId xmlns:a16="http://schemas.microsoft.com/office/drawing/2014/main" id="{2FCEEBF7-F66E-1DBE-FA15-1358073EDCF6}"/>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 Placeholder 15">
            <a:extLst>
              <a:ext uri="{FF2B5EF4-FFF2-40B4-BE49-F238E27FC236}">
                <a16:creationId xmlns:a16="http://schemas.microsoft.com/office/drawing/2014/main" id="{10A2BEA0-7E65-8FB6-662E-5B307BEE9611}"/>
              </a:ext>
            </a:extLst>
          </p:cNvPr>
          <p:cNvSpPr>
            <a:spLocks noGrp="1"/>
          </p:cNvSpPr>
          <p:nvPr>
            <p:ph idx="1"/>
          </p:nvPr>
        </p:nvSpPr>
        <p:spPr>
          <a:xfrm>
            <a:off x="838200" y="1497027"/>
            <a:ext cx="5368391" cy="46799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Tree>
    <p:extLst>
      <p:ext uri="{BB962C8B-B14F-4D97-AF65-F5344CB8AC3E}">
        <p14:creationId xmlns:p14="http://schemas.microsoft.com/office/powerpoint/2010/main" val="1605994104"/>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left and diagram">
    <p:spTree>
      <p:nvGrpSpPr>
        <p:cNvPr id="1" name=""/>
        <p:cNvGrpSpPr/>
        <p:nvPr/>
      </p:nvGrpSpPr>
      <p:grpSpPr>
        <a:xfrm>
          <a:off x="0" y="0"/>
          <a:ext cx="0" cy="0"/>
          <a:chOff x="0" y="0"/>
          <a:chExt cx="0" cy="0"/>
        </a:xfrm>
      </p:grpSpPr>
      <p:sp>
        <p:nvSpPr>
          <p:cNvPr id="4" name="Rectangle: Rounded Corners 2">
            <a:extLst>
              <a:ext uri="{FF2B5EF4-FFF2-40B4-BE49-F238E27FC236}">
                <a16:creationId xmlns:a16="http://schemas.microsoft.com/office/drawing/2014/main" id="{7DDCFA81-94BB-028D-BD03-07C0C06DA187}"/>
              </a:ext>
            </a:extLst>
          </p:cNvPr>
          <p:cNvSpPr/>
          <p:nvPr userDrawn="1"/>
        </p:nvSpPr>
        <p:spPr>
          <a:xfrm>
            <a:off x="447869" y="1784752"/>
            <a:ext cx="4534678" cy="5073247"/>
          </a:xfrm>
          <a:prstGeom prst="roundRect">
            <a:avLst>
              <a:gd name="adj" fmla="val 617"/>
            </a:avLst>
          </a:prstGeom>
          <a:gradFill>
            <a:gsLst>
              <a:gs pos="0">
                <a:schemeClr val="accent2"/>
              </a:gs>
              <a:gs pos="99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Title 7">
            <a:extLst>
              <a:ext uri="{FF2B5EF4-FFF2-40B4-BE49-F238E27FC236}">
                <a16:creationId xmlns:a16="http://schemas.microsoft.com/office/drawing/2014/main" id="{4C8FFBD3-E5F7-AD5F-1076-869A234B5FE8}"/>
              </a:ext>
            </a:extLst>
          </p:cNvPr>
          <p:cNvSpPr>
            <a:spLocks noGrp="1"/>
          </p:cNvSpPr>
          <p:nvPr>
            <p:ph type="title"/>
          </p:nvPr>
        </p:nvSpPr>
        <p:spPr/>
        <p:txBody>
          <a:bodyPr/>
          <a:lstStyle/>
          <a:p>
            <a:r>
              <a:rPr lang="en-US"/>
              <a:t>Click to edit Master title style</a:t>
            </a:r>
            <a:endParaRPr lang="en-IL"/>
          </a:p>
        </p:txBody>
      </p:sp>
      <p:sp>
        <p:nvSpPr>
          <p:cNvPr id="9" name="Content Placeholder 8">
            <a:extLst>
              <a:ext uri="{FF2B5EF4-FFF2-40B4-BE49-F238E27FC236}">
                <a16:creationId xmlns:a16="http://schemas.microsoft.com/office/drawing/2014/main" id="{BB8A7525-E001-BED5-B931-A8D07B111CEA}"/>
              </a:ext>
            </a:extLst>
          </p:cNvPr>
          <p:cNvSpPr>
            <a:spLocks noGrp="1"/>
          </p:cNvSpPr>
          <p:nvPr>
            <p:ph sz="quarter" idx="15"/>
          </p:nvPr>
        </p:nvSpPr>
        <p:spPr>
          <a:xfrm>
            <a:off x="924221" y="2865120"/>
            <a:ext cx="3581975" cy="2951941"/>
          </a:xfrm>
        </p:spPr>
        <p:txBody>
          <a:bodyPr/>
          <a:lstStyle>
            <a:lvl1pPr marL="0" indent="0">
              <a:buFont typeface="Arial" panose="020B0604020202020204" pitchFamily="34" charset="0"/>
              <a:buNone/>
              <a:defRPr sz="1800">
                <a:solidFill>
                  <a:schemeClr val="bg1"/>
                </a:solidFill>
              </a:defRPr>
            </a:lvl1pPr>
            <a:lvl2pPr marL="457200" indent="0">
              <a:buNone/>
              <a:defRPr sz="1600">
                <a:solidFill>
                  <a:schemeClr val="bg1"/>
                </a:solidFill>
              </a:defRPr>
            </a:lvl2pPr>
            <a:lvl3pPr marL="914400" indent="0">
              <a:buNone/>
              <a:defRPr>
                <a:solidFill>
                  <a:schemeClr val="bg1"/>
                </a:solidFill>
              </a:defRPr>
            </a:lvl3pPr>
            <a:lvl4pPr marL="1371600" indent="0">
              <a:buNone/>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3">
            <a:extLst>
              <a:ext uri="{FF2B5EF4-FFF2-40B4-BE49-F238E27FC236}">
                <a16:creationId xmlns:a16="http://schemas.microsoft.com/office/drawing/2014/main" id="{87C6EFB2-04A6-34FC-217B-399974D5891C}"/>
              </a:ext>
            </a:extLst>
          </p:cNvPr>
          <p:cNvSpPr>
            <a:spLocks noGrp="1"/>
          </p:cNvSpPr>
          <p:nvPr>
            <p:ph sz="quarter" idx="16"/>
          </p:nvPr>
        </p:nvSpPr>
        <p:spPr>
          <a:xfrm>
            <a:off x="924221" y="2103438"/>
            <a:ext cx="3581975" cy="470919"/>
          </a:xfrm>
        </p:spPr>
        <p:txBody>
          <a:bodyPr/>
          <a:lstStyle>
            <a:lvl1pPr marL="0" indent="0">
              <a:buNone/>
              <a:defRPr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5" name="Content Placeholder 2">
            <a:extLst>
              <a:ext uri="{FF2B5EF4-FFF2-40B4-BE49-F238E27FC236}">
                <a16:creationId xmlns:a16="http://schemas.microsoft.com/office/drawing/2014/main" id="{B9A8345B-B286-490A-82B7-4EC928B71BFE}"/>
              </a:ext>
            </a:extLst>
          </p:cNvPr>
          <p:cNvSpPr>
            <a:spLocks noGrp="1"/>
          </p:cNvSpPr>
          <p:nvPr>
            <p:ph sz="quarter" idx="14"/>
          </p:nvPr>
        </p:nvSpPr>
        <p:spPr>
          <a:xfrm>
            <a:off x="1527969" y="875636"/>
            <a:ext cx="9136062" cy="364282"/>
          </a:xfrm>
        </p:spPr>
        <p:txBody>
          <a:bodyPr>
            <a:normAutofit/>
          </a:bodyPr>
          <a:lstStyle>
            <a:lvl1pPr marL="0" indent="0" algn="ctr">
              <a:buNone/>
              <a:defRPr sz="1800">
                <a:solidFill>
                  <a:schemeClr val="tx1">
                    <a:lumMod val="60000"/>
                    <a:lumOff val="40000"/>
                  </a:schemeClr>
                </a:solidFill>
                <a:latin typeface="+mj-lt"/>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2631525377"/>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6DB000-5919-1CB7-9418-78C7BA1B112A}"/>
              </a:ext>
            </a:extLst>
          </p:cNvPr>
          <p:cNvSpPr/>
          <p:nvPr userDrawn="1"/>
        </p:nvSpPr>
        <p:spPr>
          <a:xfrm>
            <a:off x="0" y="3692781"/>
            <a:ext cx="12192000" cy="29990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99">
            <a:extLst>
              <a:ext uri="{FF2B5EF4-FFF2-40B4-BE49-F238E27FC236}">
                <a16:creationId xmlns:a16="http://schemas.microsoft.com/office/drawing/2014/main" id="{06CF29E0-817D-6952-3AF9-CEAD10CC8094}"/>
              </a:ext>
            </a:extLst>
          </p:cNvPr>
          <p:cNvSpPr/>
          <p:nvPr userDrawn="1"/>
        </p:nvSpPr>
        <p:spPr>
          <a:xfrm>
            <a:off x="6323850" y="1371600"/>
            <a:ext cx="5365066" cy="5486400"/>
          </a:xfrm>
          <a:prstGeom prst="roundRect">
            <a:avLst>
              <a:gd name="adj" fmla="val 0"/>
            </a:avLst>
          </a:prstGeom>
          <a:solidFill>
            <a:schemeClr val="bg1"/>
          </a:solidFill>
          <a:ln>
            <a:noFill/>
          </a:ln>
          <a:effectLst>
            <a:outerShdw blurRad="635000" dist="635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Content Placeholder 2">
            <a:extLst>
              <a:ext uri="{FF2B5EF4-FFF2-40B4-BE49-F238E27FC236}">
                <a16:creationId xmlns:a16="http://schemas.microsoft.com/office/drawing/2014/main" id="{7D8666FE-9F9C-91E3-97BD-5F7382C83D24}"/>
              </a:ext>
            </a:extLst>
          </p:cNvPr>
          <p:cNvSpPr>
            <a:spLocks noGrp="1"/>
          </p:cNvSpPr>
          <p:nvPr>
            <p:ph idx="19"/>
          </p:nvPr>
        </p:nvSpPr>
        <p:spPr>
          <a:xfrm>
            <a:off x="6481991" y="1951506"/>
            <a:ext cx="4869181" cy="4597811"/>
          </a:xfrm>
        </p:spPr>
        <p:txBody>
          <a:bodyPr/>
          <a:lstStyle>
            <a:lvl1pPr>
              <a:spcBef>
                <a:spcPts val="600"/>
              </a:spcBef>
              <a:defRPr sz="17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5" name="Rectangle: Rounded Corners 99">
            <a:extLst>
              <a:ext uri="{FF2B5EF4-FFF2-40B4-BE49-F238E27FC236}">
                <a16:creationId xmlns:a16="http://schemas.microsoft.com/office/drawing/2014/main" id="{A3302DDC-B226-7DA7-1FFB-4C864134C98F}"/>
              </a:ext>
            </a:extLst>
          </p:cNvPr>
          <p:cNvSpPr/>
          <p:nvPr userDrawn="1"/>
        </p:nvSpPr>
        <p:spPr>
          <a:xfrm>
            <a:off x="503086" y="1371601"/>
            <a:ext cx="5365066" cy="5486400"/>
          </a:xfrm>
          <a:prstGeom prst="roundRect">
            <a:avLst>
              <a:gd name="adj" fmla="val 0"/>
            </a:avLst>
          </a:prstGeom>
          <a:solidFill>
            <a:schemeClr val="bg1"/>
          </a:solidFill>
          <a:ln>
            <a:noFill/>
          </a:ln>
          <a:effectLst>
            <a:outerShdw blurRad="635000" dist="635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a:extLst>
              <a:ext uri="{FF2B5EF4-FFF2-40B4-BE49-F238E27FC236}">
                <a16:creationId xmlns:a16="http://schemas.microsoft.com/office/drawing/2014/main" id="{3ABBA5DA-3EDF-86C4-D3E6-D2ECC239D1FB}"/>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7645969-2BD3-C726-C8D5-A16970ACD966}"/>
              </a:ext>
            </a:extLst>
          </p:cNvPr>
          <p:cNvSpPr>
            <a:spLocks noGrp="1"/>
          </p:cNvSpPr>
          <p:nvPr>
            <p:ph idx="1"/>
          </p:nvPr>
        </p:nvSpPr>
        <p:spPr>
          <a:xfrm>
            <a:off x="751029" y="1957659"/>
            <a:ext cx="4869181" cy="4597811"/>
          </a:xfrm>
        </p:spPr>
        <p:txBody>
          <a:bodyPr/>
          <a:lstStyle>
            <a:lvl1pPr>
              <a:spcBef>
                <a:spcPts val="600"/>
              </a:spcBef>
              <a:defRPr sz="17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7" name="Rectangle: Rounded Corners 2">
            <a:extLst>
              <a:ext uri="{FF2B5EF4-FFF2-40B4-BE49-F238E27FC236}">
                <a16:creationId xmlns:a16="http://schemas.microsoft.com/office/drawing/2014/main" id="{0D63DB23-3BD0-F13E-C1F6-305666872208}"/>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Content Placeholder 2">
            <a:extLst>
              <a:ext uri="{FF2B5EF4-FFF2-40B4-BE49-F238E27FC236}">
                <a16:creationId xmlns:a16="http://schemas.microsoft.com/office/drawing/2014/main" id="{6007DFA4-ACE5-2C53-AB12-A3DB6526718E}"/>
              </a:ext>
            </a:extLst>
          </p:cNvPr>
          <p:cNvSpPr>
            <a:spLocks noGrp="1"/>
          </p:cNvSpPr>
          <p:nvPr>
            <p:ph idx="20"/>
          </p:nvPr>
        </p:nvSpPr>
        <p:spPr>
          <a:xfrm>
            <a:off x="751029" y="1580050"/>
            <a:ext cx="4607740" cy="387904"/>
          </a:xfrm>
        </p:spPr>
        <p:txBody>
          <a:bodyPr/>
          <a:lstStyle>
            <a:lvl1pPr marL="0" indent="0">
              <a:buNone/>
              <a:defRPr b="1"/>
            </a:lvl1pPr>
          </a:lstStyle>
          <a:p>
            <a:pPr lvl="0"/>
            <a:r>
              <a:rPr lang="en-US" dirty="0"/>
              <a:t>Click to edit Master text styles</a:t>
            </a:r>
          </a:p>
        </p:txBody>
      </p:sp>
      <p:sp>
        <p:nvSpPr>
          <p:cNvPr id="8" name="Content Placeholder 2">
            <a:extLst>
              <a:ext uri="{FF2B5EF4-FFF2-40B4-BE49-F238E27FC236}">
                <a16:creationId xmlns:a16="http://schemas.microsoft.com/office/drawing/2014/main" id="{786BC371-6E8B-6C2B-37B4-8F48B9CAA860}"/>
              </a:ext>
            </a:extLst>
          </p:cNvPr>
          <p:cNvSpPr>
            <a:spLocks noGrp="1"/>
          </p:cNvSpPr>
          <p:nvPr>
            <p:ph idx="21"/>
          </p:nvPr>
        </p:nvSpPr>
        <p:spPr>
          <a:xfrm>
            <a:off x="6481991" y="1580050"/>
            <a:ext cx="4607740" cy="387904"/>
          </a:xfrm>
        </p:spPr>
        <p:txBody>
          <a:bodyPr/>
          <a:lstStyle>
            <a:lvl1pPr marL="0" indent="0">
              <a:buNone/>
              <a:defRPr b="1"/>
            </a:lvl1pPr>
          </a:lstStyle>
          <a:p>
            <a:pPr lvl="0"/>
            <a:r>
              <a:rPr lang="en-US" dirty="0"/>
              <a:t>Click to edit Master text styles</a:t>
            </a:r>
          </a:p>
        </p:txBody>
      </p:sp>
    </p:spTree>
    <p:extLst>
      <p:ext uri="{BB962C8B-B14F-4D97-AF65-F5344CB8AC3E}">
        <p14:creationId xmlns:p14="http://schemas.microsoft.com/office/powerpoint/2010/main" val="3800723095"/>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40460F8F-BC23-1371-B5C1-EA184A44BF1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8478" y="395564"/>
            <a:ext cx="3702797" cy="3702797"/>
          </a:xfrm>
          <a:prstGeom prst="rect">
            <a:avLst/>
          </a:prstGeom>
        </p:spPr>
      </p:pic>
      <p:sp>
        <p:nvSpPr>
          <p:cNvPr id="2" name="Title 1">
            <a:extLst>
              <a:ext uri="{FF2B5EF4-FFF2-40B4-BE49-F238E27FC236}">
                <a16:creationId xmlns:a16="http://schemas.microsoft.com/office/drawing/2014/main" id="{3ABBA5DA-3EDF-86C4-D3E6-D2ECC239D1FB}"/>
              </a:ext>
            </a:extLst>
          </p:cNvPr>
          <p:cNvSpPr>
            <a:spLocks noGrp="1"/>
          </p:cNvSpPr>
          <p:nvPr>
            <p:ph type="title" hasCustomPrompt="1"/>
          </p:nvPr>
        </p:nvSpPr>
        <p:spPr>
          <a:xfrm>
            <a:off x="4358972" y="575033"/>
            <a:ext cx="3983510" cy="589735"/>
          </a:xfrm>
        </p:spPr>
        <p:txBody>
          <a:bodyPr/>
          <a:lstStyle/>
          <a:p>
            <a:r>
              <a:rPr lang="en-US"/>
              <a:t>Agenda</a:t>
            </a:r>
            <a:endParaRPr lang="en-IL"/>
          </a:p>
        </p:txBody>
      </p:sp>
      <p:sp>
        <p:nvSpPr>
          <p:cNvPr id="7" name="Rectangle: Rounded Corners 2">
            <a:extLst>
              <a:ext uri="{FF2B5EF4-FFF2-40B4-BE49-F238E27FC236}">
                <a16:creationId xmlns:a16="http://schemas.microsoft.com/office/drawing/2014/main" id="{0D63DB23-3BD0-F13E-C1F6-305666872208}"/>
              </a:ext>
            </a:extLst>
          </p:cNvPr>
          <p:cNvSpPr/>
          <p:nvPr userDrawn="1"/>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 Placeholder 10">
            <a:extLst>
              <a:ext uri="{FF2B5EF4-FFF2-40B4-BE49-F238E27FC236}">
                <a16:creationId xmlns:a16="http://schemas.microsoft.com/office/drawing/2014/main" id="{BDC72BAE-80A0-5C49-CAEE-031C5AED18FC}"/>
              </a:ext>
            </a:extLst>
          </p:cNvPr>
          <p:cNvSpPr>
            <a:spLocks noGrp="1"/>
          </p:cNvSpPr>
          <p:nvPr>
            <p:ph type="body" sz="quarter" idx="17" hasCustomPrompt="1"/>
          </p:nvPr>
        </p:nvSpPr>
        <p:spPr>
          <a:xfrm>
            <a:off x="4358972" y="283939"/>
            <a:ext cx="3983510" cy="222826"/>
          </a:xfrm>
        </p:spPr>
        <p:txBody>
          <a:bodyPr>
            <a:noAutofit/>
          </a:bodyPr>
          <a:lstStyle>
            <a:lvl1pPr marL="0" indent="0" algn="ctr">
              <a:buNone/>
              <a:defRPr sz="1400" spc="6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WELCOME</a:t>
            </a:r>
            <a:endParaRPr lang="en-IL"/>
          </a:p>
        </p:txBody>
      </p:sp>
      <p:sp>
        <p:nvSpPr>
          <p:cNvPr id="4" name="Content Placeholder 7">
            <a:extLst>
              <a:ext uri="{FF2B5EF4-FFF2-40B4-BE49-F238E27FC236}">
                <a16:creationId xmlns:a16="http://schemas.microsoft.com/office/drawing/2014/main" id="{2C75A184-3551-32B7-6FBD-9F35B2230E76}"/>
              </a:ext>
            </a:extLst>
          </p:cNvPr>
          <p:cNvSpPr>
            <a:spLocks noGrp="1"/>
          </p:cNvSpPr>
          <p:nvPr>
            <p:ph sz="quarter" idx="15" hasCustomPrompt="1"/>
          </p:nvPr>
        </p:nvSpPr>
        <p:spPr>
          <a:xfrm>
            <a:off x="6096000" y="1634327"/>
            <a:ext cx="5143837" cy="4398851"/>
          </a:xfrm>
        </p:spPr>
        <p:txBody>
          <a:bodyPr>
            <a:normAutofit/>
          </a:bodyPr>
          <a:lstStyle>
            <a:lvl1pPr marL="234900" indent="-234900">
              <a:lnSpc>
                <a:spcPct val="100000"/>
              </a:lnSpc>
              <a:spcAft>
                <a:spcPts val="600"/>
              </a:spcAft>
              <a:buClr>
                <a:schemeClr val="tx2"/>
              </a:buClr>
              <a:buFont typeface="Arial" panose="020B0604020202020204" pitchFamily="34" charset="0"/>
              <a:buChar char="•"/>
              <a:defRPr sz="24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Agenda 1</a:t>
            </a:r>
          </a:p>
        </p:txBody>
      </p:sp>
      <p:sp>
        <p:nvSpPr>
          <p:cNvPr id="13" name="Rectangle: Rounded Corners 1">
            <a:extLst>
              <a:ext uri="{FF2B5EF4-FFF2-40B4-BE49-F238E27FC236}">
                <a16:creationId xmlns:a16="http://schemas.microsoft.com/office/drawing/2014/main" id="{DFA0E7EB-2D4D-A1C8-92ED-BC44135D9867}"/>
              </a:ext>
            </a:extLst>
          </p:cNvPr>
          <p:cNvSpPr/>
          <p:nvPr userDrawn="1"/>
        </p:nvSpPr>
        <p:spPr>
          <a:xfrm>
            <a:off x="554591" y="1938936"/>
            <a:ext cx="3983510" cy="3983508"/>
          </a:xfrm>
          <a:prstGeom prst="roundRect">
            <a:avLst/>
          </a:prstGeom>
          <a:solidFill>
            <a:schemeClr val="bg1"/>
          </a:solidFill>
          <a:ln>
            <a:noFill/>
          </a:ln>
          <a:effectLst>
            <a:outerShdw blurRad="520700" dist="1016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0450342"/>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0722B5-9D37-347B-12DC-5AB596BEEE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785841" y="314643"/>
            <a:ext cx="3702797" cy="3702797"/>
          </a:xfrm>
          <a:prstGeom prst="rect">
            <a:avLst/>
          </a:prstGeom>
        </p:spPr>
      </p:pic>
      <p:sp>
        <p:nvSpPr>
          <p:cNvPr id="3" name="Rectangle: Rounded Corners 1">
            <a:extLst>
              <a:ext uri="{FF2B5EF4-FFF2-40B4-BE49-F238E27FC236}">
                <a16:creationId xmlns:a16="http://schemas.microsoft.com/office/drawing/2014/main" id="{D318ED5D-4D6A-8E54-B8A3-0FFF1BB52F38}"/>
              </a:ext>
            </a:extLst>
          </p:cNvPr>
          <p:cNvSpPr/>
          <p:nvPr/>
        </p:nvSpPr>
        <p:spPr>
          <a:xfrm>
            <a:off x="1201954" y="1858015"/>
            <a:ext cx="3983510" cy="3983508"/>
          </a:xfrm>
          <a:prstGeom prst="roundRect">
            <a:avLst/>
          </a:prstGeom>
          <a:solidFill>
            <a:schemeClr val="bg1"/>
          </a:solidFill>
          <a:ln>
            <a:noFill/>
          </a:ln>
          <a:effectLst>
            <a:outerShdw blurRad="520700" dist="101600" sx="102000" sy="102000" algn="ctr"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CE080144-37AF-4610-887E-9D43059D6D0B}"/>
              </a:ext>
            </a:extLst>
          </p:cNvPr>
          <p:cNvSpPr>
            <a:spLocks noGrp="1"/>
          </p:cNvSpPr>
          <p:nvPr>
            <p:ph type="pic" sz="quarter" idx="11"/>
          </p:nvPr>
        </p:nvSpPr>
        <p:spPr>
          <a:xfrm>
            <a:off x="1342310" y="1998370"/>
            <a:ext cx="3702797" cy="3702797"/>
          </a:xfrm>
          <a:custGeom>
            <a:avLst/>
            <a:gdLst>
              <a:gd name="connsiteX0" fmla="*/ 617145 w 3702797"/>
              <a:gd name="connsiteY0" fmla="*/ 0 h 3702797"/>
              <a:gd name="connsiteX1" fmla="*/ 3085652 w 3702797"/>
              <a:gd name="connsiteY1" fmla="*/ 0 h 3702797"/>
              <a:gd name="connsiteX2" fmla="*/ 3702797 w 3702797"/>
              <a:gd name="connsiteY2" fmla="*/ 617145 h 3702797"/>
              <a:gd name="connsiteX3" fmla="*/ 3702797 w 3702797"/>
              <a:gd name="connsiteY3" fmla="*/ 3085652 h 3702797"/>
              <a:gd name="connsiteX4" fmla="*/ 3085652 w 3702797"/>
              <a:gd name="connsiteY4" fmla="*/ 3702797 h 3702797"/>
              <a:gd name="connsiteX5" fmla="*/ 617145 w 3702797"/>
              <a:gd name="connsiteY5" fmla="*/ 3702797 h 3702797"/>
              <a:gd name="connsiteX6" fmla="*/ 0 w 3702797"/>
              <a:gd name="connsiteY6" fmla="*/ 3085652 h 3702797"/>
              <a:gd name="connsiteX7" fmla="*/ 0 w 3702797"/>
              <a:gd name="connsiteY7" fmla="*/ 617145 h 3702797"/>
              <a:gd name="connsiteX8" fmla="*/ 617145 w 3702797"/>
              <a:gd name="connsiteY8" fmla="*/ 0 h 37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797" h="3702797">
                <a:moveTo>
                  <a:pt x="617145" y="0"/>
                </a:moveTo>
                <a:lnTo>
                  <a:pt x="3085652" y="0"/>
                </a:lnTo>
                <a:cubicBezTo>
                  <a:pt x="3426492" y="0"/>
                  <a:pt x="3702797" y="276305"/>
                  <a:pt x="3702797" y="617145"/>
                </a:cubicBezTo>
                <a:lnTo>
                  <a:pt x="3702797" y="3085652"/>
                </a:lnTo>
                <a:cubicBezTo>
                  <a:pt x="3702797" y="3426492"/>
                  <a:pt x="3426492" y="3702797"/>
                  <a:pt x="3085652" y="3702797"/>
                </a:cubicBezTo>
                <a:lnTo>
                  <a:pt x="617145" y="3702797"/>
                </a:lnTo>
                <a:cubicBezTo>
                  <a:pt x="276305" y="3702797"/>
                  <a:pt x="0" y="3426492"/>
                  <a:pt x="0" y="3085652"/>
                </a:cubicBezTo>
                <a:lnTo>
                  <a:pt x="0" y="617145"/>
                </a:lnTo>
                <a:cubicBezTo>
                  <a:pt x="0" y="276305"/>
                  <a:pt x="276305" y="0"/>
                  <a:pt x="617145" y="0"/>
                </a:cubicBezTo>
                <a:close/>
              </a:path>
            </a:pathLst>
          </a:custGeom>
        </p:spPr>
        <p:txBody>
          <a:bodyPr wrap="square">
            <a:noAutofit/>
          </a:bodyPr>
          <a:lstStyle/>
          <a:p>
            <a:r>
              <a:rPr lang="en-US"/>
              <a:t>Click icon to add picture</a:t>
            </a:r>
          </a:p>
        </p:txBody>
      </p:sp>
      <p:pic>
        <p:nvPicPr>
          <p:cNvPr id="4" name="Graphic 3">
            <a:extLst>
              <a:ext uri="{FF2B5EF4-FFF2-40B4-BE49-F238E27FC236}">
                <a16:creationId xmlns:a16="http://schemas.microsoft.com/office/drawing/2014/main" id="{4D8FFC89-F55F-0C54-9004-5838569CCD92}"/>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911554" y="1858015"/>
            <a:ext cx="2851193" cy="855358"/>
          </a:xfrm>
          <a:prstGeom prst="rect">
            <a:avLst/>
          </a:prstGeom>
        </p:spPr>
      </p:pic>
      <p:sp>
        <p:nvSpPr>
          <p:cNvPr id="7" name="Rectangle 6">
            <a:extLst>
              <a:ext uri="{FF2B5EF4-FFF2-40B4-BE49-F238E27FC236}">
                <a16:creationId xmlns:a16="http://schemas.microsoft.com/office/drawing/2014/main" id="{39A5EABE-223D-9D68-DB34-1657408D9C4D}"/>
              </a:ext>
            </a:extLst>
          </p:cNvPr>
          <p:cNvSpPr/>
          <p:nvPr/>
        </p:nvSpPr>
        <p:spPr>
          <a:xfrm>
            <a:off x="113288" y="0"/>
            <a:ext cx="1521303" cy="11647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Rounded Corners 2">
            <a:extLst>
              <a:ext uri="{FF2B5EF4-FFF2-40B4-BE49-F238E27FC236}">
                <a16:creationId xmlns:a16="http://schemas.microsoft.com/office/drawing/2014/main" id="{15D7661B-58D5-53E9-C986-BCEDE510931B}"/>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 Placeholder 15">
            <a:extLst>
              <a:ext uri="{FF2B5EF4-FFF2-40B4-BE49-F238E27FC236}">
                <a16:creationId xmlns:a16="http://schemas.microsoft.com/office/drawing/2014/main" id="{5A8991E1-C02F-C634-95AF-611D4414F190}"/>
              </a:ext>
            </a:extLst>
          </p:cNvPr>
          <p:cNvSpPr>
            <a:spLocks noGrp="1"/>
          </p:cNvSpPr>
          <p:nvPr>
            <p:ph type="body" sz="quarter" idx="12"/>
          </p:nvPr>
        </p:nvSpPr>
        <p:spPr>
          <a:xfrm>
            <a:off x="7006538" y="3231021"/>
            <a:ext cx="3472306" cy="1827213"/>
          </a:xfrm>
        </p:spPr>
        <p:txBody>
          <a:bodyPr>
            <a:normAutofit/>
          </a:bodyPr>
          <a:lstStyle>
            <a:lvl1pPr>
              <a:defRPr sz="3200" b="1">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spTree>
    <p:extLst>
      <p:ext uri="{BB962C8B-B14F-4D97-AF65-F5344CB8AC3E}">
        <p14:creationId xmlns:p14="http://schemas.microsoft.com/office/powerpoint/2010/main" val="2534154135"/>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log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0722B5-9D37-347B-12DC-5AB596BEEE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5959" y="1577601"/>
            <a:ext cx="3702797" cy="3702797"/>
          </a:xfrm>
          <a:prstGeom prst="rect">
            <a:avLst/>
          </a:prstGeom>
        </p:spPr>
      </p:pic>
      <p:pic>
        <p:nvPicPr>
          <p:cNvPr id="4" name="Graphic 3">
            <a:extLst>
              <a:ext uri="{FF2B5EF4-FFF2-40B4-BE49-F238E27FC236}">
                <a16:creationId xmlns:a16="http://schemas.microsoft.com/office/drawing/2014/main" id="{4D8FFC89-F55F-0C54-9004-5838569CCD92}"/>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835313" y="2197881"/>
            <a:ext cx="2851193" cy="855358"/>
          </a:xfrm>
          <a:prstGeom prst="rect">
            <a:avLst/>
          </a:prstGeom>
        </p:spPr>
      </p:pic>
      <p:sp>
        <p:nvSpPr>
          <p:cNvPr id="7" name="Rectangle 6">
            <a:extLst>
              <a:ext uri="{FF2B5EF4-FFF2-40B4-BE49-F238E27FC236}">
                <a16:creationId xmlns:a16="http://schemas.microsoft.com/office/drawing/2014/main" id="{39A5EABE-223D-9D68-DB34-1657408D9C4D}"/>
              </a:ext>
            </a:extLst>
          </p:cNvPr>
          <p:cNvSpPr/>
          <p:nvPr/>
        </p:nvSpPr>
        <p:spPr>
          <a:xfrm>
            <a:off x="113288" y="0"/>
            <a:ext cx="1521303" cy="11647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Rounded Corners 2">
            <a:extLst>
              <a:ext uri="{FF2B5EF4-FFF2-40B4-BE49-F238E27FC236}">
                <a16:creationId xmlns:a16="http://schemas.microsoft.com/office/drawing/2014/main" id="{15D7661B-58D5-53E9-C986-BCEDE510931B}"/>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itle 8">
            <a:extLst>
              <a:ext uri="{FF2B5EF4-FFF2-40B4-BE49-F238E27FC236}">
                <a16:creationId xmlns:a16="http://schemas.microsoft.com/office/drawing/2014/main" id="{3EEE3792-9F5C-922B-FA48-98939F9B4E9F}"/>
              </a:ext>
            </a:extLst>
          </p:cNvPr>
          <p:cNvSpPr>
            <a:spLocks noGrp="1"/>
          </p:cNvSpPr>
          <p:nvPr>
            <p:ph type="title"/>
          </p:nvPr>
        </p:nvSpPr>
        <p:spPr>
          <a:xfrm>
            <a:off x="5851497" y="3205787"/>
            <a:ext cx="4393020" cy="1396057"/>
          </a:xfrm>
        </p:spPr>
        <p:txBody>
          <a:bodyPr anchor="t"/>
          <a:lstStyle>
            <a:lvl1pPr algn="l">
              <a:defRPr>
                <a:solidFill>
                  <a:schemeClr val="tx1"/>
                </a:solidFill>
              </a:defRPr>
            </a:lvl1pPr>
          </a:lstStyle>
          <a:p>
            <a:r>
              <a:rPr lang="en-US"/>
              <a:t>Click to edit Master title style</a:t>
            </a:r>
            <a:endParaRPr lang="en-IL"/>
          </a:p>
        </p:txBody>
      </p:sp>
    </p:spTree>
    <p:extLst>
      <p:ext uri="{BB962C8B-B14F-4D97-AF65-F5344CB8AC3E}">
        <p14:creationId xmlns:p14="http://schemas.microsoft.com/office/powerpoint/2010/main" val="642077800"/>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CF6553E-7D49-43BA-E1CE-1B71851F0CDA}"/>
              </a:ext>
            </a:extLst>
          </p:cNvPr>
          <p:cNvSpPr/>
          <p:nvPr userDrawn="1"/>
        </p:nvSpPr>
        <p:spPr>
          <a:xfrm>
            <a:off x="1041174" y="1478368"/>
            <a:ext cx="5054826" cy="4032308"/>
          </a:xfrm>
          <a:prstGeom prst="roundRect">
            <a:avLst>
              <a:gd name="adj" fmla="val 617"/>
            </a:avLst>
          </a:prstGeom>
          <a:gradFill>
            <a:gsLst>
              <a:gs pos="0">
                <a:schemeClr val="accent2"/>
              </a:gs>
              <a:gs pos="99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a:extLst>
              <a:ext uri="{FF2B5EF4-FFF2-40B4-BE49-F238E27FC236}">
                <a16:creationId xmlns:a16="http://schemas.microsoft.com/office/drawing/2014/main" id="{48CBBEB7-B4F8-2589-07E2-4021B268F957}"/>
              </a:ext>
            </a:extLst>
          </p:cNvPr>
          <p:cNvSpPr>
            <a:spLocks noGrp="1"/>
          </p:cNvSpPr>
          <p:nvPr>
            <p:ph type="title"/>
          </p:nvPr>
        </p:nvSpPr>
        <p:spPr>
          <a:xfrm>
            <a:off x="6472983" y="1582680"/>
            <a:ext cx="4708471" cy="2128130"/>
          </a:xfrm>
          <a:prstGeom prst="rect">
            <a:avLst/>
          </a:prstGeom>
        </p:spPr>
        <p:txBody>
          <a:bodyPr>
            <a:noAutofit/>
          </a:bodyPr>
          <a:lstStyle>
            <a:lvl1pPr algn="l">
              <a:defRPr sz="3600" b="1">
                <a:solidFill>
                  <a:schemeClr val="tx1"/>
                </a:solidFill>
              </a:defRPr>
            </a:lvl1pPr>
          </a:lstStyle>
          <a:p>
            <a:r>
              <a:rPr lang="en-US"/>
              <a:t>Click to edit Master title style</a:t>
            </a:r>
            <a:endParaRPr lang="en-IL"/>
          </a:p>
        </p:txBody>
      </p:sp>
      <p:sp>
        <p:nvSpPr>
          <p:cNvPr id="5" name="Rectangle: Rounded Corners 2">
            <a:extLst>
              <a:ext uri="{FF2B5EF4-FFF2-40B4-BE49-F238E27FC236}">
                <a16:creationId xmlns:a16="http://schemas.microsoft.com/office/drawing/2014/main" id="{3810EE8E-F791-0EA7-F70A-EE0293CCA476}"/>
              </a:ext>
            </a:extLst>
          </p:cNvPr>
          <p:cNvSpPr/>
          <p:nvPr/>
        </p:nvSpPr>
        <p:spPr>
          <a:xfrm flipV="1">
            <a:off x="1" y="6691182"/>
            <a:ext cx="12192000" cy="174247"/>
          </a:xfrm>
          <a:prstGeom prst="roundRect">
            <a:avLst>
              <a:gd name="adj" fmla="val 617"/>
            </a:avLst>
          </a:prstGeom>
          <a:gradFill flip="none" rotWithShape="1">
            <a:gsLst>
              <a:gs pos="0">
                <a:schemeClr val="accent2"/>
              </a:gs>
              <a:gs pos="99000">
                <a:schemeClr val="tx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ight Triangle 34">
            <a:extLst>
              <a:ext uri="{FF2B5EF4-FFF2-40B4-BE49-F238E27FC236}">
                <a16:creationId xmlns:a16="http://schemas.microsoft.com/office/drawing/2014/main" id="{2839356A-171E-2146-FA4F-C02129C84AB0}"/>
              </a:ext>
            </a:extLst>
          </p:cNvPr>
          <p:cNvSpPr/>
          <p:nvPr/>
        </p:nvSpPr>
        <p:spPr>
          <a:xfrm rot="5400000">
            <a:off x="1142229" y="1582679"/>
            <a:ext cx="276526" cy="276526"/>
          </a:xfrm>
          <a:prstGeom prst="rtTriangle">
            <a:avLst/>
          </a:prstGeom>
          <a:solidFill>
            <a:srgbClr val="E3EFFF"/>
          </a:solidFill>
          <a:ln>
            <a:noFill/>
          </a:ln>
          <a:effectLst>
            <a:outerShdw blurRad="457200" sx="102000" sy="102000" algn="ctr" rotWithShape="0">
              <a:prstClr val="black">
                <a:alpha val="3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Title 1">
            <a:extLst>
              <a:ext uri="{FF2B5EF4-FFF2-40B4-BE49-F238E27FC236}">
                <a16:creationId xmlns:a16="http://schemas.microsoft.com/office/drawing/2014/main" id="{E801F289-0ECE-E3D3-110F-3BB9C30B5C26}"/>
              </a:ext>
            </a:extLst>
          </p:cNvPr>
          <p:cNvSpPr txBox="1">
            <a:spLocks/>
          </p:cNvSpPr>
          <p:nvPr/>
        </p:nvSpPr>
        <p:spPr>
          <a:xfrm>
            <a:off x="1830732" y="2817803"/>
            <a:ext cx="3475710" cy="16532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n-lt"/>
                <a:ea typeface="+mj-ea"/>
                <a:cs typeface="+mj-cs"/>
              </a:defRPr>
            </a:lvl1pPr>
          </a:lstStyle>
          <a:p>
            <a:pPr algn="ctr"/>
            <a:r>
              <a:rPr lang="en-US" sz="3200">
                <a:solidFill>
                  <a:schemeClr val="bg1"/>
                </a:solidFill>
              </a:rPr>
              <a:t>Click to edit Master title style</a:t>
            </a:r>
            <a:endParaRPr lang="en-IL" sz="3200">
              <a:solidFill>
                <a:schemeClr val="bg1"/>
              </a:solidFill>
            </a:endParaRPr>
          </a:p>
        </p:txBody>
      </p:sp>
      <p:sp>
        <p:nvSpPr>
          <p:cNvPr id="60" name="Content Placeholder 6">
            <a:extLst>
              <a:ext uri="{FF2B5EF4-FFF2-40B4-BE49-F238E27FC236}">
                <a16:creationId xmlns:a16="http://schemas.microsoft.com/office/drawing/2014/main" id="{7CD1E4E9-373E-B08C-9BF0-9099F0C25D0C}"/>
              </a:ext>
            </a:extLst>
          </p:cNvPr>
          <p:cNvSpPr>
            <a:spLocks noGrp="1"/>
          </p:cNvSpPr>
          <p:nvPr>
            <p:ph sz="quarter" idx="14"/>
          </p:nvPr>
        </p:nvSpPr>
        <p:spPr>
          <a:xfrm>
            <a:off x="6472983" y="3987350"/>
            <a:ext cx="4255317" cy="589735"/>
          </a:xfrm>
        </p:spPr>
        <p:txBody>
          <a:bodyPr/>
          <a:lstStyle>
            <a:lvl1pPr marL="0" indent="0">
              <a:buNone/>
              <a:defRPr sz="1800" b="1"/>
            </a:lvl1pPr>
          </a:lstStyle>
          <a:p>
            <a:pPr lvl="0"/>
            <a:r>
              <a:rPr lang="en-US"/>
              <a:t>Click to edit Master text styles</a:t>
            </a:r>
          </a:p>
        </p:txBody>
      </p:sp>
      <p:sp>
        <p:nvSpPr>
          <p:cNvPr id="61" name="Content Placeholder 6">
            <a:extLst>
              <a:ext uri="{FF2B5EF4-FFF2-40B4-BE49-F238E27FC236}">
                <a16:creationId xmlns:a16="http://schemas.microsoft.com/office/drawing/2014/main" id="{C3FC5C1B-8B04-A893-0281-824EF33B9761}"/>
              </a:ext>
            </a:extLst>
          </p:cNvPr>
          <p:cNvSpPr>
            <a:spLocks noGrp="1"/>
          </p:cNvSpPr>
          <p:nvPr>
            <p:ph sz="quarter" idx="15"/>
          </p:nvPr>
        </p:nvSpPr>
        <p:spPr>
          <a:xfrm>
            <a:off x="6472982" y="4577085"/>
            <a:ext cx="4255317" cy="589735"/>
          </a:xfrm>
        </p:spPr>
        <p:txBody>
          <a:bodyPr>
            <a:normAutofit/>
          </a:bodyPr>
          <a:lstStyle>
            <a:lvl1pPr marL="0" indent="0">
              <a:buFont typeface="Arial" panose="020B0604020202020204" pitchFamily="34" charset="0"/>
              <a:buNone/>
              <a:defRPr sz="1600" b="0">
                <a:solidFill>
                  <a:schemeClr val="tx1">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1789238096"/>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4113-52B6-8171-1E2D-FC529671065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62729150"/>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911FC77-AF24-FB37-1640-3D361C1BF0C2}"/>
              </a:ext>
            </a:extLst>
          </p:cNvPr>
          <p:cNvSpPr/>
          <p:nvPr userDrawn="1"/>
        </p:nvSpPr>
        <p:spPr>
          <a:xfrm>
            <a:off x="143932" y="203200"/>
            <a:ext cx="1176867" cy="482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5666877"/>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Cover">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92DB551-97C2-22BF-B760-90EAA00E4B91}"/>
              </a:ext>
            </a:extLst>
          </p:cNvPr>
          <p:cNvSpPr/>
          <p:nvPr/>
        </p:nvSpPr>
        <p:spPr>
          <a:xfrm>
            <a:off x="80920" y="72828"/>
            <a:ext cx="1521303" cy="10919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Content Placeholder 3">
            <a:extLst>
              <a:ext uri="{FF2B5EF4-FFF2-40B4-BE49-F238E27FC236}">
                <a16:creationId xmlns:a16="http://schemas.microsoft.com/office/drawing/2014/main" id="{0F447F73-6D9E-DF1B-CF21-A4B39B369CFA}"/>
              </a:ext>
            </a:extLst>
          </p:cNvPr>
          <p:cNvSpPr>
            <a:spLocks noGrp="1"/>
          </p:cNvSpPr>
          <p:nvPr>
            <p:ph sz="quarter" idx="10"/>
          </p:nvPr>
        </p:nvSpPr>
        <p:spPr>
          <a:xfrm>
            <a:off x="7278885" y="4157574"/>
            <a:ext cx="4317001" cy="1443045"/>
          </a:xfrm>
          <a:prstGeom prst="rect">
            <a:avLst/>
          </a:prstGeom>
        </p:spPr>
        <p:txBody>
          <a:bodyPr/>
          <a:lstStyle>
            <a:lvl1pPr marL="0" indent="0">
              <a:buFont typeface="Arial" panose="020B0604020202020204" pitchFamily="34" charset="0"/>
              <a:buNone/>
              <a:defRPr sz="2000" b="1" spc="0">
                <a:solidFill>
                  <a:schemeClr val="tx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to edit Master text styles</a:t>
            </a:r>
          </a:p>
          <a:p>
            <a:pPr marL="2286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Second level</a:t>
            </a:r>
          </a:p>
          <a:p>
            <a:pPr marL="228600" marR="0" lvl="2"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Third level</a:t>
            </a:r>
          </a:p>
          <a:p>
            <a:pPr marL="228600" marR="0" lvl="3"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Fourth level</a:t>
            </a:r>
          </a:p>
        </p:txBody>
      </p:sp>
      <p:pic>
        <p:nvPicPr>
          <p:cNvPr id="30" name="Graphic 29">
            <a:extLst>
              <a:ext uri="{FF2B5EF4-FFF2-40B4-BE49-F238E27FC236}">
                <a16:creationId xmlns:a16="http://schemas.microsoft.com/office/drawing/2014/main" id="{A384254D-7517-A188-8627-503DAFC9305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57245" y="2637401"/>
            <a:ext cx="1509642" cy="1509642"/>
          </a:xfrm>
          <a:prstGeom prst="rect">
            <a:avLst/>
          </a:prstGeom>
        </p:spPr>
      </p:pic>
      <p:sp>
        <p:nvSpPr>
          <p:cNvPr id="3" name="Title 2">
            <a:extLst>
              <a:ext uri="{FF2B5EF4-FFF2-40B4-BE49-F238E27FC236}">
                <a16:creationId xmlns:a16="http://schemas.microsoft.com/office/drawing/2014/main" id="{2CB724A9-25D9-9C5C-A6F4-F06D77A362C1}"/>
              </a:ext>
            </a:extLst>
          </p:cNvPr>
          <p:cNvSpPr>
            <a:spLocks noGrp="1"/>
          </p:cNvSpPr>
          <p:nvPr>
            <p:ph type="title"/>
          </p:nvPr>
        </p:nvSpPr>
        <p:spPr>
          <a:xfrm>
            <a:off x="7278885" y="2700426"/>
            <a:ext cx="4524957" cy="1305935"/>
          </a:xfrm>
        </p:spPr>
        <p:txBody>
          <a:bodyPr anchor="t"/>
          <a:lstStyle>
            <a:lvl1pPr algn="l">
              <a:defRPr sz="3600"/>
            </a:lvl1pPr>
          </a:lstStyle>
          <a:p>
            <a:r>
              <a:rPr lang="en-US"/>
              <a:t>Click to edit Master title style</a:t>
            </a:r>
          </a:p>
        </p:txBody>
      </p:sp>
    </p:spTree>
    <p:extLst>
      <p:ext uri="{BB962C8B-B14F-4D97-AF65-F5344CB8AC3E}">
        <p14:creationId xmlns:p14="http://schemas.microsoft.com/office/powerpoint/2010/main" val="3085769553"/>
      </p:ext>
    </p:extLst>
  </p:cSld>
  <p:clrMapOvr>
    <a:masterClrMapping/>
  </p:clrMapOvr>
  <p:transition spd="slow">
    <p:wipe dir="r"/>
  </p:transition>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2AED8235-2D3E-644C-A4F6-A65FDBB30437}"/>
              </a:ext>
            </a:extLst>
          </p:cNvPr>
          <p:cNvSpPr>
            <a:spLocks noGrp="1"/>
          </p:cNvSpPr>
          <p:nvPr>
            <p:ph type="body" idx="1"/>
          </p:nvPr>
        </p:nvSpPr>
        <p:spPr>
          <a:xfrm>
            <a:off x="838200" y="1432290"/>
            <a:ext cx="10515600" cy="4744673"/>
          </a:xfrm>
          <a:prstGeom prst="rect">
            <a:avLst/>
          </a:prstGeom>
        </p:spPr>
        <p:txBody>
          <a:bodyPr vert="horz" lIns="91440" tIns="45720" rIns="91440" bIns="45720" rtlCol="0">
            <a:normAutofit/>
          </a:bodyPr>
          <a:lstStyle/>
          <a:p>
            <a:pPr lvl="0"/>
            <a:r>
              <a:rPr lang="en-US" dirty="0"/>
              <a:t>Click to </a:t>
            </a:r>
            <a:r>
              <a:rPr lang="en-US" noProof="0" dirty="0"/>
              <a:t>edit Master </a:t>
            </a:r>
            <a:r>
              <a:rPr lang="en-US" dirty="0"/>
              <a:t>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7" name="Title Placeholder 16">
            <a:extLst>
              <a:ext uri="{FF2B5EF4-FFF2-40B4-BE49-F238E27FC236}">
                <a16:creationId xmlns:a16="http://schemas.microsoft.com/office/drawing/2014/main" id="{C94B83B8-5520-6AC4-EAF0-3AF8E53A3E55}"/>
              </a:ext>
            </a:extLst>
          </p:cNvPr>
          <p:cNvSpPr>
            <a:spLocks noGrp="1"/>
          </p:cNvSpPr>
          <p:nvPr>
            <p:ph type="title"/>
          </p:nvPr>
        </p:nvSpPr>
        <p:spPr>
          <a:xfrm>
            <a:off x="1318622" y="386169"/>
            <a:ext cx="9554756" cy="589735"/>
          </a:xfrm>
          <a:prstGeom prst="rect">
            <a:avLst/>
          </a:prstGeom>
        </p:spPr>
        <p:txBody>
          <a:bodyPr vert="horz" lIns="91440" tIns="45720" rIns="91440" bIns="45720" rtlCol="0" anchor="ctr">
            <a:normAutofit/>
          </a:bodyPr>
          <a:lstStyle/>
          <a:p>
            <a:r>
              <a:rPr lang="en-US"/>
              <a:t>Click to edit Master title style</a:t>
            </a:r>
            <a:endParaRPr lang="en-IL"/>
          </a:p>
        </p:txBody>
      </p:sp>
      <p:pic>
        <p:nvPicPr>
          <p:cNvPr id="21" name="Graphic 20">
            <a:extLst>
              <a:ext uri="{FF2B5EF4-FFF2-40B4-BE49-F238E27FC236}">
                <a16:creationId xmlns:a16="http://schemas.microsoft.com/office/drawing/2014/main" id="{E8E1D21A-1A6C-C984-9ADC-5CE9475EA1AC}"/>
              </a:ext>
            </a:extLst>
          </p:cNvPr>
          <p:cNvPicPr>
            <a:picLocks noChangeAspect="1"/>
          </p:cNvPicPr>
          <p:nvPr/>
        </p:nvPicPr>
        <p:blipFill>
          <a:blip r:embed="rId17" cstate="hq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215604" y="386169"/>
            <a:ext cx="1025924" cy="307777"/>
          </a:xfrm>
          <a:prstGeom prst="rect">
            <a:avLst/>
          </a:prstGeom>
        </p:spPr>
      </p:pic>
      <p:sp>
        <p:nvSpPr>
          <p:cNvPr id="2" name="Date Placeholder 4">
            <a:extLst>
              <a:ext uri="{FF2B5EF4-FFF2-40B4-BE49-F238E27FC236}">
                <a16:creationId xmlns:a16="http://schemas.microsoft.com/office/drawing/2014/main" id="{0E393809-AAD2-2093-C9B6-D4856C465E6A}"/>
              </a:ext>
            </a:extLst>
          </p:cNvPr>
          <p:cNvSpPr>
            <a:spLocks noGrp="1"/>
          </p:cNvSpPr>
          <p:nvPr>
            <p:ph type="dt" sz="half" idx="2"/>
          </p:nvPr>
        </p:nvSpPr>
        <p:spPr>
          <a:xfrm>
            <a:off x="838200" y="6356350"/>
            <a:ext cx="2743199" cy="365125"/>
          </a:xfrm>
          <a:prstGeom prst="rect">
            <a:avLst/>
          </a:prstGeom>
        </p:spPr>
        <p:txBody>
          <a:bodyPr/>
          <a:lstStyle>
            <a:lvl1pPr>
              <a:defRPr sz="1100">
                <a:solidFill>
                  <a:schemeClr val="tx1">
                    <a:lumMod val="60000"/>
                    <a:lumOff val="40000"/>
                  </a:schemeClr>
                </a:solidFill>
              </a:defRPr>
            </a:lvl1pPr>
          </a:lstStyle>
          <a:p>
            <a:fld id="{11A8D46A-5540-D042-B349-A8BC7C95A2BE}" type="datetimeFigureOut">
              <a:rPr lang="en-IL" smtClean="0"/>
              <a:pPr/>
              <a:t>01/17/2026</a:t>
            </a:fld>
            <a:endParaRPr lang="en-IL"/>
          </a:p>
        </p:txBody>
      </p:sp>
      <p:sp>
        <p:nvSpPr>
          <p:cNvPr id="3" name="Footer Placeholder 5">
            <a:extLst>
              <a:ext uri="{FF2B5EF4-FFF2-40B4-BE49-F238E27FC236}">
                <a16:creationId xmlns:a16="http://schemas.microsoft.com/office/drawing/2014/main" id="{C03BC77C-B92D-BCA1-FCD3-A3EB5DAAD752}"/>
              </a:ext>
            </a:extLst>
          </p:cNvPr>
          <p:cNvSpPr>
            <a:spLocks noGrp="1"/>
          </p:cNvSpPr>
          <p:nvPr>
            <p:ph type="ftr" sz="quarter" idx="3"/>
          </p:nvPr>
        </p:nvSpPr>
        <p:spPr>
          <a:xfrm>
            <a:off x="4038600" y="6356350"/>
            <a:ext cx="4114800" cy="365125"/>
          </a:xfrm>
          <a:prstGeom prst="rect">
            <a:avLst/>
          </a:prstGeom>
        </p:spPr>
        <p:txBody>
          <a:bodyPr/>
          <a:lstStyle>
            <a:lvl1pPr algn="ctr">
              <a:defRPr sz="1100">
                <a:solidFill>
                  <a:schemeClr val="tx1">
                    <a:lumMod val="60000"/>
                    <a:lumOff val="40000"/>
                  </a:schemeClr>
                </a:solidFill>
              </a:defRPr>
            </a:lvl1pPr>
          </a:lstStyle>
          <a:p>
            <a:endParaRPr lang="en-IL"/>
          </a:p>
        </p:txBody>
      </p:sp>
      <p:sp>
        <p:nvSpPr>
          <p:cNvPr id="4" name="Slide Number Placeholder 6">
            <a:extLst>
              <a:ext uri="{FF2B5EF4-FFF2-40B4-BE49-F238E27FC236}">
                <a16:creationId xmlns:a16="http://schemas.microsoft.com/office/drawing/2014/main" id="{5C3C4BD0-B3AD-B9B3-9980-E32B58DA1D73}"/>
              </a:ext>
            </a:extLst>
          </p:cNvPr>
          <p:cNvSpPr>
            <a:spLocks noGrp="1"/>
          </p:cNvSpPr>
          <p:nvPr>
            <p:ph type="sldNum" sz="quarter" idx="4"/>
          </p:nvPr>
        </p:nvSpPr>
        <p:spPr>
          <a:xfrm>
            <a:off x="8610600" y="6356350"/>
            <a:ext cx="2743200" cy="365125"/>
          </a:xfrm>
          <a:prstGeom prst="rect">
            <a:avLst/>
          </a:prstGeom>
        </p:spPr>
        <p:txBody>
          <a:bodyPr/>
          <a:lstStyle>
            <a:lvl1pPr algn="r" rtl="1">
              <a:defRPr sz="1100">
                <a:solidFill>
                  <a:schemeClr val="tx1">
                    <a:lumMod val="60000"/>
                    <a:lumOff val="40000"/>
                  </a:schemeClr>
                </a:solidFill>
              </a:defRPr>
            </a:lvl1pPr>
          </a:lstStyle>
          <a:p>
            <a:fld id="{0CD2D99E-3C87-4344-A2E9-B25C5378F534}" type="slidenum">
              <a:rPr lang="en-IL" smtClean="0"/>
              <a:pPr/>
              <a:t>‹#›</a:t>
            </a:fld>
            <a:endParaRPr lang="en-IL"/>
          </a:p>
        </p:txBody>
      </p:sp>
    </p:spTree>
    <p:extLst>
      <p:ext uri="{BB962C8B-B14F-4D97-AF65-F5344CB8AC3E}">
        <p14:creationId xmlns:p14="http://schemas.microsoft.com/office/powerpoint/2010/main" val="341429551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726" r:id="rId3"/>
    <p:sldLayoutId id="2147483682"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725" r:id="rId15"/>
  </p:sldLayoutIdLst>
  <p:transition spd="slow">
    <p:wipe dir="r"/>
  </p:transition>
  <p:txStyles>
    <p:titleStyle>
      <a:lvl1pPr algn="ctr" defTabSz="914400" rtl="0" eaLnBrk="1" latinLnBrk="0" hangingPunct="1">
        <a:lnSpc>
          <a:spcPct val="90000"/>
        </a:lnSpc>
        <a:spcBef>
          <a:spcPct val="0"/>
        </a:spcBef>
        <a:buNone/>
        <a:defRPr sz="3200" b="1" kern="1200">
          <a:solidFill>
            <a:schemeClr val="tx2"/>
          </a:solidFill>
          <a:latin typeface="Roboto" panose="02000000000000000000" pitchFamily="2" charset="0"/>
          <a:ea typeface="Roboto" panose="02000000000000000000" pitchFamily="2" charset="0"/>
          <a:cs typeface="Roboto" panose="02000000000000000000" pitchFamily="2" charset="0"/>
        </a:defRPr>
      </a:lvl1pPr>
    </p:titleStyle>
    <p:body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1.png"/><Relationship Id="rId5" Type="http://schemas.openxmlformats.org/officeDocument/2006/relationships/image" Target="../media/image13.jpg"/><Relationship Id="rId4" Type="http://schemas.openxmlformats.org/officeDocument/2006/relationships/image" Target="../media/image12.svg"/></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hyperlink" Target="https://support.k2view.com/Academy/articles/17_fabric_credentials/01_fabric_credentials_overview.html"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0C95F-F1CE-2B21-D3C2-FAFF1590535C}"/>
              </a:ext>
            </a:extLst>
          </p:cNvPr>
          <p:cNvSpPr>
            <a:spLocks noGrp="1"/>
          </p:cNvSpPr>
          <p:nvPr>
            <p:ph sz="quarter" idx="10"/>
          </p:nvPr>
        </p:nvSpPr>
        <p:spPr>
          <a:xfrm>
            <a:off x="7944928" y="2185245"/>
            <a:ext cx="3419322" cy="881821"/>
          </a:xfrm>
        </p:spPr>
        <p:txBody>
          <a:bodyPr>
            <a:noAutofit/>
          </a:bodyPr>
          <a:lstStyle/>
          <a:p>
            <a:r>
              <a:rPr lang="en-US" sz="4400" dirty="0">
                <a:latin typeface="Roboto" panose="02000000000000000000" pitchFamily="2" charset="0"/>
                <a:ea typeface="Roboto" panose="02000000000000000000" pitchFamily="2" charset="0"/>
              </a:rPr>
              <a:t>Alpinist</a:t>
            </a:r>
            <a:endParaRPr lang="en-IL" sz="4400" dirty="0">
              <a:latin typeface="Roboto" panose="02000000000000000000" pitchFamily="2" charset="0"/>
              <a:ea typeface="Roboto" panose="02000000000000000000" pitchFamily="2" charset="0"/>
            </a:endParaRPr>
          </a:p>
        </p:txBody>
      </p:sp>
      <p:sp>
        <p:nvSpPr>
          <p:cNvPr id="3" name="Title 2">
            <a:extLst>
              <a:ext uri="{FF2B5EF4-FFF2-40B4-BE49-F238E27FC236}">
                <a16:creationId xmlns:a16="http://schemas.microsoft.com/office/drawing/2014/main" id="{98B7E7F3-B74B-5CA6-89CD-1EDD4DB8F739}"/>
              </a:ext>
            </a:extLst>
          </p:cNvPr>
          <p:cNvSpPr>
            <a:spLocks noGrp="1"/>
          </p:cNvSpPr>
          <p:nvPr>
            <p:ph type="title"/>
          </p:nvPr>
        </p:nvSpPr>
        <p:spPr>
          <a:xfrm>
            <a:off x="6839293" y="3429000"/>
            <a:ext cx="4524957" cy="2119813"/>
          </a:xfrm>
        </p:spPr>
        <p:txBody>
          <a:bodyPr>
            <a:normAutofit/>
          </a:bodyPr>
          <a:lstStyle/>
          <a:p>
            <a:r>
              <a:rPr lang="en-US" dirty="0">
                <a:latin typeface="Roboto"/>
                <a:ea typeface="Roboto"/>
                <a:cs typeface="Roboto"/>
              </a:rPr>
              <a:t>Course 12 - </a:t>
            </a:r>
            <a:r>
              <a:rPr lang="en-US" dirty="0" err="1">
                <a:latin typeface="Roboto"/>
                <a:ea typeface="Roboto"/>
                <a:cs typeface="Roboto"/>
              </a:rPr>
              <a:t>Graphit</a:t>
            </a:r>
            <a:br>
              <a:rPr lang="en-US" dirty="0">
                <a:latin typeface="Roboto"/>
                <a:ea typeface="Roboto"/>
                <a:cs typeface="Roboto"/>
              </a:rPr>
            </a:br>
            <a:endParaRPr lang="en-US" dirty="0"/>
          </a:p>
        </p:txBody>
      </p:sp>
      <p:pic>
        <p:nvPicPr>
          <p:cNvPr id="4" name="Graphic 3">
            <a:extLst>
              <a:ext uri="{FF2B5EF4-FFF2-40B4-BE49-F238E27FC236}">
                <a16:creationId xmlns:a16="http://schemas.microsoft.com/office/drawing/2014/main" id="{0D5B06E2-5CFE-9DDE-45C1-C70BB490435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49683" y="1804772"/>
            <a:ext cx="1095245" cy="1095245"/>
          </a:xfrm>
          <a:prstGeom prst="rect">
            <a:avLst/>
          </a:prstGeom>
        </p:spPr>
      </p:pic>
      <p:pic>
        <p:nvPicPr>
          <p:cNvPr id="5" name="Picture Placeholder 4">
            <a:extLst>
              <a:ext uri="{FF2B5EF4-FFF2-40B4-BE49-F238E27FC236}">
                <a16:creationId xmlns:a16="http://schemas.microsoft.com/office/drawing/2014/main" id="{FF0E64FE-5B39-8FC5-4E55-0F92708C973D}"/>
              </a:ext>
            </a:extLst>
          </p:cNvPr>
          <p:cNvPicPr>
            <a:picLocks noChangeAspect="1"/>
          </p:cNvPicPr>
          <p:nvPr/>
        </p:nvPicPr>
        <p:blipFill rotWithShape="1">
          <a:blip r:embed="rId5">
            <a:extLst>
              <a:ext uri="{28A0092B-C50C-407E-A947-70E740481C1C}">
                <a14:useLocalDpi xmlns:a14="http://schemas.microsoft.com/office/drawing/2010/main" val="0"/>
              </a:ext>
            </a:extLst>
          </a:blip>
          <a:srcRect t="16140" r="16140"/>
          <a:stretch/>
        </p:blipFill>
        <p:spPr>
          <a:xfrm>
            <a:off x="768556" y="558801"/>
            <a:ext cx="5287020" cy="6299200"/>
          </a:xfrm>
          <a:custGeom>
            <a:avLst/>
            <a:gdLst>
              <a:gd name="connsiteX0" fmla="*/ 12647 w 2049737"/>
              <a:gd name="connsiteY0" fmla="*/ 0 h 2159877"/>
              <a:gd name="connsiteX1" fmla="*/ 2037090 w 2049737"/>
              <a:gd name="connsiteY1" fmla="*/ 0 h 2159877"/>
              <a:gd name="connsiteX2" fmla="*/ 2049737 w 2049737"/>
              <a:gd name="connsiteY2" fmla="*/ 12647 h 2159877"/>
              <a:gd name="connsiteX3" fmla="*/ 2049737 w 2049737"/>
              <a:gd name="connsiteY3" fmla="*/ 2147230 h 2159877"/>
              <a:gd name="connsiteX4" fmla="*/ 2037090 w 2049737"/>
              <a:gd name="connsiteY4" fmla="*/ 2159877 h 2159877"/>
              <a:gd name="connsiteX5" fmla="*/ 12647 w 2049737"/>
              <a:gd name="connsiteY5" fmla="*/ 2159877 h 2159877"/>
              <a:gd name="connsiteX6" fmla="*/ 0 w 2049737"/>
              <a:gd name="connsiteY6" fmla="*/ 2147230 h 2159877"/>
              <a:gd name="connsiteX7" fmla="*/ 0 w 2049737"/>
              <a:gd name="connsiteY7" fmla="*/ 12647 h 2159877"/>
              <a:gd name="connsiteX8" fmla="*/ 12647 w 2049737"/>
              <a:gd name="connsiteY8" fmla="*/ 0 h 2159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9737" h="2159877">
                <a:moveTo>
                  <a:pt x="12647" y="0"/>
                </a:moveTo>
                <a:lnTo>
                  <a:pt x="2037090" y="0"/>
                </a:lnTo>
                <a:cubicBezTo>
                  <a:pt x="2044075" y="0"/>
                  <a:pt x="2049737" y="5662"/>
                  <a:pt x="2049737" y="12647"/>
                </a:cubicBezTo>
                <a:lnTo>
                  <a:pt x="2049737" y="2147230"/>
                </a:lnTo>
                <a:cubicBezTo>
                  <a:pt x="2049737" y="2154215"/>
                  <a:pt x="2044075" y="2159877"/>
                  <a:pt x="2037090" y="2159877"/>
                </a:cubicBezTo>
                <a:lnTo>
                  <a:pt x="12647" y="2159877"/>
                </a:lnTo>
                <a:cubicBezTo>
                  <a:pt x="5662" y="2159877"/>
                  <a:pt x="0" y="2154215"/>
                  <a:pt x="0" y="2147230"/>
                </a:cubicBezTo>
                <a:lnTo>
                  <a:pt x="0" y="12647"/>
                </a:lnTo>
                <a:cubicBezTo>
                  <a:pt x="0" y="5662"/>
                  <a:pt x="5662" y="0"/>
                  <a:pt x="12647" y="0"/>
                </a:cubicBezTo>
                <a:close/>
              </a:path>
            </a:pathLst>
          </a:custGeom>
          <a:effectLst>
            <a:outerShdw blurRad="381000" algn="ctr" rotWithShape="0">
              <a:schemeClr val="tx1">
                <a:lumMod val="75000"/>
                <a:lumOff val="25000"/>
                <a:alpha val="40000"/>
              </a:schemeClr>
            </a:outerShdw>
          </a:effectLst>
        </p:spPr>
      </p:pic>
      <p:pic>
        <p:nvPicPr>
          <p:cNvPr id="6" name="Graphic 5">
            <a:extLst>
              <a:ext uri="{FF2B5EF4-FFF2-40B4-BE49-F238E27FC236}">
                <a16:creationId xmlns:a16="http://schemas.microsoft.com/office/drawing/2014/main" id="{6F2BB523-2DC2-0891-8EAB-C10C0EA55CF3}"/>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8133" y="130254"/>
            <a:ext cx="1025924" cy="307777"/>
          </a:xfrm>
          <a:prstGeom prst="rect">
            <a:avLst/>
          </a:prstGeom>
        </p:spPr>
      </p:pic>
    </p:spTree>
    <p:extLst>
      <p:ext uri="{BB962C8B-B14F-4D97-AF65-F5344CB8AC3E}">
        <p14:creationId xmlns:p14="http://schemas.microsoft.com/office/powerpoint/2010/main" val="1810261612"/>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1B19-C394-C8B8-D306-4F48501F455B}"/>
              </a:ext>
            </a:extLst>
          </p:cNvPr>
          <p:cNvSpPr>
            <a:spLocks noGrp="1"/>
          </p:cNvSpPr>
          <p:nvPr>
            <p:ph type="title"/>
          </p:nvPr>
        </p:nvSpPr>
        <p:spPr/>
        <p:txBody>
          <a:bodyPr/>
          <a:lstStyle/>
          <a:p>
            <a:r>
              <a:rPr lang="en-US" dirty="0"/>
              <a:t>Agenda</a:t>
            </a:r>
          </a:p>
        </p:txBody>
      </p:sp>
      <p:sp>
        <p:nvSpPr>
          <p:cNvPr id="8" name="Text Placeholder 7">
            <a:extLst>
              <a:ext uri="{FF2B5EF4-FFF2-40B4-BE49-F238E27FC236}">
                <a16:creationId xmlns:a16="http://schemas.microsoft.com/office/drawing/2014/main" id="{4F70D577-75DE-26EF-68DA-DCB96DCDB301}"/>
              </a:ext>
            </a:extLst>
          </p:cNvPr>
          <p:cNvSpPr>
            <a:spLocks noGrp="1"/>
          </p:cNvSpPr>
          <p:nvPr>
            <p:ph type="body" sz="quarter" idx="17"/>
          </p:nvPr>
        </p:nvSpPr>
        <p:spPr/>
        <p:txBody>
          <a:bodyPr/>
          <a:lstStyle/>
          <a:p>
            <a:r>
              <a:rPr lang="en-US"/>
              <a:t>WELCOME</a:t>
            </a:r>
          </a:p>
        </p:txBody>
      </p:sp>
      <p:sp>
        <p:nvSpPr>
          <p:cNvPr id="9" name="Content Placeholder 8">
            <a:extLst>
              <a:ext uri="{FF2B5EF4-FFF2-40B4-BE49-F238E27FC236}">
                <a16:creationId xmlns:a16="http://schemas.microsoft.com/office/drawing/2014/main" id="{303698EF-329A-BBC0-4024-5B838DF64D6B}"/>
              </a:ext>
            </a:extLst>
          </p:cNvPr>
          <p:cNvSpPr>
            <a:spLocks noGrp="1"/>
          </p:cNvSpPr>
          <p:nvPr>
            <p:ph sz="quarter" idx="4294967295"/>
          </p:nvPr>
        </p:nvSpPr>
        <p:spPr>
          <a:xfrm>
            <a:off x="6450483" y="1453984"/>
            <a:ext cx="5623530" cy="4740339"/>
          </a:xfrm>
        </p:spPr>
        <p:txBody>
          <a:bodyPr vert="horz" lIns="91440" tIns="45720" rIns="91440" bIns="45720" rtlCol="0" anchor="t">
            <a:normAutofit/>
          </a:bodyPr>
          <a:lstStyle/>
          <a:p>
            <a:pPr lvl="1"/>
            <a:endParaRPr lang="en-US" sz="2000" dirty="0"/>
          </a:p>
          <a:p>
            <a:pPr lvl="1"/>
            <a:r>
              <a:rPr lang="en-US" sz="2000" dirty="0"/>
              <a:t>What is </a:t>
            </a:r>
            <a:r>
              <a:rPr lang="en-US" sz="2000" dirty="0" err="1"/>
              <a:t>Graphit</a:t>
            </a:r>
            <a:endParaRPr lang="en-US" sz="2000" dirty="0"/>
          </a:p>
          <a:p>
            <a:pPr lvl="1"/>
            <a:r>
              <a:rPr lang="en-US" sz="2000" dirty="0"/>
              <a:t>Node types</a:t>
            </a:r>
          </a:p>
          <a:p>
            <a:pPr lvl="1"/>
            <a:r>
              <a:rPr lang="en-US" sz="2000" dirty="0"/>
              <a:t>Node properties</a:t>
            </a:r>
          </a:p>
          <a:p>
            <a:pPr lvl="1"/>
            <a:r>
              <a:rPr lang="en-US" sz="2000" dirty="0"/>
              <a:t>Parameters</a:t>
            </a:r>
          </a:p>
          <a:p>
            <a:pPr lvl="1"/>
            <a:r>
              <a:rPr lang="en-US" sz="2000" dirty="0"/>
              <a:t>Variables</a:t>
            </a:r>
          </a:p>
          <a:p>
            <a:pPr lvl="1"/>
            <a:r>
              <a:rPr lang="en-US" sz="2000" dirty="0"/>
              <a:t>Error handling</a:t>
            </a:r>
          </a:p>
          <a:p>
            <a:pPr lvl="1"/>
            <a:r>
              <a:rPr lang="en-US" sz="2000" dirty="0"/>
              <a:t>Input parameters</a:t>
            </a:r>
          </a:p>
          <a:p>
            <a:pPr lvl="1"/>
            <a:r>
              <a:rPr lang="en-US" sz="2000" dirty="0"/>
              <a:t>Permissions</a:t>
            </a:r>
          </a:p>
          <a:p>
            <a:pPr lvl="1"/>
            <a:r>
              <a:rPr lang="en-US" sz="2000" dirty="0"/>
              <a:t>Versioning</a:t>
            </a:r>
          </a:p>
          <a:p>
            <a:pPr lvl="1"/>
            <a:r>
              <a:rPr lang="en-US" sz="2000" dirty="0"/>
              <a:t>Verb</a:t>
            </a:r>
          </a:p>
          <a:p>
            <a:pPr lvl="1"/>
            <a:r>
              <a:rPr lang="en-US" sz="2000" dirty="0"/>
              <a:t>How to invoke </a:t>
            </a:r>
            <a:r>
              <a:rPr lang="en-US" sz="2000" dirty="0" err="1"/>
              <a:t>Graphit</a:t>
            </a:r>
            <a:endParaRPr lang="en-US" sz="2000" dirty="0"/>
          </a:p>
          <a:p>
            <a:endParaRPr lang="en-US" sz="2200" dirty="0"/>
          </a:p>
        </p:txBody>
      </p:sp>
      <p:pic>
        <p:nvPicPr>
          <p:cNvPr id="4" name="Picture Placeholder 94">
            <a:extLst>
              <a:ext uri="{FF2B5EF4-FFF2-40B4-BE49-F238E27FC236}">
                <a16:creationId xmlns:a16="http://schemas.microsoft.com/office/drawing/2014/main" id="{892EBB4E-6753-E654-9266-02C8ACFF3814}"/>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694945" y="2092307"/>
            <a:ext cx="3702797" cy="3702797"/>
          </a:xfrm>
          <a:custGeom>
            <a:avLst/>
            <a:gdLst>
              <a:gd name="connsiteX0" fmla="*/ 617145 w 3702797"/>
              <a:gd name="connsiteY0" fmla="*/ 0 h 3702797"/>
              <a:gd name="connsiteX1" fmla="*/ 3085652 w 3702797"/>
              <a:gd name="connsiteY1" fmla="*/ 0 h 3702797"/>
              <a:gd name="connsiteX2" fmla="*/ 3702797 w 3702797"/>
              <a:gd name="connsiteY2" fmla="*/ 617145 h 3702797"/>
              <a:gd name="connsiteX3" fmla="*/ 3702797 w 3702797"/>
              <a:gd name="connsiteY3" fmla="*/ 3085652 h 3702797"/>
              <a:gd name="connsiteX4" fmla="*/ 3085652 w 3702797"/>
              <a:gd name="connsiteY4" fmla="*/ 3702797 h 3702797"/>
              <a:gd name="connsiteX5" fmla="*/ 617145 w 3702797"/>
              <a:gd name="connsiteY5" fmla="*/ 3702797 h 3702797"/>
              <a:gd name="connsiteX6" fmla="*/ 0 w 3702797"/>
              <a:gd name="connsiteY6" fmla="*/ 3085652 h 3702797"/>
              <a:gd name="connsiteX7" fmla="*/ 0 w 3702797"/>
              <a:gd name="connsiteY7" fmla="*/ 617145 h 3702797"/>
              <a:gd name="connsiteX8" fmla="*/ 617145 w 3702797"/>
              <a:gd name="connsiteY8" fmla="*/ 0 h 37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797" h="3702797">
                <a:moveTo>
                  <a:pt x="617145" y="0"/>
                </a:moveTo>
                <a:lnTo>
                  <a:pt x="3085652" y="0"/>
                </a:lnTo>
                <a:cubicBezTo>
                  <a:pt x="3426492" y="0"/>
                  <a:pt x="3702797" y="276305"/>
                  <a:pt x="3702797" y="617145"/>
                </a:cubicBezTo>
                <a:lnTo>
                  <a:pt x="3702797" y="3085652"/>
                </a:lnTo>
                <a:cubicBezTo>
                  <a:pt x="3702797" y="3426492"/>
                  <a:pt x="3426492" y="3702797"/>
                  <a:pt x="3085652" y="3702797"/>
                </a:cubicBezTo>
                <a:lnTo>
                  <a:pt x="617145" y="3702797"/>
                </a:lnTo>
                <a:cubicBezTo>
                  <a:pt x="276305" y="3702797"/>
                  <a:pt x="0" y="3426492"/>
                  <a:pt x="0" y="3085652"/>
                </a:cubicBezTo>
                <a:lnTo>
                  <a:pt x="0" y="617145"/>
                </a:lnTo>
                <a:cubicBezTo>
                  <a:pt x="0" y="276305"/>
                  <a:pt x="276305" y="0"/>
                  <a:pt x="617145" y="0"/>
                </a:cubicBezTo>
                <a:close/>
              </a:path>
            </a:pathLst>
          </a:custGeom>
        </p:spPr>
      </p:pic>
    </p:spTree>
    <p:extLst>
      <p:ext uri="{BB962C8B-B14F-4D97-AF65-F5344CB8AC3E}">
        <p14:creationId xmlns:p14="http://schemas.microsoft.com/office/powerpoint/2010/main" val="2693431701"/>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person standing on a mountain top&#10;&#10;Description automatically generated">
            <a:extLst>
              <a:ext uri="{FF2B5EF4-FFF2-40B4-BE49-F238E27FC236}">
                <a16:creationId xmlns:a16="http://schemas.microsoft.com/office/drawing/2014/main" id="{E35FF028-7CC6-98F8-531A-8480870EEC7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p:pic>
      <p:sp>
        <p:nvSpPr>
          <p:cNvPr id="2" name="Title 1">
            <a:extLst>
              <a:ext uri="{FF2B5EF4-FFF2-40B4-BE49-F238E27FC236}">
                <a16:creationId xmlns:a16="http://schemas.microsoft.com/office/drawing/2014/main" id="{85335FFE-0533-9D64-AE98-C3FA17B64AA3}"/>
              </a:ext>
            </a:extLst>
          </p:cNvPr>
          <p:cNvSpPr>
            <a:spLocks noGrp="1"/>
          </p:cNvSpPr>
          <p:nvPr>
            <p:ph type="title"/>
          </p:nvPr>
        </p:nvSpPr>
        <p:spPr/>
        <p:txBody>
          <a:bodyPr>
            <a:normAutofit/>
          </a:bodyPr>
          <a:lstStyle/>
          <a:p>
            <a:r>
              <a:rPr lang="en-GB" dirty="0"/>
              <a:t>What is </a:t>
            </a:r>
            <a:r>
              <a:rPr lang="en-GB" dirty="0" err="1"/>
              <a:t>Graphit</a:t>
            </a:r>
            <a:r>
              <a:rPr lang="en-GB" dirty="0"/>
              <a:t>?</a:t>
            </a:r>
            <a:endParaRPr lang="en-IL" dirty="0"/>
          </a:p>
        </p:txBody>
      </p:sp>
      <p:sp>
        <p:nvSpPr>
          <p:cNvPr id="3" name="Content Placeholder 2">
            <a:extLst>
              <a:ext uri="{FF2B5EF4-FFF2-40B4-BE49-F238E27FC236}">
                <a16:creationId xmlns:a16="http://schemas.microsoft.com/office/drawing/2014/main" id="{0A17A3A3-917E-2ADF-0095-0387C40F7857}"/>
              </a:ext>
            </a:extLst>
          </p:cNvPr>
          <p:cNvSpPr>
            <a:spLocks noGrp="1"/>
          </p:cNvSpPr>
          <p:nvPr>
            <p:ph idx="1"/>
          </p:nvPr>
        </p:nvSpPr>
        <p:spPr>
          <a:xfrm>
            <a:off x="4177552" y="1259458"/>
            <a:ext cx="7176247" cy="5270738"/>
          </a:xfrm>
        </p:spPr>
        <p:txBody>
          <a:bodyPr anchor="t" anchorCtr="0">
            <a:normAutofit/>
          </a:bodyPr>
          <a:lstStyle/>
          <a:p>
            <a:pPr>
              <a:spcBef>
                <a:spcPts val="0"/>
              </a:spcBef>
            </a:pPr>
            <a:r>
              <a:rPr lang="en-US" sz="1600" dirty="0">
                <a:cs typeface="Times New Roman" panose="02020603050405020304" pitchFamily="18" charset="0"/>
              </a:rPr>
              <a:t>Graphit is a Fabric UI utility for designing web services with minimal coding.</a:t>
            </a:r>
          </a:p>
          <a:p>
            <a:pPr>
              <a:spcBef>
                <a:spcPts val="0"/>
              </a:spcBef>
            </a:pPr>
            <a:endParaRPr lang="en-US" sz="1600" dirty="0">
              <a:solidFill>
                <a:srgbClr val="000000"/>
              </a:solidFill>
              <a:cs typeface="Times New Roman" panose="02020603050405020304" pitchFamily="18" charset="0"/>
            </a:endParaRPr>
          </a:p>
          <a:p>
            <a:pPr>
              <a:spcBef>
                <a:spcPts val="0"/>
              </a:spcBef>
            </a:pPr>
            <a:r>
              <a:rPr lang="en-US" sz="1600" dirty="0">
                <a:cs typeface="Times New Roman" panose="02020603050405020304" pitchFamily="18" charset="0"/>
              </a:rPr>
              <a:t>Graphit</a:t>
            </a:r>
            <a:r>
              <a:rPr lang="en-US" sz="1600" dirty="0">
                <a:effectLst/>
                <a:ea typeface="Times New Roman" panose="02020603050405020304" pitchFamily="18" charset="0"/>
                <a:cs typeface="Times New Roman" panose="02020603050405020304" pitchFamily="18" charset="0"/>
              </a:rPr>
              <a:t> enables the visual design of JSON, XML, and CSV documents.</a:t>
            </a:r>
          </a:p>
          <a:p>
            <a:pPr>
              <a:spcBef>
                <a:spcPts val="0"/>
              </a:spcBef>
            </a:pPr>
            <a:endParaRPr lang="en-US" sz="1600" dirty="0">
              <a:effectLst/>
              <a:ea typeface="Times New Roman" panose="02020603050405020304" pitchFamily="18" charset="0"/>
              <a:cs typeface="Times New Roman" panose="02020603050405020304" pitchFamily="18" charset="0"/>
            </a:endParaRPr>
          </a:p>
          <a:p>
            <a:pPr>
              <a:spcBef>
                <a:spcPts val="0"/>
              </a:spcBef>
            </a:pPr>
            <a:r>
              <a:rPr lang="en-US" sz="1600" b="0" i="0" dirty="0">
                <a:solidFill>
                  <a:srgbClr val="2E2E2E"/>
                </a:solidFill>
                <a:effectLst/>
              </a:rPr>
              <a:t>If the </a:t>
            </a:r>
            <a:r>
              <a:rPr lang="en-US" sz="1600" b="0" i="0" dirty="0" err="1">
                <a:solidFill>
                  <a:srgbClr val="2E2E2E"/>
                </a:solidFill>
                <a:effectLst/>
              </a:rPr>
              <a:t>Graphit</a:t>
            </a:r>
            <a:r>
              <a:rPr lang="en-US" sz="1600" b="0" i="0" dirty="0">
                <a:solidFill>
                  <a:srgbClr val="2E2E2E"/>
                </a:solidFill>
                <a:effectLst/>
              </a:rPr>
              <a:t> is defined under LUT (not Web Services) it can be invoked from othe</a:t>
            </a:r>
            <a:r>
              <a:rPr lang="en-US" sz="1600" dirty="0">
                <a:solidFill>
                  <a:srgbClr val="2E2E2E"/>
                </a:solidFill>
              </a:rPr>
              <a:t>r Fabric components. </a:t>
            </a:r>
            <a:br>
              <a:rPr lang="en-US" sz="1600" dirty="0">
                <a:solidFill>
                  <a:srgbClr val="2E2E2E"/>
                </a:solidFill>
              </a:rPr>
            </a:br>
            <a:r>
              <a:rPr lang="en-US" sz="1600" dirty="0">
                <a:solidFill>
                  <a:srgbClr val="2E2E2E"/>
                </a:solidFill>
              </a:rPr>
              <a:t>For example:</a:t>
            </a:r>
          </a:p>
          <a:p>
            <a:pPr lvl="1">
              <a:spcBef>
                <a:spcPts val="0"/>
              </a:spcBef>
            </a:pPr>
            <a:r>
              <a:rPr lang="en-US" sz="1600" dirty="0">
                <a:solidFill>
                  <a:srgbClr val="2E2E2E"/>
                </a:solidFill>
              </a:rPr>
              <a:t>Store API response in the LUI in advance, to have faster Web Service response)</a:t>
            </a:r>
          </a:p>
          <a:p>
            <a:pPr lvl="1">
              <a:spcBef>
                <a:spcPts val="0"/>
              </a:spcBef>
            </a:pPr>
            <a:r>
              <a:rPr lang="en-US" sz="1600" b="0" i="0" dirty="0">
                <a:solidFill>
                  <a:srgbClr val="2E2E2E"/>
                </a:solidFill>
                <a:effectLst/>
              </a:rPr>
              <a:t>Send CDC messages to do</a:t>
            </a:r>
            <a:r>
              <a:rPr lang="en-US" sz="1600" dirty="0">
                <a:solidFill>
                  <a:srgbClr val="2E2E2E"/>
                </a:solidFill>
              </a:rPr>
              <a:t>wnstream apps</a:t>
            </a:r>
            <a:endParaRPr lang="en-US" sz="1600" b="0" i="0" dirty="0">
              <a:solidFill>
                <a:srgbClr val="2E2E2E"/>
              </a:solidFill>
              <a:effectLst/>
            </a:endParaRPr>
          </a:p>
          <a:p>
            <a:pPr marL="0" indent="0">
              <a:spcBef>
                <a:spcPts val="0"/>
              </a:spcBef>
              <a:buNone/>
            </a:pPr>
            <a:endParaRPr lang="en-US" sz="1600" dirty="0">
              <a:solidFill>
                <a:srgbClr val="2E2E2E"/>
              </a:solidFill>
              <a:latin typeface="Roboto" panose="02000000000000000000" pitchFamily="2" charset="0"/>
              <a:cs typeface="Times New Roman" panose="02020603050405020304" pitchFamily="18" charset="0"/>
            </a:endParaRPr>
          </a:p>
        </p:txBody>
      </p:sp>
      <p:sp>
        <p:nvSpPr>
          <p:cNvPr id="9" name="AutoShape 4">
            <a:extLst>
              <a:ext uri="{FF2B5EF4-FFF2-40B4-BE49-F238E27FC236}">
                <a16:creationId xmlns:a16="http://schemas.microsoft.com/office/drawing/2014/main" id="{B0B0DF81-5C46-8C12-E710-6BC9F2205C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B8DFC86B-297B-CEB3-D51C-2245556FF0EB}"/>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Tree>
    <p:extLst>
      <p:ext uri="{BB962C8B-B14F-4D97-AF65-F5344CB8AC3E}">
        <p14:creationId xmlns:p14="http://schemas.microsoft.com/office/powerpoint/2010/main" val="389604318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C8754-B7B2-4B1E-FB90-39B751D00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80A23-5701-8563-414A-DBBAB80A574F}"/>
              </a:ext>
            </a:extLst>
          </p:cNvPr>
          <p:cNvSpPr>
            <a:spLocks noGrp="1"/>
          </p:cNvSpPr>
          <p:nvPr>
            <p:ph type="title"/>
          </p:nvPr>
        </p:nvSpPr>
        <p:spPr>
          <a:xfrm>
            <a:off x="0" y="403271"/>
            <a:ext cx="12191999" cy="475140"/>
          </a:xfrm>
        </p:spPr>
        <p:txBody>
          <a:bodyPr>
            <a:noAutofit/>
          </a:bodyPr>
          <a:lstStyle/>
          <a:p>
            <a:pPr algn="ctr"/>
            <a:r>
              <a:rPr lang="en-GB" dirty="0"/>
              <a:t>What is </a:t>
            </a:r>
            <a:r>
              <a:rPr lang="en-GB" dirty="0" err="1"/>
              <a:t>Graphit</a:t>
            </a:r>
            <a:r>
              <a:rPr lang="en-GB" dirty="0"/>
              <a:t>?</a:t>
            </a:r>
            <a:endParaRPr lang="en-IL" dirty="0"/>
          </a:p>
        </p:txBody>
      </p:sp>
      <p:sp>
        <p:nvSpPr>
          <p:cNvPr id="3" name="Content Placeholder 2">
            <a:extLst>
              <a:ext uri="{FF2B5EF4-FFF2-40B4-BE49-F238E27FC236}">
                <a16:creationId xmlns:a16="http://schemas.microsoft.com/office/drawing/2014/main" id="{62EFD544-2514-3887-60B3-6CA27457B243}"/>
              </a:ext>
            </a:extLst>
          </p:cNvPr>
          <p:cNvSpPr>
            <a:spLocks noGrp="1"/>
          </p:cNvSpPr>
          <p:nvPr>
            <p:ph idx="1"/>
          </p:nvPr>
        </p:nvSpPr>
        <p:spPr>
          <a:xfrm>
            <a:off x="631371" y="1259458"/>
            <a:ext cx="10918371" cy="5270738"/>
          </a:xfrm>
        </p:spPr>
        <p:txBody>
          <a:bodyPr anchor="t" anchorCtr="0">
            <a:normAutofit/>
          </a:bodyPr>
          <a:lstStyle/>
          <a:p>
            <a:pPr marL="0" indent="0" algn="l">
              <a:spcBef>
                <a:spcPts val="1500"/>
              </a:spcBef>
              <a:spcAft>
                <a:spcPts val="750"/>
              </a:spcAft>
              <a:buNone/>
            </a:pPr>
            <a:r>
              <a:rPr lang="en-US" sz="1600" b="0" i="0" dirty="0" err="1">
                <a:solidFill>
                  <a:srgbClr val="0070C0"/>
                </a:solidFill>
                <a:effectLst/>
              </a:rPr>
              <a:t>Graphit</a:t>
            </a:r>
            <a:r>
              <a:rPr lang="en-US" sz="1600" b="0" i="0" dirty="0">
                <a:solidFill>
                  <a:srgbClr val="0070C0"/>
                </a:solidFill>
                <a:effectLst/>
              </a:rPr>
              <a:t> Terminology</a:t>
            </a:r>
          </a:p>
          <a:p>
            <a:pPr algn="l">
              <a:spcAft>
                <a:spcPts val="750"/>
              </a:spcAft>
              <a:buFont typeface="Arial" panose="020B0604020202020204" pitchFamily="34" charset="0"/>
              <a:buChar char="•"/>
            </a:pPr>
            <a:r>
              <a:rPr lang="en-US" sz="1600" b="1" i="0" dirty="0">
                <a:solidFill>
                  <a:srgbClr val="2E2E2E"/>
                </a:solidFill>
                <a:effectLst/>
              </a:rPr>
              <a:t>Node: </a:t>
            </a:r>
            <a:r>
              <a:rPr lang="en-US" sz="1600" i="0" dirty="0">
                <a:solidFill>
                  <a:srgbClr val="2E2E2E"/>
                </a:solidFill>
                <a:effectLst/>
              </a:rPr>
              <a:t>Represents an output element or a functional element within the system.</a:t>
            </a:r>
          </a:p>
          <a:p>
            <a:pPr algn="l">
              <a:spcAft>
                <a:spcPts val="750"/>
              </a:spcAft>
              <a:buFont typeface="Arial" panose="020B0604020202020204" pitchFamily="34" charset="0"/>
              <a:buChar char="•"/>
            </a:pPr>
            <a:r>
              <a:rPr lang="en-US" sz="1600" b="1" i="0" dirty="0">
                <a:solidFill>
                  <a:srgbClr val="2E2E2E"/>
                </a:solidFill>
                <a:effectLst/>
              </a:rPr>
              <a:t>Node Type: </a:t>
            </a:r>
            <a:r>
              <a:rPr lang="en-US" sz="1600" i="0" dirty="0">
                <a:solidFill>
                  <a:srgbClr val="2E2E2E"/>
                </a:solidFill>
                <a:effectLst/>
              </a:rPr>
              <a:t>Specifies the method for generating and structuring the content of a node.</a:t>
            </a:r>
          </a:p>
          <a:p>
            <a:pPr algn="l">
              <a:spcAft>
                <a:spcPts val="750"/>
              </a:spcAft>
              <a:buFont typeface="Arial" panose="020B0604020202020204" pitchFamily="34" charset="0"/>
              <a:buChar char="•"/>
            </a:pPr>
            <a:r>
              <a:rPr lang="en-US" sz="1600" b="1" i="0" dirty="0">
                <a:solidFill>
                  <a:srgbClr val="2E2E2E"/>
                </a:solidFill>
                <a:effectLst/>
              </a:rPr>
              <a:t>Node Property: </a:t>
            </a:r>
            <a:r>
              <a:rPr lang="en-US" sz="1600" i="0" dirty="0">
                <a:solidFill>
                  <a:srgbClr val="2E2E2E"/>
                </a:solidFill>
                <a:effectLst/>
              </a:rPr>
              <a:t>Provides additional instructions to a node, such as formatting a number, specifying a database to query, or indicating whether the node is active or disabled.</a:t>
            </a:r>
            <a:endParaRPr lang="en-IL" sz="1800" dirty="0">
              <a:effectLst/>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286682CB-EBFF-1725-0486-59A629C31A6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AAE25A7F-9DC5-DD7A-E4D8-8ED3DA9710D0}"/>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2F309AE7-AA65-AE22-BB00-4AC2E60908A3}"/>
              </a:ext>
            </a:extLst>
          </p:cNvPr>
          <p:cNvPicPr>
            <a:picLocks noChangeAspect="1"/>
          </p:cNvPicPr>
          <p:nvPr/>
        </p:nvPicPr>
        <p:blipFill>
          <a:blip r:embed="rId3"/>
          <a:stretch>
            <a:fillRect/>
          </a:stretch>
        </p:blipFill>
        <p:spPr>
          <a:xfrm>
            <a:off x="2460522" y="3429000"/>
            <a:ext cx="8862723" cy="3025730"/>
          </a:xfrm>
          <a:prstGeom prst="rect">
            <a:avLst/>
          </a:prstGeom>
        </p:spPr>
      </p:pic>
      <p:sp>
        <p:nvSpPr>
          <p:cNvPr id="10" name="TextBox 9">
            <a:extLst>
              <a:ext uri="{FF2B5EF4-FFF2-40B4-BE49-F238E27FC236}">
                <a16:creationId xmlns:a16="http://schemas.microsoft.com/office/drawing/2014/main" id="{55601877-BAB9-5189-1299-F957805C031C}"/>
              </a:ext>
            </a:extLst>
          </p:cNvPr>
          <p:cNvSpPr txBox="1"/>
          <p:nvPr/>
        </p:nvSpPr>
        <p:spPr>
          <a:xfrm>
            <a:off x="372066" y="3818164"/>
            <a:ext cx="716863" cy="338554"/>
          </a:xfrm>
          <a:prstGeom prst="rect">
            <a:avLst/>
          </a:prstGeom>
          <a:noFill/>
        </p:spPr>
        <p:txBody>
          <a:bodyPr wrap="none" rtlCol="0">
            <a:spAutoFit/>
          </a:bodyPr>
          <a:lstStyle/>
          <a:p>
            <a:r>
              <a:rPr lang="en-US" sz="1600" dirty="0"/>
              <a:t>Nodes</a:t>
            </a:r>
            <a:endParaRPr lang="en-IL" sz="1600" dirty="0"/>
          </a:p>
        </p:txBody>
      </p:sp>
      <p:cxnSp>
        <p:nvCxnSpPr>
          <p:cNvPr id="24" name="Connector: Elbow 23">
            <a:extLst>
              <a:ext uri="{FF2B5EF4-FFF2-40B4-BE49-F238E27FC236}">
                <a16:creationId xmlns:a16="http://schemas.microsoft.com/office/drawing/2014/main" id="{76CF8AC1-5AE5-4B81-0E61-B4A0618CDF00}"/>
              </a:ext>
            </a:extLst>
          </p:cNvPr>
          <p:cNvCxnSpPr>
            <a:cxnSpLocks/>
            <a:stCxn id="10" idx="3"/>
          </p:cNvCxnSpPr>
          <p:nvPr/>
        </p:nvCxnSpPr>
        <p:spPr>
          <a:xfrm>
            <a:off x="1088929" y="3987441"/>
            <a:ext cx="1371593" cy="499215"/>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210C43B1-3F3D-DE28-B85D-30A7AA08DA91}"/>
              </a:ext>
            </a:extLst>
          </p:cNvPr>
          <p:cNvCxnSpPr>
            <a:cxnSpLocks/>
          </p:cNvCxnSpPr>
          <p:nvPr/>
        </p:nvCxnSpPr>
        <p:spPr>
          <a:xfrm>
            <a:off x="1150092" y="4002830"/>
            <a:ext cx="1310430" cy="819106"/>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1DDC318-C5AF-6D06-2EA2-0D013C3CC188}"/>
              </a:ext>
            </a:extLst>
          </p:cNvPr>
          <p:cNvCxnSpPr>
            <a:cxnSpLocks/>
          </p:cNvCxnSpPr>
          <p:nvPr/>
        </p:nvCxnSpPr>
        <p:spPr>
          <a:xfrm flipV="1">
            <a:off x="1150092" y="3927364"/>
            <a:ext cx="1310430" cy="75466"/>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AF401E49-BBD0-64C9-1FD1-62A77B99704A}"/>
              </a:ext>
            </a:extLst>
          </p:cNvPr>
          <p:cNvCxnSpPr>
            <a:cxnSpLocks/>
          </p:cNvCxnSpPr>
          <p:nvPr/>
        </p:nvCxnSpPr>
        <p:spPr>
          <a:xfrm>
            <a:off x="1150092" y="4005422"/>
            <a:ext cx="1310430" cy="1216793"/>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6AD14B0-D912-0D49-EEB4-565ADFA48AF0}"/>
              </a:ext>
            </a:extLst>
          </p:cNvPr>
          <p:cNvSpPr txBox="1"/>
          <p:nvPr/>
        </p:nvSpPr>
        <p:spPr>
          <a:xfrm>
            <a:off x="375571" y="5569517"/>
            <a:ext cx="1076257" cy="338554"/>
          </a:xfrm>
          <a:prstGeom prst="rect">
            <a:avLst/>
          </a:prstGeom>
          <a:noFill/>
        </p:spPr>
        <p:txBody>
          <a:bodyPr wrap="none" rtlCol="0">
            <a:spAutoFit/>
          </a:bodyPr>
          <a:lstStyle/>
          <a:p>
            <a:r>
              <a:rPr lang="en-US" sz="1600" dirty="0"/>
              <a:t>Node Type</a:t>
            </a:r>
            <a:endParaRPr lang="en-IL" sz="1600" dirty="0"/>
          </a:p>
        </p:txBody>
      </p:sp>
      <p:cxnSp>
        <p:nvCxnSpPr>
          <p:cNvPr id="34" name="Connector: Elbow 33">
            <a:extLst>
              <a:ext uri="{FF2B5EF4-FFF2-40B4-BE49-F238E27FC236}">
                <a16:creationId xmlns:a16="http://schemas.microsoft.com/office/drawing/2014/main" id="{EB5884B7-FBB2-9E38-89EA-3ECC2FDCED76}"/>
              </a:ext>
            </a:extLst>
          </p:cNvPr>
          <p:cNvCxnSpPr>
            <a:cxnSpLocks/>
          </p:cNvCxnSpPr>
          <p:nvPr/>
        </p:nvCxnSpPr>
        <p:spPr>
          <a:xfrm flipV="1">
            <a:off x="1613254" y="5656098"/>
            <a:ext cx="3030805" cy="125893"/>
          </a:xfrm>
          <a:prstGeom prst="bentConnector3">
            <a:avLst>
              <a:gd name="adj1" fmla="val 50000"/>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4CDDBBD8-5E65-1100-6690-05D2621B0182}"/>
              </a:ext>
            </a:extLst>
          </p:cNvPr>
          <p:cNvCxnSpPr>
            <a:cxnSpLocks/>
          </p:cNvCxnSpPr>
          <p:nvPr/>
        </p:nvCxnSpPr>
        <p:spPr>
          <a:xfrm>
            <a:off x="1613254" y="5781991"/>
            <a:ext cx="3030805" cy="409564"/>
          </a:xfrm>
          <a:prstGeom prst="bentConnector3">
            <a:avLst>
              <a:gd name="adj1" fmla="val 50000"/>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0FEE16F-3D7B-A2AA-E69D-0EB020BF6634}"/>
              </a:ext>
            </a:extLst>
          </p:cNvPr>
          <p:cNvSpPr txBox="1"/>
          <p:nvPr/>
        </p:nvSpPr>
        <p:spPr>
          <a:xfrm>
            <a:off x="375571" y="6067881"/>
            <a:ext cx="1547090" cy="338554"/>
          </a:xfrm>
          <a:prstGeom prst="rect">
            <a:avLst/>
          </a:prstGeom>
          <a:noFill/>
        </p:spPr>
        <p:txBody>
          <a:bodyPr wrap="none" rtlCol="0">
            <a:spAutoFit/>
          </a:bodyPr>
          <a:lstStyle/>
          <a:p>
            <a:r>
              <a:rPr lang="en-US" sz="1600" dirty="0"/>
              <a:t>Node Properties</a:t>
            </a:r>
            <a:endParaRPr lang="en-IL" sz="1600" dirty="0"/>
          </a:p>
        </p:txBody>
      </p:sp>
      <p:cxnSp>
        <p:nvCxnSpPr>
          <p:cNvPr id="42" name="Connector: Elbow 41">
            <a:extLst>
              <a:ext uri="{FF2B5EF4-FFF2-40B4-BE49-F238E27FC236}">
                <a16:creationId xmlns:a16="http://schemas.microsoft.com/office/drawing/2014/main" id="{DED777BA-2446-2DE6-3002-2A4BCA50A349}"/>
              </a:ext>
            </a:extLst>
          </p:cNvPr>
          <p:cNvCxnSpPr>
            <a:cxnSpLocks/>
          </p:cNvCxnSpPr>
          <p:nvPr/>
        </p:nvCxnSpPr>
        <p:spPr>
          <a:xfrm flipV="1">
            <a:off x="2090592" y="5193982"/>
            <a:ext cx="3755472" cy="1069595"/>
          </a:xfrm>
          <a:prstGeom prst="bent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0F0C25D1-63BB-9086-CEE0-BBDB2EC9654D}"/>
              </a:ext>
            </a:extLst>
          </p:cNvPr>
          <p:cNvCxnSpPr>
            <a:cxnSpLocks/>
          </p:cNvCxnSpPr>
          <p:nvPr/>
        </p:nvCxnSpPr>
        <p:spPr>
          <a:xfrm flipV="1">
            <a:off x="2083207" y="6163039"/>
            <a:ext cx="3762857" cy="100537"/>
          </a:xfrm>
          <a:prstGeom prst="bent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176275"/>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C86B8-678C-E32F-1D7C-E580A268FA2C}"/>
            </a:ext>
          </a:extLst>
        </p:cNvPr>
        <p:cNvGrpSpPr/>
        <p:nvPr/>
      </p:nvGrpSpPr>
      <p:grpSpPr>
        <a:xfrm>
          <a:off x="0" y="0"/>
          <a:ext cx="0" cy="0"/>
          <a:chOff x="0" y="0"/>
          <a:chExt cx="0" cy="0"/>
        </a:xfrm>
      </p:grpSpPr>
      <p:pic>
        <p:nvPicPr>
          <p:cNvPr id="11" name="Picture Placeholder 10" descr="A person standing on a mountain top&#10;&#10;Description automatically generated">
            <a:extLst>
              <a:ext uri="{FF2B5EF4-FFF2-40B4-BE49-F238E27FC236}">
                <a16:creationId xmlns:a16="http://schemas.microsoft.com/office/drawing/2014/main" id="{55852B40-E279-C01D-30C9-EAB17D2A958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4112" r="34112"/>
          <a:stretch>
            <a:fillRect/>
          </a:stretch>
        </p:blipFill>
        <p:spPr/>
      </p:pic>
      <p:sp>
        <p:nvSpPr>
          <p:cNvPr id="2" name="Title 1">
            <a:extLst>
              <a:ext uri="{FF2B5EF4-FFF2-40B4-BE49-F238E27FC236}">
                <a16:creationId xmlns:a16="http://schemas.microsoft.com/office/drawing/2014/main" id="{C77D3508-343B-C9D0-86FE-20A7AC59B3B1}"/>
              </a:ext>
            </a:extLst>
          </p:cNvPr>
          <p:cNvSpPr>
            <a:spLocks noGrp="1"/>
          </p:cNvSpPr>
          <p:nvPr>
            <p:ph type="title"/>
          </p:nvPr>
        </p:nvSpPr>
        <p:spPr>
          <a:xfrm>
            <a:off x="3496234" y="209550"/>
            <a:ext cx="8695765" cy="558166"/>
          </a:xfrm>
        </p:spPr>
        <p:txBody>
          <a:bodyPr>
            <a:noAutofit/>
          </a:bodyPr>
          <a:lstStyle/>
          <a:p>
            <a:pPr algn="ctr"/>
            <a:r>
              <a:rPr lang="en-GB" dirty="0" err="1"/>
              <a:t>Graphit</a:t>
            </a:r>
            <a:r>
              <a:rPr lang="en-GB" dirty="0"/>
              <a:t> Node Types and Properties</a:t>
            </a:r>
            <a:endParaRPr lang="en-IL" dirty="0"/>
          </a:p>
        </p:txBody>
      </p:sp>
      <p:sp>
        <p:nvSpPr>
          <p:cNvPr id="3" name="Content Placeholder 2">
            <a:extLst>
              <a:ext uri="{FF2B5EF4-FFF2-40B4-BE49-F238E27FC236}">
                <a16:creationId xmlns:a16="http://schemas.microsoft.com/office/drawing/2014/main" id="{6520E84E-A3AF-6748-EB8E-DD83842E8680}"/>
              </a:ext>
            </a:extLst>
          </p:cNvPr>
          <p:cNvSpPr>
            <a:spLocks noGrp="1"/>
          </p:cNvSpPr>
          <p:nvPr>
            <p:ph idx="1"/>
          </p:nvPr>
        </p:nvSpPr>
        <p:spPr>
          <a:xfrm>
            <a:off x="3626514" y="853440"/>
            <a:ext cx="8336888" cy="5842000"/>
          </a:xfrm>
        </p:spPr>
        <p:txBody>
          <a:bodyPr anchor="t">
            <a:noAutofit/>
          </a:bodyPr>
          <a:lstStyle/>
          <a:p>
            <a:pPr marL="0" indent="0">
              <a:lnSpc>
                <a:spcPct val="110000"/>
              </a:lnSpc>
              <a:spcAft>
                <a:spcPts val="600"/>
              </a:spcAft>
              <a:buNone/>
            </a:pPr>
            <a:r>
              <a:rPr lang="en-US" sz="1600" dirty="0" err="1">
                <a:effectLst/>
                <a:ea typeface="Times New Roman" panose="02020603050405020304" pitchFamily="18" charset="0"/>
                <a:cs typeface="Times New Roman" panose="02020603050405020304" pitchFamily="18" charset="0"/>
              </a:rPr>
              <a:t>Graphit</a:t>
            </a:r>
            <a:r>
              <a:rPr lang="en-US" sz="1600" dirty="0">
                <a:effectLst/>
                <a:ea typeface="Times New Roman" panose="02020603050405020304" pitchFamily="18" charset="0"/>
                <a:cs typeface="Times New Roman" panose="02020603050405020304" pitchFamily="18" charset="0"/>
              </a:rPr>
              <a:t> </a:t>
            </a:r>
            <a:r>
              <a:rPr lang="en-US" sz="1600" dirty="0">
                <a:solidFill>
                  <a:srgbClr val="0070C0"/>
                </a:solidFill>
                <a:effectLst/>
                <a:ea typeface="Times New Roman" panose="02020603050405020304" pitchFamily="18" charset="0"/>
                <a:cs typeface="Times New Roman" panose="02020603050405020304" pitchFamily="18" charset="0"/>
              </a:rPr>
              <a:t>Node Types </a:t>
            </a:r>
            <a:r>
              <a:rPr lang="en-US" sz="1600" dirty="0">
                <a:effectLst/>
                <a:ea typeface="Times New Roman" panose="02020603050405020304" pitchFamily="18" charset="0"/>
                <a:cs typeface="Times New Roman" panose="02020603050405020304" pitchFamily="18" charset="0"/>
              </a:rPr>
              <a:t>are organized into four logical categories</a:t>
            </a:r>
          </a:p>
          <a:p>
            <a:pPr>
              <a:spcAft>
                <a:spcPts val="600"/>
              </a:spcAft>
            </a:pPr>
            <a:r>
              <a:rPr lang="en-US" sz="1600" b="1" dirty="0"/>
              <a:t>Field Nodes </a:t>
            </a:r>
            <a:r>
              <a:rPr lang="en-US" sz="1600" dirty="0"/>
              <a:t>- Represent individual data points. </a:t>
            </a:r>
            <a:br>
              <a:rPr lang="en-US" sz="1600" dirty="0"/>
            </a:br>
            <a:r>
              <a:rPr lang="en-US" sz="1600" dirty="0"/>
              <a:t>Node Types: Field, Function, String, Raw</a:t>
            </a:r>
          </a:p>
          <a:p>
            <a:pPr>
              <a:spcAft>
                <a:spcPts val="600"/>
              </a:spcAft>
            </a:pPr>
            <a:r>
              <a:rPr lang="en-US" sz="1600" b="1" dirty="0"/>
              <a:t>Loop Nodes</a:t>
            </a:r>
            <a:r>
              <a:rPr lang="en-US" sz="1600" dirty="0"/>
              <a:t> - Handle arrays or repeating sections. </a:t>
            </a:r>
            <a:br>
              <a:rPr lang="en-US" sz="1600" dirty="0"/>
            </a:br>
            <a:r>
              <a:rPr lang="en-US" sz="1600" dirty="0"/>
              <a:t>Node Types: SQL, SQL non-prepared, Function</a:t>
            </a:r>
          </a:p>
          <a:p>
            <a:pPr>
              <a:spcAft>
                <a:spcPts val="600"/>
              </a:spcAft>
            </a:pPr>
            <a:r>
              <a:rPr lang="en-US" sz="1600" b="1" dirty="0"/>
              <a:t>Structure Nodes </a:t>
            </a:r>
            <a:r>
              <a:rPr lang="en-US" sz="1600" dirty="0"/>
              <a:t>- Manage output structure. </a:t>
            </a:r>
            <a:br>
              <a:rPr lang="en-US" sz="1600" dirty="0"/>
            </a:br>
            <a:r>
              <a:rPr lang="en-US" sz="1600" dirty="0"/>
              <a:t>Node Types: Condition, Group, Collect.</a:t>
            </a:r>
          </a:p>
          <a:p>
            <a:pPr>
              <a:spcAft>
                <a:spcPts val="600"/>
              </a:spcAft>
            </a:pPr>
            <a:r>
              <a:rPr lang="en-US" sz="1600" b="1" dirty="0"/>
              <a:t>Execute Nodes </a:t>
            </a:r>
            <a:r>
              <a:rPr lang="en-US" sz="1600" dirty="0"/>
              <a:t>– Execute actions like GET requests or Broadway flows. </a:t>
            </a:r>
            <a:br>
              <a:rPr lang="en-US" sz="1600" dirty="0"/>
            </a:br>
            <a:r>
              <a:rPr lang="en-US" sz="1600" dirty="0"/>
              <a:t>Node Types:  GET, Broadway.</a:t>
            </a:r>
          </a:p>
          <a:p>
            <a:pPr marL="0" indent="0">
              <a:buNone/>
            </a:pPr>
            <a:br>
              <a:rPr lang="en-US" sz="1600" dirty="0">
                <a:latin typeface="Segoe UI" panose="020B0502040204020203" pitchFamily="34" charset="0"/>
                <a:cs typeface="Times New Roman" panose="02020603050405020304" pitchFamily="18" charset="0"/>
              </a:rPr>
            </a:br>
            <a:r>
              <a:rPr lang="en-US" sz="1600" dirty="0" err="1">
                <a:cs typeface="Times New Roman" panose="02020603050405020304" pitchFamily="18" charset="0"/>
              </a:rPr>
              <a:t>Graphit</a:t>
            </a:r>
            <a:r>
              <a:rPr lang="en-US" sz="1600" dirty="0">
                <a:cs typeface="Times New Roman" panose="02020603050405020304" pitchFamily="18" charset="0"/>
              </a:rPr>
              <a:t> </a:t>
            </a:r>
            <a:r>
              <a:rPr lang="en-US" sz="1600" dirty="0">
                <a:solidFill>
                  <a:srgbClr val="0070C0"/>
                </a:solidFill>
                <a:cs typeface="Times New Roman" panose="02020603050405020304" pitchFamily="18" charset="0"/>
              </a:rPr>
              <a:t>Node Properties </a:t>
            </a:r>
            <a:r>
              <a:rPr lang="en-US" sz="1600" dirty="0">
                <a:cs typeface="Times New Roman" panose="02020603050405020304" pitchFamily="18" charset="0"/>
              </a:rPr>
              <a:t>define additional behavior for nodes, such as:</a:t>
            </a:r>
          </a:p>
          <a:p>
            <a:pPr>
              <a:buFont typeface="Arial" panose="020B0604020202020204" pitchFamily="34" charset="0"/>
              <a:buChar char="•"/>
            </a:pPr>
            <a:r>
              <a:rPr lang="en-US" sz="1600" dirty="0">
                <a:cs typeface="Times New Roman" panose="02020603050405020304" pitchFamily="18" charset="0"/>
              </a:rPr>
              <a:t>Formatting numbers and dates.</a:t>
            </a:r>
          </a:p>
          <a:p>
            <a:pPr>
              <a:buFont typeface="Arial" panose="020B0604020202020204" pitchFamily="34" charset="0"/>
              <a:buChar char="•"/>
            </a:pPr>
            <a:r>
              <a:rPr lang="en-US" sz="1600" dirty="0">
                <a:cs typeface="Times New Roman" panose="02020603050405020304" pitchFamily="18" charset="0"/>
              </a:rPr>
              <a:t>Specifying the database for query execution.</a:t>
            </a:r>
          </a:p>
          <a:p>
            <a:pPr>
              <a:buFont typeface="Arial" panose="020B0604020202020204" pitchFamily="34" charset="0"/>
              <a:buChar char="•"/>
            </a:pPr>
            <a:r>
              <a:rPr lang="en-US" sz="1600" dirty="0">
                <a:cs typeface="Times New Roman" panose="02020603050405020304" pitchFamily="18" charset="0"/>
              </a:rPr>
              <a:t>Modifying node output.</a:t>
            </a:r>
          </a:p>
          <a:p>
            <a:pPr marL="0" indent="0">
              <a:buNone/>
            </a:pPr>
            <a:r>
              <a:rPr lang="en-US" sz="1600" dirty="0">
                <a:cs typeface="Times New Roman" panose="02020603050405020304" pitchFamily="18" charset="0"/>
              </a:rPr>
              <a:t>Each node must be assigned a specific node type, and additional properties can be used to customize its functionality. Nodes that generate output must also have a designated name.</a:t>
            </a:r>
          </a:p>
        </p:txBody>
      </p:sp>
      <p:sp>
        <p:nvSpPr>
          <p:cNvPr id="9" name="AutoShape 4">
            <a:extLst>
              <a:ext uri="{FF2B5EF4-FFF2-40B4-BE49-F238E27FC236}">
                <a16:creationId xmlns:a16="http://schemas.microsoft.com/office/drawing/2014/main" id="{717B3D45-FC4C-E8A0-3CE2-046FF427AA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F29295AA-AD3E-9B92-02F1-931C62DF34C6}"/>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Tree>
    <p:extLst>
      <p:ext uri="{BB962C8B-B14F-4D97-AF65-F5344CB8AC3E}">
        <p14:creationId xmlns:p14="http://schemas.microsoft.com/office/powerpoint/2010/main" val="1102509783"/>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3A18-51F9-E15A-3711-99AB0C30C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811FF-C326-6221-240E-7D29B565AF99}"/>
              </a:ext>
            </a:extLst>
          </p:cNvPr>
          <p:cNvSpPr>
            <a:spLocks noGrp="1"/>
          </p:cNvSpPr>
          <p:nvPr>
            <p:ph type="title"/>
          </p:nvPr>
        </p:nvSpPr>
        <p:spPr>
          <a:xfrm>
            <a:off x="0" y="403271"/>
            <a:ext cx="12191999" cy="607096"/>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D6393B85-7F0F-66A2-8F85-3A2725BC123C}"/>
              </a:ext>
            </a:extLst>
          </p:cNvPr>
          <p:cNvSpPr>
            <a:spLocks noGrp="1"/>
          </p:cNvSpPr>
          <p:nvPr>
            <p:ph idx="1"/>
          </p:nvPr>
        </p:nvSpPr>
        <p:spPr>
          <a:xfrm>
            <a:off x="631371" y="1259458"/>
            <a:ext cx="10918371" cy="5270738"/>
          </a:xfrm>
        </p:spPr>
        <p:txBody>
          <a:bodyPr anchor="t" anchorCtr="0">
            <a:normAutofit/>
          </a:bodyPr>
          <a:lstStyle/>
          <a:p>
            <a:pPr algn="l">
              <a:spcAft>
                <a:spcPts val="750"/>
              </a:spcAft>
              <a:buFont typeface="Arial" panose="020B0604020202020204" pitchFamily="34" charset="0"/>
              <a:buChar char="•"/>
            </a:pPr>
            <a:r>
              <a:rPr lang="en-US" sz="1600" b="1" i="0" dirty="0">
                <a:solidFill>
                  <a:srgbClr val="2E2E2E"/>
                </a:solidFill>
                <a:effectLst/>
              </a:rPr>
              <a:t>Field</a:t>
            </a:r>
            <a:r>
              <a:rPr lang="en-US" sz="1600" b="0" i="0" dirty="0">
                <a:solidFill>
                  <a:srgbClr val="2E2E2E"/>
                </a:solidFill>
                <a:effectLst/>
              </a:rPr>
              <a:t> - Basic node type. Defines the node as a tag in XML/JSON format. </a:t>
            </a: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4CA5FB54-0B73-61D2-A1D3-42100BAF17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72FF5859-6A5F-A154-A706-408B1572B291}"/>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7" name="Picture 6">
            <a:extLst>
              <a:ext uri="{FF2B5EF4-FFF2-40B4-BE49-F238E27FC236}">
                <a16:creationId xmlns:a16="http://schemas.microsoft.com/office/drawing/2014/main" id="{FC6CED3C-2889-F1B8-5ED4-75837F9CBFC5}"/>
              </a:ext>
            </a:extLst>
          </p:cNvPr>
          <p:cNvPicPr>
            <a:picLocks noChangeAspect="1"/>
          </p:cNvPicPr>
          <p:nvPr/>
        </p:nvPicPr>
        <p:blipFill>
          <a:blip r:embed="rId3"/>
          <a:stretch>
            <a:fillRect/>
          </a:stretch>
        </p:blipFill>
        <p:spPr>
          <a:xfrm>
            <a:off x="1198916" y="1751075"/>
            <a:ext cx="6496957" cy="4429743"/>
          </a:xfrm>
          <a:prstGeom prst="rect">
            <a:avLst/>
          </a:prstGeom>
        </p:spPr>
      </p:pic>
      <p:pic>
        <p:nvPicPr>
          <p:cNvPr id="11" name="Picture 10">
            <a:extLst>
              <a:ext uri="{FF2B5EF4-FFF2-40B4-BE49-F238E27FC236}">
                <a16:creationId xmlns:a16="http://schemas.microsoft.com/office/drawing/2014/main" id="{97914B60-EDC0-7926-5EE0-20694C2EC5B1}"/>
              </a:ext>
            </a:extLst>
          </p:cNvPr>
          <p:cNvPicPr>
            <a:picLocks noChangeAspect="1"/>
          </p:cNvPicPr>
          <p:nvPr/>
        </p:nvPicPr>
        <p:blipFill>
          <a:blip r:embed="rId4"/>
          <a:stretch>
            <a:fillRect/>
          </a:stretch>
        </p:blipFill>
        <p:spPr>
          <a:xfrm>
            <a:off x="7935105" y="2890740"/>
            <a:ext cx="4004117" cy="1909859"/>
          </a:xfrm>
          <a:prstGeom prst="rect">
            <a:avLst/>
          </a:prstGeom>
        </p:spPr>
      </p:pic>
      <p:sp>
        <p:nvSpPr>
          <p:cNvPr id="12" name="TextBox 11">
            <a:extLst>
              <a:ext uri="{FF2B5EF4-FFF2-40B4-BE49-F238E27FC236}">
                <a16:creationId xmlns:a16="http://schemas.microsoft.com/office/drawing/2014/main" id="{2F3CEB1C-F1DC-AAB7-7E69-B38FF018F3D6}"/>
              </a:ext>
            </a:extLst>
          </p:cNvPr>
          <p:cNvSpPr txBox="1"/>
          <p:nvPr/>
        </p:nvSpPr>
        <p:spPr>
          <a:xfrm>
            <a:off x="7935106" y="2482422"/>
            <a:ext cx="835485" cy="338554"/>
          </a:xfrm>
          <a:prstGeom prst="rect">
            <a:avLst/>
          </a:prstGeom>
          <a:noFill/>
        </p:spPr>
        <p:txBody>
          <a:bodyPr wrap="none" rtlCol="0">
            <a:spAutoFit/>
          </a:bodyPr>
          <a:lstStyle/>
          <a:p>
            <a:r>
              <a:rPr lang="en-US" sz="1600" dirty="0"/>
              <a:t>Output:</a:t>
            </a:r>
            <a:endParaRPr lang="en-IL" sz="1600" dirty="0"/>
          </a:p>
        </p:txBody>
      </p:sp>
      <p:sp>
        <p:nvSpPr>
          <p:cNvPr id="5" name="TextBox 4">
            <a:extLst>
              <a:ext uri="{FF2B5EF4-FFF2-40B4-BE49-F238E27FC236}">
                <a16:creationId xmlns:a16="http://schemas.microsoft.com/office/drawing/2014/main" id="{37A78B54-DC45-FE15-E06C-7FCCC74FD64A}"/>
              </a:ext>
            </a:extLst>
          </p:cNvPr>
          <p:cNvSpPr txBox="1"/>
          <p:nvPr/>
        </p:nvSpPr>
        <p:spPr>
          <a:xfrm>
            <a:off x="174915" y="2558831"/>
            <a:ext cx="1175657" cy="338554"/>
          </a:xfrm>
          <a:prstGeom prst="rect">
            <a:avLst/>
          </a:prstGeom>
          <a:noFill/>
        </p:spPr>
        <p:txBody>
          <a:bodyPr wrap="square" rtlCol="0">
            <a:spAutoFit/>
          </a:bodyPr>
          <a:lstStyle/>
          <a:p>
            <a:r>
              <a:rPr lang="en-US" sz="1600" dirty="0"/>
              <a:t>Tag name</a:t>
            </a:r>
            <a:endParaRPr lang="en-IL" sz="1600" dirty="0"/>
          </a:p>
        </p:txBody>
      </p:sp>
      <p:sp>
        <p:nvSpPr>
          <p:cNvPr id="6" name="TextBox 5">
            <a:extLst>
              <a:ext uri="{FF2B5EF4-FFF2-40B4-BE49-F238E27FC236}">
                <a16:creationId xmlns:a16="http://schemas.microsoft.com/office/drawing/2014/main" id="{17B9C548-DA25-A013-43BE-AC4A454928AA}"/>
              </a:ext>
            </a:extLst>
          </p:cNvPr>
          <p:cNvSpPr txBox="1"/>
          <p:nvPr/>
        </p:nvSpPr>
        <p:spPr>
          <a:xfrm>
            <a:off x="169835" y="2892487"/>
            <a:ext cx="1175657" cy="338554"/>
          </a:xfrm>
          <a:prstGeom prst="rect">
            <a:avLst/>
          </a:prstGeom>
          <a:noFill/>
        </p:spPr>
        <p:txBody>
          <a:bodyPr wrap="square" rtlCol="0">
            <a:spAutoFit/>
          </a:bodyPr>
          <a:lstStyle/>
          <a:p>
            <a:r>
              <a:rPr lang="en-US" sz="1600" dirty="0"/>
              <a:t>Tag value</a:t>
            </a:r>
            <a:endParaRPr lang="en-IL" sz="1600" dirty="0"/>
          </a:p>
        </p:txBody>
      </p:sp>
      <p:cxnSp>
        <p:nvCxnSpPr>
          <p:cNvPr id="10" name="Straight Arrow Connector 9">
            <a:extLst>
              <a:ext uri="{FF2B5EF4-FFF2-40B4-BE49-F238E27FC236}">
                <a16:creationId xmlns:a16="http://schemas.microsoft.com/office/drawing/2014/main" id="{8CF881BB-2C83-DF98-94A1-6A9401954BAE}"/>
              </a:ext>
            </a:extLst>
          </p:cNvPr>
          <p:cNvCxnSpPr>
            <a:cxnSpLocks/>
          </p:cNvCxnSpPr>
          <p:nvPr/>
        </p:nvCxnSpPr>
        <p:spPr>
          <a:xfrm>
            <a:off x="1122716" y="2739963"/>
            <a:ext cx="535909" cy="323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379C25-51EF-E44E-3614-244B1AA289B9}"/>
              </a:ext>
            </a:extLst>
          </p:cNvPr>
          <p:cNvCxnSpPr>
            <a:cxnSpLocks/>
          </p:cNvCxnSpPr>
          <p:nvPr/>
        </p:nvCxnSpPr>
        <p:spPr>
          <a:xfrm>
            <a:off x="1112556" y="3075243"/>
            <a:ext cx="535909" cy="323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878AEBF-BC68-FDBD-F20F-38135E0CB016}"/>
              </a:ext>
            </a:extLst>
          </p:cNvPr>
          <p:cNvSpPr/>
          <p:nvPr/>
        </p:nvSpPr>
        <p:spPr>
          <a:xfrm>
            <a:off x="8636473" y="3231041"/>
            <a:ext cx="2427404" cy="281779"/>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0" name="Connector: Elbow 19">
            <a:extLst>
              <a:ext uri="{FF2B5EF4-FFF2-40B4-BE49-F238E27FC236}">
                <a16:creationId xmlns:a16="http://schemas.microsoft.com/office/drawing/2014/main" id="{6DFE5837-40F8-ACAB-D624-DDA50DE15960}"/>
              </a:ext>
            </a:extLst>
          </p:cNvPr>
          <p:cNvCxnSpPr>
            <a:cxnSpLocks/>
          </p:cNvCxnSpPr>
          <p:nvPr/>
        </p:nvCxnSpPr>
        <p:spPr>
          <a:xfrm>
            <a:off x="7349018" y="2890740"/>
            <a:ext cx="1048223" cy="477300"/>
          </a:xfrm>
          <a:prstGeom prst="bentConnector3">
            <a:avLst/>
          </a:prstGeom>
          <a:ln w="2222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C38976D-6B77-0561-3777-B21BD6DA51D6}"/>
              </a:ext>
            </a:extLst>
          </p:cNvPr>
          <p:cNvSpPr/>
          <p:nvPr/>
        </p:nvSpPr>
        <p:spPr>
          <a:xfrm>
            <a:off x="4827093" y="2608961"/>
            <a:ext cx="1359022" cy="31826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736743864"/>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426B-36CB-38A9-2BEA-4EB2E297D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073FF-C7F2-36DC-112A-736B97D03AB6}"/>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93C67B34-78B3-14E5-A0A1-CC6357C18C00}"/>
              </a:ext>
            </a:extLst>
          </p:cNvPr>
          <p:cNvSpPr>
            <a:spLocks noGrp="1"/>
          </p:cNvSpPr>
          <p:nvPr>
            <p:ph idx="1"/>
          </p:nvPr>
        </p:nvSpPr>
        <p:spPr>
          <a:xfrm>
            <a:off x="631371" y="1259458"/>
            <a:ext cx="10918371" cy="5270738"/>
          </a:xfrm>
        </p:spPr>
        <p:txBody>
          <a:bodyPr anchor="t" anchorCtr="0">
            <a:normAutofit/>
          </a:bodyPr>
          <a:lstStyle/>
          <a:p>
            <a:pPr>
              <a:spcAft>
                <a:spcPts val="750"/>
              </a:spcAft>
            </a:pPr>
            <a:r>
              <a:rPr lang="en-US" sz="1600" b="1" dirty="0">
                <a:solidFill>
                  <a:srgbClr val="2E2E2E"/>
                </a:solidFill>
              </a:rPr>
              <a:t>SQL - </a:t>
            </a:r>
            <a:r>
              <a:rPr lang="en-US" sz="1600" dirty="0"/>
              <a:t>Specifies an SQL statement / Fabric commands</a:t>
            </a:r>
            <a:r>
              <a:rPr lang="en-US" sz="1600" b="0" i="0" dirty="0">
                <a:solidFill>
                  <a:srgbClr val="2E2E2E"/>
                </a:solidFill>
                <a:effectLst/>
              </a:rPr>
              <a:t>. Support prepared statements and binding.</a:t>
            </a:r>
            <a:endParaRPr lang="en-US" sz="1600" dirty="0">
              <a:solidFill>
                <a:srgbClr val="2E2E2E"/>
              </a:solidFill>
              <a:highlight>
                <a:srgbClr val="FFFF00"/>
              </a:highlight>
            </a:endParaRPr>
          </a:p>
          <a:p>
            <a:pPr lvl="1">
              <a:spcAft>
                <a:spcPts val="750"/>
              </a:spcAft>
            </a:pPr>
            <a:r>
              <a:rPr lang="en-US" sz="1400" b="0" i="0" dirty="0">
                <a:solidFill>
                  <a:srgbClr val="2E2E2E"/>
                </a:solidFill>
                <a:effectLst/>
              </a:rPr>
              <a:t>The SQL output automatically added as nodes to the </a:t>
            </a:r>
            <a:r>
              <a:rPr lang="en-US" sz="1400" b="0" i="0" dirty="0" err="1">
                <a:solidFill>
                  <a:srgbClr val="2E2E2E"/>
                </a:solidFill>
                <a:effectLst/>
              </a:rPr>
              <a:t>Graphit</a:t>
            </a:r>
            <a:r>
              <a:rPr lang="en-US" sz="1400" dirty="0">
                <a:solidFill>
                  <a:srgbClr val="2E2E2E"/>
                </a:solidFill>
              </a:rPr>
              <a:t>.</a:t>
            </a:r>
          </a:p>
          <a:p>
            <a:pPr lvl="1">
              <a:spcAft>
                <a:spcPts val="750"/>
              </a:spcAft>
            </a:pPr>
            <a:r>
              <a:rPr lang="en-US" sz="1200" b="0" i="0" dirty="0">
                <a:solidFill>
                  <a:srgbClr val="2E2E2E"/>
                </a:solidFill>
                <a:effectLst/>
                <a:latin typeface="Roboto" panose="02000000000000000000" pitchFamily="2" charset="0"/>
              </a:rPr>
              <a:t>The SQL Type </a:t>
            </a:r>
            <a:r>
              <a:rPr lang="en-US" sz="1400" dirty="0">
                <a:solidFill>
                  <a:srgbClr val="2E2E2E"/>
                </a:solidFill>
              </a:rPr>
              <a:t>loops through the returned records, executing nested code for each row in the result set.</a:t>
            </a:r>
          </a:p>
          <a:p>
            <a:pPr>
              <a:spcAft>
                <a:spcPts val="750"/>
              </a:spcAft>
            </a:pPr>
            <a:r>
              <a:rPr lang="en-US" sz="1800" b="1" dirty="0">
                <a:solidFill>
                  <a:srgbClr val="2E2E2E"/>
                </a:solidFill>
              </a:rPr>
              <a:t>Function</a:t>
            </a:r>
            <a:r>
              <a:rPr lang="en-US" sz="1800" dirty="0">
                <a:solidFill>
                  <a:srgbClr val="2E2E2E"/>
                </a:solidFill>
              </a:rPr>
              <a:t> - </a:t>
            </a:r>
            <a:r>
              <a:rPr lang="en-US" sz="1800" dirty="0"/>
              <a:t>JavaScript code that returns the value of an </a:t>
            </a:r>
            <a:r>
              <a:rPr lang="en-US" sz="1800" dirty="0">
                <a:solidFill>
                  <a:srgbClr val="2E2E2E"/>
                </a:solidFill>
              </a:rPr>
              <a:t>XML/JSON tag.</a:t>
            </a:r>
          </a:p>
          <a:p>
            <a:pPr marL="0" indent="0">
              <a:spcAft>
                <a:spcPts val="750"/>
              </a:spcAft>
              <a:buNone/>
            </a:pPr>
            <a:br>
              <a:rPr lang="en-US" sz="1800" b="0" i="0" dirty="0">
                <a:solidFill>
                  <a:srgbClr val="2E2E2E"/>
                </a:solidFill>
                <a:effectLst/>
              </a:rPr>
            </a:br>
            <a:endParaRPr lang="en-US" sz="1800" b="0" i="0" dirty="0">
              <a:solidFill>
                <a:srgbClr val="2E2E2E"/>
              </a:solidFill>
              <a:effectLst/>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794A3192-8BF7-8313-58F4-81CAD4E68A2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BDE7E40B-DEFB-5EC6-3507-F7C277B9CCD4}"/>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17F9EF1D-7654-79B2-9829-D072E7F7EA70}"/>
              </a:ext>
            </a:extLst>
          </p:cNvPr>
          <p:cNvPicPr>
            <a:picLocks noChangeAspect="1"/>
          </p:cNvPicPr>
          <p:nvPr/>
        </p:nvPicPr>
        <p:blipFill>
          <a:blip r:embed="rId3"/>
          <a:stretch>
            <a:fillRect/>
          </a:stretch>
        </p:blipFill>
        <p:spPr>
          <a:xfrm>
            <a:off x="746034" y="3429000"/>
            <a:ext cx="9257937" cy="2783220"/>
          </a:xfrm>
          <a:prstGeom prst="rect">
            <a:avLst/>
          </a:prstGeom>
        </p:spPr>
      </p:pic>
      <p:sp>
        <p:nvSpPr>
          <p:cNvPr id="5" name="Rectangle 4">
            <a:extLst>
              <a:ext uri="{FF2B5EF4-FFF2-40B4-BE49-F238E27FC236}">
                <a16:creationId xmlns:a16="http://schemas.microsoft.com/office/drawing/2014/main" id="{4A9D9DC1-D0C6-FC14-11B8-72EAD8ECE855}"/>
              </a:ext>
            </a:extLst>
          </p:cNvPr>
          <p:cNvSpPr/>
          <p:nvPr/>
        </p:nvSpPr>
        <p:spPr>
          <a:xfrm>
            <a:off x="3009900" y="5656099"/>
            <a:ext cx="1167653" cy="348462"/>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6">
            <a:extLst>
              <a:ext uri="{FF2B5EF4-FFF2-40B4-BE49-F238E27FC236}">
                <a16:creationId xmlns:a16="http://schemas.microsoft.com/office/drawing/2014/main" id="{E6A10A2B-6799-CBE0-1FC6-C417B87E0F62}"/>
              </a:ext>
            </a:extLst>
          </p:cNvPr>
          <p:cNvSpPr/>
          <p:nvPr/>
        </p:nvSpPr>
        <p:spPr>
          <a:xfrm>
            <a:off x="2762433" y="3429000"/>
            <a:ext cx="1253308" cy="322380"/>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3D908275-9041-B654-C43D-E5CEE34EFA73}"/>
              </a:ext>
            </a:extLst>
          </p:cNvPr>
          <p:cNvSpPr txBox="1"/>
          <p:nvPr/>
        </p:nvSpPr>
        <p:spPr>
          <a:xfrm>
            <a:off x="10488748" y="3960572"/>
            <a:ext cx="1175657" cy="584775"/>
          </a:xfrm>
          <a:prstGeom prst="rect">
            <a:avLst/>
          </a:prstGeom>
          <a:noFill/>
        </p:spPr>
        <p:txBody>
          <a:bodyPr wrap="square" rtlCol="0">
            <a:spAutoFit/>
          </a:bodyPr>
          <a:lstStyle/>
          <a:p>
            <a:r>
              <a:rPr lang="en-US" sz="1600" dirty="0"/>
              <a:t>SQL output iterations</a:t>
            </a:r>
            <a:endParaRPr lang="en-IL" sz="1600" dirty="0"/>
          </a:p>
        </p:txBody>
      </p:sp>
      <p:sp>
        <p:nvSpPr>
          <p:cNvPr id="14" name="Right Brace 13">
            <a:extLst>
              <a:ext uri="{FF2B5EF4-FFF2-40B4-BE49-F238E27FC236}">
                <a16:creationId xmlns:a16="http://schemas.microsoft.com/office/drawing/2014/main" id="{0F2F804D-31BB-64A1-8470-CFD2B5DB2033}"/>
              </a:ext>
            </a:extLst>
          </p:cNvPr>
          <p:cNvSpPr/>
          <p:nvPr/>
        </p:nvSpPr>
        <p:spPr>
          <a:xfrm>
            <a:off x="10116427" y="3894826"/>
            <a:ext cx="155448" cy="1075953"/>
          </a:xfrm>
          <a:prstGeom prst="rightBrace">
            <a:avLst/>
          </a:prstGeom>
          <a:ln w="222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Tree>
    <p:extLst>
      <p:ext uri="{BB962C8B-B14F-4D97-AF65-F5344CB8AC3E}">
        <p14:creationId xmlns:p14="http://schemas.microsoft.com/office/powerpoint/2010/main" val="3688855649"/>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A8C3B-5B29-422A-5A9B-5EB62F28C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0B05F-41F9-5304-5F1B-BB29F4B23EB3}"/>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4D948AA4-81DB-6AED-923D-E8FF696AC2CB}"/>
              </a:ext>
            </a:extLst>
          </p:cNvPr>
          <p:cNvSpPr>
            <a:spLocks noGrp="1"/>
          </p:cNvSpPr>
          <p:nvPr>
            <p:ph idx="1"/>
          </p:nvPr>
        </p:nvSpPr>
        <p:spPr>
          <a:xfrm>
            <a:off x="631371" y="1259458"/>
            <a:ext cx="10918371" cy="5270738"/>
          </a:xfrm>
        </p:spPr>
        <p:txBody>
          <a:bodyPr anchor="t" anchorCtr="0">
            <a:normAutofit/>
          </a:bodyPr>
          <a:lstStyle/>
          <a:p>
            <a:pPr>
              <a:spcAft>
                <a:spcPts val="750"/>
              </a:spcAft>
            </a:pPr>
            <a:r>
              <a:rPr lang="en-US" sz="1600" b="1" dirty="0">
                <a:solidFill>
                  <a:srgbClr val="2E2E2E"/>
                </a:solidFill>
              </a:rPr>
              <a:t>SQL non-prepared</a:t>
            </a:r>
            <a:br>
              <a:rPr lang="en-US" sz="1600" b="1" dirty="0">
                <a:solidFill>
                  <a:srgbClr val="2E2E2E"/>
                </a:solidFill>
              </a:rPr>
            </a:br>
            <a:r>
              <a:rPr lang="en-US" sz="1600" dirty="0">
                <a:solidFill>
                  <a:srgbClr val="2E2E2E"/>
                </a:solidFill>
              </a:rPr>
              <a:t>To be used if parts of the query are dynamic (such as table name).</a:t>
            </a:r>
            <a:br>
              <a:rPr lang="en-US" sz="1600" dirty="0"/>
            </a:br>
            <a:br>
              <a:rPr lang="en-US" sz="1600" dirty="0"/>
            </a:br>
            <a:br>
              <a:rPr lang="en-US" sz="1600" dirty="0"/>
            </a:br>
            <a:br>
              <a:rPr lang="en-US" sz="1600" dirty="0"/>
            </a:br>
            <a:br>
              <a:rPr lang="en-US" sz="1600" dirty="0"/>
            </a:br>
            <a:br>
              <a:rPr lang="en-US" sz="1600" dirty="0"/>
            </a:br>
            <a:endParaRPr lang="en-US" sz="1600" dirty="0"/>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25E95E40-F48B-57A2-E843-748DD8FA5C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A8E19021-FD1D-AFDD-1F51-A1405845C155}"/>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12" name="Picture 11">
            <a:extLst>
              <a:ext uri="{FF2B5EF4-FFF2-40B4-BE49-F238E27FC236}">
                <a16:creationId xmlns:a16="http://schemas.microsoft.com/office/drawing/2014/main" id="{33869717-D679-A7B6-F4C2-EDFEB88763E3}"/>
              </a:ext>
            </a:extLst>
          </p:cNvPr>
          <p:cNvPicPr>
            <a:picLocks noChangeAspect="1"/>
          </p:cNvPicPr>
          <p:nvPr/>
        </p:nvPicPr>
        <p:blipFill>
          <a:blip r:embed="rId3"/>
          <a:stretch>
            <a:fillRect/>
          </a:stretch>
        </p:blipFill>
        <p:spPr>
          <a:xfrm>
            <a:off x="794657" y="2358453"/>
            <a:ext cx="10297886" cy="1336383"/>
          </a:xfrm>
          <a:prstGeom prst="rect">
            <a:avLst/>
          </a:prstGeom>
        </p:spPr>
      </p:pic>
      <p:sp>
        <p:nvSpPr>
          <p:cNvPr id="15" name="Rectangle 14">
            <a:extLst>
              <a:ext uri="{FF2B5EF4-FFF2-40B4-BE49-F238E27FC236}">
                <a16:creationId xmlns:a16="http://schemas.microsoft.com/office/drawing/2014/main" id="{4EA8459D-350A-DBF2-E50E-A791A73CD03A}"/>
              </a:ext>
            </a:extLst>
          </p:cNvPr>
          <p:cNvSpPr/>
          <p:nvPr/>
        </p:nvSpPr>
        <p:spPr>
          <a:xfrm>
            <a:off x="4101193" y="2342746"/>
            <a:ext cx="1164771" cy="41616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892416967"/>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87A8-C69D-C660-91D6-8952D443F019}"/>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3CF97C3-C078-E819-58D7-AE2D668B2635}"/>
              </a:ext>
            </a:extLst>
          </p:cNvPr>
          <p:cNvPicPr>
            <a:picLocks noChangeAspect="1"/>
          </p:cNvPicPr>
          <p:nvPr/>
        </p:nvPicPr>
        <p:blipFill>
          <a:blip r:embed="rId3"/>
          <a:stretch>
            <a:fillRect/>
          </a:stretch>
        </p:blipFill>
        <p:spPr>
          <a:xfrm>
            <a:off x="2168978" y="3144729"/>
            <a:ext cx="6227599" cy="3482708"/>
          </a:xfrm>
          <a:prstGeom prst="rect">
            <a:avLst/>
          </a:prstGeom>
        </p:spPr>
      </p:pic>
      <p:sp>
        <p:nvSpPr>
          <p:cNvPr id="2" name="Title 1">
            <a:extLst>
              <a:ext uri="{FF2B5EF4-FFF2-40B4-BE49-F238E27FC236}">
                <a16:creationId xmlns:a16="http://schemas.microsoft.com/office/drawing/2014/main" id="{22B6C426-DB7A-4284-EF9F-DDD90EBCB1CF}"/>
              </a:ext>
            </a:extLst>
          </p:cNvPr>
          <p:cNvSpPr>
            <a:spLocks noGrp="1"/>
          </p:cNvSpPr>
          <p:nvPr>
            <p:ph type="title"/>
          </p:nvPr>
        </p:nvSpPr>
        <p:spPr>
          <a:xfrm>
            <a:off x="0" y="403270"/>
            <a:ext cx="12191999"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20F11A31-8FDF-9667-6231-145394C1FC2F}"/>
              </a:ext>
            </a:extLst>
          </p:cNvPr>
          <p:cNvSpPr>
            <a:spLocks noGrp="1"/>
          </p:cNvSpPr>
          <p:nvPr>
            <p:ph idx="1"/>
          </p:nvPr>
        </p:nvSpPr>
        <p:spPr>
          <a:xfrm>
            <a:off x="631372" y="1259458"/>
            <a:ext cx="9612086" cy="5270738"/>
          </a:xfrm>
        </p:spPr>
        <p:txBody>
          <a:bodyPr anchor="t" anchorCtr="0">
            <a:normAutofit/>
          </a:bodyPr>
          <a:lstStyle/>
          <a:p>
            <a:pPr>
              <a:spcAft>
                <a:spcPts val="750"/>
              </a:spcAft>
            </a:pPr>
            <a:r>
              <a:rPr lang="en-US" sz="1600" b="1" i="0" dirty="0">
                <a:solidFill>
                  <a:srgbClr val="2E2E2E"/>
                </a:solidFill>
                <a:effectLst/>
              </a:rPr>
              <a:t>GET</a:t>
            </a:r>
            <a:r>
              <a:rPr lang="en-US" sz="1600" b="0" i="0" dirty="0">
                <a:solidFill>
                  <a:srgbClr val="2E2E2E"/>
                </a:solidFill>
                <a:effectLst/>
              </a:rPr>
              <a:t> - Executes a GET command on a specified LUT and IID.</a:t>
            </a:r>
          </a:p>
          <a:p>
            <a:pPr>
              <a:spcAft>
                <a:spcPts val="750"/>
              </a:spcAft>
            </a:pPr>
            <a:r>
              <a:rPr lang="en-US" sz="1600" b="1" dirty="0">
                <a:solidFill>
                  <a:srgbClr val="2E2E2E"/>
                </a:solidFill>
              </a:rPr>
              <a:t>String</a:t>
            </a:r>
            <a:r>
              <a:rPr lang="en-US" sz="1600" dirty="0">
                <a:solidFill>
                  <a:srgbClr val="2E2E2E"/>
                </a:solidFill>
              </a:rPr>
              <a:t> - Provides value to the tag, supporting variables like input parameters or values from previous field nodes. </a:t>
            </a:r>
          </a:p>
          <a:p>
            <a:pPr>
              <a:spcAft>
                <a:spcPts val="750"/>
              </a:spcAft>
            </a:pPr>
            <a:r>
              <a:rPr lang="en-US" sz="1600" b="1" dirty="0">
                <a:solidFill>
                  <a:srgbClr val="2E2E2E"/>
                </a:solidFill>
              </a:rPr>
              <a:t>Broadway</a:t>
            </a:r>
            <a:r>
              <a:rPr lang="en-US" sz="1600" dirty="0">
                <a:solidFill>
                  <a:srgbClr val="2E2E2E"/>
                </a:solidFill>
              </a:rPr>
              <a:t> - </a:t>
            </a:r>
            <a:r>
              <a:rPr lang="en-US" sz="1600" b="0" i="0" dirty="0">
                <a:solidFill>
                  <a:srgbClr val="2E2E2E"/>
                </a:solidFill>
                <a:effectLst/>
              </a:rPr>
              <a:t>Defines a Broadway flow to be executed, The flow's output parameters automatically added as nodes to the </a:t>
            </a:r>
            <a:r>
              <a:rPr lang="en-US" sz="1600" b="0" i="0" dirty="0" err="1">
                <a:solidFill>
                  <a:srgbClr val="2E2E2E"/>
                </a:solidFill>
                <a:effectLst/>
              </a:rPr>
              <a:t>Graphit</a:t>
            </a:r>
            <a:r>
              <a:rPr lang="en-US" sz="1600" b="0" i="0" dirty="0">
                <a:solidFill>
                  <a:srgbClr val="2E2E2E"/>
                </a:solidFill>
                <a:effectLst/>
              </a:rPr>
              <a:t>.</a:t>
            </a:r>
            <a:br>
              <a:rPr lang="en-US" sz="1600" b="0" i="0" dirty="0">
                <a:solidFill>
                  <a:srgbClr val="2E2E2E"/>
                </a:solidFill>
                <a:effectLst/>
              </a:rPr>
            </a:br>
            <a:endParaRPr lang="en-US" sz="1600" b="0" i="0" dirty="0">
              <a:solidFill>
                <a:srgbClr val="2E2E2E"/>
              </a:solidFill>
              <a:effectLst/>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7994A465-EB31-F2F1-26A0-A3E5AFF4FD1E}"/>
              </a:ext>
            </a:extLst>
          </p:cNvPr>
          <p:cNvSpPr>
            <a:spLocks noChangeAspect="1" noChangeArrowheads="1"/>
          </p:cNvSpPr>
          <p:nvPr/>
        </p:nvSpPr>
        <p:spPr bwMode="auto">
          <a:xfrm>
            <a:off x="6419850" y="341811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E7B765DA-97A6-C114-6E8B-763603695A51}"/>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13" name="TextBox 12">
            <a:extLst>
              <a:ext uri="{FF2B5EF4-FFF2-40B4-BE49-F238E27FC236}">
                <a16:creationId xmlns:a16="http://schemas.microsoft.com/office/drawing/2014/main" id="{43825017-D2B9-5504-E959-C3CA0112A5E3}"/>
              </a:ext>
            </a:extLst>
          </p:cNvPr>
          <p:cNvSpPr txBox="1"/>
          <p:nvPr/>
        </p:nvSpPr>
        <p:spPr>
          <a:xfrm>
            <a:off x="1016103" y="5787513"/>
            <a:ext cx="1175657" cy="738664"/>
          </a:xfrm>
          <a:prstGeom prst="rect">
            <a:avLst/>
          </a:prstGeom>
          <a:noFill/>
        </p:spPr>
        <p:txBody>
          <a:bodyPr wrap="square" rtlCol="0">
            <a:spAutoFit/>
          </a:bodyPr>
          <a:lstStyle/>
          <a:p>
            <a:r>
              <a:rPr lang="en-US" sz="1400" dirty="0"/>
              <a:t>BW flow output parameters</a:t>
            </a:r>
            <a:endParaRPr lang="en-IL" sz="1400" dirty="0"/>
          </a:p>
        </p:txBody>
      </p:sp>
      <p:sp>
        <p:nvSpPr>
          <p:cNvPr id="14" name="Left Brace 13">
            <a:extLst>
              <a:ext uri="{FF2B5EF4-FFF2-40B4-BE49-F238E27FC236}">
                <a16:creationId xmlns:a16="http://schemas.microsoft.com/office/drawing/2014/main" id="{89DE85A7-763D-6B91-E3BF-D4EF3FF63B0A}"/>
              </a:ext>
            </a:extLst>
          </p:cNvPr>
          <p:cNvSpPr/>
          <p:nvPr/>
        </p:nvSpPr>
        <p:spPr>
          <a:xfrm>
            <a:off x="2036312" y="5702136"/>
            <a:ext cx="155448" cy="914400"/>
          </a:xfrm>
          <a:prstGeom prst="leftBrace">
            <a:avLst/>
          </a:prstGeom>
          <a:ln w="222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15" name="TextBox 14">
            <a:extLst>
              <a:ext uri="{FF2B5EF4-FFF2-40B4-BE49-F238E27FC236}">
                <a16:creationId xmlns:a16="http://schemas.microsoft.com/office/drawing/2014/main" id="{10DECFBB-1A43-8E89-5616-BE6F27022962}"/>
              </a:ext>
            </a:extLst>
          </p:cNvPr>
          <p:cNvSpPr txBox="1"/>
          <p:nvPr/>
        </p:nvSpPr>
        <p:spPr>
          <a:xfrm>
            <a:off x="1016103" y="4884144"/>
            <a:ext cx="1175657" cy="738664"/>
          </a:xfrm>
          <a:prstGeom prst="rect">
            <a:avLst/>
          </a:prstGeom>
          <a:noFill/>
        </p:spPr>
        <p:txBody>
          <a:bodyPr wrap="square" rtlCol="0">
            <a:spAutoFit/>
          </a:bodyPr>
          <a:lstStyle/>
          <a:p>
            <a:r>
              <a:rPr lang="en-US" sz="1400" dirty="0"/>
              <a:t>BW flow input parameters</a:t>
            </a:r>
            <a:endParaRPr lang="en-IL" sz="1400" dirty="0"/>
          </a:p>
        </p:txBody>
      </p:sp>
      <p:cxnSp>
        <p:nvCxnSpPr>
          <p:cNvPr id="26" name="Connector: Elbow 25">
            <a:extLst>
              <a:ext uri="{FF2B5EF4-FFF2-40B4-BE49-F238E27FC236}">
                <a16:creationId xmlns:a16="http://schemas.microsoft.com/office/drawing/2014/main" id="{133C4383-B85F-D380-C068-826F6C060125}"/>
              </a:ext>
            </a:extLst>
          </p:cNvPr>
          <p:cNvCxnSpPr>
            <a:cxnSpLocks/>
          </p:cNvCxnSpPr>
          <p:nvPr/>
        </p:nvCxnSpPr>
        <p:spPr>
          <a:xfrm>
            <a:off x="2036312" y="5198263"/>
            <a:ext cx="1662109" cy="362858"/>
          </a:xfrm>
          <a:prstGeom prst="bentConnector3">
            <a:avLst>
              <a:gd name="adj1" fmla="val 4728"/>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21E1FD7-02E7-879F-817A-AA3D05AC281F}"/>
              </a:ext>
            </a:extLst>
          </p:cNvPr>
          <p:cNvCxnSpPr>
            <a:cxnSpLocks/>
          </p:cNvCxnSpPr>
          <p:nvPr/>
        </p:nvCxnSpPr>
        <p:spPr>
          <a:xfrm flipV="1">
            <a:off x="3686229" y="5444042"/>
            <a:ext cx="0" cy="11707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19127AE-3046-4959-073A-E7A189EDFF41}"/>
              </a:ext>
            </a:extLst>
          </p:cNvPr>
          <p:cNvSpPr/>
          <p:nvPr/>
        </p:nvSpPr>
        <p:spPr>
          <a:xfrm>
            <a:off x="4101193" y="3632316"/>
            <a:ext cx="1164771" cy="41616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7">
            <a:extLst>
              <a:ext uri="{FF2B5EF4-FFF2-40B4-BE49-F238E27FC236}">
                <a16:creationId xmlns:a16="http://schemas.microsoft.com/office/drawing/2014/main" id="{FFCD3ADC-E8EB-A165-B007-3854AAEE0FCA}"/>
              </a:ext>
            </a:extLst>
          </p:cNvPr>
          <p:cNvSpPr/>
          <p:nvPr/>
        </p:nvSpPr>
        <p:spPr>
          <a:xfrm>
            <a:off x="4356657" y="5023995"/>
            <a:ext cx="1164771" cy="317738"/>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FDBF3C57-46A7-DE61-7F13-51EC7DE4F293}"/>
              </a:ext>
            </a:extLst>
          </p:cNvPr>
          <p:cNvSpPr/>
          <p:nvPr/>
        </p:nvSpPr>
        <p:spPr>
          <a:xfrm>
            <a:off x="4351215" y="4487024"/>
            <a:ext cx="1164771" cy="41616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181655991"/>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34C7A-E631-AA5B-9C9D-B453BED5F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EE40F-4FC3-151A-AC31-EFA1E495FC8A}"/>
              </a:ext>
            </a:extLst>
          </p:cNvPr>
          <p:cNvSpPr>
            <a:spLocks noGrp="1"/>
          </p:cNvSpPr>
          <p:nvPr>
            <p:ph type="title"/>
          </p:nvPr>
        </p:nvSpPr>
        <p:spPr>
          <a:xfrm>
            <a:off x="0" y="403270"/>
            <a:ext cx="12191999"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341466A7-3682-1D56-1196-843257853168}"/>
              </a:ext>
            </a:extLst>
          </p:cNvPr>
          <p:cNvSpPr>
            <a:spLocks noGrp="1"/>
          </p:cNvSpPr>
          <p:nvPr>
            <p:ph idx="1"/>
          </p:nvPr>
        </p:nvSpPr>
        <p:spPr>
          <a:xfrm>
            <a:off x="631371" y="1259458"/>
            <a:ext cx="10918371" cy="5270738"/>
          </a:xfrm>
        </p:spPr>
        <p:txBody>
          <a:bodyPr anchor="t" anchorCtr="0">
            <a:normAutofit/>
          </a:bodyPr>
          <a:lstStyle/>
          <a:p>
            <a:pPr>
              <a:buFont typeface="Arial" panose="020B0604020202020204" pitchFamily="34" charset="0"/>
              <a:buChar char="•"/>
            </a:pPr>
            <a:r>
              <a:rPr lang="en-US" sz="1600" b="1" i="0" dirty="0">
                <a:solidFill>
                  <a:srgbClr val="2E2E2E"/>
                </a:solidFill>
                <a:effectLst/>
              </a:rPr>
              <a:t>Condition</a:t>
            </a:r>
            <a:r>
              <a:rPr lang="en-US" sz="1600" b="0" i="0" dirty="0">
                <a:solidFill>
                  <a:srgbClr val="2E2E2E"/>
                </a:solidFill>
                <a:effectLst/>
              </a:rPr>
              <a:t> - </a:t>
            </a:r>
            <a:r>
              <a:rPr lang="en-US" sz="1600" dirty="0"/>
              <a:t>Implements IF-ELSE functionality, where the node's content is a simple code that returns a Boolean result.</a:t>
            </a:r>
          </a:p>
          <a:p>
            <a:pPr lvl="1"/>
            <a:r>
              <a:rPr lang="en-US" sz="1400" dirty="0"/>
              <a:t>The first node after the condition represents the "true" branch.</a:t>
            </a:r>
          </a:p>
          <a:p>
            <a:pPr lvl="1"/>
            <a:r>
              <a:rPr lang="en-US" sz="1400" dirty="0"/>
              <a:t>The next sibling node represents the "false" branch.</a:t>
            </a:r>
          </a:p>
          <a:p>
            <a:pPr lvl="1"/>
            <a:r>
              <a:rPr lang="en-US" sz="1400" dirty="0"/>
              <a:t>Any child nodes under the true or false branches are included based on the evaluation of the condition.</a:t>
            </a:r>
          </a:p>
          <a:p>
            <a:pPr marL="0" indent="0">
              <a:spcBef>
                <a:spcPts val="0"/>
              </a:spcBef>
              <a:buNone/>
            </a:pPr>
            <a:endParaRPr lang="en-US" sz="1600" dirty="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BF9F55C0-DF98-A655-AFAC-F5115CCAF8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C13CBA35-FB02-68C8-0398-28904D4DB0C6}"/>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13" name="TextBox 12">
            <a:extLst>
              <a:ext uri="{FF2B5EF4-FFF2-40B4-BE49-F238E27FC236}">
                <a16:creationId xmlns:a16="http://schemas.microsoft.com/office/drawing/2014/main" id="{F2DD1285-A9D8-0A3B-5BA2-26323173A43E}"/>
              </a:ext>
            </a:extLst>
          </p:cNvPr>
          <p:cNvSpPr txBox="1"/>
          <p:nvPr/>
        </p:nvSpPr>
        <p:spPr>
          <a:xfrm>
            <a:off x="454151" y="5415434"/>
            <a:ext cx="1273278" cy="738664"/>
          </a:xfrm>
          <a:prstGeom prst="rect">
            <a:avLst/>
          </a:prstGeom>
          <a:noFill/>
        </p:spPr>
        <p:txBody>
          <a:bodyPr wrap="square" rtlCol="0">
            <a:spAutoFit/>
          </a:bodyPr>
          <a:lstStyle/>
          <a:p>
            <a:r>
              <a:rPr lang="en-US" sz="1400" dirty="0"/>
              <a:t>False element including child nodes</a:t>
            </a:r>
            <a:endParaRPr lang="en-IL" sz="1400" dirty="0"/>
          </a:p>
        </p:txBody>
      </p:sp>
      <p:cxnSp>
        <p:nvCxnSpPr>
          <p:cNvPr id="31" name="Straight Arrow Connector 30">
            <a:extLst>
              <a:ext uri="{FF2B5EF4-FFF2-40B4-BE49-F238E27FC236}">
                <a16:creationId xmlns:a16="http://schemas.microsoft.com/office/drawing/2014/main" id="{F9689A65-EF68-C60C-97DE-3E6BDBC013FC}"/>
              </a:ext>
            </a:extLst>
          </p:cNvPr>
          <p:cNvCxnSpPr>
            <a:cxnSpLocks/>
          </p:cNvCxnSpPr>
          <p:nvPr/>
        </p:nvCxnSpPr>
        <p:spPr>
          <a:xfrm flipV="1">
            <a:off x="3209979" y="4943295"/>
            <a:ext cx="0" cy="11707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614505F-C999-60EA-13F5-244F0559FB7D}"/>
              </a:ext>
            </a:extLst>
          </p:cNvPr>
          <p:cNvSpPr txBox="1"/>
          <p:nvPr/>
        </p:nvSpPr>
        <p:spPr>
          <a:xfrm>
            <a:off x="454151" y="3970550"/>
            <a:ext cx="1273278" cy="738664"/>
          </a:xfrm>
          <a:prstGeom prst="rect">
            <a:avLst/>
          </a:prstGeom>
          <a:noFill/>
        </p:spPr>
        <p:txBody>
          <a:bodyPr wrap="square" rtlCol="0">
            <a:spAutoFit/>
          </a:bodyPr>
          <a:lstStyle/>
          <a:p>
            <a:r>
              <a:rPr lang="en-US" sz="1400" dirty="0"/>
              <a:t>True element including child nodes</a:t>
            </a:r>
            <a:endParaRPr lang="en-IL" sz="1400" dirty="0"/>
          </a:p>
        </p:txBody>
      </p:sp>
      <p:sp>
        <p:nvSpPr>
          <p:cNvPr id="21" name="TextBox 20">
            <a:extLst>
              <a:ext uri="{FF2B5EF4-FFF2-40B4-BE49-F238E27FC236}">
                <a16:creationId xmlns:a16="http://schemas.microsoft.com/office/drawing/2014/main" id="{A2FFC82B-D935-7855-194C-0F516C8C5DD4}"/>
              </a:ext>
            </a:extLst>
          </p:cNvPr>
          <p:cNvSpPr txBox="1"/>
          <p:nvPr/>
        </p:nvSpPr>
        <p:spPr>
          <a:xfrm>
            <a:off x="454151" y="2928860"/>
            <a:ext cx="1273278" cy="523220"/>
          </a:xfrm>
          <a:prstGeom prst="rect">
            <a:avLst/>
          </a:prstGeom>
          <a:noFill/>
        </p:spPr>
        <p:txBody>
          <a:bodyPr wrap="square" rtlCol="0">
            <a:spAutoFit/>
          </a:bodyPr>
          <a:lstStyle/>
          <a:p>
            <a:r>
              <a:rPr lang="en-US" sz="1400" dirty="0"/>
              <a:t>Condition element</a:t>
            </a:r>
            <a:endParaRPr lang="en-IL" sz="1400" dirty="0"/>
          </a:p>
        </p:txBody>
      </p:sp>
      <p:pic>
        <p:nvPicPr>
          <p:cNvPr id="7" name="Picture 6">
            <a:extLst>
              <a:ext uri="{FF2B5EF4-FFF2-40B4-BE49-F238E27FC236}">
                <a16:creationId xmlns:a16="http://schemas.microsoft.com/office/drawing/2014/main" id="{FB8CAC08-A803-6AB9-29E9-039BC0D8626E}"/>
              </a:ext>
            </a:extLst>
          </p:cNvPr>
          <p:cNvPicPr>
            <a:picLocks noChangeAspect="1"/>
          </p:cNvPicPr>
          <p:nvPr/>
        </p:nvPicPr>
        <p:blipFill>
          <a:blip r:embed="rId3"/>
          <a:stretch>
            <a:fillRect/>
          </a:stretch>
        </p:blipFill>
        <p:spPr>
          <a:xfrm>
            <a:off x="1628775" y="2641607"/>
            <a:ext cx="9906000" cy="3786028"/>
          </a:xfrm>
          <a:prstGeom prst="rect">
            <a:avLst/>
          </a:prstGeom>
        </p:spPr>
      </p:pic>
      <p:sp>
        <p:nvSpPr>
          <p:cNvPr id="18" name="Rectangle 17">
            <a:extLst>
              <a:ext uri="{FF2B5EF4-FFF2-40B4-BE49-F238E27FC236}">
                <a16:creationId xmlns:a16="http://schemas.microsoft.com/office/drawing/2014/main" id="{45BB03D3-F9FE-0029-1982-527AF585374D}"/>
              </a:ext>
            </a:extLst>
          </p:cNvPr>
          <p:cNvSpPr/>
          <p:nvPr/>
        </p:nvSpPr>
        <p:spPr>
          <a:xfrm>
            <a:off x="395628" y="2907970"/>
            <a:ext cx="8465341" cy="69520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6C1A9BE5-135A-AE3E-BDF5-3DDE10472E79}"/>
              </a:ext>
            </a:extLst>
          </p:cNvPr>
          <p:cNvSpPr/>
          <p:nvPr/>
        </p:nvSpPr>
        <p:spPr>
          <a:xfrm>
            <a:off x="395627" y="3593768"/>
            <a:ext cx="8465341" cy="1445568"/>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C7D0E68B-004C-BB8D-138E-60EA952FAC90}"/>
              </a:ext>
            </a:extLst>
          </p:cNvPr>
          <p:cNvSpPr/>
          <p:nvPr/>
        </p:nvSpPr>
        <p:spPr>
          <a:xfrm>
            <a:off x="406510" y="5052452"/>
            <a:ext cx="8465341" cy="1445568"/>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899804013"/>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CEBAB-3EEF-B450-4A5A-6206B985377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C5E9C14-22DE-ECB5-9AFE-46E055B63240}"/>
              </a:ext>
            </a:extLst>
          </p:cNvPr>
          <p:cNvPicPr>
            <a:picLocks noChangeAspect="1"/>
          </p:cNvPicPr>
          <p:nvPr/>
        </p:nvPicPr>
        <p:blipFill>
          <a:blip r:embed="rId3"/>
          <a:stretch>
            <a:fillRect/>
          </a:stretch>
        </p:blipFill>
        <p:spPr>
          <a:xfrm>
            <a:off x="631372" y="1984629"/>
            <a:ext cx="10297885" cy="3972925"/>
          </a:xfrm>
          <a:prstGeom prst="rect">
            <a:avLst/>
          </a:prstGeom>
        </p:spPr>
      </p:pic>
      <p:sp>
        <p:nvSpPr>
          <p:cNvPr id="2" name="Title 1">
            <a:extLst>
              <a:ext uri="{FF2B5EF4-FFF2-40B4-BE49-F238E27FC236}">
                <a16:creationId xmlns:a16="http://schemas.microsoft.com/office/drawing/2014/main" id="{04AB1FA0-F9C2-09EE-A333-33A5A4D0B829}"/>
              </a:ext>
            </a:extLst>
          </p:cNvPr>
          <p:cNvSpPr>
            <a:spLocks noGrp="1"/>
          </p:cNvSpPr>
          <p:nvPr>
            <p:ph type="title"/>
          </p:nvPr>
        </p:nvSpPr>
        <p:spPr>
          <a:xfrm>
            <a:off x="0" y="403270"/>
            <a:ext cx="12191999"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332395E4-79C2-4799-92AB-0F8566977FE9}"/>
              </a:ext>
            </a:extLst>
          </p:cNvPr>
          <p:cNvSpPr>
            <a:spLocks noGrp="1"/>
          </p:cNvSpPr>
          <p:nvPr>
            <p:ph idx="1"/>
          </p:nvPr>
        </p:nvSpPr>
        <p:spPr>
          <a:xfrm>
            <a:off x="631372" y="1259458"/>
            <a:ext cx="8186058" cy="5270738"/>
          </a:xfrm>
        </p:spPr>
        <p:txBody>
          <a:bodyPr anchor="t" anchorCtr="0">
            <a:normAutofit/>
          </a:bodyPr>
          <a:lstStyle/>
          <a:p>
            <a:pPr marL="198755" indent="-198755">
              <a:spcAft>
                <a:spcPts val="750"/>
              </a:spcAft>
            </a:pPr>
            <a:r>
              <a:rPr lang="en-US" sz="1600" b="1" i="0" dirty="0">
                <a:solidFill>
                  <a:srgbClr val="2E2E2E"/>
                </a:solidFill>
                <a:effectLst/>
                <a:latin typeface="Roboto"/>
                <a:ea typeface="Roboto"/>
                <a:cs typeface="Roboto"/>
              </a:rPr>
              <a:t>Group</a:t>
            </a:r>
            <a:r>
              <a:rPr lang="en-US" sz="1600" b="0" i="0" dirty="0">
                <a:solidFill>
                  <a:srgbClr val="2E2E2E"/>
                </a:solidFill>
                <a:effectLst/>
                <a:latin typeface="Roboto"/>
                <a:ea typeface="Roboto"/>
                <a:cs typeface="Roboto"/>
              </a:rPr>
              <a:t> - Groups several elements</a:t>
            </a:r>
            <a:r>
              <a:rPr lang="en-US" sz="1600" dirty="0">
                <a:solidFill>
                  <a:srgbClr val="2E2E2E"/>
                </a:solidFill>
                <a:latin typeface="Roboto"/>
                <a:ea typeface="Roboto"/>
                <a:cs typeface="Roboto"/>
              </a:rPr>
              <a:t> under a single entry tag</a:t>
            </a:r>
            <a:r>
              <a:rPr lang="en-US" sz="1600" b="0" i="0" dirty="0">
                <a:solidFill>
                  <a:srgbClr val="2E2E2E"/>
                </a:solidFill>
                <a:effectLst/>
                <a:latin typeface="Roboto"/>
                <a:ea typeface="Roboto"/>
                <a:cs typeface="Roboto"/>
              </a:rPr>
              <a:t>. Used mainly with Condition nodes.</a:t>
            </a:r>
            <a:endParaRPr lang="en-US" dirty="0">
              <a:latin typeface="Roboto"/>
              <a:ea typeface="Roboto"/>
              <a:cs typeface="Roboto"/>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600" dirty="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6440D827-15CC-C3A2-3C73-96AD9E11C32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01765E6D-EC90-45A1-12B9-F5C51A92E04F}"/>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cxnSp>
        <p:nvCxnSpPr>
          <p:cNvPr id="31" name="Straight Arrow Connector 30">
            <a:extLst>
              <a:ext uri="{FF2B5EF4-FFF2-40B4-BE49-F238E27FC236}">
                <a16:creationId xmlns:a16="http://schemas.microsoft.com/office/drawing/2014/main" id="{92376128-5764-B590-D3B9-614EDCC4050F}"/>
              </a:ext>
            </a:extLst>
          </p:cNvPr>
          <p:cNvCxnSpPr>
            <a:cxnSpLocks/>
          </p:cNvCxnSpPr>
          <p:nvPr/>
        </p:nvCxnSpPr>
        <p:spPr>
          <a:xfrm flipV="1">
            <a:off x="3209979" y="4943295"/>
            <a:ext cx="0" cy="11707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4C76DB2-9A85-32A7-9266-8902A804D13B}"/>
              </a:ext>
            </a:extLst>
          </p:cNvPr>
          <p:cNvSpPr/>
          <p:nvPr/>
        </p:nvSpPr>
        <p:spPr>
          <a:xfrm>
            <a:off x="3211461" y="2743627"/>
            <a:ext cx="1022907" cy="37700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6AB661DD-B75A-CC17-E169-56F91B6672E9}"/>
              </a:ext>
            </a:extLst>
          </p:cNvPr>
          <p:cNvSpPr/>
          <p:nvPr/>
        </p:nvSpPr>
        <p:spPr>
          <a:xfrm>
            <a:off x="3209979" y="4417867"/>
            <a:ext cx="1022906" cy="362982"/>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11" name="Picture 10">
            <a:extLst>
              <a:ext uri="{FF2B5EF4-FFF2-40B4-BE49-F238E27FC236}">
                <a16:creationId xmlns:a16="http://schemas.microsoft.com/office/drawing/2014/main" id="{EE799C9C-802F-6B5E-13DF-540C1FEB3067}"/>
              </a:ext>
            </a:extLst>
          </p:cNvPr>
          <p:cNvPicPr>
            <a:picLocks noChangeAspect="1"/>
          </p:cNvPicPr>
          <p:nvPr/>
        </p:nvPicPr>
        <p:blipFill>
          <a:blip r:embed="rId4"/>
          <a:stretch>
            <a:fillRect/>
          </a:stretch>
        </p:blipFill>
        <p:spPr>
          <a:xfrm>
            <a:off x="8889218" y="4415218"/>
            <a:ext cx="3302781" cy="1542336"/>
          </a:xfrm>
          <a:prstGeom prst="rect">
            <a:avLst/>
          </a:prstGeom>
        </p:spPr>
      </p:pic>
      <p:sp>
        <p:nvSpPr>
          <p:cNvPr id="12" name="TextBox 11">
            <a:extLst>
              <a:ext uri="{FF2B5EF4-FFF2-40B4-BE49-F238E27FC236}">
                <a16:creationId xmlns:a16="http://schemas.microsoft.com/office/drawing/2014/main" id="{F6E83A0B-6D03-7B10-F8F2-E1A02498A7B2}"/>
              </a:ext>
            </a:extLst>
          </p:cNvPr>
          <p:cNvSpPr txBox="1"/>
          <p:nvPr/>
        </p:nvSpPr>
        <p:spPr>
          <a:xfrm>
            <a:off x="9421284" y="3740938"/>
            <a:ext cx="1964997" cy="307777"/>
          </a:xfrm>
          <a:prstGeom prst="rect">
            <a:avLst/>
          </a:prstGeom>
          <a:noFill/>
        </p:spPr>
        <p:txBody>
          <a:bodyPr wrap="square" rtlCol="0">
            <a:spAutoFit/>
          </a:bodyPr>
          <a:lstStyle/>
          <a:p>
            <a:r>
              <a:rPr lang="en-US" sz="1400" dirty="0"/>
              <a:t>Result without Group</a:t>
            </a:r>
            <a:endParaRPr lang="en-IL" sz="1400" dirty="0"/>
          </a:p>
        </p:txBody>
      </p:sp>
      <p:sp>
        <p:nvSpPr>
          <p:cNvPr id="14" name="Left Brace 13">
            <a:extLst>
              <a:ext uri="{FF2B5EF4-FFF2-40B4-BE49-F238E27FC236}">
                <a16:creationId xmlns:a16="http://schemas.microsoft.com/office/drawing/2014/main" id="{BEA74CC2-88AE-D277-26C5-E21E3AE26D82}"/>
              </a:ext>
            </a:extLst>
          </p:cNvPr>
          <p:cNvSpPr/>
          <p:nvPr/>
        </p:nvSpPr>
        <p:spPr>
          <a:xfrm rot="5400000">
            <a:off x="10184050" y="2833727"/>
            <a:ext cx="298204" cy="2726646"/>
          </a:xfrm>
          <a:prstGeom prst="leftBrace">
            <a:avLst/>
          </a:prstGeom>
          <a:ln w="222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15" name="Rectangle 14">
            <a:extLst>
              <a:ext uri="{FF2B5EF4-FFF2-40B4-BE49-F238E27FC236}">
                <a16:creationId xmlns:a16="http://schemas.microsoft.com/office/drawing/2014/main" id="{5F7B2737-9556-35D7-F394-2F06615A94ED}"/>
              </a:ext>
            </a:extLst>
          </p:cNvPr>
          <p:cNvSpPr/>
          <p:nvPr/>
        </p:nvSpPr>
        <p:spPr>
          <a:xfrm>
            <a:off x="9089571" y="5116639"/>
            <a:ext cx="814420" cy="197359"/>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74055988"/>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11B9-04ED-5270-8125-C2E000C45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14055-6654-52A6-FC57-AA10C4CF90F3}"/>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DA6BD9D0-5D1A-2509-2A15-B93A6DDF036E}"/>
              </a:ext>
            </a:extLst>
          </p:cNvPr>
          <p:cNvSpPr>
            <a:spLocks noGrp="1"/>
          </p:cNvSpPr>
          <p:nvPr>
            <p:ph idx="1"/>
          </p:nvPr>
        </p:nvSpPr>
        <p:spPr>
          <a:xfrm>
            <a:off x="631371" y="1259458"/>
            <a:ext cx="10918371" cy="5270738"/>
          </a:xfrm>
        </p:spPr>
        <p:txBody>
          <a:bodyPr anchor="t" anchorCtr="0">
            <a:normAutofit/>
          </a:bodyPr>
          <a:lstStyle/>
          <a:p>
            <a:pPr marL="198755" indent="-198755">
              <a:spcAft>
                <a:spcPts val="750"/>
              </a:spcAft>
            </a:pPr>
            <a:r>
              <a:rPr lang="en-US" sz="1600" b="1" i="0" dirty="0">
                <a:solidFill>
                  <a:srgbClr val="2E2E2E"/>
                </a:solidFill>
                <a:effectLst/>
              </a:rPr>
              <a:t>Row</a:t>
            </a:r>
            <a:r>
              <a:rPr lang="en-US" sz="1600" b="0" i="0" dirty="0">
                <a:solidFill>
                  <a:srgbClr val="2E2E2E"/>
                </a:solidFill>
                <a:effectLst/>
              </a:rPr>
              <a:t> - </a:t>
            </a:r>
            <a:r>
              <a:rPr lang="en-US" sz="1600" dirty="0">
                <a:solidFill>
                  <a:srgbClr val="2E2E2E"/>
                </a:solidFill>
              </a:rPr>
              <a:t>Presents data as output without any manipulation. For example, a header for an XML format. </a:t>
            </a:r>
            <a:endParaRPr lang="en-US" dirty="0"/>
          </a:p>
          <a:p>
            <a:pPr marL="0" indent="0">
              <a:spcBef>
                <a:spcPts val="0"/>
              </a:spcBef>
              <a:buNone/>
            </a:pPr>
            <a:endParaRPr lang="en-US" sz="1800" dirty="0">
              <a:effectLst/>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17FC7001-61A1-DC97-10A5-C9E27F688A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0B440559-9EB6-49AC-F134-95DBABC3F720}"/>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5D602E99-BF26-5587-B78D-F33C56AF3DDB}"/>
              </a:ext>
            </a:extLst>
          </p:cNvPr>
          <p:cNvPicPr>
            <a:picLocks noChangeAspect="1"/>
          </p:cNvPicPr>
          <p:nvPr/>
        </p:nvPicPr>
        <p:blipFill>
          <a:blip r:embed="rId3"/>
          <a:stretch>
            <a:fillRect/>
          </a:stretch>
        </p:blipFill>
        <p:spPr>
          <a:xfrm>
            <a:off x="767443" y="1906741"/>
            <a:ext cx="10352314" cy="2739717"/>
          </a:xfrm>
          <a:prstGeom prst="rect">
            <a:avLst/>
          </a:prstGeom>
        </p:spPr>
      </p:pic>
      <p:sp>
        <p:nvSpPr>
          <p:cNvPr id="7" name="Rectangle 6">
            <a:extLst>
              <a:ext uri="{FF2B5EF4-FFF2-40B4-BE49-F238E27FC236}">
                <a16:creationId xmlns:a16="http://schemas.microsoft.com/office/drawing/2014/main" id="{850D8C87-D10E-7ADF-89D7-DE7668737C6B}"/>
              </a:ext>
            </a:extLst>
          </p:cNvPr>
          <p:cNvSpPr/>
          <p:nvPr/>
        </p:nvSpPr>
        <p:spPr>
          <a:xfrm>
            <a:off x="849086" y="2007744"/>
            <a:ext cx="3886200" cy="572170"/>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Rectangle 4">
            <a:extLst>
              <a:ext uri="{FF2B5EF4-FFF2-40B4-BE49-F238E27FC236}">
                <a16:creationId xmlns:a16="http://schemas.microsoft.com/office/drawing/2014/main" id="{9FBAA6AB-C233-3EC2-15D3-1871E4877E4D}"/>
              </a:ext>
            </a:extLst>
          </p:cNvPr>
          <p:cNvSpPr/>
          <p:nvPr/>
        </p:nvSpPr>
        <p:spPr>
          <a:xfrm>
            <a:off x="8248649" y="2162175"/>
            <a:ext cx="1697821" cy="209550"/>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542585936"/>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EF51-8DC7-5FE8-C1C2-160ABB9F5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60449-67E4-F5B6-2430-E710BD1A6CF2}"/>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Types</a:t>
            </a:r>
            <a:endParaRPr lang="en-IL" dirty="0"/>
          </a:p>
        </p:txBody>
      </p:sp>
      <p:sp>
        <p:nvSpPr>
          <p:cNvPr id="3" name="Content Placeholder 2">
            <a:extLst>
              <a:ext uri="{FF2B5EF4-FFF2-40B4-BE49-F238E27FC236}">
                <a16:creationId xmlns:a16="http://schemas.microsoft.com/office/drawing/2014/main" id="{711C9038-82D6-11AE-A437-C256C28E08BA}"/>
              </a:ext>
            </a:extLst>
          </p:cNvPr>
          <p:cNvSpPr>
            <a:spLocks noGrp="1"/>
          </p:cNvSpPr>
          <p:nvPr>
            <p:ph idx="1"/>
          </p:nvPr>
        </p:nvSpPr>
        <p:spPr>
          <a:xfrm>
            <a:off x="631371" y="1259458"/>
            <a:ext cx="10918371" cy="5270738"/>
          </a:xfrm>
        </p:spPr>
        <p:txBody>
          <a:bodyPr anchor="t" anchorCtr="0">
            <a:normAutofit/>
          </a:bodyPr>
          <a:lstStyle/>
          <a:p>
            <a:pPr algn="l">
              <a:spcAft>
                <a:spcPts val="750"/>
              </a:spcAft>
              <a:buFont typeface="Arial" panose="020B0604020202020204" pitchFamily="34" charset="0"/>
              <a:buChar char="•"/>
            </a:pPr>
            <a:r>
              <a:rPr lang="en-US" sz="1600" b="1" i="0" dirty="0">
                <a:solidFill>
                  <a:srgbClr val="2E2E2E"/>
                </a:solidFill>
                <a:effectLst/>
              </a:rPr>
              <a:t>Collect - </a:t>
            </a:r>
            <a:r>
              <a:rPr lang="en-US" sz="1600" b="0" i="0" dirty="0">
                <a:solidFill>
                  <a:srgbClr val="2E2E2E"/>
                </a:solidFill>
                <a:effectLst/>
              </a:rPr>
              <a:t> </a:t>
            </a:r>
            <a:r>
              <a:rPr lang="en-US" sz="1600" dirty="0">
                <a:solidFill>
                  <a:srgbClr val="2E2E2E"/>
                </a:solidFill>
              </a:rPr>
              <a:t>Combines multiple datasets into a single unified array.</a:t>
            </a:r>
          </a:p>
          <a:p>
            <a:pPr marL="0" indent="0">
              <a:spcBef>
                <a:spcPts val="0"/>
              </a:spcBef>
              <a:buNone/>
            </a:pPr>
            <a:endParaRPr lang="en-US" sz="1600" dirty="0">
              <a:solidFill>
                <a:srgbClr val="2E2E2E"/>
              </a:solidFill>
              <a:latin typeface="Roboto" panose="02000000000000000000" pitchFamily="2"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7A688660-E335-3F7A-B79F-B8123078AF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50B01AAE-F3D8-4E39-5638-5C9461C9206D}"/>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8" name="Picture 7">
            <a:extLst>
              <a:ext uri="{FF2B5EF4-FFF2-40B4-BE49-F238E27FC236}">
                <a16:creationId xmlns:a16="http://schemas.microsoft.com/office/drawing/2014/main" id="{605BF5A0-F0C1-3962-961C-8B86CC4A3D67}"/>
              </a:ext>
            </a:extLst>
          </p:cNvPr>
          <p:cNvPicPr>
            <a:picLocks noChangeAspect="1"/>
          </p:cNvPicPr>
          <p:nvPr/>
        </p:nvPicPr>
        <p:blipFill>
          <a:blip r:embed="rId3"/>
          <a:stretch>
            <a:fillRect/>
          </a:stretch>
        </p:blipFill>
        <p:spPr>
          <a:xfrm>
            <a:off x="10003971" y="2842286"/>
            <a:ext cx="2114845" cy="3524742"/>
          </a:xfrm>
          <a:prstGeom prst="rect">
            <a:avLst/>
          </a:prstGeom>
        </p:spPr>
      </p:pic>
      <p:pic>
        <p:nvPicPr>
          <p:cNvPr id="11" name="Picture 10">
            <a:extLst>
              <a:ext uri="{FF2B5EF4-FFF2-40B4-BE49-F238E27FC236}">
                <a16:creationId xmlns:a16="http://schemas.microsoft.com/office/drawing/2014/main" id="{161E8A41-4D65-0BC5-76A9-398997FC87A5}"/>
              </a:ext>
            </a:extLst>
          </p:cNvPr>
          <p:cNvPicPr>
            <a:picLocks noChangeAspect="1"/>
          </p:cNvPicPr>
          <p:nvPr/>
        </p:nvPicPr>
        <p:blipFill>
          <a:blip r:embed="rId4"/>
          <a:stretch>
            <a:fillRect/>
          </a:stretch>
        </p:blipFill>
        <p:spPr>
          <a:xfrm>
            <a:off x="358878" y="2116601"/>
            <a:ext cx="9522447" cy="4250427"/>
          </a:xfrm>
          <a:prstGeom prst="rect">
            <a:avLst/>
          </a:prstGeom>
        </p:spPr>
      </p:pic>
      <p:sp>
        <p:nvSpPr>
          <p:cNvPr id="12" name="TextBox 11">
            <a:extLst>
              <a:ext uri="{FF2B5EF4-FFF2-40B4-BE49-F238E27FC236}">
                <a16:creationId xmlns:a16="http://schemas.microsoft.com/office/drawing/2014/main" id="{25284DD6-44AC-99CE-5C2D-0C62FC8BE9B5}"/>
              </a:ext>
            </a:extLst>
          </p:cNvPr>
          <p:cNvSpPr txBox="1"/>
          <p:nvPr/>
        </p:nvSpPr>
        <p:spPr>
          <a:xfrm>
            <a:off x="10363198" y="1962026"/>
            <a:ext cx="1459037" cy="523220"/>
          </a:xfrm>
          <a:prstGeom prst="rect">
            <a:avLst/>
          </a:prstGeom>
          <a:noFill/>
        </p:spPr>
        <p:txBody>
          <a:bodyPr wrap="square" rtlCol="0">
            <a:spAutoFit/>
          </a:bodyPr>
          <a:lstStyle/>
          <a:p>
            <a:r>
              <a:rPr lang="en-US" sz="1400" dirty="0"/>
              <a:t>Result without collect</a:t>
            </a:r>
            <a:endParaRPr lang="en-IL" sz="1400" dirty="0"/>
          </a:p>
        </p:txBody>
      </p:sp>
      <p:sp>
        <p:nvSpPr>
          <p:cNvPr id="13" name="Left Brace 12">
            <a:extLst>
              <a:ext uri="{FF2B5EF4-FFF2-40B4-BE49-F238E27FC236}">
                <a16:creationId xmlns:a16="http://schemas.microsoft.com/office/drawing/2014/main" id="{916FD850-AE18-485E-8A09-F6E379340C64}"/>
              </a:ext>
            </a:extLst>
          </p:cNvPr>
          <p:cNvSpPr/>
          <p:nvPr/>
        </p:nvSpPr>
        <p:spPr>
          <a:xfrm rot="5400000">
            <a:off x="10894538" y="1657469"/>
            <a:ext cx="274005" cy="1964997"/>
          </a:xfrm>
          <a:prstGeom prst="leftBrace">
            <a:avLst/>
          </a:prstGeom>
          <a:ln w="222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15" name="Rectangle 14">
            <a:extLst>
              <a:ext uri="{FF2B5EF4-FFF2-40B4-BE49-F238E27FC236}">
                <a16:creationId xmlns:a16="http://schemas.microsoft.com/office/drawing/2014/main" id="{184B8DE6-E8B5-B8EF-BD65-3FFBCD35840A}"/>
              </a:ext>
            </a:extLst>
          </p:cNvPr>
          <p:cNvSpPr/>
          <p:nvPr/>
        </p:nvSpPr>
        <p:spPr>
          <a:xfrm>
            <a:off x="236232" y="2116601"/>
            <a:ext cx="8102225" cy="454635"/>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36079492-AD70-0285-3FD2-44954504A0A0}"/>
              </a:ext>
            </a:extLst>
          </p:cNvPr>
          <p:cNvSpPr/>
          <p:nvPr/>
        </p:nvSpPr>
        <p:spPr>
          <a:xfrm>
            <a:off x="236233" y="2562920"/>
            <a:ext cx="8102225" cy="3804108"/>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338882952"/>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4C283-9ADE-A86D-31D1-EBA600A78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97E4A-1BE8-4C31-1F00-A1836A5432E7}"/>
              </a:ext>
            </a:extLst>
          </p:cNvPr>
          <p:cNvSpPr>
            <a:spLocks noGrp="1"/>
          </p:cNvSpPr>
          <p:nvPr>
            <p:ph type="title"/>
          </p:nvPr>
        </p:nvSpPr>
        <p:spPr>
          <a:xfrm>
            <a:off x="76200" y="403270"/>
            <a:ext cx="121158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EB7F75DA-EF49-315D-FE1D-F58512977171}"/>
              </a:ext>
            </a:extLst>
          </p:cNvPr>
          <p:cNvSpPr>
            <a:spLocks noGrp="1"/>
          </p:cNvSpPr>
          <p:nvPr>
            <p:ph idx="1"/>
          </p:nvPr>
        </p:nvSpPr>
        <p:spPr>
          <a:xfrm>
            <a:off x="631371" y="1259458"/>
            <a:ext cx="10918371" cy="5270738"/>
          </a:xfrm>
        </p:spPr>
        <p:txBody>
          <a:bodyPr anchor="t" anchorCtr="0">
            <a:normAutofit/>
          </a:bodyPr>
          <a:lstStyle/>
          <a:p>
            <a:pPr algn="l">
              <a:spcAft>
                <a:spcPts val="750"/>
              </a:spcAft>
              <a:buFont typeface="Arial" panose="020B0604020202020204" pitchFamily="34" charset="0"/>
              <a:buChar char="•"/>
            </a:pPr>
            <a:r>
              <a:rPr lang="en-US" sz="1800" b="1" i="0" dirty="0">
                <a:solidFill>
                  <a:srgbClr val="2E2E2E"/>
                </a:solidFill>
                <a:effectLst/>
              </a:rPr>
              <a:t>Session Provider – </a:t>
            </a:r>
            <a:r>
              <a:rPr lang="en-US" sz="1600" dirty="0"/>
              <a:t>Used with SQL or Non-Prepared SQL node types to specify the interface to be used for executing a query, if not defaulting to Fabric.</a:t>
            </a:r>
            <a:endParaRPr lang="en-US" sz="1600" dirty="0">
              <a:solidFill>
                <a:srgbClr val="2E2E2E"/>
              </a:solidFill>
            </a:endParaRPr>
          </a:p>
          <a:p>
            <a:pPr algn="l">
              <a:spcAft>
                <a:spcPts val="750"/>
              </a:spcAft>
              <a:buFont typeface="Arial" panose="020B0604020202020204" pitchFamily="34" charset="0"/>
              <a:buChar char="•"/>
            </a:pPr>
            <a:endParaRPr lang="en-US" sz="1600" dirty="0">
              <a:solidFill>
                <a:srgbClr val="2E2E2E"/>
              </a:solidFill>
            </a:endParaRPr>
          </a:p>
          <a:p>
            <a:pPr marL="0" indent="0" algn="l">
              <a:spcAft>
                <a:spcPts val="750"/>
              </a:spcAft>
              <a:buNone/>
            </a:pPr>
            <a:endParaRPr lang="en-US" sz="1600" dirty="0"/>
          </a:p>
          <a:p>
            <a:pPr marL="0" indent="0" algn="l">
              <a:spcAft>
                <a:spcPts val="750"/>
              </a:spcAft>
              <a:buNone/>
            </a:pPr>
            <a:endParaRPr lang="en-US" sz="1600" dirty="0"/>
          </a:p>
          <a:p>
            <a:pPr marL="0" indent="0" algn="l">
              <a:spcAft>
                <a:spcPts val="750"/>
              </a:spcAft>
              <a:buNone/>
            </a:pPr>
            <a:br>
              <a:rPr lang="en-US" sz="1600" dirty="0"/>
            </a:br>
            <a:endParaRPr lang="en-US" sz="1600" dirty="0"/>
          </a:p>
          <a:p>
            <a:pPr algn="l">
              <a:spcAft>
                <a:spcPts val="750"/>
              </a:spcAft>
              <a:buFont typeface="Arial" panose="020B0604020202020204" pitchFamily="34" charset="0"/>
              <a:buChar char="•"/>
            </a:pPr>
            <a:r>
              <a:rPr lang="en-US" sz="1600" b="1" dirty="0">
                <a:solidFill>
                  <a:srgbClr val="2E2E2E"/>
                </a:solidFill>
              </a:rPr>
              <a:t>Nice</a:t>
            </a:r>
            <a:r>
              <a:rPr lang="en-US" sz="1600" dirty="0">
                <a:solidFill>
                  <a:srgbClr val="2E2E2E"/>
                </a:solidFill>
              </a:rPr>
              <a:t> - </a:t>
            </a:r>
            <a:r>
              <a:rPr lang="en-US" sz="1600" dirty="0"/>
              <a:t>Configures the layout of the output format. When set to True, each tag is printed on a new line and properly indented. </a:t>
            </a:r>
          </a:p>
          <a:p>
            <a:pPr algn="l">
              <a:spcAft>
                <a:spcPts val="750"/>
              </a:spcAft>
              <a:buFont typeface="Arial" panose="020B0604020202020204" pitchFamily="34" charset="0"/>
              <a:buChar char="•"/>
            </a:pPr>
            <a:endParaRPr lang="en-US" sz="1600" dirty="0">
              <a:solidFill>
                <a:srgbClr val="2E2E2E"/>
              </a:solidFill>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561D5B90-9F55-F3DD-167B-A6976EFDDB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452A1100-FBE5-742A-D8B6-C19B9EAA1967}"/>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AE120F22-510B-DACA-F8AB-3706CC053785}"/>
              </a:ext>
            </a:extLst>
          </p:cNvPr>
          <p:cNvPicPr>
            <a:picLocks noChangeAspect="1"/>
          </p:cNvPicPr>
          <p:nvPr/>
        </p:nvPicPr>
        <p:blipFill>
          <a:blip r:embed="rId3"/>
          <a:stretch>
            <a:fillRect/>
          </a:stretch>
        </p:blipFill>
        <p:spPr>
          <a:xfrm>
            <a:off x="815740" y="1859762"/>
            <a:ext cx="8730343" cy="1972861"/>
          </a:xfrm>
          <a:prstGeom prst="rect">
            <a:avLst/>
          </a:prstGeom>
        </p:spPr>
      </p:pic>
      <p:pic>
        <p:nvPicPr>
          <p:cNvPr id="10" name="Picture 9">
            <a:extLst>
              <a:ext uri="{FF2B5EF4-FFF2-40B4-BE49-F238E27FC236}">
                <a16:creationId xmlns:a16="http://schemas.microsoft.com/office/drawing/2014/main" id="{F744FC02-E4EC-C64D-E848-20898E299F4A}"/>
              </a:ext>
            </a:extLst>
          </p:cNvPr>
          <p:cNvPicPr>
            <a:picLocks noChangeAspect="1"/>
          </p:cNvPicPr>
          <p:nvPr/>
        </p:nvPicPr>
        <p:blipFill>
          <a:blip r:embed="rId4"/>
          <a:stretch>
            <a:fillRect/>
          </a:stretch>
        </p:blipFill>
        <p:spPr>
          <a:xfrm>
            <a:off x="953510" y="4544484"/>
            <a:ext cx="8730343" cy="1982055"/>
          </a:xfrm>
          <a:prstGeom prst="rect">
            <a:avLst/>
          </a:prstGeom>
        </p:spPr>
      </p:pic>
      <p:sp>
        <p:nvSpPr>
          <p:cNvPr id="14" name="Rectangle 13">
            <a:extLst>
              <a:ext uri="{FF2B5EF4-FFF2-40B4-BE49-F238E27FC236}">
                <a16:creationId xmlns:a16="http://schemas.microsoft.com/office/drawing/2014/main" id="{6E50250F-C3D3-2271-1CD2-0243EA432D13}"/>
              </a:ext>
            </a:extLst>
          </p:cNvPr>
          <p:cNvSpPr/>
          <p:nvPr/>
        </p:nvSpPr>
        <p:spPr>
          <a:xfrm>
            <a:off x="3907282" y="2180060"/>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1C6ECD77-0072-4482-17CC-9D93F30C496E}"/>
              </a:ext>
            </a:extLst>
          </p:cNvPr>
          <p:cNvSpPr/>
          <p:nvPr/>
        </p:nvSpPr>
        <p:spPr>
          <a:xfrm>
            <a:off x="4816927" y="4842781"/>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84569345"/>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C91F4-2C27-47E1-7278-02360AFDE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1FD69-4D70-DD79-1435-4EA7A383DD9D}"/>
              </a:ext>
            </a:extLst>
          </p:cNvPr>
          <p:cNvSpPr>
            <a:spLocks noGrp="1"/>
          </p:cNvSpPr>
          <p:nvPr>
            <p:ph type="title"/>
          </p:nvPr>
        </p:nvSpPr>
        <p:spPr>
          <a:xfrm>
            <a:off x="76200" y="403270"/>
            <a:ext cx="12001064"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3BA91863-5EF7-30B4-6DD3-C42A019BADBD}"/>
              </a:ext>
            </a:extLst>
          </p:cNvPr>
          <p:cNvSpPr>
            <a:spLocks noGrp="1"/>
          </p:cNvSpPr>
          <p:nvPr>
            <p:ph idx="1"/>
          </p:nvPr>
        </p:nvSpPr>
        <p:spPr>
          <a:xfrm>
            <a:off x="631371" y="1259458"/>
            <a:ext cx="10918371" cy="5270738"/>
          </a:xfrm>
        </p:spPr>
        <p:txBody>
          <a:bodyPr anchor="t" anchorCtr="0">
            <a:normAutofit/>
          </a:bodyPr>
          <a:lstStyle/>
          <a:p>
            <a:pPr>
              <a:spcAft>
                <a:spcPts val="750"/>
              </a:spcAft>
            </a:pPr>
            <a:r>
              <a:rPr lang="en-US" sz="1800" b="1" dirty="0">
                <a:solidFill>
                  <a:srgbClr val="2E2E2E"/>
                </a:solidFill>
              </a:rPr>
              <a:t>One – </a:t>
            </a:r>
            <a:r>
              <a:rPr lang="en-US" sz="1800" dirty="0">
                <a:solidFill>
                  <a:srgbClr val="2E2E2E"/>
                </a:solidFill>
              </a:rPr>
              <a:t>Determines whether the node is treated as a single value or an array. When set to True, the result is always a single entry, even if the underlying query returns multiple rows.</a:t>
            </a: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795E7708-43E4-450C-E893-D3FB5EDFA8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949B9DA4-3E1B-EA8A-4F3D-DBD3449CD806}"/>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16" name="TextBox 15">
            <a:extLst>
              <a:ext uri="{FF2B5EF4-FFF2-40B4-BE49-F238E27FC236}">
                <a16:creationId xmlns:a16="http://schemas.microsoft.com/office/drawing/2014/main" id="{12E123F3-D9E5-2552-1E74-7413A07076C1}"/>
              </a:ext>
            </a:extLst>
          </p:cNvPr>
          <p:cNvSpPr txBox="1"/>
          <p:nvPr/>
        </p:nvSpPr>
        <p:spPr>
          <a:xfrm>
            <a:off x="10175410" y="2077776"/>
            <a:ext cx="1839229" cy="307777"/>
          </a:xfrm>
          <a:prstGeom prst="rect">
            <a:avLst/>
          </a:prstGeom>
          <a:noFill/>
        </p:spPr>
        <p:txBody>
          <a:bodyPr wrap="square" rtlCol="0">
            <a:spAutoFit/>
          </a:bodyPr>
          <a:lstStyle/>
          <a:p>
            <a:r>
              <a:rPr lang="en-US" sz="1400" dirty="0"/>
              <a:t>Result without ‘one’</a:t>
            </a:r>
            <a:endParaRPr lang="en-IL" sz="1400" dirty="0"/>
          </a:p>
        </p:txBody>
      </p:sp>
      <p:sp>
        <p:nvSpPr>
          <p:cNvPr id="18" name="Left Brace 17">
            <a:extLst>
              <a:ext uri="{FF2B5EF4-FFF2-40B4-BE49-F238E27FC236}">
                <a16:creationId xmlns:a16="http://schemas.microsoft.com/office/drawing/2014/main" id="{08D5A8A6-E5E1-653A-CE85-A5848C6F6879}"/>
              </a:ext>
            </a:extLst>
          </p:cNvPr>
          <p:cNvSpPr/>
          <p:nvPr/>
        </p:nvSpPr>
        <p:spPr>
          <a:xfrm rot="5400000">
            <a:off x="10871988" y="1657469"/>
            <a:ext cx="274005" cy="1964997"/>
          </a:xfrm>
          <a:prstGeom prst="leftBrace">
            <a:avLst/>
          </a:prstGeom>
          <a:ln w="2222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pic>
        <p:nvPicPr>
          <p:cNvPr id="20" name="Picture 19">
            <a:extLst>
              <a:ext uri="{FF2B5EF4-FFF2-40B4-BE49-F238E27FC236}">
                <a16:creationId xmlns:a16="http://schemas.microsoft.com/office/drawing/2014/main" id="{97E3B37B-010F-369B-C955-68B866556F8F}"/>
              </a:ext>
            </a:extLst>
          </p:cNvPr>
          <p:cNvPicPr>
            <a:picLocks noChangeAspect="1"/>
          </p:cNvPicPr>
          <p:nvPr/>
        </p:nvPicPr>
        <p:blipFill>
          <a:blip r:embed="rId3"/>
          <a:stretch>
            <a:fillRect/>
          </a:stretch>
        </p:blipFill>
        <p:spPr>
          <a:xfrm>
            <a:off x="480224" y="1985102"/>
            <a:ext cx="9399543" cy="3907906"/>
          </a:xfrm>
          <a:prstGeom prst="rect">
            <a:avLst/>
          </a:prstGeom>
        </p:spPr>
      </p:pic>
      <p:pic>
        <p:nvPicPr>
          <p:cNvPr id="15" name="Picture 14">
            <a:extLst>
              <a:ext uri="{FF2B5EF4-FFF2-40B4-BE49-F238E27FC236}">
                <a16:creationId xmlns:a16="http://schemas.microsoft.com/office/drawing/2014/main" id="{8E673BA5-A978-E939-917E-98320C1C87B1}"/>
              </a:ext>
            </a:extLst>
          </p:cNvPr>
          <p:cNvPicPr>
            <a:picLocks noChangeAspect="1"/>
          </p:cNvPicPr>
          <p:nvPr/>
        </p:nvPicPr>
        <p:blipFill>
          <a:blip r:embed="rId4"/>
          <a:stretch>
            <a:fillRect/>
          </a:stretch>
        </p:blipFill>
        <p:spPr>
          <a:xfrm>
            <a:off x="9927065" y="2841721"/>
            <a:ext cx="2150199" cy="3628461"/>
          </a:xfrm>
          <a:prstGeom prst="rect">
            <a:avLst/>
          </a:prstGeom>
        </p:spPr>
      </p:pic>
      <p:sp>
        <p:nvSpPr>
          <p:cNvPr id="21" name="Rectangle 20">
            <a:extLst>
              <a:ext uri="{FF2B5EF4-FFF2-40B4-BE49-F238E27FC236}">
                <a16:creationId xmlns:a16="http://schemas.microsoft.com/office/drawing/2014/main" id="{6848AA73-4990-9C3A-E316-090B8048C174}"/>
              </a:ext>
            </a:extLst>
          </p:cNvPr>
          <p:cNvSpPr/>
          <p:nvPr/>
        </p:nvSpPr>
        <p:spPr>
          <a:xfrm>
            <a:off x="4669971" y="3549189"/>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537311665"/>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8EF40-87EF-C141-42C6-20BCEBB89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80D57-8BDF-98C1-7938-934B1384C429}"/>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7D58A3F6-D04F-3141-A4F2-240AC2AA2A36}"/>
              </a:ext>
            </a:extLst>
          </p:cNvPr>
          <p:cNvSpPr>
            <a:spLocks noGrp="1"/>
          </p:cNvSpPr>
          <p:nvPr>
            <p:ph idx="1"/>
          </p:nvPr>
        </p:nvSpPr>
        <p:spPr>
          <a:xfrm>
            <a:off x="631371" y="1259458"/>
            <a:ext cx="10918371" cy="5270738"/>
          </a:xfrm>
        </p:spPr>
        <p:txBody>
          <a:bodyPr anchor="t" anchorCtr="0">
            <a:normAutofit/>
          </a:bodyPr>
          <a:lstStyle/>
          <a:p>
            <a:pPr>
              <a:spcAft>
                <a:spcPts val="750"/>
              </a:spcAft>
            </a:pPr>
            <a:r>
              <a:rPr lang="en-US" sz="1800" b="1" dirty="0">
                <a:solidFill>
                  <a:srgbClr val="2E2E2E"/>
                </a:solidFill>
              </a:rPr>
              <a:t>Entry Tag - </a:t>
            </a:r>
            <a:r>
              <a:rPr lang="en-US" sz="1800" dirty="0">
                <a:solidFill>
                  <a:srgbClr val="2E2E2E"/>
                </a:solidFill>
              </a:rPr>
              <a:t>Specifies the tag used to enclose XML array entries. If not specified or set to None, the default value &lt;entry&gt; is applied.</a:t>
            </a: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marL="0" indent="0" algn="l">
              <a:spcAft>
                <a:spcPts val="750"/>
              </a:spcAft>
              <a:buNone/>
            </a:pPr>
            <a:endParaRPr lang="en-US" sz="1400" dirty="0">
              <a:solidFill>
                <a:srgbClr val="2E2E2E"/>
              </a:solidFill>
              <a:latin typeface="Roboto" panose="02000000000000000000" pitchFamily="2"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88229762-DE01-BF81-A8A1-E6EFBE7D8E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E6B145C6-AEB4-2F4B-AAC0-A9C2324B4CC7}"/>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D5D045F1-5353-891D-D246-93CD38DAF9F3}"/>
              </a:ext>
            </a:extLst>
          </p:cNvPr>
          <p:cNvPicPr>
            <a:picLocks noChangeAspect="1"/>
          </p:cNvPicPr>
          <p:nvPr/>
        </p:nvPicPr>
        <p:blipFill>
          <a:blip r:embed="rId3"/>
          <a:stretch>
            <a:fillRect/>
          </a:stretch>
        </p:blipFill>
        <p:spPr>
          <a:xfrm>
            <a:off x="849837" y="1831609"/>
            <a:ext cx="9699013" cy="3824489"/>
          </a:xfrm>
          <a:prstGeom prst="rect">
            <a:avLst/>
          </a:prstGeom>
        </p:spPr>
      </p:pic>
      <p:pic>
        <p:nvPicPr>
          <p:cNvPr id="8" name="Picture 7">
            <a:extLst>
              <a:ext uri="{FF2B5EF4-FFF2-40B4-BE49-F238E27FC236}">
                <a16:creationId xmlns:a16="http://schemas.microsoft.com/office/drawing/2014/main" id="{DE8C4EF6-1F01-4B48-59C3-9C2F1365E2F7}"/>
              </a:ext>
            </a:extLst>
          </p:cNvPr>
          <p:cNvPicPr>
            <a:picLocks noChangeAspect="1"/>
          </p:cNvPicPr>
          <p:nvPr/>
        </p:nvPicPr>
        <p:blipFill>
          <a:blip r:embed="rId4"/>
          <a:stretch>
            <a:fillRect/>
          </a:stretch>
        </p:blipFill>
        <p:spPr>
          <a:xfrm>
            <a:off x="9388518" y="2911905"/>
            <a:ext cx="2650047" cy="3316344"/>
          </a:xfrm>
          <a:prstGeom prst="rect">
            <a:avLst/>
          </a:prstGeom>
        </p:spPr>
      </p:pic>
      <p:sp>
        <p:nvSpPr>
          <p:cNvPr id="10" name="Rectangle 9">
            <a:extLst>
              <a:ext uri="{FF2B5EF4-FFF2-40B4-BE49-F238E27FC236}">
                <a16:creationId xmlns:a16="http://schemas.microsoft.com/office/drawing/2014/main" id="{BBF97E98-25F3-9C77-1A0A-6D12958AFE9E}"/>
              </a:ext>
            </a:extLst>
          </p:cNvPr>
          <p:cNvSpPr/>
          <p:nvPr/>
        </p:nvSpPr>
        <p:spPr>
          <a:xfrm>
            <a:off x="4582368" y="3425943"/>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901FF3A8-A455-6466-09B2-57B3AD5ED2CF}"/>
              </a:ext>
            </a:extLst>
          </p:cNvPr>
          <p:cNvSpPr txBox="1"/>
          <p:nvPr/>
        </p:nvSpPr>
        <p:spPr>
          <a:xfrm>
            <a:off x="10767316" y="2077776"/>
            <a:ext cx="1247323" cy="523220"/>
          </a:xfrm>
          <a:prstGeom prst="rect">
            <a:avLst/>
          </a:prstGeom>
          <a:noFill/>
        </p:spPr>
        <p:txBody>
          <a:bodyPr wrap="square" rtlCol="0">
            <a:spAutoFit/>
          </a:bodyPr>
          <a:lstStyle/>
          <a:p>
            <a:r>
              <a:rPr lang="en-US" sz="1400" dirty="0"/>
              <a:t>Result without ‘</a:t>
            </a:r>
            <a:r>
              <a:rPr lang="en-US" sz="1400" dirty="0" err="1"/>
              <a:t>entryTag</a:t>
            </a:r>
            <a:r>
              <a:rPr lang="en-US" sz="1400" dirty="0"/>
              <a:t>’</a:t>
            </a:r>
            <a:endParaRPr lang="en-IL" sz="1400" dirty="0"/>
          </a:p>
        </p:txBody>
      </p:sp>
      <p:cxnSp>
        <p:nvCxnSpPr>
          <p:cNvPr id="13" name="Straight Arrow Connector 12">
            <a:extLst>
              <a:ext uri="{FF2B5EF4-FFF2-40B4-BE49-F238E27FC236}">
                <a16:creationId xmlns:a16="http://schemas.microsoft.com/office/drawing/2014/main" id="{BE011E40-CBB5-872A-69DD-DDF228AB4E4D}"/>
              </a:ext>
            </a:extLst>
          </p:cNvPr>
          <p:cNvCxnSpPr>
            <a:cxnSpLocks/>
          </p:cNvCxnSpPr>
          <p:nvPr/>
        </p:nvCxnSpPr>
        <p:spPr>
          <a:xfrm>
            <a:off x="11192724" y="2600996"/>
            <a:ext cx="0" cy="24689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2AEF759-505B-C301-E46F-5BEA037A8160}"/>
              </a:ext>
            </a:extLst>
          </p:cNvPr>
          <p:cNvSpPr/>
          <p:nvPr/>
        </p:nvSpPr>
        <p:spPr>
          <a:xfrm>
            <a:off x="8476899" y="2333967"/>
            <a:ext cx="381351" cy="123484"/>
          </a:xfrm>
          <a:prstGeom prst="rect">
            <a:avLst/>
          </a:prstGeom>
          <a:noFill/>
          <a:ln w="222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4D9A43D1-A4F2-1FBD-A6AF-685B5A75889F}"/>
              </a:ext>
            </a:extLst>
          </p:cNvPr>
          <p:cNvSpPr/>
          <p:nvPr/>
        </p:nvSpPr>
        <p:spPr>
          <a:xfrm>
            <a:off x="9762768" y="3524442"/>
            <a:ext cx="381351" cy="123633"/>
          </a:xfrm>
          <a:prstGeom prst="rect">
            <a:avLst/>
          </a:prstGeom>
          <a:noFill/>
          <a:ln w="222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236908549"/>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36BBE-28C8-1894-72E4-D5EAA7F34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DFD3A-6A34-8412-7C36-FCF73C64A00E}"/>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2973813E-3A43-4535-B0BD-60FB7CEACDCB}"/>
              </a:ext>
            </a:extLst>
          </p:cNvPr>
          <p:cNvSpPr>
            <a:spLocks noGrp="1"/>
          </p:cNvSpPr>
          <p:nvPr>
            <p:ph idx="1"/>
          </p:nvPr>
        </p:nvSpPr>
        <p:spPr>
          <a:xfrm>
            <a:off x="631371" y="1259458"/>
            <a:ext cx="10918371" cy="5270738"/>
          </a:xfrm>
        </p:spPr>
        <p:txBody>
          <a:bodyPr anchor="t" anchorCtr="0">
            <a:normAutofit/>
          </a:bodyPr>
          <a:lstStyle/>
          <a:p>
            <a:pPr algn="l">
              <a:spcAft>
                <a:spcPts val="750"/>
              </a:spcAft>
              <a:buFont typeface="Arial" panose="020B0604020202020204" pitchFamily="34" charset="0"/>
              <a:buChar char="•"/>
            </a:pPr>
            <a:r>
              <a:rPr lang="en-US" sz="1600" b="1" dirty="0">
                <a:solidFill>
                  <a:srgbClr val="2E2E2E"/>
                </a:solidFill>
                <a:latin typeface="Roboto" panose="02000000000000000000" pitchFamily="2" charset="0"/>
              </a:rPr>
              <a:t>Keys</a:t>
            </a:r>
            <a:r>
              <a:rPr lang="en-US" sz="1600" dirty="0">
                <a:solidFill>
                  <a:srgbClr val="2E2E2E"/>
                </a:solidFill>
                <a:latin typeface="Roboto" panose="02000000000000000000" pitchFamily="2" charset="0"/>
              </a:rPr>
              <a:t> - Advanced mechanism that replaces nested queries by joining the data on the root query and grouping it with a key.</a:t>
            </a:r>
            <a:br>
              <a:rPr lang="en-US" sz="1600" dirty="0">
                <a:solidFill>
                  <a:srgbClr val="2E2E2E"/>
                </a:solidFill>
                <a:latin typeface="Roboto" panose="02000000000000000000" pitchFamily="2" charset="0"/>
              </a:rPr>
            </a:br>
            <a:br>
              <a:rPr lang="en-US" sz="1600" dirty="0">
                <a:solidFill>
                  <a:srgbClr val="2E2E2E"/>
                </a:solidFill>
                <a:latin typeface="Roboto" panose="02000000000000000000" pitchFamily="2" charset="0"/>
              </a:rPr>
            </a:br>
            <a:r>
              <a:rPr lang="en-US" sz="1600" dirty="0">
                <a:solidFill>
                  <a:srgbClr val="2E2E2E"/>
                </a:solidFill>
                <a:latin typeface="Roboto" panose="02000000000000000000" pitchFamily="2" charset="0"/>
              </a:rPr>
              <a:t>Example without keys – join query return entry per record:</a:t>
            </a:r>
          </a:p>
          <a:p>
            <a:pPr marL="0" indent="0" algn="l">
              <a:spcAft>
                <a:spcPts val="750"/>
              </a:spcAft>
              <a:buNone/>
            </a:pPr>
            <a:endParaRPr lang="en-US" sz="1400" dirty="0">
              <a:solidFill>
                <a:srgbClr val="2E2E2E"/>
              </a:solidFill>
              <a:latin typeface="Roboto" panose="02000000000000000000" pitchFamily="2" charset="0"/>
            </a:endParaRP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marL="0" indent="0" algn="l">
              <a:spcAft>
                <a:spcPts val="750"/>
              </a:spcAft>
              <a:buNone/>
            </a:pPr>
            <a:endParaRPr lang="en-US" sz="1400" dirty="0">
              <a:solidFill>
                <a:srgbClr val="2E2E2E"/>
              </a:solidFill>
              <a:latin typeface="Roboto" panose="02000000000000000000" pitchFamily="2"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A71F56F2-5F89-DC9F-A0D8-A871BBD010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4BB01BE8-E7AB-1534-80E0-843F5392B966}"/>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8" name="Picture 7">
            <a:extLst>
              <a:ext uri="{FF2B5EF4-FFF2-40B4-BE49-F238E27FC236}">
                <a16:creationId xmlns:a16="http://schemas.microsoft.com/office/drawing/2014/main" id="{1EE0AA1B-9456-0B8A-4CDA-731315CD3DAA}"/>
              </a:ext>
            </a:extLst>
          </p:cNvPr>
          <p:cNvPicPr>
            <a:picLocks noChangeAspect="1"/>
          </p:cNvPicPr>
          <p:nvPr/>
        </p:nvPicPr>
        <p:blipFill>
          <a:blip r:embed="rId3"/>
          <a:stretch>
            <a:fillRect/>
          </a:stretch>
        </p:blipFill>
        <p:spPr>
          <a:xfrm>
            <a:off x="922573" y="2410133"/>
            <a:ext cx="10520142" cy="4044597"/>
          </a:xfrm>
          <a:prstGeom prst="rect">
            <a:avLst/>
          </a:prstGeom>
        </p:spPr>
      </p:pic>
    </p:spTree>
    <p:extLst>
      <p:ext uri="{BB962C8B-B14F-4D97-AF65-F5344CB8AC3E}">
        <p14:creationId xmlns:p14="http://schemas.microsoft.com/office/powerpoint/2010/main" val="322388137"/>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B3D2-1FC5-8878-7896-3737BAE81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3393B-F04C-F814-F207-1182F784B83A}"/>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AA4F6692-F6DD-1C5B-604C-BFFA3B140902}"/>
              </a:ext>
            </a:extLst>
          </p:cNvPr>
          <p:cNvSpPr>
            <a:spLocks noGrp="1"/>
          </p:cNvSpPr>
          <p:nvPr>
            <p:ph idx="1"/>
          </p:nvPr>
        </p:nvSpPr>
        <p:spPr>
          <a:xfrm>
            <a:off x="631371" y="1259458"/>
            <a:ext cx="10918371" cy="5270738"/>
          </a:xfrm>
        </p:spPr>
        <p:txBody>
          <a:bodyPr anchor="t" anchorCtr="0">
            <a:normAutofit/>
          </a:bodyPr>
          <a:lstStyle/>
          <a:p>
            <a:pPr marL="0" indent="0" algn="l">
              <a:spcAft>
                <a:spcPts val="750"/>
              </a:spcAft>
              <a:buNone/>
            </a:pPr>
            <a:r>
              <a:rPr lang="en-US" sz="1600" dirty="0">
                <a:solidFill>
                  <a:srgbClr val="2E2E2E"/>
                </a:solidFill>
                <a:latin typeface="Roboto" panose="02000000000000000000" pitchFamily="2" charset="0"/>
              </a:rPr>
              <a:t>The </a:t>
            </a:r>
            <a:r>
              <a:rPr lang="en-US" sz="1600" b="1" dirty="0">
                <a:solidFill>
                  <a:srgbClr val="2E2E2E"/>
                </a:solidFill>
                <a:latin typeface="Roboto" panose="02000000000000000000" pitchFamily="2" charset="0"/>
              </a:rPr>
              <a:t>Key</a:t>
            </a:r>
            <a:r>
              <a:rPr lang="en-US" sz="1600" dirty="0">
                <a:solidFill>
                  <a:srgbClr val="2E2E2E"/>
                </a:solidFill>
                <a:latin typeface="Roboto" panose="02000000000000000000" pitchFamily="2" charset="0"/>
              </a:rPr>
              <a:t> should contain the “group by” element</a:t>
            </a:r>
          </a:p>
          <a:p>
            <a:pPr marL="0" indent="0" algn="l">
              <a:spcAft>
                <a:spcPts val="750"/>
              </a:spcAft>
              <a:buNone/>
            </a:pPr>
            <a:r>
              <a:rPr lang="en-US" sz="1600" dirty="0">
                <a:solidFill>
                  <a:srgbClr val="2E2E2E"/>
                </a:solidFill>
                <a:latin typeface="Roboto" panose="02000000000000000000" pitchFamily="2" charset="0"/>
              </a:rPr>
              <a:t>Example after adding the Keys property:</a:t>
            </a:r>
            <a:endParaRPr lang="en-US" sz="1400" dirty="0">
              <a:solidFill>
                <a:srgbClr val="2E2E2E"/>
              </a:solidFill>
              <a:latin typeface="Roboto" panose="02000000000000000000" pitchFamily="2" charset="0"/>
            </a:endParaRP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marL="0" indent="0" algn="l">
              <a:spcAft>
                <a:spcPts val="750"/>
              </a:spcAft>
              <a:buNone/>
            </a:pPr>
            <a:endParaRPr lang="en-US" sz="1400" dirty="0">
              <a:solidFill>
                <a:srgbClr val="2E2E2E"/>
              </a:solidFill>
              <a:latin typeface="Roboto" panose="02000000000000000000" pitchFamily="2"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93174F2A-02D9-D2E1-D3D0-7D35856F4B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EDE97945-5E42-E3B4-E7F9-12F780774CFE}"/>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24A2A8D1-9E44-3986-1494-6AD053595232}"/>
              </a:ext>
            </a:extLst>
          </p:cNvPr>
          <p:cNvPicPr>
            <a:picLocks noChangeAspect="1"/>
          </p:cNvPicPr>
          <p:nvPr/>
        </p:nvPicPr>
        <p:blipFill>
          <a:blip r:embed="rId3"/>
          <a:stretch>
            <a:fillRect/>
          </a:stretch>
        </p:blipFill>
        <p:spPr>
          <a:xfrm>
            <a:off x="880964" y="2361825"/>
            <a:ext cx="10734872" cy="3962774"/>
          </a:xfrm>
          <a:prstGeom prst="rect">
            <a:avLst/>
          </a:prstGeom>
        </p:spPr>
      </p:pic>
      <p:pic>
        <p:nvPicPr>
          <p:cNvPr id="5" name="Picture 4">
            <a:extLst>
              <a:ext uri="{FF2B5EF4-FFF2-40B4-BE49-F238E27FC236}">
                <a16:creationId xmlns:a16="http://schemas.microsoft.com/office/drawing/2014/main" id="{89853DFF-F226-0E59-5B03-49ABD342EF4A}"/>
              </a:ext>
            </a:extLst>
          </p:cNvPr>
          <p:cNvPicPr>
            <a:picLocks noChangeAspect="1"/>
          </p:cNvPicPr>
          <p:nvPr/>
        </p:nvPicPr>
        <p:blipFill>
          <a:blip r:embed="rId3"/>
          <a:stretch>
            <a:fillRect/>
          </a:stretch>
        </p:blipFill>
        <p:spPr>
          <a:xfrm>
            <a:off x="631371" y="2154561"/>
            <a:ext cx="10734872" cy="3962774"/>
          </a:xfrm>
          <a:prstGeom prst="rect">
            <a:avLst/>
          </a:prstGeom>
        </p:spPr>
      </p:pic>
      <p:sp>
        <p:nvSpPr>
          <p:cNvPr id="7" name="Rectangle 6">
            <a:extLst>
              <a:ext uri="{FF2B5EF4-FFF2-40B4-BE49-F238E27FC236}">
                <a16:creationId xmlns:a16="http://schemas.microsoft.com/office/drawing/2014/main" id="{C5B6BD0B-00D9-5FB1-E384-CBFF753469EA}"/>
              </a:ext>
            </a:extLst>
          </p:cNvPr>
          <p:cNvSpPr/>
          <p:nvPr/>
        </p:nvSpPr>
        <p:spPr>
          <a:xfrm>
            <a:off x="4486472" y="3115039"/>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69398763-312F-AAC9-D56C-CF52580D5D99}"/>
              </a:ext>
            </a:extLst>
          </p:cNvPr>
          <p:cNvSpPr/>
          <p:nvPr/>
        </p:nvSpPr>
        <p:spPr>
          <a:xfrm>
            <a:off x="4600656" y="5100362"/>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DFC27ACC-D86E-55B9-8BC6-7B6A47E73283}"/>
              </a:ext>
            </a:extLst>
          </p:cNvPr>
          <p:cNvSpPr/>
          <p:nvPr/>
        </p:nvSpPr>
        <p:spPr>
          <a:xfrm>
            <a:off x="8782771" y="3031219"/>
            <a:ext cx="2418629" cy="138838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57106500-F3BB-3D58-87B5-81BD79B2EC8F}"/>
              </a:ext>
            </a:extLst>
          </p:cNvPr>
          <p:cNvSpPr/>
          <p:nvPr/>
        </p:nvSpPr>
        <p:spPr>
          <a:xfrm>
            <a:off x="8794656" y="2767788"/>
            <a:ext cx="2418629" cy="263432"/>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921061504"/>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9722-03D6-5713-C206-998298EBA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BD9C4-8055-BF6B-A6E3-CFA8715A2283}"/>
              </a:ext>
            </a:extLst>
          </p:cNvPr>
          <p:cNvSpPr>
            <a:spLocks noGrp="1"/>
          </p:cNvSpPr>
          <p:nvPr>
            <p:ph type="title"/>
          </p:nvPr>
        </p:nvSpPr>
        <p:spPr>
          <a:xfrm>
            <a:off x="76200" y="403270"/>
            <a:ext cx="121158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11AA3917-C5D1-B819-205D-82AC6728D0AF}"/>
              </a:ext>
            </a:extLst>
          </p:cNvPr>
          <p:cNvSpPr>
            <a:spLocks noGrp="1"/>
          </p:cNvSpPr>
          <p:nvPr>
            <p:ph idx="1"/>
          </p:nvPr>
        </p:nvSpPr>
        <p:spPr>
          <a:xfrm>
            <a:off x="631371" y="1259458"/>
            <a:ext cx="10918371" cy="5270738"/>
          </a:xfrm>
        </p:spPr>
        <p:txBody>
          <a:bodyPr anchor="t" anchorCtr="0">
            <a:normAutofit/>
          </a:bodyPr>
          <a:lstStyle/>
          <a:p>
            <a:pPr algn="l">
              <a:spcAft>
                <a:spcPts val="750"/>
              </a:spcAft>
              <a:buFont typeface="Arial" panose="020B0604020202020204" pitchFamily="34" charset="0"/>
              <a:buChar char="•"/>
            </a:pPr>
            <a:r>
              <a:rPr lang="en-US" sz="1800" b="1" i="0" dirty="0">
                <a:solidFill>
                  <a:srgbClr val="2E2E2E"/>
                </a:solidFill>
                <a:effectLst/>
              </a:rPr>
              <a:t>Attribute – </a:t>
            </a:r>
            <a:r>
              <a:rPr lang="en-US" sz="1600" dirty="0"/>
              <a:t>to change a value from an element to an attribute</a:t>
            </a:r>
            <a:endParaRPr lang="en-US" sz="1600" dirty="0">
              <a:solidFill>
                <a:srgbClr val="2E2E2E"/>
              </a:solidFill>
            </a:endParaRPr>
          </a:p>
          <a:p>
            <a:pPr algn="l">
              <a:spcAft>
                <a:spcPts val="750"/>
              </a:spcAft>
              <a:buFont typeface="Arial" panose="020B0604020202020204" pitchFamily="34" charset="0"/>
              <a:buChar char="•"/>
            </a:pPr>
            <a:endParaRPr lang="en-US" sz="1600" dirty="0">
              <a:solidFill>
                <a:srgbClr val="2E2E2E"/>
              </a:solidFill>
            </a:endParaRPr>
          </a:p>
          <a:p>
            <a:pPr marL="0" indent="0" algn="l">
              <a:spcAft>
                <a:spcPts val="750"/>
              </a:spcAft>
              <a:buNone/>
            </a:pPr>
            <a:endParaRPr lang="en-US" sz="1600" dirty="0"/>
          </a:p>
          <a:p>
            <a:pPr marL="0" indent="0" algn="l">
              <a:spcAft>
                <a:spcPts val="750"/>
              </a:spcAft>
              <a:buNone/>
            </a:pPr>
            <a:endParaRPr lang="en-US" sz="1600" dirty="0"/>
          </a:p>
          <a:p>
            <a:pPr marL="0" indent="0" algn="l">
              <a:spcAft>
                <a:spcPts val="750"/>
              </a:spcAft>
              <a:buNone/>
            </a:pPr>
            <a:br>
              <a:rPr lang="en-US" sz="1600" dirty="0"/>
            </a:br>
            <a:endParaRPr lang="en-US" sz="1600" dirty="0"/>
          </a:p>
          <a:p>
            <a:pPr algn="l">
              <a:spcAft>
                <a:spcPts val="750"/>
              </a:spcAft>
              <a:buFont typeface="Arial" panose="020B0604020202020204" pitchFamily="34" charset="0"/>
              <a:buChar char="•"/>
            </a:pPr>
            <a:endParaRPr lang="en-US" sz="1600" dirty="0">
              <a:solidFill>
                <a:srgbClr val="2E2E2E"/>
              </a:solidFill>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274F0CEB-0E8A-B6E7-E141-97F2103D1C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8E4C07F2-D258-5BF6-EB12-DEE6DDDF7943}"/>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grpSp>
        <p:nvGrpSpPr>
          <p:cNvPr id="8" name="Group 7">
            <a:extLst>
              <a:ext uri="{FF2B5EF4-FFF2-40B4-BE49-F238E27FC236}">
                <a16:creationId xmlns:a16="http://schemas.microsoft.com/office/drawing/2014/main" id="{3772EF7E-A71E-6641-3995-9EB934CCF9B4}"/>
              </a:ext>
            </a:extLst>
          </p:cNvPr>
          <p:cNvGrpSpPr/>
          <p:nvPr/>
        </p:nvGrpSpPr>
        <p:grpSpPr>
          <a:xfrm>
            <a:off x="909132" y="1808827"/>
            <a:ext cx="10640610" cy="2043506"/>
            <a:chOff x="0" y="2452293"/>
            <a:chExt cx="9731478" cy="1559187"/>
          </a:xfrm>
        </p:grpSpPr>
        <p:pic>
          <p:nvPicPr>
            <p:cNvPr id="7" name="Picture 6">
              <a:extLst>
                <a:ext uri="{FF2B5EF4-FFF2-40B4-BE49-F238E27FC236}">
                  <a16:creationId xmlns:a16="http://schemas.microsoft.com/office/drawing/2014/main" id="{1620E3FA-370F-A8EE-0C5B-89763590C2B2}"/>
                </a:ext>
              </a:extLst>
            </p:cNvPr>
            <p:cNvPicPr>
              <a:picLocks noChangeAspect="1"/>
            </p:cNvPicPr>
            <p:nvPr/>
          </p:nvPicPr>
          <p:blipFill>
            <a:blip r:embed="rId3"/>
            <a:stretch>
              <a:fillRect/>
            </a:stretch>
          </p:blipFill>
          <p:spPr>
            <a:xfrm>
              <a:off x="0" y="2452293"/>
              <a:ext cx="9731478" cy="1559187"/>
            </a:xfrm>
            <a:prstGeom prst="rect">
              <a:avLst/>
            </a:prstGeom>
          </p:spPr>
        </p:pic>
        <p:sp>
          <p:nvSpPr>
            <p:cNvPr id="14" name="Rectangle 13">
              <a:extLst>
                <a:ext uri="{FF2B5EF4-FFF2-40B4-BE49-F238E27FC236}">
                  <a16:creationId xmlns:a16="http://schemas.microsoft.com/office/drawing/2014/main" id="{85FFE64D-D9C5-2E21-E4A3-F55176187371}"/>
                </a:ext>
              </a:extLst>
            </p:cNvPr>
            <p:cNvSpPr/>
            <p:nvPr/>
          </p:nvSpPr>
          <p:spPr>
            <a:xfrm>
              <a:off x="4408363" y="3285067"/>
              <a:ext cx="1273629" cy="310913"/>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Tree>
    <p:extLst>
      <p:ext uri="{BB962C8B-B14F-4D97-AF65-F5344CB8AC3E}">
        <p14:creationId xmlns:p14="http://schemas.microsoft.com/office/powerpoint/2010/main" val="3535734545"/>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A5D4E-0BEE-9DBA-AA9B-3E0BE5AF3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63366-CD03-80DF-3696-34FD842CF85C}"/>
              </a:ext>
            </a:extLst>
          </p:cNvPr>
          <p:cNvSpPr>
            <a:spLocks noGrp="1"/>
          </p:cNvSpPr>
          <p:nvPr>
            <p:ph type="title"/>
          </p:nvPr>
        </p:nvSpPr>
        <p:spPr>
          <a:xfrm>
            <a:off x="76200" y="403270"/>
            <a:ext cx="121158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CC1D14CE-0C9C-D0DC-1D29-685BEE4E7767}"/>
              </a:ext>
            </a:extLst>
          </p:cNvPr>
          <p:cNvSpPr>
            <a:spLocks noGrp="1"/>
          </p:cNvSpPr>
          <p:nvPr>
            <p:ph idx="1"/>
          </p:nvPr>
        </p:nvSpPr>
        <p:spPr>
          <a:xfrm>
            <a:off x="631372" y="1259458"/>
            <a:ext cx="8190896" cy="5270738"/>
          </a:xfrm>
        </p:spPr>
        <p:txBody>
          <a:bodyPr anchor="t" anchorCtr="0">
            <a:normAutofit/>
          </a:bodyPr>
          <a:lstStyle/>
          <a:p>
            <a:pPr algn="l">
              <a:spcAft>
                <a:spcPts val="750"/>
              </a:spcAft>
              <a:buFont typeface="Arial" panose="020B0604020202020204" pitchFamily="34" charset="0"/>
              <a:buChar char="•"/>
            </a:pPr>
            <a:r>
              <a:rPr lang="en-US" sz="1800" b="1" i="0" dirty="0">
                <a:solidFill>
                  <a:srgbClr val="2E2E2E"/>
                </a:solidFill>
                <a:effectLst/>
              </a:rPr>
              <a:t>Include – </a:t>
            </a:r>
            <a:r>
              <a:rPr lang="en-US" sz="1600" dirty="0"/>
              <a:t>add another </a:t>
            </a:r>
            <a:r>
              <a:rPr lang="en-US" sz="1600" dirty="0" err="1"/>
              <a:t>Graphit</a:t>
            </a:r>
            <a:r>
              <a:rPr lang="en-US" sz="1600" dirty="0"/>
              <a:t> file to the existing </a:t>
            </a:r>
            <a:r>
              <a:rPr lang="en-US" sz="1600" dirty="0" err="1"/>
              <a:t>Graphit</a:t>
            </a:r>
            <a:endParaRPr lang="en-US" sz="1600" dirty="0">
              <a:solidFill>
                <a:srgbClr val="2E2E2E"/>
              </a:solidFill>
            </a:endParaRPr>
          </a:p>
          <a:p>
            <a:pPr algn="l">
              <a:spcAft>
                <a:spcPts val="750"/>
              </a:spcAft>
              <a:buFont typeface="Arial" panose="020B0604020202020204" pitchFamily="34" charset="0"/>
              <a:buChar char="•"/>
            </a:pPr>
            <a:endParaRPr lang="en-US" sz="1600" dirty="0">
              <a:solidFill>
                <a:srgbClr val="2E2E2E"/>
              </a:solidFill>
            </a:endParaRPr>
          </a:p>
          <a:p>
            <a:pPr marL="0" indent="0" algn="l">
              <a:spcAft>
                <a:spcPts val="750"/>
              </a:spcAft>
              <a:buNone/>
            </a:pPr>
            <a:endParaRPr lang="en-US" sz="1600" dirty="0"/>
          </a:p>
          <a:p>
            <a:pPr marL="0" indent="0" algn="l">
              <a:spcAft>
                <a:spcPts val="750"/>
              </a:spcAft>
              <a:buNone/>
            </a:pPr>
            <a:endParaRPr lang="en-US" sz="1600" dirty="0"/>
          </a:p>
          <a:p>
            <a:pPr marL="0" indent="0" algn="l">
              <a:spcAft>
                <a:spcPts val="750"/>
              </a:spcAft>
              <a:buNone/>
            </a:pPr>
            <a:br>
              <a:rPr lang="en-US" sz="1600" dirty="0"/>
            </a:br>
            <a:endParaRPr lang="en-US" sz="1600" dirty="0"/>
          </a:p>
          <a:p>
            <a:pPr marL="0" indent="0">
              <a:spcBef>
                <a:spcPts val="0"/>
              </a:spcBef>
              <a:buNone/>
            </a:pPr>
            <a:r>
              <a:rPr lang="en-US" sz="1600" dirty="0" err="1"/>
              <a:t>includeGraphit.graphit</a:t>
            </a:r>
            <a:endParaRPr lang="en-US" sz="1600" dirty="0"/>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732CC492-56DC-942A-97B1-469E3EFC78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620D9EF1-AFF7-934F-BA7E-A2DCA19DD44A}"/>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pic>
        <p:nvPicPr>
          <p:cNvPr id="6" name="Picture 5">
            <a:extLst>
              <a:ext uri="{FF2B5EF4-FFF2-40B4-BE49-F238E27FC236}">
                <a16:creationId xmlns:a16="http://schemas.microsoft.com/office/drawing/2014/main" id="{838ED022-1FDC-235D-AAEC-C00E8DF5A6D5}"/>
              </a:ext>
            </a:extLst>
          </p:cNvPr>
          <p:cNvPicPr>
            <a:picLocks noChangeAspect="1"/>
          </p:cNvPicPr>
          <p:nvPr/>
        </p:nvPicPr>
        <p:blipFill>
          <a:blip r:embed="rId3"/>
          <a:stretch>
            <a:fillRect/>
          </a:stretch>
        </p:blipFill>
        <p:spPr>
          <a:xfrm>
            <a:off x="752864" y="1831296"/>
            <a:ext cx="7654536" cy="1834772"/>
          </a:xfrm>
          <a:prstGeom prst="rect">
            <a:avLst/>
          </a:prstGeom>
        </p:spPr>
      </p:pic>
      <p:sp>
        <p:nvSpPr>
          <p:cNvPr id="17" name="Rectangle 16">
            <a:extLst>
              <a:ext uri="{FF2B5EF4-FFF2-40B4-BE49-F238E27FC236}">
                <a16:creationId xmlns:a16="http://schemas.microsoft.com/office/drawing/2014/main" id="{5B3950C7-9724-4813-42F8-DFB0CB0E4E70}"/>
              </a:ext>
            </a:extLst>
          </p:cNvPr>
          <p:cNvSpPr/>
          <p:nvPr/>
        </p:nvSpPr>
        <p:spPr>
          <a:xfrm>
            <a:off x="4086698" y="2947503"/>
            <a:ext cx="1310073" cy="41897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12" name="Picture 11">
            <a:extLst>
              <a:ext uri="{FF2B5EF4-FFF2-40B4-BE49-F238E27FC236}">
                <a16:creationId xmlns:a16="http://schemas.microsoft.com/office/drawing/2014/main" id="{A8E81354-A65F-C418-25EF-BF982C2E0440}"/>
              </a:ext>
            </a:extLst>
          </p:cNvPr>
          <p:cNvPicPr>
            <a:picLocks noChangeAspect="1"/>
          </p:cNvPicPr>
          <p:nvPr/>
        </p:nvPicPr>
        <p:blipFill>
          <a:blip r:embed="rId4"/>
          <a:stretch>
            <a:fillRect/>
          </a:stretch>
        </p:blipFill>
        <p:spPr>
          <a:xfrm>
            <a:off x="769257" y="4031356"/>
            <a:ext cx="7654536" cy="2661835"/>
          </a:xfrm>
          <a:prstGeom prst="rect">
            <a:avLst/>
          </a:prstGeom>
        </p:spPr>
      </p:pic>
      <p:sp>
        <p:nvSpPr>
          <p:cNvPr id="15" name="TextBox 14">
            <a:extLst>
              <a:ext uri="{FF2B5EF4-FFF2-40B4-BE49-F238E27FC236}">
                <a16:creationId xmlns:a16="http://schemas.microsoft.com/office/drawing/2014/main" id="{824EF63C-2573-94C5-F596-188B20F54F06}"/>
              </a:ext>
            </a:extLst>
          </p:cNvPr>
          <p:cNvSpPr txBox="1"/>
          <p:nvPr/>
        </p:nvSpPr>
        <p:spPr>
          <a:xfrm>
            <a:off x="8528892" y="1866883"/>
            <a:ext cx="3617417" cy="830997"/>
          </a:xfrm>
          <a:prstGeom prst="rect">
            <a:avLst/>
          </a:prstGeom>
          <a:noFill/>
        </p:spPr>
        <p:txBody>
          <a:bodyPr wrap="square" rtlCol="0">
            <a:spAutoFit/>
          </a:bodyPr>
          <a:lstStyle/>
          <a:p>
            <a:r>
              <a:rPr lang="en-US" sz="1600" dirty="0"/>
              <a:t>You can address any field/variables in the included </a:t>
            </a:r>
            <a:r>
              <a:rPr lang="en-US" sz="1600" dirty="0" err="1"/>
              <a:t>graphit</a:t>
            </a:r>
            <a:r>
              <a:rPr lang="en-US" sz="1600" dirty="0"/>
              <a:t>, as if it’s written in the outer </a:t>
            </a:r>
            <a:r>
              <a:rPr lang="en-US" sz="1600" dirty="0" err="1"/>
              <a:t>graphit</a:t>
            </a:r>
            <a:endParaRPr lang="en-US" sz="1600" dirty="0"/>
          </a:p>
        </p:txBody>
      </p:sp>
      <p:sp>
        <p:nvSpPr>
          <p:cNvPr id="16" name="Rectangle 15">
            <a:extLst>
              <a:ext uri="{FF2B5EF4-FFF2-40B4-BE49-F238E27FC236}">
                <a16:creationId xmlns:a16="http://schemas.microsoft.com/office/drawing/2014/main" id="{D57CD01B-B145-9B35-3EAB-B5B501F122FF}"/>
              </a:ext>
            </a:extLst>
          </p:cNvPr>
          <p:cNvSpPr/>
          <p:nvPr/>
        </p:nvSpPr>
        <p:spPr>
          <a:xfrm>
            <a:off x="920155" y="3235370"/>
            <a:ext cx="1540367" cy="418971"/>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825700643"/>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33007-5BB8-8D8F-9AC5-6A4DB218D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742AF-7402-6E81-EDF8-1242E099944A}"/>
              </a:ext>
            </a:extLst>
          </p:cNvPr>
          <p:cNvSpPr>
            <a:spLocks noGrp="1"/>
          </p:cNvSpPr>
          <p:nvPr>
            <p:ph type="title"/>
          </p:nvPr>
        </p:nvSpPr>
        <p:spPr>
          <a:xfrm>
            <a:off x="0" y="403270"/>
            <a:ext cx="12192000" cy="778213"/>
          </a:xfrm>
        </p:spPr>
        <p:txBody>
          <a:bodyPr>
            <a:normAutofit/>
          </a:bodyPr>
          <a:lstStyle/>
          <a:p>
            <a:pPr algn="ctr"/>
            <a:r>
              <a:rPr lang="en-GB" dirty="0" err="1"/>
              <a:t>Graphit</a:t>
            </a:r>
            <a:r>
              <a:rPr lang="en-GB" sz="3200" dirty="0"/>
              <a:t> Node Properties</a:t>
            </a:r>
            <a:endParaRPr lang="en-IL" dirty="0"/>
          </a:p>
        </p:txBody>
      </p:sp>
      <p:sp>
        <p:nvSpPr>
          <p:cNvPr id="3" name="Content Placeholder 2">
            <a:extLst>
              <a:ext uri="{FF2B5EF4-FFF2-40B4-BE49-F238E27FC236}">
                <a16:creationId xmlns:a16="http://schemas.microsoft.com/office/drawing/2014/main" id="{261009C0-F315-91E9-A36D-477A2A432237}"/>
              </a:ext>
            </a:extLst>
          </p:cNvPr>
          <p:cNvSpPr>
            <a:spLocks noGrp="1"/>
          </p:cNvSpPr>
          <p:nvPr>
            <p:ph idx="1"/>
          </p:nvPr>
        </p:nvSpPr>
        <p:spPr>
          <a:xfrm>
            <a:off x="631371" y="1259458"/>
            <a:ext cx="10918371" cy="5270738"/>
          </a:xfrm>
        </p:spPr>
        <p:txBody>
          <a:bodyPr anchor="t" anchorCtr="0">
            <a:normAutofit fontScale="85000" lnSpcReduction="20000"/>
          </a:bodyPr>
          <a:lstStyle/>
          <a:p>
            <a:pPr marL="0" indent="0" algn="l">
              <a:spcAft>
                <a:spcPts val="750"/>
              </a:spcAft>
              <a:buNone/>
            </a:pPr>
            <a:r>
              <a:rPr lang="en-US" sz="1700" dirty="0">
                <a:solidFill>
                  <a:srgbClr val="2E2E2E"/>
                </a:solidFill>
              </a:rPr>
              <a:t>Additional properties:</a:t>
            </a:r>
          </a:p>
          <a:p>
            <a:pPr algn="l">
              <a:spcAft>
                <a:spcPts val="750"/>
              </a:spcAft>
              <a:buFont typeface="Arial" panose="020B0604020202020204" pitchFamily="34" charset="0"/>
              <a:buChar char="•"/>
            </a:pPr>
            <a:r>
              <a:rPr lang="en-US" sz="1700" b="1" dirty="0">
                <a:solidFill>
                  <a:srgbClr val="2E2E2E"/>
                </a:solidFill>
              </a:rPr>
              <a:t>Show Empty </a:t>
            </a:r>
            <a:r>
              <a:rPr lang="en-US" sz="1700" dirty="0">
                <a:solidFill>
                  <a:srgbClr val="2E2E2E"/>
                </a:solidFill>
              </a:rPr>
              <a:t>- Defines whether empty nodes are displayed in the output. Default = True.</a:t>
            </a:r>
            <a:br>
              <a:rPr lang="en-US" sz="1700" dirty="0">
                <a:solidFill>
                  <a:srgbClr val="2E2E2E"/>
                </a:solidFill>
              </a:rPr>
            </a:br>
            <a:r>
              <a:rPr lang="en-US" sz="1700" dirty="0">
                <a:solidFill>
                  <a:srgbClr val="2E2E2E"/>
                </a:solidFill>
              </a:rPr>
              <a:t>Note that this property affects the node and its child nodes.</a:t>
            </a:r>
          </a:p>
          <a:p>
            <a:pPr algn="l">
              <a:spcAft>
                <a:spcPts val="750"/>
              </a:spcAft>
              <a:buFont typeface="Arial" panose="020B0604020202020204" pitchFamily="34" charset="0"/>
              <a:buChar char="•"/>
            </a:pPr>
            <a:r>
              <a:rPr lang="en-US" sz="1700" b="1" dirty="0">
                <a:solidFill>
                  <a:srgbClr val="2E2E2E"/>
                </a:solidFill>
              </a:rPr>
              <a:t>Show null </a:t>
            </a:r>
            <a:r>
              <a:rPr lang="en-US" sz="1700" dirty="0">
                <a:solidFill>
                  <a:srgbClr val="2E2E2E"/>
                </a:solidFill>
              </a:rPr>
              <a:t>- Defines whether null entries are displayed in the output. Default = True.</a:t>
            </a:r>
            <a:br>
              <a:rPr lang="en-US" sz="1700" dirty="0">
                <a:solidFill>
                  <a:srgbClr val="2E2E2E"/>
                </a:solidFill>
              </a:rPr>
            </a:br>
            <a:r>
              <a:rPr lang="en-US" sz="1700" dirty="0">
                <a:solidFill>
                  <a:srgbClr val="2E2E2E"/>
                </a:solidFill>
              </a:rPr>
              <a:t>Note that this property affects the node and its child nodes. </a:t>
            </a:r>
          </a:p>
          <a:p>
            <a:pPr algn="l">
              <a:spcAft>
                <a:spcPts val="750"/>
              </a:spcAft>
              <a:buFont typeface="Arial" panose="020B0604020202020204" pitchFamily="34" charset="0"/>
              <a:buChar char="•"/>
            </a:pPr>
            <a:r>
              <a:rPr lang="en-US" sz="1700" dirty="0">
                <a:solidFill>
                  <a:srgbClr val="2E2E2E"/>
                </a:solidFill>
              </a:rPr>
              <a:t>Output formats:</a:t>
            </a:r>
          </a:p>
          <a:p>
            <a:pPr lvl="1">
              <a:spcAft>
                <a:spcPts val="750"/>
              </a:spcAft>
            </a:pPr>
            <a:r>
              <a:rPr lang="en-US" sz="1700" b="1" dirty="0" err="1">
                <a:solidFill>
                  <a:srgbClr val="2E2E2E"/>
                </a:solidFill>
              </a:rPr>
              <a:t>DatetimeFormat</a:t>
            </a:r>
            <a:r>
              <a:rPr lang="en-US" sz="1700" dirty="0">
                <a:solidFill>
                  <a:srgbClr val="2E2E2E"/>
                </a:solidFill>
              </a:rPr>
              <a:t> - Controls how date/time are formatted in the output</a:t>
            </a:r>
          </a:p>
          <a:p>
            <a:pPr lvl="1">
              <a:spcAft>
                <a:spcPts val="750"/>
              </a:spcAft>
            </a:pPr>
            <a:r>
              <a:rPr lang="en-US" sz="1700" b="1" dirty="0" err="1">
                <a:solidFill>
                  <a:srgbClr val="2E2E2E"/>
                </a:solidFill>
              </a:rPr>
              <a:t>NumberFormat</a:t>
            </a:r>
            <a:r>
              <a:rPr lang="en-US" sz="1700" dirty="0">
                <a:solidFill>
                  <a:srgbClr val="2E2E2E"/>
                </a:solidFill>
              </a:rPr>
              <a:t> - Controls how numbers are formatted in the output</a:t>
            </a:r>
          </a:p>
          <a:p>
            <a:pPr algn="l">
              <a:spcAft>
                <a:spcPts val="750"/>
              </a:spcAft>
              <a:buFont typeface="Arial" panose="020B0604020202020204" pitchFamily="34" charset="0"/>
              <a:buChar char="•"/>
            </a:pPr>
            <a:r>
              <a:rPr lang="en-US" sz="1700" dirty="0">
                <a:solidFill>
                  <a:srgbClr val="2E2E2E"/>
                </a:solidFill>
              </a:rPr>
              <a:t>CSV - The following node properties control CSV format:</a:t>
            </a:r>
          </a:p>
          <a:p>
            <a:pPr lvl="1">
              <a:spcAft>
                <a:spcPts val="750"/>
              </a:spcAft>
            </a:pPr>
            <a:r>
              <a:rPr lang="en-US" sz="1700" b="1" dirty="0" err="1">
                <a:solidFill>
                  <a:srgbClr val="2E2E2E"/>
                </a:solidFill>
              </a:rPr>
              <a:t>csvHeader</a:t>
            </a:r>
            <a:r>
              <a:rPr lang="en-US" sz="1700" b="1" dirty="0">
                <a:solidFill>
                  <a:srgbClr val="2E2E2E"/>
                </a:solidFill>
              </a:rPr>
              <a:t> -</a:t>
            </a:r>
            <a:r>
              <a:rPr lang="en-US" sz="1700" dirty="0">
                <a:solidFill>
                  <a:srgbClr val="2E2E2E"/>
                </a:solidFill>
              </a:rPr>
              <a:t> disables a header row</a:t>
            </a:r>
          </a:p>
          <a:p>
            <a:pPr lvl="1">
              <a:spcAft>
                <a:spcPts val="750"/>
              </a:spcAft>
            </a:pPr>
            <a:r>
              <a:rPr lang="en-US" sz="1700" b="1" dirty="0" err="1">
                <a:solidFill>
                  <a:srgbClr val="2E2E2E"/>
                </a:solidFill>
              </a:rPr>
              <a:t>csvRow</a:t>
            </a:r>
            <a:r>
              <a:rPr lang="en-US" sz="1700" b="1" dirty="0">
                <a:solidFill>
                  <a:srgbClr val="2E2E2E"/>
                </a:solidFill>
              </a:rPr>
              <a:t> -</a:t>
            </a:r>
            <a:r>
              <a:rPr lang="en-US" sz="1700" dirty="0">
                <a:solidFill>
                  <a:srgbClr val="2E2E2E"/>
                </a:solidFill>
              </a:rPr>
              <a:t> defines the delimiter between rows in CSV format. The default value is set to the CR sign (\n).</a:t>
            </a:r>
          </a:p>
          <a:p>
            <a:pPr lvl="1">
              <a:spcAft>
                <a:spcPts val="750"/>
              </a:spcAft>
            </a:pPr>
            <a:r>
              <a:rPr lang="en-US" sz="1700" b="1" dirty="0" err="1">
                <a:solidFill>
                  <a:srgbClr val="2E2E2E"/>
                </a:solidFill>
              </a:rPr>
              <a:t>csvCol</a:t>
            </a:r>
            <a:r>
              <a:rPr lang="en-US" sz="1700" b="1" dirty="0">
                <a:solidFill>
                  <a:srgbClr val="2E2E2E"/>
                </a:solidFill>
              </a:rPr>
              <a:t> -</a:t>
            </a:r>
            <a:r>
              <a:rPr lang="en-US" sz="1700" dirty="0">
                <a:solidFill>
                  <a:srgbClr val="2E2E2E"/>
                </a:solidFill>
              </a:rPr>
              <a:t> defines the delimiter between columns in CSV format. The default value is set to the comma character.</a:t>
            </a:r>
          </a:p>
          <a:p>
            <a:pPr lvl="1">
              <a:spcAft>
                <a:spcPts val="750"/>
              </a:spcAft>
            </a:pPr>
            <a:r>
              <a:rPr lang="en-US" sz="1700" b="1" dirty="0" err="1">
                <a:solidFill>
                  <a:srgbClr val="2E2E2E"/>
                </a:solidFill>
              </a:rPr>
              <a:t>csvEnclose</a:t>
            </a:r>
            <a:r>
              <a:rPr lang="en-US" sz="1700" b="1" dirty="0">
                <a:solidFill>
                  <a:srgbClr val="2E2E2E"/>
                </a:solidFill>
              </a:rPr>
              <a:t> - </a:t>
            </a:r>
            <a:r>
              <a:rPr lang="en-US" sz="1700" dirty="0">
                <a:solidFill>
                  <a:srgbClr val="2E2E2E"/>
                </a:solidFill>
              </a:rPr>
              <a:t>defines the character used to enclose a value in CSV format. This is used only if the value holds a special character (</a:t>
            </a:r>
            <a:r>
              <a:rPr lang="en-US" sz="1700" dirty="0" err="1">
                <a:solidFill>
                  <a:srgbClr val="2E2E2E"/>
                </a:solidFill>
              </a:rPr>
              <a:t>csvEnclose</a:t>
            </a:r>
            <a:r>
              <a:rPr lang="en-US" sz="1700" dirty="0">
                <a:solidFill>
                  <a:srgbClr val="2E2E2E"/>
                </a:solidFill>
              </a:rPr>
              <a:t>, </a:t>
            </a:r>
            <a:r>
              <a:rPr lang="en-US" sz="1700" dirty="0" err="1">
                <a:solidFill>
                  <a:srgbClr val="2E2E2E"/>
                </a:solidFill>
              </a:rPr>
              <a:t>csvRow</a:t>
            </a:r>
            <a:r>
              <a:rPr lang="en-US" sz="1700" dirty="0">
                <a:solidFill>
                  <a:srgbClr val="2E2E2E"/>
                </a:solidFill>
              </a:rPr>
              <a:t>, </a:t>
            </a:r>
            <a:r>
              <a:rPr lang="en-US" sz="1700" dirty="0" err="1">
                <a:solidFill>
                  <a:srgbClr val="2E2E2E"/>
                </a:solidFill>
              </a:rPr>
              <a:t>csvCol</a:t>
            </a:r>
            <a:r>
              <a:rPr lang="en-US" sz="1700" dirty="0">
                <a:solidFill>
                  <a:srgbClr val="2E2E2E"/>
                </a:solidFill>
              </a:rPr>
              <a:t>).</a:t>
            </a:r>
          </a:p>
          <a:p>
            <a:pPr>
              <a:spcAft>
                <a:spcPts val="750"/>
              </a:spcAft>
            </a:pPr>
            <a:r>
              <a:rPr lang="en-US" sz="1700" b="1" dirty="0">
                <a:solidFill>
                  <a:srgbClr val="2E2E2E"/>
                </a:solidFill>
              </a:rPr>
              <a:t>Format</a:t>
            </a:r>
            <a:r>
              <a:rPr lang="he-IL" sz="1700" dirty="0">
                <a:solidFill>
                  <a:srgbClr val="2E2E2E"/>
                </a:solidFill>
              </a:rPr>
              <a:t> </a:t>
            </a:r>
            <a:r>
              <a:rPr lang="en-US" sz="1700" dirty="0">
                <a:solidFill>
                  <a:srgbClr val="2E2E2E"/>
                </a:solidFill>
              </a:rPr>
              <a:t>– When defined, the node is evaluated and added when the output format matches the format's JSON, XML or CSV value. Note that this property only affects the node where it is defined. </a:t>
            </a:r>
          </a:p>
          <a:p>
            <a:pPr>
              <a:spcAft>
                <a:spcPts val="750"/>
              </a:spcAft>
            </a:pPr>
            <a:endParaRPr lang="en-US" sz="1400" b="0" i="0" dirty="0">
              <a:solidFill>
                <a:srgbClr val="2E2E2E"/>
              </a:solidFill>
              <a:effectLst/>
              <a:latin typeface="Roboto" panose="02000000000000000000" pitchFamily="2" charset="0"/>
            </a:endParaRPr>
          </a:p>
          <a:p>
            <a:pPr lvl="1">
              <a:spcAft>
                <a:spcPts val="750"/>
              </a:spcAft>
            </a:pPr>
            <a:endParaRPr lang="en-US" sz="1400" dirty="0">
              <a:solidFill>
                <a:srgbClr val="2E2E2E"/>
              </a:solidFill>
              <a:highlight>
                <a:srgbClr val="FFFF00"/>
              </a:highlight>
              <a:latin typeface="Roboto" panose="02000000000000000000" pitchFamily="2" charset="0"/>
            </a:endParaRP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algn="l">
              <a:spcAft>
                <a:spcPts val="750"/>
              </a:spcAft>
              <a:buFont typeface="Arial" panose="020B0604020202020204" pitchFamily="34" charset="0"/>
              <a:buChar char="•"/>
            </a:pPr>
            <a:endParaRPr lang="en-US" sz="1400" dirty="0">
              <a:solidFill>
                <a:srgbClr val="2E2E2E"/>
              </a:solidFill>
              <a:latin typeface="Roboto" panose="02000000000000000000" pitchFamily="2" charset="0"/>
            </a:endParaRPr>
          </a:p>
          <a:p>
            <a:pPr marL="0" indent="0" algn="l">
              <a:spcAft>
                <a:spcPts val="750"/>
              </a:spcAft>
              <a:buNone/>
            </a:pPr>
            <a:endParaRPr lang="en-US" sz="1400" dirty="0">
              <a:solidFill>
                <a:srgbClr val="2E2E2E"/>
              </a:solidFill>
              <a:latin typeface="Roboto" panose="02000000000000000000" pitchFamily="2"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FE59C92B-CF3B-E188-1D04-7967C9A2A1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D290EF00-34B5-F0BE-76D5-A3BF49DECBE9}"/>
              </a:ext>
            </a:extLst>
          </p:cNvPr>
          <p:cNvSpPr txBox="1">
            <a:spLocks/>
          </p:cNvSpPr>
          <p:nvPr/>
        </p:nvSpPr>
        <p:spPr>
          <a:xfrm>
            <a:off x="358878" y="1659737"/>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Tree>
    <p:extLst>
      <p:ext uri="{BB962C8B-B14F-4D97-AF65-F5344CB8AC3E}">
        <p14:creationId xmlns:p14="http://schemas.microsoft.com/office/powerpoint/2010/main" val="1960430185"/>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CB24-F952-6217-279C-1E15BBA25FD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B73FCE2-3202-45AB-538E-9CCF254B33BF}"/>
              </a:ext>
            </a:extLst>
          </p:cNvPr>
          <p:cNvPicPr>
            <a:picLocks noChangeAspect="1"/>
          </p:cNvPicPr>
          <p:nvPr/>
        </p:nvPicPr>
        <p:blipFill>
          <a:blip r:embed="rId3"/>
          <a:stretch>
            <a:fillRect/>
          </a:stretch>
        </p:blipFill>
        <p:spPr>
          <a:xfrm>
            <a:off x="1391660" y="2678466"/>
            <a:ext cx="10506860" cy="3857123"/>
          </a:xfrm>
          <a:prstGeom prst="rect">
            <a:avLst/>
          </a:prstGeom>
        </p:spPr>
      </p:pic>
      <p:sp>
        <p:nvSpPr>
          <p:cNvPr id="2" name="Title 1">
            <a:extLst>
              <a:ext uri="{FF2B5EF4-FFF2-40B4-BE49-F238E27FC236}">
                <a16:creationId xmlns:a16="http://schemas.microsoft.com/office/drawing/2014/main" id="{FA585B7B-D288-5E64-C8B6-6FF260B19BB4}"/>
              </a:ext>
            </a:extLst>
          </p:cNvPr>
          <p:cNvSpPr>
            <a:spLocks noGrp="1"/>
          </p:cNvSpPr>
          <p:nvPr>
            <p:ph type="title"/>
          </p:nvPr>
        </p:nvSpPr>
        <p:spPr>
          <a:xfrm>
            <a:off x="0" y="403270"/>
            <a:ext cx="12192000" cy="778213"/>
          </a:xfrm>
        </p:spPr>
        <p:txBody>
          <a:bodyPr>
            <a:noAutofit/>
          </a:bodyPr>
          <a:lstStyle/>
          <a:p>
            <a:pPr algn="ctr"/>
            <a:r>
              <a:rPr lang="en-US" dirty="0" err="1"/>
              <a:t>Graphit</a:t>
            </a:r>
            <a:r>
              <a:rPr lang="en-US" dirty="0"/>
              <a:t> </a:t>
            </a:r>
            <a:r>
              <a:rPr lang="en-GB" dirty="0"/>
              <a:t>Variables</a:t>
            </a:r>
            <a:endParaRPr lang="en-IL" dirty="0"/>
          </a:p>
        </p:txBody>
      </p:sp>
      <p:sp>
        <p:nvSpPr>
          <p:cNvPr id="9" name="AutoShape 4">
            <a:extLst>
              <a:ext uri="{FF2B5EF4-FFF2-40B4-BE49-F238E27FC236}">
                <a16:creationId xmlns:a16="http://schemas.microsoft.com/office/drawing/2014/main" id="{BDC34F7D-8C7B-62B4-179D-A4CC9222ACE7}"/>
              </a:ext>
            </a:extLst>
          </p:cNvPr>
          <p:cNvSpPr>
            <a:spLocks noChangeAspect="1" noChangeArrowheads="1"/>
          </p:cNvSpPr>
          <p:nvPr/>
        </p:nvSpPr>
        <p:spPr bwMode="auto">
          <a:xfrm>
            <a:off x="5758406"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4" name="Content Placeholder 2">
            <a:extLst>
              <a:ext uri="{FF2B5EF4-FFF2-40B4-BE49-F238E27FC236}">
                <a16:creationId xmlns:a16="http://schemas.microsoft.com/office/drawing/2014/main" id="{71F976F9-566C-03C8-E89E-28840404CE71}"/>
              </a:ext>
            </a:extLst>
          </p:cNvPr>
          <p:cNvSpPr txBox="1">
            <a:spLocks/>
          </p:cNvSpPr>
          <p:nvPr/>
        </p:nvSpPr>
        <p:spPr>
          <a:xfrm>
            <a:off x="983911" y="930766"/>
            <a:ext cx="9889466" cy="5400586"/>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600" dirty="0">
                <a:solidFill>
                  <a:srgbClr val="000000"/>
                </a:solidFill>
                <a:highlight>
                  <a:srgbClr val="FFFFFF"/>
                </a:highlight>
              </a:rPr>
              <a:t>Previous Field Nodes: Variables derived from earlier field nodes.</a:t>
            </a:r>
          </a:p>
          <a:p>
            <a:pPr fontAlgn="base"/>
            <a:r>
              <a:rPr lang="en-US" sz="1600" dirty="0">
                <a:solidFill>
                  <a:srgbClr val="000000"/>
                </a:solidFill>
                <a:highlight>
                  <a:srgbClr val="FFFFFF"/>
                </a:highlight>
              </a:rPr>
              <a:t>SQL Query/Broadway Result: Data obtained from SQL queries or Broadway execution results.</a:t>
            </a:r>
          </a:p>
          <a:p>
            <a:pPr fontAlgn="base"/>
            <a:r>
              <a:rPr lang="en-US" sz="1600" dirty="0">
                <a:solidFill>
                  <a:srgbClr val="000000"/>
                </a:solidFill>
                <a:highlight>
                  <a:srgbClr val="FFFFFF"/>
                </a:highlight>
              </a:rPr>
              <a:t>Input Parameters: User-defined inputs.</a:t>
            </a:r>
          </a:p>
          <a:p>
            <a:pPr fontAlgn="base"/>
            <a:r>
              <a:rPr lang="en-US" sz="1600" dirty="0">
                <a:solidFill>
                  <a:srgbClr val="000000"/>
                </a:solidFill>
                <a:highlight>
                  <a:srgbClr val="FFFFFF"/>
                </a:highlight>
              </a:rPr>
              <a:t>Custom Variables in Function Node Type: Variables can be defined within a Function node (using JavaScript).  Unlike Field nodes, these variables can be accessed outside the scope of the field node.</a:t>
            </a:r>
            <a:endParaRPr lang="en-US" sz="1400" dirty="0">
              <a:solidFill>
                <a:srgbClr val="000000"/>
              </a:solidFill>
              <a:highlight>
                <a:srgbClr val="FFFFFF"/>
              </a:highlight>
            </a:endParaRPr>
          </a:p>
        </p:txBody>
      </p:sp>
      <p:sp>
        <p:nvSpPr>
          <p:cNvPr id="10" name="Rectangle 9">
            <a:extLst>
              <a:ext uri="{FF2B5EF4-FFF2-40B4-BE49-F238E27FC236}">
                <a16:creationId xmlns:a16="http://schemas.microsoft.com/office/drawing/2014/main" id="{7638F55C-4316-2334-9538-9A93EE0A442F}"/>
              </a:ext>
            </a:extLst>
          </p:cNvPr>
          <p:cNvSpPr/>
          <p:nvPr/>
        </p:nvSpPr>
        <p:spPr>
          <a:xfrm>
            <a:off x="1668861" y="4914760"/>
            <a:ext cx="2089592" cy="1012474"/>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5EFCA055-68B9-82CE-C15B-6A66D9392FB9}"/>
              </a:ext>
            </a:extLst>
          </p:cNvPr>
          <p:cNvSpPr txBox="1"/>
          <p:nvPr/>
        </p:nvSpPr>
        <p:spPr>
          <a:xfrm>
            <a:off x="111228" y="5214874"/>
            <a:ext cx="1391569" cy="523220"/>
          </a:xfrm>
          <a:prstGeom prst="rect">
            <a:avLst/>
          </a:prstGeom>
          <a:noFill/>
        </p:spPr>
        <p:txBody>
          <a:bodyPr wrap="square" rtlCol="0">
            <a:spAutoFit/>
          </a:bodyPr>
          <a:lstStyle/>
          <a:p>
            <a:r>
              <a:rPr lang="en-US" sz="1400" dirty="0"/>
              <a:t>Use query result as variable</a:t>
            </a:r>
            <a:endParaRPr lang="en-IL" sz="1400" dirty="0"/>
          </a:p>
        </p:txBody>
      </p:sp>
      <p:sp>
        <p:nvSpPr>
          <p:cNvPr id="14" name="TextBox 13">
            <a:extLst>
              <a:ext uri="{FF2B5EF4-FFF2-40B4-BE49-F238E27FC236}">
                <a16:creationId xmlns:a16="http://schemas.microsoft.com/office/drawing/2014/main" id="{F39708BD-C8A0-9886-1204-13A07CA2C5C8}"/>
              </a:ext>
            </a:extLst>
          </p:cNvPr>
          <p:cNvSpPr txBox="1"/>
          <p:nvPr/>
        </p:nvSpPr>
        <p:spPr>
          <a:xfrm>
            <a:off x="118600" y="4771567"/>
            <a:ext cx="1327047" cy="307777"/>
          </a:xfrm>
          <a:prstGeom prst="rect">
            <a:avLst/>
          </a:prstGeom>
          <a:noFill/>
        </p:spPr>
        <p:txBody>
          <a:bodyPr wrap="square" rtlCol="0">
            <a:spAutoFit/>
          </a:bodyPr>
          <a:lstStyle/>
          <a:p>
            <a:r>
              <a:rPr lang="en-US" sz="1400" dirty="0"/>
              <a:t>Define variable</a:t>
            </a:r>
            <a:endParaRPr lang="en-IL" sz="1400" dirty="0"/>
          </a:p>
        </p:txBody>
      </p:sp>
      <p:cxnSp>
        <p:nvCxnSpPr>
          <p:cNvPr id="18" name="Straight Arrow Connector 17">
            <a:extLst>
              <a:ext uri="{FF2B5EF4-FFF2-40B4-BE49-F238E27FC236}">
                <a16:creationId xmlns:a16="http://schemas.microsoft.com/office/drawing/2014/main" id="{FD33EC75-8D74-06EC-05BF-751E84564685}"/>
              </a:ext>
            </a:extLst>
          </p:cNvPr>
          <p:cNvCxnSpPr>
            <a:cxnSpLocks/>
          </p:cNvCxnSpPr>
          <p:nvPr/>
        </p:nvCxnSpPr>
        <p:spPr>
          <a:xfrm>
            <a:off x="1175748" y="5041378"/>
            <a:ext cx="477338" cy="0"/>
          </a:xfrm>
          <a:prstGeom prst="straightConnector1">
            <a:avLst/>
          </a:prstGeom>
          <a:ln w="2222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E52644E8-0D8E-8E94-1980-9628AA42ED02}"/>
              </a:ext>
            </a:extLst>
          </p:cNvPr>
          <p:cNvCxnSpPr>
            <a:cxnSpLocks/>
          </p:cNvCxnSpPr>
          <p:nvPr/>
        </p:nvCxnSpPr>
        <p:spPr>
          <a:xfrm flipV="1">
            <a:off x="1226318" y="5130474"/>
            <a:ext cx="426768" cy="393318"/>
          </a:xfrm>
          <a:prstGeom prst="bentConnector3">
            <a:avLst/>
          </a:prstGeom>
          <a:ln w="2222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AABAEC7-1AFA-BA5A-AB72-EC1CB0CAA823}"/>
              </a:ext>
            </a:extLst>
          </p:cNvPr>
          <p:cNvSpPr txBox="1"/>
          <p:nvPr/>
        </p:nvSpPr>
        <p:spPr>
          <a:xfrm>
            <a:off x="123825" y="5934488"/>
            <a:ext cx="1378971" cy="738664"/>
          </a:xfrm>
          <a:prstGeom prst="rect">
            <a:avLst/>
          </a:prstGeom>
          <a:noFill/>
        </p:spPr>
        <p:txBody>
          <a:bodyPr wrap="square" rtlCol="0">
            <a:spAutoFit/>
          </a:bodyPr>
          <a:lstStyle/>
          <a:p>
            <a:r>
              <a:rPr lang="en-US" sz="1400" dirty="0"/>
              <a:t>Use the variable from outside the loop</a:t>
            </a:r>
            <a:endParaRPr lang="en-IL" sz="1400" dirty="0"/>
          </a:p>
        </p:txBody>
      </p:sp>
      <p:cxnSp>
        <p:nvCxnSpPr>
          <p:cNvPr id="11" name="Straight Arrow Connector 10">
            <a:extLst>
              <a:ext uri="{FF2B5EF4-FFF2-40B4-BE49-F238E27FC236}">
                <a16:creationId xmlns:a16="http://schemas.microsoft.com/office/drawing/2014/main" id="{5E4F3B57-F22C-0311-E824-B155883F11B0}"/>
              </a:ext>
            </a:extLst>
          </p:cNvPr>
          <p:cNvCxnSpPr>
            <a:cxnSpLocks/>
          </p:cNvCxnSpPr>
          <p:nvPr/>
        </p:nvCxnSpPr>
        <p:spPr>
          <a:xfrm>
            <a:off x="1175748" y="6412978"/>
            <a:ext cx="477338" cy="0"/>
          </a:xfrm>
          <a:prstGeom prst="straightConnector1">
            <a:avLst/>
          </a:prstGeom>
          <a:ln w="2222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832637"/>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2E45C-4819-D3BF-8EA3-5FEDF4FBC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15A02-8551-9313-5080-FE937F6EE179}"/>
              </a:ext>
            </a:extLst>
          </p:cNvPr>
          <p:cNvSpPr>
            <a:spLocks noGrp="1"/>
          </p:cNvSpPr>
          <p:nvPr>
            <p:ph type="title"/>
          </p:nvPr>
        </p:nvSpPr>
        <p:spPr>
          <a:xfrm>
            <a:off x="0" y="403270"/>
            <a:ext cx="12192000" cy="778213"/>
          </a:xfrm>
        </p:spPr>
        <p:txBody>
          <a:bodyPr>
            <a:noAutofit/>
          </a:bodyPr>
          <a:lstStyle/>
          <a:p>
            <a:pPr algn="ctr"/>
            <a:r>
              <a:rPr lang="en-GB" dirty="0"/>
              <a:t>E</a:t>
            </a:r>
            <a:r>
              <a:rPr lang="en-US" dirty="0" err="1"/>
              <a:t>rror</a:t>
            </a:r>
            <a:r>
              <a:rPr lang="en-US" dirty="0"/>
              <a:t> Handling</a:t>
            </a:r>
            <a:endParaRPr lang="en-IL" dirty="0"/>
          </a:p>
        </p:txBody>
      </p:sp>
      <p:sp>
        <p:nvSpPr>
          <p:cNvPr id="4" name="Content Placeholder 2">
            <a:extLst>
              <a:ext uri="{FF2B5EF4-FFF2-40B4-BE49-F238E27FC236}">
                <a16:creationId xmlns:a16="http://schemas.microsoft.com/office/drawing/2014/main" id="{DFF7ECB5-DEBA-6DCA-D7C5-0A7E07B4A1C2}"/>
              </a:ext>
            </a:extLst>
          </p:cNvPr>
          <p:cNvSpPr txBox="1">
            <a:spLocks/>
          </p:cNvSpPr>
          <p:nvPr/>
        </p:nvSpPr>
        <p:spPr>
          <a:xfrm>
            <a:off x="2252992" y="1104566"/>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9" name="AutoShape 4">
            <a:extLst>
              <a:ext uri="{FF2B5EF4-FFF2-40B4-BE49-F238E27FC236}">
                <a16:creationId xmlns:a16="http://schemas.microsoft.com/office/drawing/2014/main" id="{7F07D793-527F-B887-8250-DB876CADBBF8}"/>
              </a:ext>
            </a:extLst>
          </p:cNvPr>
          <p:cNvSpPr>
            <a:spLocks noChangeAspect="1" noChangeArrowheads="1"/>
          </p:cNvSpPr>
          <p:nvPr/>
        </p:nvSpPr>
        <p:spPr bwMode="auto">
          <a:xfrm>
            <a:off x="6837045" y="137502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Content Placeholder 2">
            <a:extLst>
              <a:ext uri="{FF2B5EF4-FFF2-40B4-BE49-F238E27FC236}">
                <a16:creationId xmlns:a16="http://schemas.microsoft.com/office/drawing/2014/main" id="{6A7F32C5-7CCB-2D23-984D-B5974505C83C}"/>
              </a:ext>
            </a:extLst>
          </p:cNvPr>
          <p:cNvSpPr>
            <a:spLocks noGrp="1"/>
          </p:cNvSpPr>
          <p:nvPr>
            <p:ph idx="1"/>
          </p:nvPr>
        </p:nvSpPr>
        <p:spPr>
          <a:xfrm>
            <a:off x="6096000" y="1183992"/>
            <a:ext cx="6008914" cy="5456294"/>
          </a:xfrm>
        </p:spPr>
        <p:txBody>
          <a:bodyPr anchor="t" anchorCtr="0">
            <a:normAutofit/>
          </a:bodyPr>
          <a:lstStyle/>
          <a:p>
            <a:pPr marL="0" indent="0">
              <a:buNone/>
            </a:pPr>
            <a:r>
              <a:rPr lang="en-US" b="1" dirty="0" err="1"/>
              <a:t>Error.Graphit</a:t>
            </a:r>
            <a:endParaRPr lang="en-US" dirty="0"/>
          </a:p>
          <a:p>
            <a:r>
              <a:rPr lang="en-US" sz="1800" dirty="0"/>
              <a:t>Executes automatically on unhandled exceptions from Fabric Web Service calls.</a:t>
            </a:r>
          </a:p>
          <a:p>
            <a:r>
              <a:rPr lang="en-US" sz="1800" dirty="0"/>
              <a:t>Not triggered if the exception is caught in the implementation.</a:t>
            </a:r>
          </a:p>
          <a:p>
            <a:r>
              <a:rPr lang="en-US" sz="1800" dirty="0"/>
              <a:t>Ensures a </a:t>
            </a:r>
            <a:r>
              <a:rPr lang="en-US" sz="1800" b="1" dirty="0"/>
              <a:t>standardized error response</a:t>
            </a:r>
            <a:r>
              <a:rPr lang="en-US" sz="1800" dirty="0"/>
              <a:t> in JSON or XML, matching the original request format.</a:t>
            </a:r>
          </a:p>
          <a:p>
            <a:r>
              <a:rPr lang="en-US" sz="1800" dirty="0"/>
              <a:t>The implementer has full flexibility to determine the cause of the underlying failure that triggered the process and adjust the Web Service response accordingly, including:</a:t>
            </a:r>
          </a:p>
          <a:p>
            <a:pPr lvl="1"/>
            <a:r>
              <a:rPr lang="en-US" sz="1600" dirty="0"/>
              <a:t>Status – e.g., 404 for “Page Not Found” (use </a:t>
            </a:r>
            <a:r>
              <a:rPr lang="en-US" sz="1600" dirty="0" err="1"/>
              <a:t>setStatus</a:t>
            </a:r>
            <a:r>
              <a:rPr lang="en-US" sz="1600" dirty="0"/>
              <a:t> to override).</a:t>
            </a:r>
          </a:p>
          <a:p>
            <a:pPr lvl="1"/>
            <a:r>
              <a:rPr lang="en-US" sz="1600" dirty="0"/>
              <a:t>Message – custom error message text.</a:t>
            </a:r>
          </a:p>
          <a:p>
            <a:pPr lvl="1"/>
            <a:r>
              <a:rPr lang="en-US" sz="1600" dirty="0"/>
              <a:t>Path – the endpoint or resource path involved.</a:t>
            </a:r>
          </a:p>
          <a:p>
            <a:pPr lvl="1"/>
            <a:r>
              <a:rPr lang="en-US" sz="1600" dirty="0"/>
              <a:t>Method – the HTTP method used (GET, POST, etc.).</a:t>
            </a:r>
          </a:p>
          <a:p>
            <a:pPr lvl="1"/>
            <a:r>
              <a:rPr lang="en-US" sz="1600" dirty="0"/>
              <a:t>Header – response headers (use </a:t>
            </a:r>
            <a:r>
              <a:rPr lang="en-US" sz="1600" dirty="0" err="1"/>
              <a:t>getHeader</a:t>
            </a:r>
            <a:r>
              <a:rPr lang="en-US" sz="1600" dirty="0"/>
              <a:t> / </a:t>
            </a:r>
            <a:r>
              <a:rPr lang="en-US" sz="1600" dirty="0" err="1"/>
              <a:t>setHeader</a:t>
            </a:r>
            <a:r>
              <a:rPr lang="en-US" sz="1600" dirty="0"/>
              <a:t> to read or modify</a:t>
            </a:r>
          </a:p>
          <a:p>
            <a:pPr marL="0" indent="0" algn="l">
              <a:spcAft>
                <a:spcPts val="750"/>
              </a:spcAft>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304E49-E6A3-B537-8D5E-EFBCDF0E6C5A}"/>
              </a:ext>
            </a:extLst>
          </p:cNvPr>
          <p:cNvPicPr>
            <a:picLocks noChangeAspect="1"/>
          </p:cNvPicPr>
          <p:nvPr/>
        </p:nvPicPr>
        <p:blipFill>
          <a:blip r:embed="rId3"/>
          <a:stretch>
            <a:fillRect/>
          </a:stretch>
        </p:blipFill>
        <p:spPr>
          <a:xfrm>
            <a:off x="419520" y="1181482"/>
            <a:ext cx="5458767" cy="5273247"/>
          </a:xfrm>
          <a:prstGeom prst="rect">
            <a:avLst/>
          </a:prstGeom>
        </p:spPr>
      </p:pic>
    </p:spTree>
    <p:extLst>
      <p:ext uri="{BB962C8B-B14F-4D97-AF65-F5344CB8AC3E}">
        <p14:creationId xmlns:p14="http://schemas.microsoft.com/office/powerpoint/2010/main" val="3326099391"/>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C270B-68D1-6C2F-5290-47EA7B177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CAB9A-F95B-C9A2-2839-EC320456C7F3}"/>
              </a:ext>
            </a:extLst>
          </p:cNvPr>
          <p:cNvSpPr>
            <a:spLocks noGrp="1"/>
          </p:cNvSpPr>
          <p:nvPr>
            <p:ph type="title"/>
          </p:nvPr>
        </p:nvSpPr>
        <p:spPr>
          <a:xfrm>
            <a:off x="0" y="403270"/>
            <a:ext cx="12192000" cy="778213"/>
          </a:xfrm>
        </p:spPr>
        <p:txBody>
          <a:bodyPr>
            <a:noAutofit/>
          </a:bodyPr>
          <a:lstStyle/>
          <a:p>
            <a:pPr algn="ctr"/>
            <a:r>
              <a:rPr lang="en-US" dirty="0" err="1"/>
              <a:t>Graphit</a:t>
            </a:r>
            <a:r>
              <a:rPr lang="en-US" dirty="0"/>
              <a:t> </a:t>
            </a:r>
            <a:r>
              <a:rPr lang="en-GB" dirty="0"/>
              <a:t>Input parameters</a:t>
            </a:r>
            <a:endParaRPr lang="en-IL" dirty="0"/>
          </a:p>
        </p:txBody>
      </p:sp>
      <p:sp>
        <p:nvSpPr>
          <p:cNvPr id="4" name="Content Placeholder 2">
            <a:extLst>
              <a:ext uri="{FF2B5EF4-FFF2-40B4-BE49-F238E27FC236}">
                <a16:creationId xmlns:a16="http://schemas.microsoft.com/office/drawing/2014/main" id="{A765AFC4-39E3-572F-28E9-919EAFF4BFDC}"/>
              </a:ext>
            </a:extLst>
          </p:cNvPr>
          <p:cNvSpPr txBox="1">
            <a:spLocks/>
          </p:cNvSpPr>
          <p:nvPr/>
        </p:nvSpPr>
        <p:spPr>
          <a:xfrm>
            <a:off x="2252992" y="1104566"/>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5" name="TextBox 4">
            <a:extLst>
              <a:ext uri="{FF2B5EF4-FFF2-40B4-BE49-F238E27FC236}">
                <a16:creationId xmlns:a16="http://schemas.microsoft.com/office/drawing/2014/main" id="{DD3DA6AF-9572-64FA-6087-393FF3D82803}"/>
              </a:ext>
            </a:extLst>
          </p:cNvPr>
          <p:cNvSpPr txBox="1"/>
          <p:nvPr/>
        </p:nvSpPr>
        <p:spPr>
          <a:xfrm>
            <a:off x="566408" y="1404257"/>
            <a:ext cx="7231238" cy="646331"/>
          </a:xfrm>
          <a:prstGeom prst="rect">
            <a:avLst/>
          </a:prstGeom>
          <a:noFill/>
        </p:spPr>
        <p:txBody>
          <a:bodyPr wrap="square" rtlCol="0">
            <a:spAutoFit/>
          </a:bodyPr>
          <a:lstStyle/>
          <a:p>
            <a:r>
              <a:rPr lang="en-US" dirty="0"/>
              <a:t>Use       button to define parameters.</a:t>
            </a:r>
            <a:br>
              <a:rPr lang="en-US" dirty="0"/>
            </a:br>
            <a:r>
              <a:rPr lang="en-US" dirty="0"/>
              <a:t>Use ${</a:t>
            </a:r>
            <a:r>
              <a:rPr lang="en-US" dirty="0" err="1"/>
              <a:t>param_name</a:t>
            </a:r>
            <a:r>
              <a:rPr lang="en-US" dirty="0"/>
              <a:t>} syntax </a:t>
            </a:r>
            <a:endParaRPr lang="en-IL" dirty="0"/>
          </a:p>
        </p:txBody>
      </p:sp>
      <p:pic>
        <p:nvPicPr>
          <p:cNvPr id="7" name="Picture 6">
            <a:extLst>
              <a:ext uri="{FF2B5EF4-FFF2-40B4-BE49-F238E27FC236}">
                <a16:creationId xmlns:a16="http://schemas.microsoft.com/office/drawing/2014/main" id="{C5E161BD-FDEB-ECE8-3350-54AC9C1508A2}"/>
              </a:ext>
            </a:extLst>
          </p:cNvPr>
          <p:cNvPicPr>
            <a:picLocks noChangeAspect="1"/>
          </p:cNvPicPr>
          <p:nvPr/>
        </p:nvPicPr>
        <p:blipFill>
          <a:blip r:embed="rId3"/>
          <a:stretch>
            <a:fillRect/>
          </a:stretch>
        </p:blipFill>
        <p:spPr>
          <a:xfrm>
            <a:off x="1072199" y="1413121"/>
            <a:ext cx="304843" cy="323895"/>
          </a:xfrm>
          <a:prstGeom prst="rect">
            <a:avLst/>
          </a:prstGeom>
        </p:spPr>
      </p:pic>
      <p:grpSp>
        <p:nvGrpSpPr>
          <p:cNvPr id="20" name="Group 19">
            <a:extLst>
              <a:ext uri="{FF2B5EF4-FFF2-40B4-BE49-F238E27FC236}">
                <a16:creationId xmlns:a16="http://schemas.microsoft.com/office/drawing/2014/main" id="{38933BCD-5241-9830-AC68-E6020BF85DE2}"/>
              </a:ext>
            </a:extLst>
          </p:cNvPr>
          <p:cNvGrpSpPr/>
          <p:nvPr/>
        </p:nvGrpSpPr>
        <p:grpSpPr>
          <a:xfrm>
            <a:off x="1072199" y="2044157"/>
            <a:ext cx="10994658" cy="3771678"/>
            <a:chOff x="517421" y="1975087"/>
            <a:chExt cx="10994658" cy="3771678"/>
          </a:xfrm>
        </p:grpSpPr>
        <p:sp>
          <p:nvSpPr>
            <p:cNvPr id="9" name="AutoShape 4">
              <a:extLst>
                <a:ext uri="{FF2B5EF4-FFF2-40B4-BE49-F238E27FC236}">
                  <a16:creationId xmlns:a16="http://schemas.microsoft.com/office/drawing/2014/main" id="{248022C2-F472-DD8D-0736-583E2ACD68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15" name="Picture 14">
              <a:extLst>
                <a:ext uri="{FF2B5EF4-FFF2-40B4-BE49-F238E27FC236}">
                  <a16:creationId xmlns:a16="http://schemas.microsoft.com/office/drawing/2014/main" id="{00E5B8AD-1829-F0D9-A4E1-73E68C5058D3}"/>
                </a:ext>
              </a:extLst>
            </p:cNvPr>
            <p:cNvPicPr>
              <a:picLocks noChangeAspect="1"/>
            </p:cNvPicPr>
            <p:nvPr/>
          </p:nvPicPr>
          <p:blipFill>
            <a:blip r:embed="rId4"/>
            <a:stretch>
              <a:fillRect/>
            </a:stretch>
          </p:blipFill>
          <p:spPr>
            <a:xfrm>
              <a:off x="517421" y="1975087"/>
              <a:ext cx="10994658" cy="3771678"/>
            </a:xfrm>
            <a:prstGeom prst="rect">
              <a:avLst/>
            </a:prstGeom>
          </p:spPr>
        </p:pic>
        <p:sp>
          <p:nvSpPr>
            <p:cNvPr id="16" name="Rectangle 15">
              <a:extLst>
                <a:ext uri="{FF2B5EF4-FFF2-40B4-BE49-F238E27FC236}">
                  <a16:creationId xmlns:a16="http://schemas.microsoft.com/office/drawing/2014/main" id="{AF099898-812D-DEF5-1FCE-5575C9B75712}"/>
                </a:ext>
              </a:extLst>
            </p:cNvPr>
            <p:cNvSpPr/>
            <p:nvPr/>
          </p:nvSpPr>
          <p:spPr>
            <a:xfrm>
              <a:off x="647263" y="2591694"/>
              <a:ext cx="1414791" cy="358335"/>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7E13A2BA-27CC-E044-4FA4-A91F3ED5B56B}"/>
                </a:ext>
              </a:extLst>
            </p:cNvPr>
            <p:cNvSpPr/>
            <p:nvPr/>
          </p:nvSpPr>
          <p:spPr>
            <a:xfrm>
              <a:off x="2099365" y="4355626"/>
              <a:ext cx="1414791" cy="358335"/>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F1DB41C0-68A0-8866-0A9E-18B90CD3AA17}"/>
                </a:ext>
              </a:extLst>
            </p:cNvPr>
            <p:cNvSpPr/>
            <p:nvPr/>
          </p:nvSpPr>
          <p:spPr>
            <a:xfrm>
              <a:off x="8554945" y="2793079"/>
              <a:ext cx="2859164" cy="1006035"/>
            </a:xfrm>
            <a:prstGeom prst="rect">
              <a:avLst/>
            </a:prstGeom>
            <a:noFill/>
            <a:ln w="444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3" name="TextBox 22">
            <a:extLst>
              <a:ext uri="{FF2B5EF4-FFF2-40B4-BE49-F238E27FC236}">
                <a16:creationId xmlns:a16="http://schemas.microsoft.com/office/drawing/2014/main" id="{BBE37415-94D7-F06B-436D-F0047D1C6EDF}"/>
              </a:ext>
            </a:extLst>
          </p:cNvPr>
          <p:cNvSpPr txBox="1"/>
          <p:nvPr/>
        </p:nvSpPr>
        <p:spPr>
          <a:xfrm>
            <a:off x="174535" y="2660764"/>
            <a:ext cx="743499" cy="307777"/>
          </a:xfrm>
          <a:prstGeom prst="rect">
            <a:avLst/>
          </a:prstGeom>
          <a:noFill/>
        </p:spPr>
        <p:txBody>
          <a:bodyPr wrap="square" rtlCol="0">
            <a:spAutoFit/>
          </a:bodyPr>
          <a:lstStyle/>
          <a:p>
            <a:r>
              <a:rPr lang="en-US" sz="1400" dirty="0"/>
              <a:t>Binding</a:t>
            </a:r>
            <a:endParaRPr lang="en-IL" sz="1400" dirty="0"/>
          </a:p>
        </p:txBody>
      </p:sp>
      <p:sp>
        <p:nvSpPr>
          <p:cNvPr id="25" name="TextBox 24">
            <a:extLst>
              <a:ext uri="{FF2B5EF4-FFF2-40B4-BE49-F238E27FC236}">
                <a16:creationId xmlns:a16="http://schemas.microsoft.com/office/drawing/2014/main" id="{75E6DEB1-7DB7-84CD-4011-0B70EE54EC0B}"/>
              </a:ext>
            </a:extLst>
          </p:cNvPr>
          <p:cNvSpPr txBox="1"/>
          <p:nvPr/>
        </p:nvSpPr>
        <p:spPr>
          <a:xfrm>
            <a:off x="174535" y="4424696"/>
            <a:ext cx="743499" cy="307777"/>
          </a:xfrm>
          <a:prstGeom prst="rect">
            <a:avLst/>
          </a:prstGeom>
          <a:noFill/>
        </p:spPr>
        <p:txBody>
          <a:bodyPr wrap="square" rtlCol="0">
            <a:spAutoFit/>
          </a:bodyPr>
          <a:lstStyle/>
          <a:p>
            <a:r>
              <a:rPr lang="en-US" sz="1400" dirty="0"/>
              <a:t>Binding</a:t>
            </a:r>
            <a:endParaRPr lang="en-IL" sz="1400" dirty="0"/>
          </a:p>
        </p:txBody>
      </p:sp>
    </p:spTree>
    <p:extLst>
      <p:ext uri="{BB962C8B-B14F-4D97-AF65-F5344CB8AC3E}">
        <p14:creationId xmlns:p14="http://schemas.microsoft.com/office/powerpoint/2010/main" val="2735613190"/>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AB9A8-8EA3-2D30-1A27-F4B83F076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73DFD-4495-FBCA-B8BE-BCD5A94EC68D}"/>
              </a:ext>
            </a:extLst>
          </p:cNvPr>
          <p:cNvSpPr>
            <a:spLocks noGrp="1"/>
          </p:cNvSpPr>
          <p:nvPr>
            <p:ph type="title"/>
          </p:nvPr>
        </p:nvSpPr>
        <p:spPr>
          <a:xfrm>
            <a:off x="0" y="403270"/>
            <a:ext cx="12192000" cy="778213"/>
          </a:xfrm>
        </p:spPr>
        <p:txBody>
          <a:bodyPr>
            <a:noAutofit/>
          </a:bodyPr>
          <a:lstStyle/>
          <a:p>
            <a:pPr algn="ctr"/>
            <a:r>
              <a:rPr lang="en-US" dirty="0" err="1"/>
              <a:t>Graphit</a:t>
            </a:r>
            <a:r>
              <a:rPr lang="en-US" dirty="0"/>
              <a:t> </a:t>
            </a:r>
            <a:r>
              <a:rPr lang="en-GB" dirty="0"/>
              <a:t>Permissions</a:t>
            </a:r>
            <a:endParaRPr lang="en-IL" dirty="0"/>
          </a:p>
        </p:txBody>
      </p:sp>
      <p:sp>
        <p:nvSpPr>
          <p:cNvPr id="4" name="Content Placeholder 2">
            <a:extLst>
              <a:ext uri="{FF2B5EF4-FFF2-40B4-BE49-F238E27FC236}">
                <a16:creationId xmlns:a16="http://schemas.microsoft.com/office/drawing/2014/main" id="{CEB12AAD-89F1-98A5-0731-68409CCC3AA0}"/>
              </a:ext>
            </a:extLst>
          </p:cNvPr>
          <p:cNvSpPr txBox="1">
            <a:spLocks/>
          </p:cNvSpPr>
          <p:nvPr/>
        </p:nvSpPr>
        <p:spPr>
          <a:xfrm>
            <a:off x="2252992" y="1104566"/>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9" name="AutoShape 4">
            <a:extLst>
              <a:ext uri="{FF2B5EF4-FFF2-40B4-BE49-F238E27FC236}">
                <a16:creationId xmlns:a16="http://schemas.microsoft.com/office/drawing/2014/main" id="{AC15EE30-ABC2-361B-8937-363D67F3EE72}"/>
              </a:ext>
            </a:extLst>
          </p:cNvPr>
          <p:cNvSpPr>
            <a:spLocks noChangeAspect="1" noChangeArrowheads="1"/>
          </p:cNvSpPr>
          <p:nvPr/>
        </p:nvSpPr>
        <p:spPr bwMode="auto">
          <a:xfrm>
            <a:off x="6837045" y="137502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Content Placeholder 2">
            <a:extLst>
              <a:ext uri="{FF2B5EF4-FFF2-40B4-BE49-F238E27FC236}">
                <a16:creationId xmlns:a16="http://schemas.microsoft.com/office/drawing/2014/main" id="{45A231A7-5D55-EADA-B55D-0CE1BF4DD699}"/>
              </a:ext>
            </a:extLst>
          </p:cNvPr>
          <p:cNvSpPr>
            <a:spLocks noGrp="1"/>
          </p:cNvSpPr>
          <p:nvPr>
            <p:ph idx="1"/>
          </p:nvPr>
        </p:nvSpPr>
        <p:spPr>
          <a:xfrm>
            <a:off x="667261" y="1183992"/>
            <a:ext cx="7515648" cy="5270737"/>
          </a:xfrm>
        </p:spPr>
        <p:txBody>
          <a:bodyPr anchor="t" anchorCtr="0">
            <a:normAutofit/>
          </a:bodyPr>
          <a:lstStyle/>
          <a:p>
            <a:r>
              <a:rPr lang="en-US" sz="1900" b="1" dirty="0"/>
              <a:t>Require Authentication</a:t>
            </a:r>
          </a:p>
          <a:p>
            <a:pPr lvl="1"/>
            <a:r>
              <a:rPr lang="en-US" dirty="0"/>
              <a:t>Indicates whether a web service requires authentication or not. Default is set to True.</a:t>
            </a:r>
          </a:p>
          <a:p>
            <a:pPr lvl="1"/>
            <a:r>
              <a:rPr lang="en-US" dirty="0"/>
              <a:t>When set to False, it will allow calling the web service by skipping the Authentication step. This mode should be carefully used; use it only when a Web Service should be accessible for everyone, without enforcing an API key, a user/password, etc.</a:t>
            </a:r>
          </a:p>
          <a:p>
            <a:r>
              <a:rPr lang="en-US" sz="1800" b="1" dirty="0"/>
              <a:t>Additional Permissions</a:t>
            </a:r>
            <a:endParaRPr lang="en-US" sz="1800" dirty="0"/>
          </a:p>
          <a:p>
            <a:pPr lvl="1">
              <a:lnSpc>
                <a:spcPct val="80000"/>
              </a:lnSpc>
            </a:pPr>
            <a:r>
              <a:rPr lang="en-US" dirty="0"/>
              <a:t>When a web service caller lacks the necessary role-based permissions to execute certain Fabric operations used within a </a:t>
            </a:r>
            <a:r>
              <a:rPr lang="en-US" dirty="0" err="1"/>
              <a:t>Graphit</a:t>
            </a:r>
            <a:r>
              <a:rPr lang="en-US" dirty="0"/>
              <a:t>, the developer can enable temporary elevated access specifically for the scope of that web service.</a:t>
            </a:r>
          </a:p>
          <a:p>
            <a:pPr lvl="1">
              <a:lnSpc>
                <a:spcPct val="80000"/>
              </a:lnSpc>
            </a:pPr>
            <a:r>
              <a:rPr lang="en-US" dirty="0"/>
              <a:t>To do so, select the required permissions in the </a:t>
            </a:r>
            <a:r>
              <a:rPr lang="en-US" dirty="0" err="1"/>
              <a:t>Graphit’s</a:t>
            </a:r>
            <a:r>
              <a:rPr lang="en-US" dirty="0"/>
              <a:t> properties—these will override the caller's default permissions during execution.</a:t>
            </a:r>
          </a:p>
          <a:p>
            <a:pPr lvl="1">
              <a:lnSpc>
                <a:spcPct val="80000"/>
              </a:lnSpc>
            </a:pPr>
            <a:r>
              <a:rPr lang="en-US" dirty="0"/>
              <a:t>For the full list of available permissions, refer to:</a:t>
            </a:r>
            <a:br>
              <a:rPr lang="en-US" dirty="0"/>
            </a:br>
            <a:r>
              <a:rPr lang="en-US" dirty="0">
                <a:hlinkClick r:id="rId3"/>
              </a:rPr>
              <a:t>https://support.k2view.com/Academy/articles/17_fabric_credentials/01_fabric_credentials_overview.html</a:t>
            </a:r>
            <a:endParaRPr lang="en-US" dirty="0"/>
          </a:p>
          <a:p>
            <a:endParaRPr lang="en-US" sz="1800" dirty="0"/>
          </a:p>
          <a:p>
            <a:pPr marL="0" indent="0" algn="l">
              <a:spcAft>
                <a:spcPts val="750"/>
              </a:spcAft>
              <a:buNone/>
            </a:pPr>
            <a:endParaRPr lang="en-US" sz="1600" dirty="0"/>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32A7A05C-39E0-EE89-68EB-B60582A7AAF5}"/>
              </a:ext>
            </a:extLst>
          </p:cNvPr>
          <p:cNvSpPr txBox="1">
            <a:spLocks/>
          </p:cNvSpPr>
          <p:nvPr/>
        </p:nvSpPr>
        <p:spPr>
          <a:xfrm>
            <a:off x="972063" y="3032498"/>
            <a:ext cx="6069476" cy="3422231"/>
          </a:xfrm>
          <a:prstGeom prst="rect">
            <a:avLst/>
          </a:prstGeom>
        </p:spPr>
        <p:txBody>
          <a:bodyPr vert="horz" lIns="91440" tIns="45720" rIns="91440" bIns="45720" rtlCol="0" anchor="t" anchorCtr="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750"/>
              </a:spcAft>
              <a:buFont typeface="Arial" panose="020B0604020202020204" pitchFamily="34" charset="0"/>
              <a:buNone/>
            </a:pPr>
            <a:endParaRPr lang="en-US" sz="1600" dirty="0"/>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Font typeface="Arial" panose="020B0604020202020204" pitchFamily="34" charset="0"/>
              <a:buNone/>
            </a:pPr>
            <a:endParaRPr lang="en-IL" sz="1800" dirty="0">
              <a:latin typeface="Segoe UI" panose="020B0502040204020203" pitchFamily="34" charset="0"/>
              <a:ea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EC55F5C-AD18-944A-ED60-A46D52C139C2}"/>
              </a:ext>
            </a:extLst>
          </p:cNvPr>
          <p:cNvPicPr>
            <a:picLocks noChangeAspect="1"/>
          </p:cNvPicPr>
          <p:nvPr/>
        </p:nvPicPr>
        <p:blipFill>
          <a:blip r:embed="rId4"/>
          <a:stretch>
            <a:fillRect/>
          </a:stretch>
        </p:blipFill>
        <p:spPr>
          <a:xfrm>
            <a:off x="8064601" y="1216580"/>
            <a:ext cx="4081523" cy="1332398"/>
          </a:xfrm>
          <a:prstGeom prst="rect">
            <a:avLst/>
          </a:prstGeom>
        </p:spPr>
      </p:pic>
    </p:spTree>
    <p:extLst>
      <p:ext uri="{BB962C8B-B14F-4D97-AF65-F5344CB8AC3E}">
        <p14:creationId xmlns:p14="http://schemas.microsoft.com/office/powerpoint/2010/main" val="2721002139"/>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0E33-426B-49A2-07EC-C263E6CBD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18446-7363-F0A3-0E14-3A78CD65C9B7}"/>
              </a:ext>
            </a:extLst>
          </p:cNvPr>
          <p:cNvSpPr>
            <a:spLocks noGrp="1"/>
          </p:cNvSpPr>
          <p:nvPr>
            <p:ph type="title"/>
          </p:nvPr>
        </p:nvSpPr>
        <p:spPr>
          <a:xfrm>
            <a:off x="0" y="403270"/>
            <a:ext cx="12192000" cy="778213"/>
          </a:xfrm>
        </p:spPr>
        <p:txBody>
          <a:bodyPr>
            <a:noAutofit/>
          </a:bodyPr>
          <a:lstStyle/>
          <a:p>
            <a:pPr algn="ctr"/>
            <a:r>
              <a:rPr lang="en-US" dirty="0" err="1"/>
              <a:t>Graphit</a:t>
            </a:r>
            <a:r>
              <a:rPr lang="en-US" dirty="0"/>
              <a:t> </a:t>
            </a:r>
            <a:r>
              <a:rPr lang="en-GB" dirty="0"/>
              <a:t>Versioning</a:t>
            </a:r>
            <a:endParaRPr lang="en-IL" dirty="0"/>
          </a:p>
        </p:txBody>
      </p:sp>
      <p:sp>
        <p:nvSpPr>
          <p:cNvPr id="9" name="AutoShape 4">
            <a:extLst>
              <a:ext uri="{FF2B5EF4-FFF2-40B4-BE49-F238E27FC236}">
                <a16:creationId xmlns:a16="http://schemas.microsoft.com/office/drawing/2014/main" id="{8203EE19-35CB-E274-D41B-002FBEC40DB5}"/>
              </a:ext>
            </a:extLst>
          </p:cNvPr>
          <p:cNvSpPr>
            <a:spLocks noChangeAspect="1" noChangeArrowheads="1"/>
          </p:cNvSpPr>
          <p:nvPr/>
        </p:nvSpPr>
        <p:spPr bwMode="auto">
          <a:xfrm>
            <a:off x="6837045" y="137502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3" name="Rectangle 1">
            <a:extLst>
              <a:ext uri="{FF2B5EF4-FFF2-40B4-BE49-F238E27FC236}">
                <a16:creationId xmlns:a16="http://schemas.microsoft.com/office/drawing/2014/main" id="{BDAB2676-1FAE-0E43-53E5-24F98581D80D}"/>
              </a:ext>
            </a:extLst>
          </p:cNvPr>
          <p:cNvSpPr>
            <a:spLocks noChangeArrowheads="1"/>
          </p:cNvSpPr>
          <p:nvPr/>
        </p:nvSpPr>
        <p:spPr bwMode="auto">
          <a:xfrm>
            <a:off x="965772" y="1321344"/>
            <a:ext cx="10326383"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Web Service Versioning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fontAlgn="base">
              <a:spcBef>
                <a:spcPct val="0"/>
              </a:spcBef>
              <a:spcAft>
                <a:spcPct val="0"/>
              </a:spcAft>
              <a:buClrTx/>
              <a:buSzTx/>
              <a:buFont typeface="Arial" panose="020B0604020202020204" pitchFamily="34" charset="0"/>
              <a:buChar char="•"/>
              <a:tabLst/>
            </a:pPr>
            <a:r>
              <a:rPr lang="en-US" altLang="en-US" sz="1900" dirty="0"/>
              <a:t>Versioning allows multiple versions of a web service to coexist, enabling support for different client needs. The version number is typically included in the service URL, but it is optional—if omitted, the default version is 1.</a:t>
            </a:r>
          </a:p>
          <a:p>
            <a:pPr marL="285750" marR="0" lvl="0" indent="-285750" fontAlgn="base">
              <a:spcBef>
                <a:spcPct val="0"/>
              </a:spcBef>
              <a:spcAft>
                <a:spcPct val="0"/>
              </a:spcAft>
              <a:buClrTx/>
              <a:buSzTx/>
              <a:buFont typeface="Arial" panose="020B0604020202020204" pitchFamily="34" charset="0"/>
              <a:buChar char="•"/>
              <a:tabLst/>
            </a:pPr>
            <a:endParaRPr lang="en-US" altLang="en-US" sz="1900" dirty="0"/>
          </a:p>
          <a:p>
            <a:pPr marL="285750" marR="0" lvl="0" indent="-285750" fontAlgn="base">
              <a:spcBef>
                <a:spcPct val="0"/>
              </a:spcBef>
              <a:spcAft>
                <a:spcPct val="0"/>
              </a:spcAft>
              <a:buClrTx/>
              <a:buSzTx/>
              <a:buFont typeface="Arial" panose="020B0604020202020204" pitchFamily="34" charset="0"/>
              <a:buChar char="•"/>
              <a:tabLst/>
            </a:pPr>
            <a:r>
              <a:rPr lang="en-US" altLang="en-US" sz="1900" dirty="0"/>
              <a:t>Versioning Logic</a:t>
            </a:r>
          </a:p>
          <a:p>
            <a:pPr marL="742950" lvl="1" indent="-285750" fontAlgn="base">
              <a:spcBef>
                <a:spcPct val="0"/>
              </a:spcBef>
              <a:spcAft>
                <a:spcPct val="0"/>
              </a:spcAft>
              <a:buFont typeface="Arial" panose="020B0604020202020204" pitchFamily="34" charset="0"/>
              <a:buChar char="•"/>
            </a:pPr>
            <a:r>
              <a:rPr lang="en-US" altLang="en-US" sz="1900" dirty="0"/>
              <a:t>No version in URL → API returns the latest version.</a:t>
            </a:r>
          </a:p>
          <a:p>
            <a:pPr marL="742950" lvl="1" indent="-285750" fontAlgn="base">
              <a:spcBef>
                <a:spcPct val="0"/>
              </a:spcBef>
              <a:spcAft>
                <a:spcPct val="0"/>
              </a:spcAft>
              <a:buFont typeface="Arial" panose="020B0604020202020204" pitchFamily="34" charset="0"/>
              <a:buChar char="•"/>
            </a:pPr>
            <a:r>
              <a:rPr lang="en-US" altLang="en-US" sz="1900" dirty="0"/>
              <a:t>Version in URL exists → API returns the specified version.</a:t>
            </a:r>
          </a:p>
          <a:p>
            <a:pPr marL="742950" lvl="1" indent="-285750" fontAlgn="base">
              <a:spcBef>
                <a:spcPct val="0"/>
              </a:spcBef>
              <a:spcAft>
                <a:spcPct val="0"/>
              </a:spcAft>
              <a:buFont typeface="Arial" panose="020B0604020202020204" pitchFamily="34" charset="0"/>
              <a:buChar char="•"/>
            </a:pPr>
            <a:r>
              <a:rPr lang="en-US" altLang="en-US" sz="1900" dirty="0"/>
              <a:t>Version in URL higher than latest → API returns the latest version.</a:t>
            </a:r>
          </a:p>
          <a:p>
            <a:pPr marL="742950" lvl="1" indent="-285750" fontAlgn="base">
              <a:spcBef>
                <a:spcPct val="0"/>
              </a:spcBef>
              <a:spcAft>
                <a:spcPct val="0"/>
              </a:spcAft>
              <a:buFont typeface="Arial" panose="020B0604020202020204" pitchFamily="34" charset="0"/>
              <a:buChar char="•"/>
            </a:pPr>
            <a:r>
              <a:rPr lang="en-US" altLang="en-US" sz="1900" dirty="0"/>
              <a:t>Version in URL lower than earliest → API returns an appropriate error response code.</a:t>
            </a:r>
          </a:p>
          <a:p>
            <a:pPr marL="742950" lvl="1" indent="-285750" fontAlgn="base">
              <a:spcBef>
                <a:spcPct val="0"/>
              </a:spcBef>
              <a:spcAft>
                <a:spcPct val="0"/>
              </a:spcAft>
              <a:buFont typeface="Arial" panose="020B0604020202020204" pitchFamily="34" charset="0"/>
              <a:buChar char="•"/>
            </a:pPr>
            <a:r>
              <a:rPr lang="en-US" altLang="en-US" sz="1900" dirty="0"/>
              <a:t>Version in URL between two versions → API returns the lower of the two.</a:t>
            </a:r>
          </a:p>
          <a:p>
            <a:pPr marL="285750" marR="0" lvl="0" indent="-285750" fontAlgn="base">
              <a:spcBef>
                <a:spcPct val="0"/>
              </a:spcBef>
              <a:spcAft>
                <a:spcPct val="0"/>
              </a:spcAft>
              <a:buClrTx/>
              <a:buSzTx/>
              <a:buFont typeface="Arial" panose="020B0604020202020204" pitchFamily="34" charset="0"/>
              <a:buChar char="•"/>
              <a:tabLst/>
            </a:pPr>
            <a:endParaRPr lang="en-US" altLang="en-US" sz="1900" dirty="0"/>
          </a:p>
          <a:p>
            <a:pPr marL="285750" marR="0" lvl="0" indent="-285750" fontAlgn="base">
              <a:spcBef>
                <a:spcPct val="0"/>
              </a:spcBef>
              <a:spcAft>
                <a:spcPct val="0"/>
              </a:spcAft>
              <a:buClrTx/>
              <a:buSzTx/>
              <a:buFont typeface="Arial" panose="020B0604020202020204" pitchFamily="34" charset="0"/>
              <a:buChar char="•"/>
              <a:tabLst/>
            </a:pPr>
            <a:r>
              <a:rPr lang="en-US" altLang="en-US" sz="1900" dirty="0"/>
              <a:t>Implementation</a:t>
            </a:r>
          </a:p>
          <a:p>
            <a:pPr marL="742950" lvl="1" indent="-285750" fontAlgn="base">
              <a:spcBef>
                <a:spcPct val="0"/>
              </a:spcBef>
              <a:spcAft>
                <a:spcPct val="0"/>
              </a:spcAft>
              <a:buFont typeface="Arial" panose="020B0604020202020204" pitchFamily="34" charset="0"/>
              <a:buChar char="•"/>
            </a:pPr>
            <a:r>
              <a:rPr lang="en-US" altLang="en-US" sz="1900" dirty="0" err="1"/>
              <a:t>Graphit</a:t>
            </a:r>
            <a:r>
              <a:rPr lang="en-US" altLang="en-US" sz="1900" dirty="0"/>
              <a:t>: Add the version as part of the file name, e.g., a.v1.graphit.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2695647"/>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3FC6-969E-7C53-AA40-E5E009267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A088A-EACF-394D-31DE-29AA25BC333E}"/>
              </a:ext>
            </a:extLst>
          </p:cNvPr>
          <p:cNvSpPr>
            <a:spLocks noGrp="1"/>
          </p:cNvSpPr>
          <p:nvPr>
            <p:ph type="title"/>
          </p:nvPr>
        </p:nvSpPr>
        <p:spPr>
          <a:xfrm>
            <a:off x="0" y="403270"/>
            <a:ext cx="12192000" cy="778213"/>
          </a:xfrm>
        </p:spPr>
        <p:txBody>
          <a:bodyPr>
            <a:noAutofit/>
          </a:bodyPr>
          <a:lstStyle/>
          <a:p>
            <a:pPr algn="ctr"/>
            <a:r>
              <a:rPr lang="en-US" dirty="0" err="1"/>
              <a:t>Graphit</a:t>
            </a:r>
            <a:r>
              <a:rPr lang="en-US" dirty="0"/>
              <a:t> </a:t>
            </a:r>
            <a:r>
              <a:rPr lang="en-GB" dirty="0"/>
              <a:t>Verb</a:t>
            </a:r>
            <a:endParaRPr lang="en-IL" dirty="0"/>
          </a:p>
        </p:txBody>
      </p:sp>
      <p:sp>
        <p:nvSpPr>
          <p:cNvPr id="4" name="Content Placeholder 2">
            <a:extLst>
              <a:ext uri="{FF2B5EF4-FFF2-40B4-BE49-F238E27FC236}">
                <a16:creationId xmlns:a16="http://schemas.microsoft.com/office/drawing/2014/main" id="{3F72DA09-C2F6-1EED-128B-80F1281D2084}"/>
              </a:ext>
            </a:extLst>
          </p:cNvPr>
          <p:cNvSpPr txBox="1">
            <a:spLocks/>
          </p:cNvSpPr>
          <p:nvPr/>
        </p:nvSpPr>
        <p:spPr>
          <a:xfrm>
            <a:off x="2252992" y="1104566"/>
            <a:ext cx="9372600" cy="3596082"/>
          </a:xfrm>
          <a:prstGeom prst="rect">
            <a:avLst/>
          </a:prstGeom>
        </p:spPr>
        <p:txBody>
          <a:bodyPr vert="horz" lIns="91440" tIns="45720" rIns="91440" bIns="45720" rtlCol="0">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sz="1600" dirty="0">
              <a:solidFill>
                <a:srgbClr val="000000"/>
              </a:solidFill>
              <a:highlight>
                <a:srgbClr val="FFFFFF"/>
              </a:highlight>
              <a:latin typeface="Segoe UI" panose="020B0502040204020203" pitchFamily="34" charset="0"/>
            </a:endParaRPr>
          </a:p>
        </p:txBody>
      </p:sp>
      <p:sp>
        <p:nvSpPr>
          <p:cNvPr id="9" name="AutoShape 4">
            <a:extLst>
              <a:ext uri="{FF2B5EF4-FFF2-40B4-BE49-F238E27FC236}">
                <a16:creationId xmlns:a16="http://schemas.microsoft.com/office/drawing/2014/main" id="{C4E9CBFC-FFD8-F68E-4F9E-D888475532A8}"/>
              </a:ext>
            </a:extLst>
          </p:cNvPr>
          <p:cNvSpPr>
            <a:spLocks noChangeAspect="1" noChangeArrowheads="1"/>
          </p:cNvSpPr>
          <p:nvPr/>
        </p:nvSpPr>
        <p:spPr bwMode="auto">
          <a:xfrm>
            <a:off x="6837045" y="137502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Content Placeholder 2">
            <a:extLst>
              <a:ext uri="{FF2B5EF4-FFF2-40B4-BE49-F238E27FC236}">
                <a16:creationId xmlns:a16="http://schemas.microsoft.com/office/drawing/2014/main" id="{38F0F310-EC50-014D-DA28-C95EE12C1812}"/>
              </a:ext>
            </a:extLst>
          </p:cNvPr>
          <p:cNvSpPr>
            <a:spLocks noGrp="1"/>
          </p:cNvSpPr>
          <p:nvPr>
            <p:ph idx="1"/>
          </p:nvPr>
        </p:nvSpPr>
        <p:spPr>
          <a:xfrm>
            <a:off x="972063" y="1183992"/>
            <a:ext cx="8190896" cy="4569442"/>
          </a:xfrm>
        </p:spPr>
        <p:txBody>
          <a:bodyPr anchor="t" anchorCtr="0">
            <a:normAutofit fontScale="92500" lnSpcReduction="10000"/>
          </a:bodyPr>
          <a:lstStyle/>
          <a:p>
            <a:pPr marL="0" indent="0">
              <a:buNone/>
            </a:pPr>
            <a:r>
              <a:rPr lang="en-US" sz="2100" dirty="0"/>
              <a:t>Methods supported by the web service, as follows: </a:t>
            </a:r>
          </a:p>
          <a:p>
            <a:pPr lvl="1"/>
            <a:r>
              <a:rPr lang="en-US" sz="2100" b="1" dirty="0"/>
              <a:t>GET</a:t>
            </a:r>
            <a:r>
              <a:rPr lang="en-US" sz="2100" dirty="0"/>
              <a:t> - get data. </a:t>
            </a:r>
          </a:p>
          <a:p>
            <a:pPr lvl="1"/>
            <a:r>
              <a:rPr lang="en-US" sz="2100" b="1" dirty="0"/>
              <a:t>POST</a:t>
            </a:r>
            <a:r>
              <a:rPr lang="en-US" sz="2100" dirty="0"/>
              <a:t> - create new data based on the data provided. </a:t>
            </a:r>
          </a:p>
          <a:p>
            <a:pPr lvl="1"/>
            <a:r>
              <a:rPr lang="en-US" sz="2100" b="1" dirty="0"/>
              <a:t>PUT</a:t>
            </a:r>
            <a:r>
              <a:rPr lang="en-US" sz="2100" dirty="0"/>
              <a:t> - update data. </a:t>
            </a:r>
          </a:p>
          <a:p>
            <a:pPr lvl="1"/>
            <a:r>
              <a:rPr lang="en-US" sz="2100" b="1" dirty="0"/>
              <a:t>DELETE</a:t>
            </a:r>
            <a:r>
              <a:rPr lang="en-US" sz="2100" dirty="0"/>
              <a:t> - delete data.</a:t>
            </a:r>
          </a:p>
          <a:p>
            <a:pPr marL="457200" lvl="1" indent="0">
              <a:buNone/>
            </a:pPr>
            <a:endParaRPr lang="en-US" sz="2100" dirty="0"/>
          </a:p>
          <a:p>
            <a:pPr marL="0" indent="0">
              <a:buNone/>
            </a:pPr>
            <a:r>
              <a:rPr lang="en-US" sz="2100" dirty="0"/>
              <a:t>In </a:t>
            </a:r>
            <a:r>
              <a:rPr lang="en-US" sz="2100" dirty="0" err="1"/>
              <a:t>Graphit</a:t>
            </a:r>
            <a:r>
              <a:rPr lang="en-US" sz="2100" dirty="0"/>
              <a:t>, the verb setting is done by incorporating it as a part of the file name. </a:t>
            </a:r>
            <a:br>
              <a:rPr lang="en-US" sz="2100" dirty="0"/>
            </a:br>
            <a:r>
              <a:rPr lang="en-US" sz="2100" dirty="0"/>
              <a:t>For example: "</a:t>
            </a:r>
            <a:r>
              <a:rPr lang="en-US" sz="2100" dirty="0" err="1"/>
              <a:t>a.POST.graphit</a:t>
            </a:r>
            <a:r>
              <a:rPr lang="en-US" sz="2100" dirty="0"/>
              <a:t>". </a:t>
            </a:r>
          </a:p>
          <a:p>
            <a:pPr marL="0" indent="0">
              <a:buNone/>
            </a:pPr>
            <a:endParaRPr lang="en-US" sz="2100" dirty="0"/>
          </a:p>
          <a:p>
            <a:pPr marL="0" indent="0">
              <a:buNone/>
            </a:pPr>
            <a:r>
              <a:rPr lang="en-US" sz="2100" dirty="0"/>
              <a:t>Note:</a:t>
            </a:r>
          </a:p>
          <a:p>
            <a:pPr lvl="1"/>
            <a:r>
              <a:rPr lang="en-US" sz="2100" dirty="0"/>
              <a:t>Only a single verb can be set. </a:t>
            </a:r>
          </a:p>
          <a:p>
            <a:pPr lvl="1"/>
            <a:r>
              <a:rPr lang="en-US" sz="2100" dirty="0"/>
              <a:t>When a verb is omitted, the web service is exposed with GET and POST verbs.</a:t>
            </a: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effectLst/>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a:p>
            <a:pPr marL="0" indent="0">
              <a:spcBef>
                <a:spcPts val="0"/>
              </a:spcBef>
              <a:buNone/>
            </a:pPr>
            <a:endParaRPr lang="en-IL" sz="1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422957"/>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18EF0-D3DD-FE27-BD7B-8922F5F28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F8A26-0C5B-11FE-C332-7FE669CE3ADF}"/>
              </a:ext>
            </a:extLst>
          </p:cNvPr>
          <p:cNvSpPr>
            <a:spLocks noGrp="1"/>
          </p:cNvSpPr>
          <p:nvPr>
            <p:ph type="title"/>
          </p:nvPr>
        </p:nvSpPr>
        <p:spPr>
          <a:xfrm>
            <a:off x="0" y="403270"/>
            <a:ext cx="12192000" cy="778213"/>
          </a:xfrm>
        </p:spPr>
        <p:txBody>
          <a:bodyPr>
            <a:normAutofit/>
          </a:bodyPr>
          <a:lstStyle/>
          <a:p>
            <a:pPr algn="ctr">
              <a:spcBef>
                <a:spcPts val="1500"/>
              </a:spcBef>
              <a:spcAft>
                <a:spcPts val="750"/>
              </a:spcAft>
            </a:pPr>
            <a:r>
              <a:rPr lang="en-US" dirty="0"/>
              <a:t>Invoke </a:t>
            </a:r>
            <a:r>
              <a:rPr lang="en-US" dirty="0" err="1"/>
              <a:t>Graphit</a:t>
            </a:r>
            <a:endParaRPr lang="en-US" dirty="0"/>
          </a:p>
        </p:txBody>
      </p:sp>
      <p:sp>
        <p:nvSpPr>
          <p:cNvPr id="9" name="AutoShape 4">
            <a:extLst>
              <a:ext uri="{FF2B5EF4-FFF2-40B4-BE49-F238E27FC236}">
                <a16:creationId xmlns:a16="http://schemas.microsoft.com/office/drawing/2014/main" id="{5763ECB0-6FE2-AD2C-86AE-002D6EB7EBE4}"/>
              </a:ext>
            </a:extLst>
          </p:cNvPr>
          <p:cNvSpPr>
            <a:spLocks noChangeAspect="1" noChangeArrowheads="1"/>
          </p:cNvSpPr>
          <p:nvPr/>
        </p:nvSpPr>
        <p:spPr bwMode="auto">
          <a:xfrm>
            <a:off x="5943600" y="395151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8" name="Content Placeholder 7">
            <a:extLst>
              <a:ext uri="{FF2B5EF4-FFF2-40B4-BE49-F238E27FC236}">
                <a16:creationId xmlns:a16="http://schemas.microsoft.com/office/drawing/2014/main" id="{9DDAE395-5866-11FE-857C-C88B252C8463}"/>
              </a:ext>
            </a:extLst>
          </p:cNvPr>
          <p:cNvSpPr>
            <a:spLocks noGrp="1"/>
          </p:cNvSpPr>
          <p:nvPr>
            <p:ph idx="1"/>
          </p:nvPr>
        </p:nvSpPr>
        <p:spPr>
          <a:xfrm>
            <a:off x="707572" y="1181483"/>
            <a:ext cx="10908978" cy="4995480"/>
          </a:xfrm>
        </p:spPr>
        <p:txBody>
          <a:bodyPr/>
          <a:lstStyle/>
          <a:p>
            <a:pPr marL="0" indent="0">
              <a:buNone/>
            </a:pPr>
            <a:r>
              <a:rPr lang="en-US" sz="1600" b="0" i="0" dirty="0" err="1">
                <a:solidFill>
                  <a:srgbClr val="2E2E2E"/>
                </a:solidFill>
                <a:effectLst/>
              </a:rPr>
              <a:t>Graphit</a:t>
            </a:r>
            <a:r>
              <a:rPr lang="en-US" sz="1600" b="0" i="0" dirty="0">
                <a:solidFill>
                  <a:srgbClr val="2E2E2E"/>
                </a:solidFill>
                <a:effectLst/>
              </a:rPr>
              <a:t> files can be invoked either externally as Web Services or internally from other Fabric implementation components (if </a:t>
            </a:r>
            <a:r>
              <a:rPr lang="en-US" sz="1600" dirty="0">
                <a:solidFill>
                  <a:srgbClr val="2E2E2E"/>
                </a:solidFill>
              </a:rPr>
              <a:t>defined under LUT).</a:t>
            </a:r>
            <a:br>
              <a:rPr lang="en-US" sz="1600" dirty="0">
                <a:solidFill>
                  <a:srgbClr val="2E2E2E"/>
                </a:solidFill>
              </a:rPr>
            </a:br>
            <a:endParaRPr lang="en-IL" sz="1600" dirty="0"/>
          </a:p>
          <a:p>
            <a:pPr marL="0" indent="0">
              <a:buNone/>
            </a:pPr>
            <a:r>
              <a:rPr lang="en-US" sz="1600" dirty="0">
                <a:solidFill>
                  <a:srgbClr val="0070C0"/>
                </a:solidFill>
              </a:rPr>
              <a:t>Web Service:</a:t>
            </a:r>
          </a:p>
          <a:p>
            <a:pPr>
              <a:spcBef>
                <a:spcPts val="600"/>
              </a:spcBef>
            </a:pPr>
            <a:r>
              <a:rPr lang="en-US" sz="1600" dirty="0"/>
              <a:t>Check “Expose as Endpoint” field</a:t>
            </a:r>
          </a:p>
          <a:p>
            <a:pPr>
              <a:spcBef>
                <a:spcPts val="600"/>
              </a:spcBef>
            </a:pPr>
            <a:r>
              <a:rPr lang="en-US" sz="1600" dirty="0"/>
              <a:t>Use the URLs provided in the </a:t>
            </a:r>
            <a:r>
              <a:rPr lang="en-US" sz="1600" dirty="0" err="1"/>
              <a:t>Graphit</a:t>
            </a:r>
            <a:r>
              <a:rPr lang="en-US" sz="1600" dirty="0"/>
              <a:t> Settings:</a:t>
            </a:r>
            <a:br>
              <a:rPr lang="en-US" sz="1600" dirty="0"/>
            </a:br>
            <a:r>
              <a:rPr lang="en-US" sz="1600" dirty="0"/>
              <a:t>Note: you can override the URL path using the </a:t>
            </a:r>
            <a:r>
              <a:rPr lang="en-US" sz="1800" b="1" dirty="0">
                <a:solidFill>
                  <a:srgbClr val="2E2E2E"/>
                </a:solidFill>
              </a:rPr>
              <a:t>Path </a:t>
            </a:r>
            <a:r>
              <a:rPr lang="en-US" sz="1600" dirty="0"/>
              <a:t>parameter</a:t>
            </a:r>
            <a:br>
              <a:rPr lang="en-US" dirty="0"/>
            </a:br>
            <a:endParaRPr lang="en-IL" dirty="0"/>
          </a:p>
        </p:txBody>
      </p:sp>
      <p:pic>
        <p:nvPicPr>
          <p:cNvPr id="4" name="Picture 3">
            <a:extLst>
              <a:ext uri="{FF2B5EF4-FFF2-40B4-BE49-F238E27FC236}">
                <a16:creationId xmlns:a16="http://schemas.microsoft.com/office/drawing/2014/main" id="{C99F51DA-03DD-717B-89A0-D4FE02F7026F}"/>
              </a:ext>
            </a:extLst>
          </p:cNvPr>
          <p:cNvPicPr>
            <a:picLocks noChangeAspect="1"/>
          </p:cNvPicPr>
          <p:nvPr/>
        </p:nvPicPr>
        <p:blipFill>
          <a:blip r:embed="rId3"/>
          <a:stretch>
            <a:fillRect/>
          </a:stretch>
        </p:blipFill>
        <p:spPr>
          <a:xfrm>
            <a:off x="914401" y="3429000"/>
            <a:ext cx="5834742" cy="3096855"/>
          </a:xfrm>
          <a:prstGeom prst="rect">
            <a:avLst/>
          </a:prstGeom>
        </p:spPr>
      </p:pic>
      <p:pic>
        <p:nvPicPr>
          <p:cNvPr id="6" name="Picture 5">
            <a:extLst>
              <a:ext uri="{FF2B5EF4-FFF2-40B4-BE49-F238E27FC236}">
                <a16:creationId xmlns:a16="http://schemas.microsoft.com/office/drawing/2014/main" id="{D505A7AE-4BE4-375B-68C4-211B170D1BA5}"/>
              </a:ext>
            </a:extLst>
          </p:cNvPr>
          <p:cNvPicPr>
            <a:picLocks noChangeAspect="1"/>
          </p:cNvPicPr>
          <p:nvPr/>
        </p:nvPicPr>
        <p:blipFill>
          <a:blip r:embed="rId4"/>
          <a:stretch>
            <a:fillRect/>
          </a:stretch>
        </p:blipFill>
        <p:spPr>
          <a:xfrm>
            <a:off x="7240234" y="3516038"/>
            <a:ext cx="4366664" cy="2922777"/>
          </a:xfrm>
          <a:prstGeom prst="rect">
            <a:avLst/>
          </a:prstGeom>
        </p:spPr>
      </p:pic>
      <p:cxnSp>
        <p:nvCxnSpPr>
          <p:cNvPr id="10" name="Straight Arrow Connector 9">
            <a:extLst>
              <a:ext uri="{FF2B5EF4-FFF2-40B4-BE49-F238E27FC236}">
                <a16:creationId xmlns:a16="http://schemas.microsoft.com/office/drawing/2014/main" id="{41E9ECC9-E1F0-C0BF-0579-0FF500C6741B}"/>
              </a:ext>
            </a:extLst>
          </p:cNvPr>
          <p:cNvCxnSpPr>
            <a:cxnSpLocks/>
          </p:cNvCxnSpPr>
          <p:nvPr/>
        </p:nvCxnSpPr>
        <p:spPr>
          <a:xfrm>
            <a:off x="6797530" y="5457455"/>
            <a:ext cx="578176"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7783431"/>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5869C-036D-7118-1240-C50AFC581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670EF-35A1-CDC2-93E8-C26BEFFF86EF}"/>
              </a:ext>
            </a:extLst>
          </p:cNvPr>
          <p:cNvSpPr>
            <a:spLocks noGrp="1"/>
          </p:cNvSpPr>
          <p:nvPr>
            <p:ph type="title"/>
          </p:nvPr>
        </p:nvSpPr>
        <p:spPr>
          <a:xfrm>
            <a:off x="0" y="403270"/>
            <a:ext cx="12106275" cy="778213"/>
          </a:xfrm>
        </p:spPr>
        <p:txBody>
          <a:bodyPr>
            <a:normAutofit/>
          </a:bodyPr>
          <a:lstStyle/>
          <a:p>
            <a:pPr algn="ctr">
              <a:spcBef>
                <a:spcPts val="1500"/>
              </a:spcBef>
              <a:spcAft>
                <a:spcPts val="750"/>
              </a:spcAft>
            </a:pPr>
            <a:r>
              <a:rPr lang="en-US" dirty="0"/>
              <a:t>Invoke </a:t>
            </a:r>
            <a:r>
              <a:rPr lang="en-US" dirty="0" err="1"/>
              <a:t>Graphit</a:t>
            </a:r>
            <a:endParaRPr lang="en-US" dirty="0"/>
          </a:p>
        </p:txBody>
      </p:sp>
      <p:sp>
        <p:nvSpPr>
          <p:cNvPr id="9" name="AutoShape 4">
            <a:extLst>
              <a:ext uri="{FF2B5EF4-FFF2-40B4-BE49-F238E27FC236}">
                <a16:creationId xmlns:a16="http://schemas.microsoft.com/office/drawing/2014/main" id="{F0DFF282-811E-0FD7-85EC-BDD9560AD06D}"/>
              </a:ext>
            </a:extLst>
          </p:cNvPr>
          <p:cNvSpPr>
            <a:spLocks noChangeAspect="1" noChangeArrowheads="1"/>
          </p:cNvSpPr>
          <p:nvPr/>
        </p:nvSpPr>
        <p:spPr bwMode="auto">
          <a:xfrm>
            <a:off x="5943600" y="395151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5" name="Rectangle 1">
            <a:extLst>
              <a:ext uri="{FF2B5EF4-FFF2-40B4-BE49-F238E27FC236}">
                <a16:creationId xmlns:a16="http://schemas.microsoft.com/office/drawing/2014/main" id="{1F570A68-EFCF-18FF-719B-5ADE272334EF}"/>
              </a:ext>
            </a:extLst>
          </p:cNvPr>
          <p:cNvSpPr>
            <a:spLocks noChangeArrowheads="1"/>
          </p:cNvSpPr>
          <p:nvPr/>
        </p:nvSpPr>
        <p:spPr bwMode="auto">
          <a:xfrm>
            <a:off x="1293985" y="2250093"/>
            <a:ext cx="3496234" cy="525765"/>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L" altLang="en-IL" sz="1000" b="0" i="0" u="none" strike="noStrike" cap="none" normalizeH="0" baseline="0" dirty="0">
                <a:ln>
                  <a:noFill/>
                </a:ln>
                <a:solidFill>
                  <a:srgbClr val="333333"/>
                </a:solidFill>
                <a:effectLst/>
                <a:latin typeface="Menlo"/>
              </a:rPr>
              <a:t>Map&lt;</a:t>
            </a:r>
            <a:r>
              <a:rPr kumimoji="0" lang="en-IL" altLang="en-IL" sz="1000" b="0" i="0" u="none" strike="noStrike" cap="none" normalizeH="0" baseline="0" dirty="0">
                <a:ln>
                  <a:noFill/>
                </a:ln>
                <a:solidFill>
                  <a:srgbClr val="F47067"/>
                </a:solidFill>
                <a:effectLst/>
                <a:latin typeface="Menlo"/>
              </a:rPr>
              <a:t>String</a:t>
            </a:r>
            <a:r>
              <a:rPr kumimoji="0" lang="en-IL" altLang="en-IL" sz="1000" b="0" i="0" u="none" strike="noStrike" cap="none" normalizeH="0" baseline="0" dirty="0">
                <a:ln>
                  <a:noFill/>
                </a:ln>
                <a:solidFill>
                  <a:srgbClr val="333333"/>
                </a:solidFill>
                <a:effectLst/>
                <a:latin typeface="Menlo"/>
              </a:rPr>
              <a:t>, Object&gt; </a:t>
            </a:r>
            <a:r>
              <a:rPr kumimoji="0" lang="en-IL" altLang="en-IL" sz="1000" b="0" i="0" u="none" strike="noStrike" cap="none" normalizeH="0" baseline="0" dirty="0" err="1">
                <a:ln>
                  <a:noFill/>
                </a:ln>
                <a:solidFill>
                  <a:srgbClr val="333333"/>
                </a:solidFill>
                <a:effectLst/>
                <a:latin typeface="Menlo"/>
              </a:rPr>
              <a:t>graphitParams</a:t>
            </a:r>
            <a:r>
              <a:rPr kumimoji="0" lang="en-IL" altLang="en-IL" sz="1000" b="0" i="0" u="none" strike="noStrike" cap="none" normalizeH="0" baseline="0" dirty="0">
                <a:ln>
                  <a:noFill/>
                </a:ln>
                <a:solidFill>
                  <a:srgbClr val="333333"/>
                </a:solidFill>
                <a:effectLst/>
                <a:latin typeface="Menlo"/>
              </a:rPr>
              <a:t> = </a:t>
            </a:r>
            <a:r>
              <a:rPr kumimoji="0" lang="en-IL" altLang="en-IL" sz="1000" b="0" i="0" u="none" strike="noStrike" cap="none" normalizeH="0" baseline="0" dirty="0">
                <a:ln>
                  <a:noFill/>
                </a:ln>
                <a:solidFill>
                  <a:srgbClr val="F47067"/>
                </a:solidFill>
                <a:effectLst/>
                <a:latin typeface="Menlo"/>
              </a:rPr>
              <a:t>new</a:t>
            </a:r>
            <a:r>
              <a:rPr kumimoji="0" lang="en-IL" altLang="en-IL" sz="1000" b="0" i="0" u="none" strike="noStrike" cap="none" normalizeH="0" baseline="0" dirty="0">
                <a:ln>
                  <a:noFill/>
                </a:ln>
                <a:solidFill>
                  <a:srgbClr val="333333"/>
                </a:solidFill>
                <a:effectLst/>
                <a:latin typeface="Menlo"/>
              </a:rPr>
              <a:t> HashMap&lt;&gt;(); </a:t>
            </a:r>
            <a:r>
              <a:rPr kumimoji="0" lang="en-IL" altLang="en-IL" sz="1000" b="0" i="0" u="none" strike="noStrike" cap="none" normalizeH="0" baseline="0" dirty="0" err="1">
                <a:ln>
                  <a:noFill/>
                </a:ln>
                <a:solidFill>
                  <a:srgbClr val="333333"/>
                </a:solidFill>
                <a:effectLst/>
                <a:latin typeface="Menlo"/>
              </a:rPr>
              <a:t>graphitParams.put</a:t>
            </a:r>
            <a:r>
              <a:rPr kumimoji="0" lang="en-IL" altLang="en-IL" sz="1000" b="0" i="0" u="none" strike="noStrike" cap="none" normalizeH="0" baseline="0" dirty="0">
                <a:ln>
                  <a:noFill/>
                </a:ln>
                <a:solidFill>
                  <a:srgbClr val="333333"/>
                </a:solidFill>
                <a:effectLst/>
                <a:latin typeface="Menlo"/>
              </a:rPr>
              <a:t>(</a:t>
            </a:r>
            <a:r>
              <a:rPr kumimoji="0" lang="en-IL" altLang="en-IL" sz="1000" b="0" i="0" u="none" strike="noStrike" cap="none" normalizeH="0" baseline="0" dirty="0">
                <a:ln>
                  <a:noFill/>
                </a:ln>
                <a:solidFill>
                  <a:srgbClr val="96D0FF"/>
                </a:solidFill>
                <a:effectLst/>
                <a:latin typeface="Menlo"/>
              </a:rPr>
              <a:t>“</a:t>
            </a:r>
            <a:r>
              <a:rPr kumimoji="0" lang="en-US" altLang="en-IL" sz="1000" b="0" i="0" u="none" strike="noStrike" cap="none" normalizeH="0" baseline="0" dirty="0" err="1">
                <a:ln>
                  <a:noFill/>
                </a:ln>
                <a:solidFill>
                  <a:srgbClr val="96D0FF"/>
                </a:solidFill>
                <a:effectLst/>
                <a:latin typeface="Menlo"/>
              </a:rPr>
              <a:t>customer_id</a:t>
            </a:r>
            <a:r>
              <a:rPr kumimoji="0" lang="en-IL" altLang="en-IL" sz="1000" b="0" i="0" u="none" strike="noStrike" cap="none" normalizeH="0" baseline="0" dirty="0">
                <a:ln>
                  <a:noFill/>
                </a:ln>
                <a:solidFill>
                  <a:srgbClr val="96D0FF"/>
                </a:solidFill>
                <a:effectLst/>
                <a:latin typeface="Menlo"/>
              </a:rPr>
              <a:t>"</a:t>
            </a:r>
            <a:r>
              <a:rPr kumimoji="0" lang="en-IL" altLang="en-IL" sz="1000" b="0" i="0" u="none" strike="noStrike" cap="none" normalizeH="0" baseline="0" dirty="0">
                <a:ln>
                  <a:noFill/>
                </a:ln>
                <a:solidFill>
                  <a:srgbClr val="333333"/>
                </a:solidFill>
                <a:effectLst/>
                <a:latin typeface="Menlo"/>
              </a:rPr>
              <a:t>,</a:t>
            </a:r>
            <a:r>
              <a:rPr kumimoji="0" lang="en-US" altLang="en-IL" sz="1000" b="0" i="0" u="none" strike="noStrike" cap="none" normalizeH="0" baseline="0" dirty="0">
                <a:ln>
                  <a:noFill/>
                </a:ln>
                <a:solidFill>
                  <a:srgbClr val="333333"/>
                </a:solidFill>
                <a:effectLst/>
                <a:latin typeface="Menlo"/>
              </a:rPr>
              <a:t>14</a:t>
            </a:r>
            <a:r>
              <a:rPr kumimoji="0" lang="en-IL" altLang="en-IL" sz="1000" b="0" i="0" u="none" strike="noStrike" cap="none" normalizeH="0" baseline="0" dirty="0">
                <a:ln>
                  <a:noFill/>
                </a:ln>
                <a:solidFill>
                  <a:srgbClr val="333333"/>
                </a:solidFill>
                <a:effectLst/>
                <a:latin typeface="Menlo"/>
              </a:rPr>
              <a:t>); </a:t>
            </a:r>
            <a:br>
              <a:rPr kumimoji="0" lang="en-US" altLang="en-IL" sz="1000" b="0" i="0" u="none" strike="noStrike" cap="none" normalizeH="0" baseline="0" dirty="0">
                <a:ln>
                  <a:noFill/>
                </a:ln>
                <a:solidFill>
                  <a:srgbClr val="333333"/>
                </a:solidFill>
                <a:effectLst/>
                <a:latin typeface="Menlo"/>
              </a:rPr>
            </a:br>
            <a:r>
              <a:rPr kumimoji="0" lang="en-IL" altLang="en-IL" sz="1000" b="0" i="0" u="none" strike="noStrike" cap="none" normalizeH="0" baseline="0" dirty="0">
                <a:ln>
                  <a:noFill/>
                </a:ln>
                <a:solidFill>
                  <a:srgbClr val="F47067"/>
                </a:solidFill>
                <a:effectLst/>
                <a:latin typeface="Menlo"/>
              </a:rPr>
              <a:t>return</a:t>
            </a:r>
            <a:r>
              <a:rPr kumimoji="0" lang="en-IL" altLang="en-IL" sz="1000" b="0" i="0" u="none" strike="noStrike" cap="none" normalizeH="0" baseline="0" dirty="0">
                <a:ln>
                  <a:noFill/>
                </a:ln>
                <a:solidFill>
                  <a:srgbClr val="333333"/>
                </a:solidFill>
                <a:effectLst/>
                <a:latin typeface="Menlo"/>
              </a:rPr>
              <a:t> </a:t>
            </a:r>
            <a:r>
              <a:rPr kumimoji="0" lang="en-IL" altLang="en-IL" sz="1000" b="0" i="0" u="none" strike="noStrike" cap="none" normalizeH="0" baseline="0" dirty="0" err="1">
                <a:ln>
                  <a:noFill/>
                </a:ln>
                <a:solidFill>
                  <a:srgbClr val="333333"/>
                </a:solidFill>
                <a:effectLst/>
                <a:latin typeface="Menlo"/>
              </a:rPr>
              <a:t>graphit</a:t>
            </a:r>
            <a:r>
              <a:rPr kumimoji="0" lang="en-IL" altLang="en-IL" sz="1000" b="0" i="0" u="none" strike="noStrike" cap="none" normalizeH="0" baseline="0" dirty="0">
                <a:ln>
                  <a:noFill/>
                </a:ln>
                <a:solidFill>
                  <a:srgbClr val="333333"/>
                </a:solidFill>
                <a:effectLst/>
                <a:latin typeface="Menlo"/>
              </a:rPr>
              <a:t>(</a:t>
            </a:r>
            <a:r>
              <a:rPr kumimoji="0" lang="en-IL" altLang="en-IL" sz="1000" b="0" i="0" u="none" strike="noStrike" cap="none" normalizeH="0" baseline="0" dirty="0">
                <a:ln>
                  <a:noFill/>
                </a:ln>
                <a:solidFill>
                  <a:srgbClr val="96D0FF"/>
                </a:solidFill>
                <a:effectLst/>
                <a:latin typeface="Menlo"/>
              </a:rPr>
              <a:t>"</a:t>
            </a:r>
            <a:r>
              <a:rPr kumimoji="0" lang="en-US" altLang="en-IL" sz="1000" b="0" i="0" u="none" strike="noStrike" cap="none" normalizeH="0" baseline="0" dirty="0" err="1">
                <a:ln>
                  <a:noFill/>
                </a:ln>
                <a:solidFill>
                  <a:srgbClr val="96D0FF"/>
                </a:solidFill>
                <a:effectLst/>
                <a:latin typeface="Menlo"/>
              </a:rPr>
              <a:t>CustomerDetails</a:t>
            </a:r>
            <a:r>
              <a:rPr kumimoji="0" lang="en-IL" altLang="en-IL" sz="1000" b="0" i="0" u="none" strike="noStrike" cap="none" normalizeH="0" baseline="0" dirty="0">
                <a:ln>
                  <a:noFill/>
                </a:ln>
                <a:solidFill>
                  <a:srgbClr val="96D0FF"/>
                </a:solidFill>
                <a:effectLst/>
                <a:latin typeface="Menlo"/>
              </a:rPr>
              <a:t>.graphit"</a:t>
            </a:r>
            <a:r>
              <a:rPr kumimoji="0" lang="en-IL" altLang="en-IL" sz="1000" b="0" i="0" u="none" strike="noStrike" cap="none" normalizeH="0" baseline="0" dirty="0">
                <a:ln>
                  <a:noFill/>
                </a:ln>
                <a:solidFill>
                  <a:srgbClr val="333333"/>
                </a:solidFill>
                <a:effectLst/>
                <a:latin typeface="Menlo"/>
              </a:rPr>
              <a:t>, </a:t>
            </a:r>
            <a:r>
              <a:rPr kumimoji="0" lang="en-IL" altLang="en-IL" sz="1000" b="0" i="0" u="none" strike="noStrike" cap="none" normalizeH="0" baseline="0" dirty="0" err="1">
                <a:ln>
                  <a:noFill/>
                </a:ln>
                <a:solidFill>
                  <a:srgbClr val="333333"/>
                </a:solidFill>
                <a:effectLst/>
                <a:latin typeface="Menlo"/>
              </a:rPr>
              <a:t>graphitParams</a:t>
            </a:r>
            <a:r>
              <a:rPr kumimoji="0" lang="en-IL" altLang="en-IL" sz="1000" b="0" i="0" u="none" strike="noStrike" cap="none" normalizeH="0" baseline="0" dirty="0">
                <a:ln>
                  <a:noFill/>
                </a:ln>
                <a:solidFill>
                  <a:srgbClr val="333333"/>
                </a:solidFill>
                <a:effectLst/>
                <a:latin typeface="Menlo"/>
              </a:rPr>
              <a:t>);</a:t>
            </a:r>
            <a:r>
              <a:rPr kumimoji="0" lang="en-IL" altLang="en-IL" sz="800" b="0" i="0" u="none" strike="noStrike" cap="none" normalizeH="0" baseline="0" dirty="0">
                <a:ln>
                  <a:noFill/>
                </a:ln>
                <a:solidFill>
                  <a:schemeClr val="tx1"/>
                </a:solidFill>
                <a:effectLst/>
              </a:rPr>
              <a:t> </a:t>
            </a:r>
            <a:endParaRPr kumimoji="0" lang="en-IL" altLang="en-IL"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E2C7DA22-70ED-DE11-AEDB-59544032BE40}"/>
              </a:ext>
            </a:extLst>
          </p:cNvPr>
          <p:cNvPicPr>
            <a:picLocks noChangeAspect="1"/>
          </p:cNvPicPr>
          <p:nvPr/>
        </p:nvPicPr>
        <p:blipFill>
          <a:blip r:embed="rId3"/>
          <a:stretch>
            <a:fillRect/>
          </a:stretch>
        </p:blipFill>
        <p:spPr>
          <a:xfrm>
            <a:off x="1293985" y="3581399"/>
            <a:ext cx="7490393" cy="2818902"/>
          </a:xfrm>
          <a:prstGeom prst="rect">
            <a:avLst/>
          </a:prstGeom>
        </p:spPr>
      </p:pic>
      <p:sp>
        <p:nvSpPr>
          <p:cNvPr id="12" name="Content Placeholder 2">
            <a:extLst>
              <a:ext uri="{FF2B5EF4-FFF2-40B4-BE49-F238E27FC236}">
                <a16:creationId xmlns:a16="http://schemas.microsoft.com/office/drawing/2014/main" id="{DE2AA91C-8E6A-9533-F8BE-A7B517495CAF}"/>
              </a:ext>
            </a:extLst>
          </p:cNvPr>
          <p:cNvSpPr txBox="1">
            <a:spLocks/>
          </p:cNvSpPr>
          <p:nvPr/>
        </p:nvSpPr>
        <p:spPr>
          <a:xfrm>
            <a:off x="1000070" y="1181483"/>
            <a:ext cx="10561929" cy="5336388"/>
          </a:xfrm>
          <a:prstGeom prst="rect">
            <a:avLst/>
          </a:prstGeom>
        </p:spPr>
        <p:txBody>
          <a:bodyPr vert="horz" lIns="91440" tIns="45720" rIns="91440" bIns="45720" rtlCol="0" anchor="t">
            <a:normAutofit/>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800" dirty="0">
                <a:solidFill>
                  <a:srgbClr val="0070C0"/>
                </a:solidFill>
                <a:latin typeface="Segoe UI" panose="020B0502040204020203" pitchFamily="34" charset="0"/>
                <a:cs typeface="Times New Roman" panose="02020603050405020304" pitchFamily="18" charset="0"/>
              </a:rPr>
              <a:t>From Fabric Implementation Components</a:t>
            </a:r>
            <a:br>
              <a:rPr lang="en-US" sz="1800" dirty="0">
                <a:solidFill>
                  <a:srgbClr val="00B0F0"/>
                </a:solidFill>
                <a:latin typeface="Segoe UI" panose="020B0502040204020203" pitchFamily="34" charset="0"/>
                <a:cs typeface="Times New Roman" panose="02020603050405020304" pitchFamily="18" charset="0"/>
              </a:rPr>
            </a:br>
            <a:endParaRPr lang="en-US" sz="1800" dirty="0">
              <a:solidFill>
                <a:srgbClr val="00B0F0"/>
              </a:solidFill>
              <a:latin typeface="Segoe UI" panose="020B0502040204020203" pitchFamily="34" charset="0"/>
              <a:cs typeface="Times New Roman" panose="02020603050405020304" pitchFamily="18" charset="0"/>
            </a:endParaRPr>
          </a:p>
          <a:p>
            <a:pPr>
              <a:spcBef>
                <a:spcPts val="0"/>
              </a:spcBef>
            </a:pPr>
            <a:r>
              <a:rPr lang="en-US" sz="1800" dirty="0">
                <a:solidFill>
                  <a:srgbClr val="2E2E2E"/>
                </a:solidFill>
                <a:latin typeface="Nunito" pitchFamily="2" charset="0"/>
              </a:rPr>
              <a:t>Invoking From a Java Function</a:t>
            </a:r>
            <a:br>
              <a:rPr lang="en-US" sz="1800" dirty="0">
                <a:solidFill>
                  <a:srgbClr val="2E2E2E"/>
                </a:solidFill>
                <a:latin typeface="Nunito" pitchFamily="2" charset="0"/>
              </a:rPr>
            </a:br>
            <a:endParaRPr lang="en-US" sz="1800" dirty="0">
              <a:solidFill>
                <a:srgbClr val="2E2E2E"/>
              </a:solidFill>
              <a:latin typeface="Nunito" pitchFamily="2" charset="0"/>
            </a:endParaRPr>
          </a:p>
          <a:p>
            <a:pPr lvl="1">
              <a:spcBef>
                <a:spcPts val="0"/>
              </a:spcBef>
            </a:pPr>
            <a:endParaRPr lang="en-US" sz="1600" dirty="0">
              <a:solidFill>
                <a:srgbClr val="2E2E2E"/>
              </a:solidFill>
              <a:latin typeface="Nunito" pitchFamily="2" charset="0"/>
            </a:endParaRPr>
          </a:p>
          <a:p>
            <a:pPr marL="457200" lvl="1" indent="0">
              <a:spcBef>
                <a:spcPts val="0"/>
              </a:spcBef>
              <a:buFont typeface="Arial" panose="020B0604020202020204" pitchFamily="34" charset="0"/>
              <a:buNone/>
            </a:pPr>
            <a:endParaRPr lang="en-US" sz="1600" dirty="0">
              <a:solidFill>
                <a:srgbClr val="2E2E2E"/>
              </a:solidFill>
              <a:latin typeface="Nunito" pitchFamily="2" charset="0"/>
            </a:endParaRPr>
          </a:p>
          <a:p>
            <a:pPr lvl="1">
              <a:spcBef>
                <a:spcPts val="0"/>
              </a:spcBef>
            </a:pPr>
            <a:endParaRPr lang="en-US" sz="1600" dirty="0">
              <a:solidFill>
                <a:srgbClr val="2E2E2E"/>
              </a:solidFill>
              <a:latin typeface="Nunito" pitchFamily="2" charset="0"/>
            </a:endParaRPr>
          </a:p>
          <a:p>
            <a:pPr>
              <a:spcBef>
                <a:spcPts val="0"/>
              </a:spcBef>
            </a:pPr>
            <a:r>
              <a:rPr lang="en-US" sz="1800" dirty="0">
                <a:solidFill>
                  <a:srgbClr val="2E2E2E"/>
                </a:solidFill>
                <a:latin typeface="Nunito" pitchFamily="2" charset="0"/>
              </a:rPr>
              <a:t>Invoking Broadway flow</a:t>
            </a:r>
            <a:r>
              <a:rPr lang="en-US" sz="1800" dirty="0">
                <a:latin typeface="Segoe UI" panose="020B0502040204020203" pitchFamily="34" charset="0"/>
                <a:ea typeface="Times New Roman" panose="02020603050405020304" pitchFamily="18" charset="0"/>
                <a:cs typeface="Times New Roman" panose="02020603050405020304" pitchFamily="18" charset="0"/>
              </a:rPr>
              <a:t> using </a:t>
            </a:r>
            <a:r>
              <a:rPr lang="en-US" sz="1800" dirty="0" err="1">
                <a:latin typeface="Segoe UI" panose="020B0502040204020203" pitchFamily="34" charset="0"/>
                <a:ea typeface="Times New Roman" panose="02020603050405020304" pitchFamily="18" charset="0"/>
                <a:cs typeface="Times New Roman" panose="02020603050405020304" pitchFamily="18" charset="0"/>
              </a:rPr>
              <a:t>Graphit</a:t>
            </a:r>
            <a:r>
              <a:rPr lang="en-US" sz="1800" dirty="0">
                <a:latin typeface="Segoe UI" panose="020B0502040204020203" pitchFamily="34" charset="0"/>
                <a:ea typeface="Times New Roman" panose="02020603050405020304" pitchFamily="18" charset="0"/>
                <a:cs typeface="Times New Roman" panose="02020603050405020304" pitchFamily="18" charset="0"/>
              </a:rPr>
              <a:t> Actor:</a:t>
            </a:r>
            <a:br>
              <a:rPr lang="en-US" sz="1800" dirty="0">
                <a:latin typeface="Segoe UI" panose="020B0502040204020203" pitchFamily="34" charset="0"/>
                <a:ea typeface="Times New Roman" panose="02020603050405020304" pitchFamily="18" charset="0"/>
                <a:cs typeface="Times New Roman" panose="02020603050405020304" pitchFamily="18" charset="0"/>
              </a:rPr>
            </a:br>
            <a:endParaRPr lang="en-US" sz="1800" dirty="0">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077923"/>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AA05-1FA2-828C-2CC1-69EA0E1E7E3C}"/>
            </a:ext>
          </a:extLst>
        </p:cNvPr>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CF0C386D-B646-5524-64A7-CA267E9730F7}"/>
              </a:ext>
            </a:extLst>
          </p:cNvPr>
          <p:cNvSpPr txBox="1">
            <a:spLocks/>
          </p:cNvSpPr>
          <p:nvPr/>
        </p:nvSpPr>
        <p:spPr>
          <a:xfrm>
            <a:off x="3907857" y="1259882"/>
            <a:ext cx="7996277" cy="5400800"/>
          </a:xfrm>
          <a:prstGeom prst="rect">
            <a:avLst/>
          </a:prstGeom>
        </p:spPr>
        <p:txBody>
          <a:bodyPr vert="horz" lIns="91440" tIns="45720" rIns="91440" bIns="45720" rtlCol="0">
            <a:normAutofit fontScale="92500" lnSpcReduction="10000"/>
          </a:bodyPr>
          <a:lstStyle>
            <a:lvl1pPr marL="198900" indent="-198900" algn="l" defTabSz="914400" rtl="0" eaLnBrk="1" latinLnBrk="0" hangingPunct="1">
              <a:lnSpc>
                <a:spcPct val="100000"/>
              </a:lnSpc>
              <a:spcBef>
                <a:spcPts val="1000"/>
              </a:spcBef>
              <a:buFont typeface="Arial" panose="020B0604020202020204" pitchFamily="34" charset="0"/>
              <a:buChar char="•"/>
              <a:defRPr sz="2000" b="0" kern="1200" spc="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i="1"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spc="3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1400" b="0" spc="0" dirty="0"/>
              <a:t>Create the below </a:t>
            </a:r>
            <a:r>
              <a:rPr lang="en-US" sz="1400" b="0" spc="0" dirty="0" err="1"/>
              <a:t>Graphit</a:t>
            </a:r>
            <a:r>
              <a:rPr lang="en-US" sz="1400" b="0" spc="0" dirty="0"/>
              <a:t>:</a:t>
            </a:r>
          </a:p>
          <a:p>
            <a:pPr marL="198900" lvl="1" indent="-198900">
              <a:lnSpc>
                <a:spcPct val="90000"/>
              </a:lnSpc>
              <a:spcBef>
                <a:spcPts val="1000"/>
              </a:spcBef>
            </a:pPr>
            <a:r>
              <a:rPr lang="en-US" sz="1400" b="0" spc="0" dirty="0"/>
              <a:t>Execute GET in Sync OFF </a:t>
            </a:r>
            <a:r>
              <a:rPr lang="en-US" sz="1400" dirty="0"/>
              <a:t>for</a:t>
            </a:r>
            <a:r>
              <a:rPr lang="en-US" sz="1400" b="0" spc="0" dirty="0"/>
              <a:t> a Customer LUI</a:t>
            </a:r>
          </a:p>
          <a:p>
            <a:pPr marL="656100" lvl="2" indent="-198900">
              <a:lnSpc>
                <a:spcPct val="90000"/>
              </a:lnSpc>
              <a:spcBef>
                <a:spcPts val="1000"/>
              </a:spcBef>
            </a:pPr>
            <a:r>
              <a:rPr lang="en-US" sz="1400" dirty="0"/>
              <a:t>The IID should be parameter to the </a:t>
            </a:r>
            <a:r>
              <a:rPr lang="en-US" sz="1400" dirty="0" err="1"/>
              <a:t>Graphit</a:t>
            </a:r>
            <a:endParaRPr lang="en-US" sz="1400" dirty="0"/>
          </a:p>
          <a:p>
            <a:pPr marL="198900" lvl="1" indent="-198900">
              <a:lnSpc>
                <a:spcPct val="90000"/>
              </a:lnSpc>
              <a:spcBef>
                <a:spcPts val="1000"/>
              </a:spcBef>
            </a:pPr>
            <a:r>
              <a:rPr lang="en-US" sz="1400" b="0" spc="0" dirty="0"/>
              <a:t>Show the Customer’s data from Customer table</a:t>
            </a:r>
          </a:p>
          <a:p>
            <a:pPr marL="656100" lvl="2" indent="-198900">
              <a:lnSpc>
                <a:spcPct val="90000"/>
              </a:lnSpc>
              <a:spcBef>
                <a:spcPts val="1000"/>
              </a:spcBef>
            </a:pPr>
            <a:r>
              <a:rPr lang="en-US" sz="1400" dirty="0"/>
              <a:t>SSN should present only the last 4 </a:t>
            </a:r>
            <a:r>
              <a:rPr lang="en-US" sz="1400" dirty="0" err="1"/>
              <a:t>digist</a:t>
            </a:r>
            <a:r>
              <a:rPr lang="en-US" sz="1400" dirty="0"/>
              <a:t>. The others should be replaced with “*”</a:t>
            </a:r>
          </a:p>
          <a:p>
            <a:pPr marL="656100" lvl="2" indent="-198900">
              <a:lnSpc>
                <a:spcPct val="90000"/>
              </a:lnSpc>
              <a:spcBef>
                <a:spcPts val="1000"/>
              </a:spcBef>
            </a:pPr>
            <a:r>
              <a:rPr lang="en-US" sz="1400" dirty="0"/>
              <a:t>As there is only 1 record in the Customer table, make sure there is no entry tag to this record</a:t>
            </a:r>
          </a:p>
          <a:p>
            <a:pPr marL="198900" lvl="1" indent="-198900">
              <a:lnSpc>
                <a:spcPct val="90000"/>
              </a:lnSpc>
              <a:spcBef>
                <a:spcPts val="1000"/>
              </a:spcBef>
            </a:pPr>
            <a:r>
              <a:rPr lang="en-US" sz="1400" dirty="0"/>
              <a:t>Show the subscriber balance data from </a:t>
            </a:r>
            <a:r>
              <a:rPr lang="en-US" sz="1400" dirty="0" err="1"/>
              <a:t>subscriber_balance</a:t>
            </a:r>
            <a:r>
              <a:rPr lang="en-US" sz="1400" dirty="0"/>
              <a:t> table (created on course 7 – Project Functions)</a:t>
            </a:r>
          </a:p>
          <a:p>
            <a:pPr marL="656100" lvl="2" indent="-198900">
              <a:lnSpc>
                <a:spcPct val="90000"/>
              </a:lnSpc>
              <a:spcBef>
                <a:spcPts val="1000"/>
              </a:spcBef>
            </a:pPr>
            <a:r>
              <a:rPr lang="en-US" sz="1400" dirty="0"/>
              <a:t>For each record, add “</a:t>
            </a:r>
            <a:r>
              <a:rPr lang="en-US" sz="1400" dirty="0" err="1"/>
              <a:t>payment_status</a:t>
            </a:r>
            <a:r>
              <a:rPr lang="en-US" sz="1400" dirty="0"/>
              <a:t>” field and calculate the below using Broadway flow:</a:t>
            </a:r>
          </a:p>
          <a:p>
            <a:pPr marL="1113300" lvl="3" indent="-198900">
              <a:lnSpc>
                <a:spcPct val="90000"/>
              </a:lnSpc>
              <a:spcBef>
                <a:spcPts val="1000"/>
              </a:spcBef>
            </a:pPr>
            <a:r>
              <a:rPr lang="en-US" sz="1400" b="0" spc="0" dirty="0"/>
              <a:t>If balance = 0 </a:t>
            </a:r>
            <a:r>
              <a:rPr lang="en-US" sz="1400" b="0" spc="0" dirty="0">
                <a:sym typeface="Wingdings" panose="05000000000000000000" pitchFamily="2" charset="2"/>
              </a:rPr>
              <a:t> Show PAID status</a:t>
            </a:r>
            <a:endParaRPr lang="en-US" sz="1400" b="0" spc="0" dirty="0"/>
          </a:p>
          <a:p>
            <a:pPr marL="1113300" lvl="3" indent="-198900">
              <a:lnSpc>
                <a:spcPct val="90000"/>
              </a:lnSpc>
              <a:spcBef>
                <a:spcPts val="1000"/>
              </a:spcBef>
            </a:pPr>
            <a:r>
              <a:rPr lang="en-US" sz="1400" spc="0" dirty="0"/>
              <a:t>Else - if</a:t>
            </a:r>
            <a:r>
              <a:rPr lang="en-US" sz="1400" b="0" spc="0" dirty="0"/>
              <a:t> </a:t>
            </a:r>
            <a:r>
              <a:rPr lang="en-US" sz="1400" b="0" spc="0" dirty="0" err="1"/>
              <a:t>due_date</a:t>
            </a:r>
            <a:r>
              <a:rPr lang="en-US" sz="1400" b="0" spc="0" dirty="0"/>
              <a:t> passed </a:t>
            </a:r>
            <a:r>
              <a:rPr lang="en-US" sz="1400" b="0" spc="0" dirty="0">
                <a:sym typeface="Wingdings" panose="05000000000000000000" pitchFamily="2" charset="2"/>
              </a:rPr>
              <a:t> show </a:t>
            </a:r>
            <a:r>
              <a:rPr lang="en-US" sz="1400" b="0" spc="0" dirty="0"/>
              <a:t>“Late”</a:t>
            </a:r>
          </a:p>
          <a:p>
            <a:pPr marL="1113300" lvl="3" indent="-198900">
              <a:lnSpc>
                <a:spcPct val="90000"/>
              </a:lnSpc>
              <a:spcBef>
                <a:spcPts val="1000"/>
              </a:spcBef>
            </a:pPr>
            <a:r>
              <a:rPr lang="en-US" sz="1400" b="0" spc="0" dirty="0"/>
              <a:t>Otherwise </a:t>
            </a:r>
            <a:r>
              <a:rPr lang="en-US" sz="1400" b="0" spc="0" dirty="0">
                <a:sym typeface="Wingdings" panose="05000000000000000000" pitchFamily="2" charset="2"/>
              </a:rPr>
              <a:t> </a:t>
            </a:r>
            <a:r>
              <a:rPr lang="en-US" sz="1400" b="0" spc="0" dirty="0"/>
              <a:t>show “On Time”</a:t>
            </a:r>
          </a:p>
          <a:p>
            <a:pPr marL="656100" lvl="2" indent="-198900">
              <a:lnSpc>
                <a:spcPct val="90000"/>
              </a:lnSpc>
              <a:spcBef>
                <a:spcPts val="1000"/>
              </a:spcBef>
            </a:pPr>
            <a:r>
              <a:rPr lang="en-US" sz="1400" b="0" spc="0" dirty="0"/>
              <a:t>Each record should have &lt;</a:t>
            </a:r>
            <a:r>
              <a:rPr lang="en-US" sz="1400" b="0" spc="0" dirty="0" err="1"/>
              <a:t>balance_record</a:t>
            </a:r>
            <a:r>
              <a:rPr lang="en-US" sz="1400" b="0" spc="0" dirty="0"/>
              <a:t>&gt; elements wrapper</a:t>
            </a:r>
          </a:p>
          <a:p>
            <a:pPr marL="656100" lvl="2" indent="-198900">
              <a:lnSpc>
                <a:spcPct val="90000"/>
              </a:lnSpc>
              <a:spcBef>
                <a:spcPts val="1000"/>
              </a:spcBef>
            </a:pPr>
            <a:r>
              <a:rPr lang="en-US" sz="1400" dirty="0"/>
              <a:t>Format the </a:t>
            </a:r>
            <a:r>
              <a:rPr lang="en-US" sz="1400" dirty="0" err="1"/>
              <a:t>due_date</a:t>
            </a:r>
            <a:r>
              <a:rPr lang="en-US" sz="1400" dirty="0"/>
              <a:t> to show only date</a:t>
            </a:r>
          </a:p>
          <a:p>
            <a:pPr marL="656100" lvl="2" indent="-198900">
              <a:lnSpc>
                <a:spcPct val="90000"/>
              </a:lnSpc>
              <a:spcBef>
                <a:spcPts val="1000"/>
              </a:spcBef>
            </a:pPr>
            <a:r>
              <a:rPr lang="en-US" sz="1400" b="0" spc="0" dirty="0"/>
              <a:t>Format the balance #,###.00</a:t>
            </a:r>
          </a:p>
          <a:p>
            <a:pPr marL="198900" lvl="1" indent="-198900">
              <a:lnSpc>
                <a:spcPct val="90000"/>
              </a:lnSpc>
              <a:spcBef>
                <a:spcPts val="1000"/>
              </a:spcBef>
            </a:pPr>
            <a:r>
              <a:rPr lang="en-US" sz="1600" b="0" spc="0" dirty="0"/>
              <a:t>While iterating on the </a:t>
            </a:r>
            <a:r>
              <a:rPr lang="en-US" sz="1600" b="0" spc="0" dirty="0" err="1"/>
              <a:t>customer_balance</a:t>
            </a:r>
            <a:r>
              <a:rPr lang="en-US" sz="1600" b="0" spc="0" dirty="0"/>
              <a:t> records, sum the total paid amount</a:t>
            </a:r>
          </a:p>
          <a:p>
            <a:pPr marL="656100" lvl="2" indent="-198900">
              <a:lnSpc>
                <a:spcPct val="90000"/>
              </a:lnSpc>
              <a:spcBef>
                <a:spcPts val="1000"/>
              </a:spcBef>
            </a:pPr>
            <a:r>
              <a:rPr lang="en-US" sz="1400" b="0" spc="0" dirty="0"/>
              <a:t>Show the total paid amount at the end of the </a:t>
            </a:r>
            <a:r>
              <a:rPr lang="en-US" sz="1400" b="0" spc="0" dirty="0" err="1"/>
              <a:t>Graphit</a:t>
            </a:r>
            <a:endParaRPr lang="en-US" sz="1400" b="0" spc="0" dirty="0"/>
          </a:p>
          <a:p>
            <a:pPr marL="198900" lvl="1" indent="-198900">
              <a:lnSpc>
                <a:spcPct val="90000"/>
              </a:lnSpc>
              <a:spcBef>
                <a:spcPts val="1000"/>
              </a:spcBef>
            </a:pPr>
            <a:r>
              <a:rPr lang="en-US" sz="1600" b="0" spc="0" dirty="0"/>
              <a:t>Create error handler </a:t>
            </a:r>
            <a:r>
              <a:rPr lang="en-US" sz="1600" b="0" spc="0" dirty="0" err="1"/>
              <a:t>graphit</a:t>
            </a:r>
            <a:br>
              <a:rPr lang="en-US" sz="1600" b="0" spc="0" dirty="0"/>
            </a:br>
            <a:endParaRPr lang="en-US" sz="1600" b="0" spc="0" dirty="0"/>
          </a:p>
        </p:txBody>
      </p:sp>
      <p:sp>
        <p:nvSpPr>
          <p:cNvPr id="9" name="AutoShape 4">
            <a:extLst>
              <a:ext uri="{FF2B5EF4-FFF2-40B4-BE49-F238E27FC236}">
                <a16:creationId xmlns:a16="http://schemas.microsoft.com/office/drawing/2014/main" id="{13E34963-E23E-598D-3975-5C50795D069F}"/>
              </a:ext>
            </a:extLst>
          </p:cNvPr>
          <p:cNvSpPr>
            <a:spLocks noChangeAspect="1" noChangeArrowheads="1"/>
          </p:cNvSpPr>
          <p:nvPr/>
        </p:nvSpPr>
        <p:spPr bwMode="auto">
          <a:xfrm>
            <a:off x="5943600" y="395151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2" name="Title 1">
            <a:extLst>
              <a:ext uri="{FF2B5EF4-FFF2-40B4-BE49-F238E27FC236}">
                <a16:creationId xmlns:a16="http://schemas.microsoft.com/office/drawing/2014/main" id="{C52D6DC7-746D-F833-A161-A70A9E47537A}"/>
              </a:ext>
            </a:extLst>
          </p:cNvPr>
          <p:cNvSpPr>
            <a:spLocks noGrp="1"/>
          </p:cNvSpPr>
          <p:nvPr>
            <p:ph type="title"/>
          </p:nvPr>
        </p:nvSpPr>
        <p:spPr>
          <a:xfrm>
            <a:off x="1318622" y="386169"/>
            <a:ext cx="9554756" cy="589735"/>
          </a:xfrm>
        </p:spPr>
        <p:txBody>
          <a:bodyPr vert="horz" lIns="91440" tIns="45720" rIns="91440" bIns="45720" rtlCol="0" anchor="ctr">
            <a:normAutofit/>
          </a:bodyPr>
          <a:lstStyle/>
          <a:p>
            <a:pPr>
              <a:spcAft>
                <a:spcPts val="750"/>
              </a:spcAft>
            </a:pPr>
            <a:r>
              <a:rPr lang="en-US" b="1" kern="1200" dirty="0" err="1">
                <a:latin typeface="Roboto" panose="02000000000000000000" pitchFamily="2" charset="0"/>
                <a:ea typeface="Roboto" panose="02000000000000000000" pitchFamily="2" charset="0"/>
                <a:cs typeface="Roboto" panose="02000000000000000000" pitchFamily="2" charset="0"/>
              </a:rPr>
              <a:t>Graphit</a:t>
            </a:r>
            <a:r>
              <a:rPr lang="en-US" b="1" kern="1200" dirty="0">
                <a:latin typeface="Roboto" panose="02000000000000000000" pitchFamily="2" charset="0"/>
                <a:ea typeface="Roboto" panose="02000000000000000000" pitchFamily="2" charset="0"/>
                <a:cs typeface="Roboto" panose="02000000000000000000" pitchFamily="2" charset="0"/>
              </a:rPr>
              <a:t> Assignment</a:t>
            </a:r>
          </a:p>
        </p:txBody>
      </p:sp>
      <p:pic>
        <p:nvPicPr>
          <p:cNvPr id="13" name="Picture 12">
            <a:extLst>
              <a:ext uri="{FF2B5EF4-FFF2-40B4-BE49-F238E27FC236}">
                <a16:creationId xmlns:a16="http://schemas.microsoft.com/office/drawing/2014/main" id="{8792CAE5-7A99-9146-CA96-230716A7F3EC}"/>
              </a:ext>
            </a:extLst>
          </p:cNvPr>
          <p:cNvPicPr>
            <a:picLocks noChangeAspect="1"/>
          </p:cNvPicPr>
          <p:nvPr/>
        </p:nvPicPr>
        <p:blipFill>
          <a:blip r:embed="rId3"/>
          <a:stretch>
            <a:fillRect/>
          </a:stretch>
        </p:blipFill>
        <p:spPr>
          <a:xfrm>
            <a:off x="456128" y="1259881"/>
            <a:ext cx="3111406" cy="2996434"/>
          </a:xfrm>
          <a:prstGeom prst="rect">
            <a:avLst/>
          </a:prstGeom>
        </p:spPr>
      </p:pic>
      <p:pic>
        <p:nvPicPr>
          <p:cNvPr id="15" name="Picture 14">
            <a:extLst>
              <a:ext uri="{FF2B5EF4-FFF2-40B4-BE49-F238E27FC236}">
                <a16:creationId xmlns:a16="http://schemas.microsoft.com/office/drawing/2014/main" id="{91E84F25-FDF0-91A1-231E-E108636160EB}"/>
              </a:ext>
            </a:extLst>
          </p:cNvPr>
          <p:cNvPicPr>
            <a:picLocks noChangeAspect="1"/>
          </p:cNvPicPr>
          <p:nvPr/>
        </p:nvPicPr>
        <p:blipFill>
          <a:blip r:embed="rId4"/>
          <a:stretch>
            <a:fillRect/>
          </a:stretch>
        </p:blipFill>
        <p:spPr>
          <a:xfrm>
            <a:off x="456128" y="4414144"/>
            <a:ext cx="3133027" cy="1611271"/>
          </a:xfrm>
          <a:prstGeom prst="rect">
            <a:avLst/>
          </a:prstGeom>
        </p:spPr>
      </p:pic>
    </p:spTree>
    <p:extLst>
      <p:ext uri="{BB962C8B-B14F-4D97-AF65-F5344CB8AC3E}">
        <p14:creationId xmlns:p14="http://schemas.microsoft.com/office/powerpoint/2010/main" val="3166240746"/>
      </p:ext>
    </p:extLst>
  </p:cSld>
  <p:clrMapOvr>
    <a:masterClrMapping/>
  </p:clrMapOvr>
  <p:transition spd="slow">
    <p:wipe dir="r"/>
  </p:transition>
</p:sld>
</file>

<file path=ppt/theme/theme1.xml><?xml version="1.0" encoding="utf-8"?>
<a:theme xmlns:a="http://schemas.openxmlformats.org/drawingml/2006/main" name="2_Office Theme">
  <a:themeElements>
    <a:clrScheme name="k2">
      <a:dk1>
        <a:srgbClr val="3B3C47"/>
      </a:dk1>
      <a:lt1>
        <a:srgbClr val="FFFFFF"/>
      </a:lt1>
      <a:dk2>
        <a:srgbClr val="1182F2"/>
      </a:dk2>
      <a:lt2>
        <a:srgbClr val="EDF5FE"/>
      </a:lt2>
      <a:accent1>
        <a:srgbClr val="17E7FE"/>
      </a:accent1>
      <a:accent2>
        <a:srgbClr val="923CEF"/>
      </a:accent2>
      <a:accent3>
        <a:srgbClr val="04D793"/>
      </a:accent3>
      <a:accent4>
        <a:srgbClr val="1182F2"/>
      </a:accent4>
      <a:accent5>
        <a:srgbClr val="F0822A"/>
      </a:accent5>
      <a:accent6>
        <a:srgbClr val="F13F92"/>
      </a:accent6>
      <a:hlink>
        <a:srgbClr val="1182F2"/>
      </a:hlink>
      <a:folHlink>
        <a:srgbClr val="2E2E2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with images - March 2023" id="{E32DEDF4-6FE1-7B45-88F4-21FFD2FADC17}" vid="{24B6B51B-2C36-2140-927F-C94A972C68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2C96E39-540F-4384-9DE5-E800764AB40E}">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857D32277AC8A4EB3BE59077C9D6D08" ma:contentTypeVersion="25" ma:contentTypeDescription="Create a new document." ma:contentTypeScope="" ma:versionID="9dee1bf899079b184d8cd08041495969">
  <xsd:schema xmlns:xsd="http://www.w3.org/2001/XMLSchema" xmlns:xs="http://www.w3.org/2001/XMLSchema" xmlns:p="http://schemas.microsoft.com/office/2006/metadata/properties" xmlns:ns1="http://schemas.microsoft.com/sharepoint/v3" xmlns:ns2="207f1ff3-1f77-40fd-ad5b-9d6ae8cfe6f8" xmlns:ns3="74083ff3-901d-4a80-b854-a128eee5eee4" targetNamespace="http://schemas.microsoft.com/office/2006/metadata/properties" ma:root="true" ma:fieldsID="b903f4083474ff0c952f8f1f368f6c56" ns1:_="" ns2:_="" ns3:_="">
    <xsd:import namespace="http://schemas.microsoft.com/sharepoint/v3"/>
    <xsd:import namespace="207f1ff3-1f77-40fd-ad5b-9d6ae8cfe6f8"/>
    <xsd:import namespace="74083ff3-901d-4a80-b854-a128eee5eee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Dashboardview" minOccurs="0"/>
                <xsd:element ref="ns3:Team" minOccurs="0"/>
                <xsd:element ref="ns3:MediaLengthInSeconds" minOccurs="0"/>
                <xsd:element ref="ns1:_ip_UnifiedCompliancePolicyProperties" minOccurs="0"/>
                <xsd:element ref="ns1:_ip_UnifiedCompliancePolicyUIAction"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element ref="ns3:Sales_x0020_Assets" minOccurs="0"/>
                <xsd:element ref="ns3:Depart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7f1ff3-1f77-40fd-ad5b-9d6ae8cfe6f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7" nillable="true" ma:displayName="Taxonomy Catch All Column" ma:hidden="true" ma:list="{b14cb109-3faf-4295-a09d-03433ead41c6}" ma:internalName="TaxCatchAll" ma:showField="CatchAllData" ma:web="207f1ff3-1f77-40fd-ad5b-9d6ae8cfe6f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4083ff3-901d-4a80-b854-a128eee5eee4"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internalName="MediaServiceAutoTags" ma:readOnly="true">
      <xsd:simpleType>
        <xsd:restriction base="dms:Text"/>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Dashboardview" ma:index="20" nillable="true" ma:displayName="Dashboard view" ma:format="Dropdown" ma:internalName="Dashboardview">
      <xsd:simpleType>
        <xsd:restriction base="dms:Choice">
          <xsd:enumeration value="Yes"/>
          <xsd:enumeration value="No"/>
        </xsd:restriction>
      </xsd:simpleType>
    </xsd:element>
    <xsd:element name="Team" ma:index="21" nillable="true" ma:displayName="Team " ma:format="Dropdown" ma:internalName="Team">
      <xsd:simpleType>
        <xsd:restriction base="dms:Choice">
          <xsd:enumeration value="IT"/>
          <xsd:enumeration value="Infra"/>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06b8eabe-3e4c-4b59-81cb-ab0a37b0a08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Sales_x0020_Assets" ma:index="31" nillable="true" ma:displayName="Sales Assets" ma:default="0" ma:description="Shared Sales Assets" ma:indexed="true" ma:internalName="Sales_x0020_Assets">
      <xsd:simpleType>
        <xsd:restriction base="dms:Boolean"/>
      </xsd:simpleType>
    </xsd:element>
    <xsd:element name="Department" ma:index="32" nillable="true" ma:displayName="Department" ma:default="Marketing" ma:format="Dropdown" ma:indexed="true" ma:internalName="Department">
      <xsd:simpleType>
        <xsd:restriction base="dms:Choice">
          <xsd:enumeration value="Marketing"/>
          <xsd:enumeration value="Legal"/>
          <xsd:enumeration value="Sales"/>
          <xsd:enumeration value="Sales Eng"/>
          <xsd:enumeration value="Finance"/>
          <xsd:enumeration value="R&amp;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shboardview xmlns="74083ff3-901d-4a80-b854-a128eee5eee4" xsi:nil="true"/>
    <_ip_UnifiedCompliancePolicyUIAction xmlns="http://schemas.microsoft.com/sharepoint/v3" xsi:nil="true"/>
    <lcf76f155ced4ddcb4097134ff3c332f xmlns="74083ff3-901d-4a80-b854-a128eee5eee4">
      <Terms xmlns="http://schemas.microsoft.com/office/infopath/2007/PartnerControls"/>
    </lcf76f155ced4ddcb4097134ff3c332f>
    <_ip_UnifiedCompliancePolicyProperties xmlns="http://schemas.microsoft.com/sharepoint/v3" xsi:nil="true"/>
    <TaxCatchAll xmlns="207f1ff3-1f77-40fd-ad5b-9d6ae8cfe6f8" xsi:nil="true"/>
    <Team xmlns="74083ff3-901d-4a80-b854-a128eee5eee4" xsi:nil="true"/>
    <SharedWithUsers xmlns="207f1ff3-1f77-40fd-ad5b-9d6ae8cfe6f8">
      <UserInfo>
        <DisplayName>Rivi Green</DisplayName>
        <AccountId>112</AccountId>
        <AccountType/>
      </UserInfo>
      <UserInfo>
        <DisplayName>Shani Rotem</DisplayName>
        <AccountId>117</AccountId>
        <AccountType/>
      </UserInfo>
      <UserInfo>
        <DisplayName>Roy Ittah</DisplayName>
        <AccountId>1499</AccountId>
        <AccountType/>
      </UserInfo>
    </SharedWithUsers>
    <Department xmlns="74083ff3-901d-4a80-b854-a128eee5eee4">Marketing</Department>
    <Sales_x0020_Assets xmlns="74083ff3-901d-4a80-b854-a128eee5eee4">false</Sales_x0020_Assets>
  </documentManagement>
</p:properties>
</file>

<file path=customXml/itemProps1.xml><?xml version="1.0" encoding="utf-8"?>
<ds:datastoreItem xmlns:ds="http://schemas.openxmlformats.org/officeDocument/2006/customXml" ds:itemID="{C65DF118-5329-4FBE-A597-4D7C3C60887E}">
  <ds:schemaRefs>
    <ds:schemaRef ds:uri="http://schemas.microsoft.com/sharepoint/v3/contenttype/forms"/>
  </ds:schemaRefs>
</ds:datastoreItem>
</file>

<file path=customXml/itemProps2.xml><?xml version="1.0" encoding="utf-8"?>
<ds:datastoreItem xmlns:ds="http://schemas.openxmlformats.org/officeDocument/2006/customXml" ds:itemID="{1878C48D-2EAC-4F97-86D4-1280851EC4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07f1ff3-1f77-40fd-ad5b-9d6ae8cfe6f8"/>
    <ds:schemaRef ds:uri="74083ff3-901d-4a80-b854-a128eee5ee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6A8DA9-D201-45DD-A660-CABF16868DCC}">
  <ds:schemaRefs>
    <ds:schemaRef ds:uri="http://purl.org/dc/elements/1.1/"/>
    <ds:schemaRef ds:uri="74083ff3-901d-4a80-b854-a128eee5eee4"/>
    <ds:schemaRef ds:uri="http://schemas.microsoft.com/office/2006/documentManagement/type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07f1ff3-1f77-40fd-ad5b-9d6ae8cfe6f8"/>
    <ds:schemaRef ds:uri="http://schemas.microsoft.com/office/2006/metadata/properties"/>
  </ds:schemaRefs>
</ds:datastoreItem>
</file>

<file path=docMetadata/LabelInfo.xml><?xml version="1.0" encoding="utf-8"?>
<clbl:labelList xmlns:clbl="http://schemas.microsoft.com/office/2020/mipLabelMetadata">
  <clbl:label id="{994f176e-6775-4954-9f9e-0c719b5e9ca0}" enabled="0" method="" siteId="{994f176e-6775-4954-9f9e-0c719b5e9ca0}" removed="1"/>
</clbl:labelList>
</file>

<file path=docProps/app.xml><?xml version="1.0" encoding="utf-8"?>
<Properties xmlns="http://schemas.openxmlformats.org/officeDocument/2006/extended-properties" xmlns:vt="http://schemas.openxmlformats.org/officeDocument/2006/docPropsVTypes">
  <Template>TEMPLATE with images - March 2023</Template>
  <TotalTime>39073</TotalTime>
  <Words>2107</Words>
  <Application>Microsoft Office PowerPoint</Application>
  <PresentationFormat>Widescreen</PresentationFormat>
  <Paragraphs>402</Paragraphs>
  <Slides>30</Slides>
  <Notes>29</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2_Office Theme</vt:lpstr>
      <vt:lpstr>Course 12 - Graphit </vt:lpstr>
      <vt:lpstr>Agenda</vt:lpstr>
      <vt:lpstr>What is Graphit?</vt:lpstr>
      <vt:lpstr>What is Graphit?</vt:lpstr>
      <vt:lpstr>Graphit Node Types and Properties</vt:lpstr>
      <vt:lpstr>Graphit Node Types</vt:lpstr>
      <vt:lpstr>Graphit Node Types</vt:lpstr>
      <vt:lpstr>Graphit Node Types</vt:lpstr>
      <vt:lpstr>Graphit Node Types</vt:lpstr>
      <vt:lpstr>Graphit Node Types</vt:lpstr>
      <vt:lpstr>Graphit Node Types</vt:lpstr>
      <vt:lpstr>Graphit Node Types</vt:lpstr>
      <vt:lpstr>Graphit Node Types</vt:lpstr>
      <vt:lpstr>Graphit Node Properties</vt:lpstr>
      <vt:lpstr>Graphit Node Properties</vt:lpstr>
      <vt:lpstr>Graphit Node Properties</vt:lpstr>
      <vt:lpstr>Graphit Node Properties</vt:lpstr>
      <vt:lpstr>Graphit Node Properties</vt:lpstr>
      <vt:lpstr>Graphit Node Properties</vt:lpstr>
      <vt:lpstr>Graphit Node Properties</vt:lpstr>
      <vt:lpstr>Graphit Node Properties</vt:lpstr>
      <vt:lpstr>Graphit Variables</vt:lpstr>
      <vt:lpstr>Error Handling</vt:lpstr>
      <vt:lpstr>Graphit Input parameters</vt:lpstr>
      <vt:lpstr>Graphit Permissions</vt:lpstr>
      <vt:lpstr>Graphit Versioning</vt:lpstr>
      <vt:lpstr>Graphit Verb</vt:lpstr>
      <vt:lpstr>Invoke Graphit</vt:lpstr>
      <vt:lpstr>Invoke Graphit</vt:lpstr>
      <vt:lpstr>Graphit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Tal Levinkron</dc:creator>
  <cp:lastModifiedBy>Shani Rotem</cp:lastModifiedBy>
  <cp:revision>433</cp:revision>
  <dcterms:created xsi:type="dcterms:W3CDTF">2024-02-21T10:22:58Z</dcterms:created>
  <dcterms:modified xsi:type="dcterms:W3CDTF">2026-01-17T08:47:17Z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0x010100B857D32277AC8A4EB3BE59077C9D6D08</vt:lpwstr>
  </property>
  <property fmtid="{D5CDD505-2E9C-101B-9397-08002B2CF9AE}" pid="3" name="MediaServiceImageTags">
    <vt:lpwstr/>
  </property>
</Properties>
</file>